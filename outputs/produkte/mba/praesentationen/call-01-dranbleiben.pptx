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Herzlich willkommen zu unserem allerersten Call. Ich hab lange überlegt, womit ich starte, und ich hab mich bewusst gegen Strategie entschieden. Wir reden heute über das, was die meisten aus dem Business rauswirft, bevor es überhaupt richtig angefangen hat. Und ich fang mit etwas an, das ich lange niemandem erzählt hab.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was heute passiert, damit du weisst, worauf es hinausläuft. Wir machen eine Runde, dann rede ich einen Moment, danach arbeitest du selber, dann rede ich nochmal, und dann arbeitest du nochmal. Am Ende gehst du mit einer ganz konkreten Sache raus. Das ist mir wichtig, ich will keine Calls machen, nach denen man ein gutes Gefühl hat und am nächsten Tag nichts anders 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Fangen wir mit einer Runde an. Sag mir deinen Namen, was du verkaufst, und dann die Frage, die mir heute die wichtigste ist: seit wann machst du das eigentlich schon. Ganz kurz, ein Satz reicht, wir gehen nachher tief genug rein. Ich schreib mit.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mal ganz ehrlich. Ich hab in den ersten Jahren gedacht, das was ich hier mache sei gar keine richtige Arbeit. Weil kein Geld reingekommen ist. Ich hab am Abend am Küchentisch gesessen, stundenlang was aufgebaut, und dann kam dieses Gefühl: ja was machst du hier eigentlich, das bringt ja nichts. Ich hab mich selber nicht ernst genommen, obwohl ich jeden einzelnen Tag gearbeitet hab. Und ich sag dir das, weil ich ziemlich sicher bin, dass mindestens eine von euch genau da gerade sitzt.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Denkfehler dahinter ist eigentlich ganz einfach. Du schaust auf ein einziges Ergebnis, nämlich auf das, was reinkommt. Und das ist ausgerechnet das, was am längsten braucht. Alles andere, was du in der Zwischenzeit aufbaust, zählst du gar nicht mit, weil es keine Zahl auf dem Konto ist. Und dann kommst du logischerweise zum Schluss, dass das nichts bringt. Dabei stimmt die Rechnung einfach nicht.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zeig dir, wie ich das heute sehe. Du hast nämlich nicht ein Konto, sondern vier. Das erste ist Sichtbarkeit, also wer dich überhaupt kennt. Das zweite ist Vertrauen, also wer dir zuhört und antwortet. Das dritte ist alles, was du aufgebaut hast und was bleibt, auch wenn du mal zwei Wochen flach liegst. Und das vierte ist Geld. Vier Konten, und du schaust nur auf eins davon.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damit das nicht schwammig bleibt, hier ganz konkret, woran du die merkst. Sichtbarkeit sind Aufrufe, neue Followerinnen, gespeicherte Beiträge. Vertrauen sind Antworten auf deine Stories, DMs, Leute auf deiner Liste. Aufgebautes ist dein Profil, dein Freebie, deine Vorlagen, dein Wissen. Und wenn dir jemand schreibt, ich verfolge dich schon länger, dann ist das eine Einzahlung. Die verbuchst du nur nie.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darum ist mein Satz der hier: Geld ist das Konto, das sich zuletzt füllt. Es wird nämlich aus den ersten drei gespeist. Niemand kauft bei jemandem, den sie nicht kennt, dem sie nicht vertraut und der nichts hat, was sie kaufen könnte. Wenn du also nur auf Konto vier schaust, schaust du aufs Ergebnis von einer Arbeit, die du gerade erst angefangen hast.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zur ehrlichen Zahl, und das ist keine Statistik, das ist meine Erfahrung. Online brauchst du normalerweise mindestens ein Jahr, bis regelmässig Geld kommt. Und zwar unter der Bedingung, dass du konstant dranbleibst. Bei mir hat es sogar länger gedauert, ich bin seit 2023 selbständig und regelmässig kam es ab Frühling 2025. Ich sag dir das nicht, um dich zu entmutigen, sondern damit du in Woche sechs nicht denkst, du machst was falsch.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jetzt bist du dran. Du hast sieben, acht Minuten und schreibst zu diesen drei Fragen auf, was dir einfällt. Und alles zählt: dein Profil, deine Beiträge, dein Freebie, deine Liste, ein Kurs, den du durchgearbeitet hast, ein Thema, das klarer geworden ist. Danach lesen wir reihum je zwei Sachen vor, und ich sag dir bei jeder, auf welches Konto das eingezahlt 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damit sind wir beim zweiten Teil, denn Anerkennung allein bringt dich nicht weiter. Jetzt kommt die Konsistenz. Und mein Satz dazu: vier Wochen sind keine Challenge, vier Wochen sind die Mindestdosis. Vorher kannst du gar nicht beurteilen, ob etwas funktioniert.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erzähl dir, was ich am häufigsten sehe. Und ich hab da ein Beispiel aus meiner Begleitung: eine Frau hat einen Monat lang jeden Tag gepostet. Die Reichweite ist deutlich hochgegangen, es kam richtig Bewegung rein, es hat funktioniert. Das ist der Beweis, dass Konstanz wirkt, und zwar schneller, als die meisten glauben. Und dann hat sie aufgehört, und ein paar Wochen später war alles wieder da, wo es vorher war.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ganz wichtig, damit das nicht falsch ankommt: das ist kein Versagen. Es liegt nie an dir als Person, meistens ist einfach das System zu gross gebaut. Jeden Tag ein Beitrag neben Kindern ist kein Rhythmus, das ist ein Sprint. Und Sprints hält niemand über Monate durch. Nicht die Intensität entscheidet, sondern ob du es noch machst, wenn es langweilig geworden 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Darum machen wir das heute anders. Du suchst dir eine Sache. Nicht drei, eine. Und die muss so klein sein, dass du sie auch an dem Tag noch schaffst, an dem alles schiefgeht. Und dann kriegt sie noch eine Notfall-Version, also die Mini-Ausgabe für genau diese Tage. Nicht als Ausrede, sondern damit die Kette nicht reisst.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paar Beispiele, damit du ein Gefühl kriegst. Links steht deine Sache, rechts die Notfall-Version. Jeden Tag eine Story wird zu einer einzigen Story mit dem Handy im Auto. Drei Beiträge die Woche werden zu einem, dafür fix am selben Tag. Und die Sonntagsplanung wird zu zehn Minuten, drei Zeilen, fertig. Du merkst: die Notfall-Version darf richtig klein sein. Sie muss nur stattfinden.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schreibst du zwei Zeilen auf: deine eine Sache für die nächsten vier Wochen und deine Notfall-Version für schlechte Tage. Danach sagt sie jede laut, und ich sag dir ehrlich, wenn ich sie zu gross finde. Frag dich beim Aufschreiben schon selber: und am Tag, an dem beide Kinder krank sind, schaff ich das dann noch?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Deine Aufgabe ist einfach und trotzdem die schwerste, die ich dir dieses Jahr gebe. Du ziehst deine eine Sache vier Wochen durch, mit Notfall-Version wenn es sein muss. Und du schreibst jede Woche drei Zeilen bei uns in den Fragen-Bereich. Was du geschafft hast, ob mit Notfall-Version, und was passiert ist. Und da geht es ausdrücklich nicht ums Geld, sondern um alles andere: wer sich gemeldet hat, was du fertig gebaut hast, was leichter ging als letzte Woche.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wenn eine Woche nicht klappt, dann schreibst du genau das rein. Nein ist eine völlig gültige Antwort, und dann schauen wir gemeinsam, ob deine Sache zu gross gebaut war, und machen sie kleiner. Dranbleiben heisst nämlich nicht lückenlos, es heisst zurückkommen. Aufhören ist das Einzige, was hier wirklich nicht funktioniert.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noch kurz, wie es weitergeht. Wir haben zwei Calls im Monat, einen zu einem Thema mit euren Fragen und einen nur für eure Fragen. Alles wird aufgezeichnet und liegt danach in der Academy, du verpasst also nichts, wenn ein Kind Fieber hat. Zwischendurch läuft der Austausch im Fragen-Bereich und ich bin dienstags und donnerstags drin. Und beim nächsten Themen-Call schauen wir zwei Sachen an: was aus deinen vier Wochen geworden ist, und dann nehmen wir uns dein Thema vor. Ich freu mich auf euch.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MUM BUSINESS ACADEMY — CALL 1</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8229600" cy="1828800"/>
          </a:xfrm>
          <a:prstGeom prst="rect">
            <a:avLst/>
          </a:prstGeom>
          <a:noFill/>
        </p:spPr>
        <p:txBody>
          <a:bodyPr wrap="square">
            <a:spAutoFit/>
          </a:bodyPr>
          <a:lstStyle/>
          <a:p>
            <a:r>
              <a:rPr sz="3400" b="1">
                <a:solidFill>
                  <a:srgbClr val="1A3A4A"/>
                </a:solidFill>
                <a:latin typeface="Georgia"/>
              </a:rPr>
              <a:t>Es ist Arbeit.
Auch wenn noch kein Geld kommt.</a:t>
            </a:r>
          </a:p>
        </p:txBody>
      </p:sp>
      <p:sp>
        <p:nvSpPr>
          <p:cNvPr id="6" name="TextBox 5"/>
          <p:cNvSpPr txBox="1"/>
          <p:nvPr/>
        </p:nvSpPr>
        <p:spPr>
          <a:xfrm>
            <a:off x="548640" y="3200400"/>
            <a:ext cx="6035040" cy="914400"/>
          </a:xfrm>
          <a:prstGeom prst="rect">
            <a:avLst/>
          </a:prstGeom>
          <a:noFill/>
        </p:spPr>
        <p:txBody>
          <a:bodyPr wrap="square">
            <a:spAutoFit/>
          </a:bodyPr>
          <a:lstStyle/>
          <a:p>
            <a:r>
              <a:rPr sz="1800" b="0">
                <a:solidFill>
                  <a:srgbClr val="2C3E50"/>
                </a:solidFill>
                <a:latin typeface="Georgia"/>
              </a:rPr>
              <a:t>Dranbleiben &amp; Konsistenz · unser erster Call</a:t>
            </a:r>
          </a:p>
        </p:txBody>
      </p:sp>
      <p:sp>
        <p:nvSpPr>
          <p:cNvPr id="7" name="TextBox 6"/>
          <p:cNvSpPr txBox="1"/>
          <p:nvPr/>
        </p:nvSpPr>
        <p:spPr>
          <a:xfrm>
            <a:off x="548640" y="4224528"/>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548640" y="4553712"/>
            <a:ext cx="3657600" cy="365760"/>
          </a:xfrm>
          <a:prstGeom prst="rect">
            <a:avLst/>
          </a:prstGeom>
          <a:noFill/>
        </p:spPr>
        <p:txBody>
          <a:bodyPr wrap="square">
            <a:spAutoFit/>
          </a:bodyPr>
          <a:lstStyle/>
          <a:p>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Das machen wir heute</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Kurze Runde — wer bist du, seit wann machst du das</a:t>
            </a:r>
          </a:p>
          <a:p>
            <a:pPr>
              <a:spcAft>
                <a:spcPts val="1000"/>
              </a:spcAft>
            </a:pPr>
            <a:r>
              <a:rPr sz="1600" b="1">
                <a:solidFill>
                  <a:srgbClr val="12828C"/>
                </a:solidFill>
                <a:latin typeface="Calibri"/>
              </a:rPr>
              <a:t>✓  </a:t>
            </a:r>
            <a:r>
              <a:rPr sz="1600" b="0">
                <a:solidFill>
                  <a:srgbClr val="2C3E50"/>
                </a:solidFill>
                <a:latin typeface="Calibri"/>
              </a:rPr>
              <a:t>Warum du dich am falschen Ergebnis misst</a:t>
            </a:r>
          </a:p>
          <a:p>
            <a:pPr>
              <a:spcAft>
                <a:spcPts val="1000"/>
              </a:spcAft>
            </a:pPr>
            <a:r>
              <a:rPr sz="1600" b="1">
                <a:solidFill>
                  <a:srgbClr val="12828C"/>
                </a:solidFill>
                <a:latin typeface="Calibri"/>
              </a:rPr>
              <a:t>✓  </a:t>
            </a:r>
            <a:r>
              <a:rPr sz="1600" b="0">
                <a:solidFill>
                  <a:srgbClr val="2C3E50"/>
                </a:solidFill>
                <a:latin typeface="Calibri"/>
              </a:rPr>
              <a:t>Deine Bestandsaufnahme: was du längst gebaut hast</a:t>
            </a:r>
          </a:p>
          <a:p>
            <a:pPr>
              <a:spcAft>
                <a:spcPts val="1000"/>
              </a:spcAft>
            </a:pPr>
            <a:r>
              <a:rPr sz="1600" b="1">
                <a:solidFill>
                  <a:srgbClr val="12828C"/>
                </a:solidFill>
                <a:latin typeface="Calibri"/>
              </a:rPr>
              <a:t>✓  </a:t>
            </a:r>
            <a:r>
              <a:rPr sz="1600" b="0">
                <a:solidFill>
                  <a:srgbClr val="2C3E50"/>
                </a:solidFill>
                <a:latin typeface="Calibri"/>
              </a:rPr>
              <a:t>Warum vier Wochen die Mindestdosis sind</a:t>
            </a:r>
          </a:p>
          <a:p>
            <a:pPr>
              <a:spcAft>
                <a:spcPts val="1000"/>
              </a:spcAft>
            </a:pPr>
            <a:r>
              <a:rPr sz="1600" b="1">
                <a:solidFill>
                  <a:srgbClr val="12828C"/>
                </a:solidFill>
                <a:latin typeface="Calibri"/>
              </a:rPr>
              <a:t>✓  </a:t>
            </a:r>
            <a:r>
              <a:rPr sz="1600" b="0">
                <a:solidFill>
                  <a:srgbClr val="2C3E50"/>
                </a:solidFill>
                <a:latin typeface="Calibri"/>
              </a:rPr>
              <a:t>Deine eine Sache für die nächsten vier Wochen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Rounded Rectangle 1"/>
          <p:cNvSpPr/>
          <p:nvPr/>
        </p:nvSpPr>
        <p:spPr>
          <a:xfrm>
            <a:off x="548640" y="457200"/>
            <a:ext cx="1600200" cy="384048"/>
          </a:xfrm>
          <a:prstGeom prst="round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latin typeface="Calibri"/>
              </a:rPr>
              <a:t>JETZT DU</a:t>
            </a:r>
          </a:p>
        </p:txBody>
      </p:sp>
      <p:sp>
        <p:nvSpPr>
          <p:cNvPr id="3" name="TextBox 2"/>
          <p:cNvSpPr txBox="1"/>
          <p:nvPr/>
        </p:nvSpPr>
        <p:spPr>
          <a:xfrm>
            <a:off x="548640" y="1005840"/>
            <a:ext cx="8046720" cy="822960"/>
          </a:xfrm>
          <a:prstGeom prst="rect">
            <a:avLst/>
          </a:prstGeom>
          <a:noFill/>
        </p:spPr>
        <p:txBody>
          <a:bodyPr wrap="square">
            <a:spAutoFit/>
          </a:bodyPr>
          <a:lstStyle/>
          <a:p>
            <a:r>
              <a:rPr sz="3000" b="1">
                <a:solidFill>
                  <a:srgbClr val="1A3A4A"/>
                </a:solidFill>
                <a:latin typeface="Georgia"/>
              </a:rPr>
              <a:t>Kurze Runde</a:t>
            </a:r>
          </a:p>
        </p:txBody>
      </p:sp>
      <p:sp>
        <p:nvSpPr>
          <p:cNvPr id="4" name="TextBox 3"/>
          <p:cNvSpPr txBox="1"/>
          <p:nvPr/>
        </p:nvSpPr>
        <p:spPr>
          <a:xfrm>
            <a:off x="548640" y="1965960"/>
            <a:ext cx="8046720" cy="2377440"/>
          </a:xfrm>
          <a:prstGeom prst="rect">
            <a:avLst/>
          </a:prstGeom>
          <a:noFill/>
        </p:spPr>
        <p:txBody>
          <a:bodyPr wrap="square">
            <a:spAutoFit/>
          </a:bodyPr>
          <a:lstStyle/>
          <a:p>
            <a:pPr>
              <a:spcAft>
                <a:spcPts val="1200"/>
              </a:spcAft>
            </a:pPr>
            <a:r>
              <a:rPr sz="1700" b="1">
                <a:solidFill>
                  <a:srgbClr val="DC822E"/>
                </a:solidFill>
                <a:latin typeface="Georgia"/>
              </a:rPr>
              <a:t>1.  </a:t>
            </a:r>
            <a:r>
              <a:rPr sz="1700" b="0">
                <a:solidFill>
                  <a:srgbClr val="2C3E50"/>
                </a:solidFill>
                <a:latin typeface="Calibri"/>
              </a:rPr>
              <a:t>Dein Name und was du verkaufst</a:t>
            </a:r>
          </a:p>
          <a:p>
            <a:pPr>
              <a:spcAft>
                <a:spcPts val="1200"/>
              </a:spcAft>
            </a:pPr>
            <a:r>
              <a:rPr sz="1700" b="1">
                <a:solidFill>
                  <a:srgbClr val="DC822E"/>
                </a:solidFill>
                <a:latin typeface="Georgia"/>
              </a:rPr>
              <a:t>2.  </a:t>
            </a:r>
            <a:r>
              <a:rPr sz="1700" b="0">
                <a:solidFill>
                  <a:srgbClr val="2C3E50"/>
                </a:solidFill>
                <a:latin typeface="Calibri"/>
              </a:rPr>
              <a:t>Seit wann machst du das eigentlich schon?</a:t>
            </a:r>
          </a:p>
        </p:txBody>
      </p:sp>
      <p:sp>
        <p:nvSpPr>
          <p:cNvPr id="5" name="TextBox 4"/>
          <p:cNvSpPr txBox="1"/>
          <p:nvPr/>
        </p:nvSpPr>
        <p:spPr>
          <a:xfrm>
            <a:off x="548640" y="4343400"/>
            <a:ext cx="8046720" cy="365760"/>
          </a:xfrm>
          <a:prstGeom prst="rect">
            <a:avLst/>
          </a:prstGeom>
          <a:noFill/>
        </p:spPr>
        <p:txBody>
          <a:bodyPr wrap="square">
            <a:spAutoFit/>
          </a:bodyPr>
          <a:lstStyle/>
          <a:p>
            <a:r>
              <a:rPr sz="1300" b="0">
                <a:solidFill>
                  <a:srgbClr val="12828C"/>
                </a:solidFill>
                <a:latin typeface="Calibri"/>
              </a:rPr>
              <a:t>Die zweite Frage ist mir heute die wichtigste — du wirst gleich merken warum.</a:t>
            </a:r>
          </a:p>
        </p:txBody>
      </p:sp>
      <p:sp>
        <p:nvSpPr>
          <p:cNvPr id="6" name="TextBox 5"/>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7" name="TextBox 6"/>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Rectangle 1"/>
          <p:cNvSpPr/>
          <p:nvPr/>
        </p:nvSpPr>
        <p:spPr>
          <a:xfrm>
            <a:off x="548640" y="1371600"/>
            <a:ext cx="82296" cy="237744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7315200" cy="2377440"/>
          </a:xfrm>
          <a:prstGeom prst="rect">
            <a:avLst/>
          </a:prstGeom>
          <a:noFill/>
        </p:spPr>
        <p:txBody>
          <a:bodyPr wrap="square">
            <a:spAutoFit/>
          </a:bodyPr>
          <a:lstStyle/>
          <a:p>
            <a:r>
              <a:rPr sz="3000" b="1">
                <a:solidFill>
                  <a:srgbClr val="1A3A4A"/>
                </a:solidFill>
                <a:latin typeface="Georgia"/>
              </a:rPr>
              <a:t>„Ich hab jahrelang gedacht,
das hier sei gar keine
richtige Arbeit.“</a:t>
            </a:r>
          </a:p>
        </p:txBody>
      </p:sp>
      <p:sp>
        <p:nvSpPr>
          <p:cNvPr id="4" name="TextBox 3"/>
          <p:cNvSpPr txBox="1"/>
          <p:nvPr/>
        </p:nvSpPr>
        <p:spPr>
          <a:xfrm>
            <a:off x="1005840" y="3931920"/>
            <a:ext cx="7315200" cy="457200"/>
          </a:xfrm>
          <a:prstGeom prst="rect">
            <a:avLst/>
          </a:prstGeom>
          <a:noFill/>
        </p:spPr>
        <p:txBody>
          <a:bodyPr wrap="square">
            <a:spAutoFit/>
          </a:bodyPr>
          <a:lstStyle/>
          <a:p>
            <a:r>
              <a:rPr sz="1400" b="0">
                <a:solidFill>
                  <a:srgbClr val="12828C"/>
                </a:solidFill>
                <a:latin typeface="Calibri"/>
              </a:rPr>
              <a:t>Weil kein Geld reingekommen ist.</a:t>
            </a:r>
          </a:p>
        </p:txBody>
      </p:sp>
      <p:sp>
        <p:nvSpPr>
          <p:cNvPr id="5" name="TextBox 4"/>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6" name="TextBox 5"/>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Denkfehler</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Du schaust auf ein einziges Ergebnis: was reinkommt</a:t>
            </a:r>
          </a:p>
          <a:p>
            <a:pPr>
              <a:spcAft>
                <a:spcPts val="1000"/>
              </a:spcAft>
            </a:pPr>
            <a:r>
              <a:rPr sz="1600" b="1">
                <a:solidFill>
                  <a:srgbClr val="12828C"/>
                </a:solidFill>
                <a:latin typeface="Calibri"/>
              </a:rPr>
              <a:t>–  </a:t>
            </a:r>
            <a:r>
              <a:rPr sz="1600" b="0">
                <a:solidFill>
                  <a:srgbClr val="2C3E50"/>
                </a:solidFill>
                <a:latin typeface="Calibri"/>
              </a:rPr>
              <a:t>Und das ist genau das, was am längsten braucht</a:t>
            </a:r>
          </a:p>
          <a:p>
            <a:pPr>
              <a:spcAft>
                <a:spcPts val="1000"/>
              </a:spcAft>
            </a:pPr>
            <a:r>
              <a:rPr sz="1600" b="1">
                <a:solidFill>
                  <a:srgbClr val="12828C"/>
                </a:solidFill>
                <a:latin typeface="Calibri"/>
              </a:rPr>
              <a:t>–  </a:t>
            </a:r>
            <a:r>
              <a:rPr sz="1600" b="0">
                <a:solidFill>
                  <a:srgbClr val="2C3E50"/>
                </a:solidFill>
                <a:latin typeface="Calibri"/>
              </a:rPr>
              <a:t>Alles andere, was du aufbaust, zählst du gar nicht</a:t>
            </a:r>
          </a:p>
          <a:p>
            <a:pPr>
              <a:spcAft>
                <a:spcPts val="1000"/>
              </a:spcAft>
            </a:pPr>
            <a:r>
              <a:rPr sz="1600" b="1">
                <a:solidFill>
                  <a:srgbClr val="12828C"/>
                </a:solidFill>
                <a:latin typeface="Calibri"/>
              </a:rPr>
              <a:t>–  </a:t>
            </a:r>
            <a:r>
              <a:rPr sz="1600" b="0">
                <a:solidFill>
                  <a:srgbClr val="2C3E50"/>
                </a:solidFill>
                <a:latin typeface="Calibri"/>
              </a:rPr>
              <a:t>Also kommst du logischerweise zum Schluss: bringt nichts</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Du hast vier Konten, nicht eins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Sichtbarkeit — wer dich überhaupt kennt</a:t>
            </a:r>
          </a:p>
          <a:p>
            <a:pPr>
              <a:spcAft>
                <a:spcPts val="1000"/>
              </a:spcAft>
            </a:pPr>
            <a:r>
              <a:rPr sz="1600" b="1">
                <a:solidFill>
                  <a:srgbClr val="12828C"/>
                </a:solidFill>
                <a:latin typeface="Calibri"/>
              </a:rPr>
              <a:t>✓  </a:t>
            </a:r>
            <a:r>
              <a:rPr sz="1600" b="0">
                <a:solidFill>
                  <a:srgbClr val="2C3E50"/>
                </a:solidFill>
                <a:latin typeface="Calibri"/>
              </a:rPr>
              <a:t>Vertrauen — wer dir zuhört und antwortet</a:t>
            </a:r>
          </a:p>
          <a:p>
            <a:pPr>
              <a:spcAft>
                <a:spcPts val="1000"/>
              </a:spcAft>
            </a:pPr>
            <a:r>
              <a:rPr sz="1600" b="1">
                <a:solidFill>
                  <a:srgbClr val="12828C"/>
                </a:solidFill>
                <a:latin typeface="Calibri"/>
              </a:rPr>
              <a:t>✓  </a:t>
            </a:r>
            <a:r>
              <a:rPr sz="1600" b="0">
                <a:solidFill>
                  <a:srgbClr val="2C3E50"/>
                </a:solidFill>
                <a:latin typeface="Calibri"/>
              </a:rPr>
              <a:t>Aufgebautes — was bleibt, auch wenn du zwei Wochen krank bist</a:t>
            </a:r>
          </a:p>
          <a:p>
            <a:pPr>
              <a:spcAft>
                <a:spcPts val="1000"/>
              </a:spcAft>
            </a:pPr>
            <a:r>
              <a:rPr sz="1600" b="1">
                <a:solidFill>
                  <a:srgbClr val="12828C"/>
                </a:solidFill>
                <a:latin typeface="Calibri"/>
              </a:rPr>
              <a:t>✓  </a:t>
            </a:r>
            <a:r>
              <a:rPr sz="1600" b="0">
                <a:solidFill>
                  <a:srgbClr val="2C3E50"/>
                </a:solidFill>
                <a:latin typeface="Calibri"/>
              </a:rPr>
              <a:t>Geld — was reinkommt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Woran du sie merkst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Sichtbarkeit: Aufrufe, neue Followerinnen, gespeicherte Beiträge</a:t>
            </a:r>
          </a:p>
          <a:p>
            <a:pPr>
              <a:spcAft>
                <a:spcPts val="1000"/>
              </a:spcAft>
            </a:pPr>
            <a:r>
              <a:rPr sz="1600" b="1">
                <a:solidFill>
                  <a:srgbClr val="12828C"/>
                </a:solidFill>
                <a:latin typeface="Calibri"/>
              </a:rPr>
              <a:t>✓  </a:t>
            </a:r>
            <a:r>
              <a:rPr sz="1600" b="0">
                <a:solidFill>
                  <a:srgbClr val="2C3E50"/>
                </a:solidFill>
                <a:latin typeface="Calibri"/>
              </a:rPr>
              <a:t>Vertrauen: Antworten auf Stories, DMs, Menschen auf deiner Liste</a:t>
            </a:r>
          </a:p>
          <a:p>
            <a:pPr>
              <a:spcAft>
                <a:spcPts val="1000"/>
              </a:spcAft>
            </a:pPr>
            <a:r>
              <a:rPr sz="1600" b="1">
                <a:solidFill>
                  <a:srgbClr val="12828C"/>
                </a:solidFill>
                <a:latin typeface="Calibri"/>
              </a:rPr>
              <a:t>✓  </a:t>
            </a:r>
            <a:r>
              <a:rPr sz="1600" b="0">
                <a:solidFill>
                  <a:srgbClr val="2C3E50"/>
                </a:solidFill>
                <a:latin typeface="Calibri"/>
              </a:rPr>
              <a:t>Aufgebautes: Profil, Freebie, Liste, Vorlagen, dein Wissen</a:t>
            </a:r>
          </a:p>
          <a:p>
            <a:pPr>
              <a:spcAft>
                <a:spcPts val="1000"/>
              </a:spcAft>
            </a:pPr>
            <a:r>
              <a:rPr sz="1600" b="1">
                <a:solidFill>
                  <a:srgbClr val="12828C"/>
                </a:solidFill>
                <a:latin typeface="Calibri"/>
              </a:rPr>
              <a:t>✓  </a:t>
            </a:r>
            <a:r>
              <a:rPr sz="1600" b="0">
                <a:solidFill>
                  <a:srgbClr val="2C3E50"/>
                </a:solidFill>
                <a:latin typeface="Calibri"/>
              </a:rPr>
              <a:t>„Ich verfolge dich schon länger“ — das ist eine Einzahlung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Rectangle 1"/>
          <p:cNvSpPr/>
          <p:nvPr/>
        </p:nvSpPr>
        <p:spPr>
          <a:xfrm>
            <a:off x="548640" y="1371600"/>
            <a:ext cx="82296" cy="237744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7315200" cy="2377440"/>
          </a:xfrm>
          <a:prstGeom prst="rect">
            <a:avLst/>
          </a:prstGeom>
          <a:noFill/>
        </p:spPr>
        <p:txBody>
          <a:bodyPr wrap="square">
            <a:spAutoFit/>
          </a:bodyPr>
          <a:lstStyle/>
          <a:p>
            <a:r>
              <a:rPr sz="3000" b="1">
                <a:solidFill>
                  <a:srgbClr val="1A3A4A"/>
                </a:solidFill>
                <a:latin typeface="Georgia"/>
              </a:rPr>
              <a:t>Geld ist das Konto,
das sich zuletzt füllt.</a:t>
            </a:r>
          </a:p>
        </p:txBody>
      </p:sp>
      <p:sp>
        <p:nvSpPr>
          <p:cNvPr id="4" name="TextBox 3"/>
          <p:cNvSpPr txBox="1"/>
          <p:nvPr/>
        </p:nvSpPr>
        <p:spPr>
          <a:xfrm>
            <a:off x="1005840" y="3931920"/>
            <a:ext cx="7315200" cy="457200"/>
          </a:xfrm>
          <a:prstGeom prst="rect">
            <a:avLst/>
          </a:prstGeom>
          <a:noFill/>
        </p:spPr>
        <p:txBody>
          <a:bodyPr wrap="square">
            <a:spAutoFit/>
          </a:bodyPr>
          <a:lstStyle/>
          <a:p>
            <a:r>
              <a:rPr sz="1400" b="0">
                <a:solidFill>
                  <a:srgbClr val="12828C"/>
                </a:solidFill>
                <a:latin typeface="Calibri"/>
              </a:rPr>
              <a:t>Nicht das, an dem du dich zuerst messen darfst.</a:t>
            </a:r>
          </a:p>
        </p:txBody>
      </p:sp>
      <p:sp>
        <p:nvSpPr>
          <p:cNvPr id="5" name="TextBox 4"/>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6" name="TextBox 5"/>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Wie lange es wirklich dauert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Meine Erfahrung: online mindestens ein Jahr</a:t>
            </a:r>
          </a:p>
          <a:p>
            <a:pPr>
              <a:spcAft>
                <a:spcPts val="1000"/>
              </a:spcAft>
            </a:pPr>
            <a:r>
              <a:rPr sz="1600" b="1">
                <a:solidFill>
                  <a:srgbClr val="12828C"/>
                </a:solidFill>
                <a:latin typeface="Calibri"/>
              </a:rPr>
              <a:t>✓  </a:t>
            </a:r>
            <a:r>
              <a:rPr sz="1600" b="0">
                <a:solidFill>
                  <a:srgbClr val="2C3E50"/>
                </a:solidFill>
                <a:latin typeface="Calibri"/>
              </a:rPr>
              <a:t>Und zwar unter der Bedingung, dass du konstant dranbleibst</a:t>
            </a:r>
          </a:p>
          <a:p>
            <a:pPr>
              <a:spcAft>
                <a:spcPts val="1000"/>
              </a:spcAft>
            </a:pPr>
            <a:r>
              <a:rPr sz="1600" b="1">
                <a:solidFill>
                  <a:srgbClr val="12828C"/>
                </a:solidFill>
                <a:latin typeface="Calibri"/>
              </a:rPr>
              <a:t>✓  </a:t>
            </a:r>
            <a:r>
              <a:rPr sz="1600" b="0">
                <a:solidFill>
                  <a:srgbClr val="2C3E50"/>
                </a:solidFill>
                <a:latin typeface="Calibri"/>
              </a:rPr>
              <a:t>Bei mir hat es länger gedauert — selbständig seit 2023,</a:t>
            </a:r>
          </a:p>
          <a:p>
            <a:pPr>
              <a:spcAft>
                <a:spcPts val="1000"/>
              </a:spcAft>
            </a:pPr>
            <a:r>
              <a:rPr sz="1600" b="1">
                <a:solidFill>
                  <a:srgbClr val="12828C"/>
                </a:solidFill>
                <a:latin typeface="Calibri"/>
              </a:rPr>
              <a:t>✓  </a:t>
            </a:r>
            <a:r>
              <a:rPr sz="1600" b="0">
                <a:solidFill>
                  <a:srgbClr val="2C3E50"/>
                </a:solidFill>
                <a:latin typeface="Calibri"/>
              </a:rPr>
              <a:t>regelmässiges Einkommen ab Frühling 2025</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Rounded Rectangle 1"/>
          <p:cNvSpPr/>
          <p:nvPr/>
        </p:nvSpPr>
        <p:spPr>
          <a:xfrm>
            <a:off x="548640" y="457200"/>
            <a:ext cx="1600200" cy="384048"/>
          </a:xfrm>
          <a:prstGeom prst="round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latin typeface="Calibri"/>
              </a:rPr>
              <a:t>JETZT DU</a:t>
            </a:r>
          </a:p>
        </p:txBody>
      </p:sp>
      <p:sp>
        <p:nvSpPr>
          <p:cNvPr id="3" name="TextBox 2"/>
          <p:cNvSpPr txBox="1"/>
          <p:nvPr/>
        </p:nvSpPr>
        <p:spPr>
          <a:xfrm>
            <a:off x="548640" y="1005840"/>
            <a:ext cx="8046720" cy="822960"/>
          </a:xfrm>
          <a:prstGeom prst="rect">
            <a:avLst/>
          </a:prstGeom>
          <a:noFill/>
        </p:spPr>
        <p:txBody>
          <a:bodyPr wrap="square">
            <a:spAutoFit/>
          </a:bodyPr>
          <a:lstStyle/>
          <a:p>
            <a:r>
              <a:rPr sz="3000" b="1">
                <a:solidFill>
                  <a:srgbClr val="1A3A4A"/>
                </a:solidFill>
                <a:latin typeface="Georgia"/>
              </a:rPr>
              <a:t>Deine Bestandsaufnahme</a:t>
            </a:r>
          </a:p>
        </p:txBody>
      </p:sp>
      <p:sp>
        <p:nvSpPr>
          <p:cNvPr id="4" name="TextBox 3"/>
          <p:cNvSpPr txBox="1"/>
          <p:nvPr/>
        </p:nvSpPr>
        <p:spPr>
          <a:xfrm>
            <a:off x="548640" y="1965960"/>
            <a:ext cx="8046720" cy="2377440"/>
          </a:xfrm>
          <a:prstGeom prst="rect">
            <a:avLst/>
          </a:prstGeom>
          <a:noFill/>
        </p:spPr>
        <p:txBody>
          <a:bodyPr wrap="square">
            <a:spAutoFit/>
          </a:bodyPr>
          <a:lstStyle/>
          <a:p>
            <a:pPr>
              <a:spcAft>
                <a:spcPts val="1200"/>
              </a:spcAft>
            </a:pPr>
            <a:r>
              <a:rPr sz="1700" b="1">
                <a:solidFill>
                  <a:srgbClr val="DC822E"/>
                </a:solidFill>
                <a:latin typeface="Georgia"/>
              </a:rPr>
              <a:t>1.  </a:t>
            </a:r>
            <a:r>
              <a:rPr sz="1700" b="0">
                <a:solidFill>
                  <a:srgbClr val="2C3E50"/>
                </a:solidFill>
                <a:latin typeface="Calibri"/>
              </a:rPr>
              <a:t>Was hast du in den letzten zwölf Monaten aufgebaut,
     das vorher nicht da war?</a:t>
            </a:r>
          </a:p>
          <a:p>
            <a:pPr>
              <a:spcAft>
                <a:spcPts val="1200"/>
              </a:spcAft>
            </a:pPr>
            <a:r>
              <a:rPr sz="1700" b="1">
                <a:solidFill>
                  <a:srgbClr val="DC822E"/>
                </a:solidFill>
                <a:latin typeface="Georgia"/>
              </a:rPr>
              <a:t>2.  </a:t>
            </a:r>
            <a:r>
              <a:rPr sz="1700" b="0">
                <a:solidFill>
                  <a:srgbClr val="2C3E50"/>
                </a:solidFill>
                <a:latin typeface="Calibri"/>
              </a:rPr>
              <a:t>Wer kennt dich heute, der dich vor einem Jahr nicht kannte?</a:t>
            </a:r>
          </a:p>
          <a:p>
            <a:pPr>
              <a:spcAft>
                <a:spcPts val="1200"/>
              </a:spcAft>
            </a:pPr>
            <a:r>
              <a:rPr sz="1700" b="1">
                <a:solidFill>
                  <a:srgbClr val="DC822E"/>
                </a:solidFill>
                <a:latin typeface="Georgia"/>
              </a:rPr>
              <a:t>3.  </a:t>
            </a:r>
            <a:r>
              <a:rPr sz="1700" b="0">
                <a:solidFill>
                  <a:srgbClr val="2C3E50"/>
                </a:solidFill>
                <a:latin typeface="Calibri"/>
              </a:rPr>
              <a:t>Was kannst du heute, was du vor einem Jahr nicht konntest?</a:t>
            </a:r>
          </a:p>
        </p:txBody>
      </p:sp>
      <p:sp>
        <p:nvSpPr>
          <p:cNvPr id="5" name="TextBox 4"/>
          <p:cNvSpPr txBox="1"/>
          <p:nvPr/>
        </p:nvSpPr>
        <p:spPr>
          <a:xfrm>
            <a:off x="548640" y="4343400"/>
            <a:ext cx="8046720" cy="365760"/>
          </a:xfrm>
          <a:prstGeom prst="rect">
            <a:avLst/>
          </a:prstGeom>
          <a:noFill/>
        </p:spPr>
        <p:txBody>
          <a:bodyPr wrap="square">
            <a:spAutoFit/>
          </a:bodyPr>
          <a:lstStyle/>
          <a:p>
            <a:r>
              <a:rPr sz="1300" b="0">
                <a:solidFill>
                  <a:srgbClr val="12828C"/>
                </a:solidFill>
                <a:latin typeface="Calibri"/>
              </a:rPr>
              <a:t>Alles zählt. Auch ein Kurs, den du durchgearbeitet hast.</a:t>
            </a:r>
          </a:p>
        </p:txBody>
      </p:sp>
      <p:sp>
        <p:nvSpPr>
          <p:cNvPr id="6" name="TextBox 5"/>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7" name="TextBox 6"/>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Rectangle 1"/>
          <p:cNvSpPr/>
          <p:nvPr/>
        </p:nvSpPr>
        <p:spPr>
          <a:xfrm>
            <a:off x="548640" y="1371600"/>
            <a:ext cx="82296" cy="237744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7315200" cy="2377440"/>
          </a:xfrm>
          <a:prstGeom prst="rect">
            <a:avLst/>
          </a:prstGeom>
          <a:noFill/>
        </p:spPr>
        <p:txBody>
          <a:bodyPr wrap="square">
            <a:spAutoFit/>
          </a:bodyPr>
          <a:lstStyle/>
          <a:p>
            <a:r>
              <a:rPr sz="3000" b="1">
                <a:solidFill>
                  <a:srgbClr val="1A3A4A"/>
                </a:solidFill>
                <a:latin typeface="Georgia"/>
              </a:rPr>
              <a:t>Vier Wochen sind
keine Challenge.</a:t>
            </a:r>
          </a:p>
        </p:txBody>
      </p:sp>
      <p:sp>
        <p:nvSpPr>
          <p:cNvPr id="4" name="TextBox 3"/>
          <p:cNvSpPr txBox="1"/>
          <p:nvPr/>
        </p:nvSpPr>
        <p:spPr>
          <a:xfrm>
            <a:off x="1005840" y="3931920"/>
            <a:ext cx="7315200" cy="457200"/>
          </a:xfrm>
          <a:prstGeom prst="rect">
            <a:avLst/>
          </a:prstGeom>
          <a:noFill/>
        </p:spPr>
        <p:txBody>
          <a:bodyPr wrap="square">
            <a:spAutoFit/>
          </a:bodyPr>
          <a:lstStyle/>
          <a:p>
            <a:r>
              <a:rPr sz="1400" b="0">
                <a:solidFill>
                  <a:srgbClr val="12828C"/>
                </a:solidFill>
                <a:latin typeface="Calibri"/>
              </a:rPr>
              <a:t>Vier Wochen sind die Mindestdosis, bevor überhaupt etwas messbar wird.</a:t>
            </a:r>
          </a:p>
        </p:txBody>
      </p:sp>
      <p:sp>
        <p:nvSpPr>
          <p:cNvPr id="5" name="TextBox 4"/>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6" name="TextBox 5"/>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ich am häufigsten sehe</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Jemand zieht etwas richtig durch — und es funktioniert sofort</a:t>
            </a:r>
          </a:p>
          <a:p>
            <a:pPr>
              <a:spcAft>
                <a:spcPts val="1000"/>
              </a:spcAft>
            </a:pPr>
            <a:r>
              <a:rPr sz="1600" b="1">
                <a:solidFill>
                  <a:srgbClr val="12828C"/>
                </a:solidFill>
                <a:latin typeface="Calibri"/>
              </a:rPr>
              <a:t>–  </a:t>
            </a:r>
            <a:r>
              <a:rPr sz="1600" b="0">
                <a:solidFill>
                  <a:srgbClr val="2C3E50"/>
                </a:solidFill>
                <a:latin typeface="Calibri"/>
              </a:rPr>
              <a:t>Die Reichweite geht rauf, es kommt Bewegung rein</a:t>
            </a:r>
          </a:p>
          <a:p>
            <a:pPr>
              <a:spcAft>
                <a:spcPts val="1000"/>
              </a:spcAft>
            </a:pPr>
            <a:r>
              <a:rPr sz="1600" b="1">
                <a:solidFill>
                  <a:srgbClr val="12828C"/>
                </a:solidFill>
                <a:latin typeface="Calibri"/>
              </a:rPr>
              <a:t>–  </a:t>
            </a:r>
            <a:r>
              <a:rPr sz="1600" b="0">
                <a:solidFill>
                  <a:srgbClr val="2C3E50"/>
                </a:solidFill>
                <a:latin typeface="Calibri"/>
              </a:rPr>
              <a:t>Dann kommt eine Woche mit krankem Kind</a:t>
            </a:r>
          </a:p>
          <a:p>
            <a:pPr>
              <a:spcAft>
                <a:spcPts val="1000"/>
              </a:spcAft>
            </a:pPr>
            <a:r>
              <a:rPr sz="1600" b="1">
                <a:solidFill>
                  <a:srgbClr val="12828C"/>
                </a:solidFill>
                <a:latin typeface="Calibri"/>
              </a:rPr>
              <a:t>–  </a:t>
            </a:r>
            <a:r>
              <a:rPr sz="1600" b="0">
                <a:solidFill>
                  <a:srgbClr val="2C3E50"/>
                </a:solidFill>
                <a:latin typeface="Calibri"/>
              </a:rPr>
              <a:t>Und danach kommt es nie wieder zurück — alles fällt zusammen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Rectangle 1"/>
          <p:cNvSpPr/>
          <p:nvPr/>
        </p:nvSpPr>
        <p:spPr>
          <a:xfrm>
            <a:off x="548640" y="1371600"/>
            <a:ext cx="82296" cy="237744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7315200" cy="2377440"/>
          </a:xfrm>
          <a:prstGeom prst="rect">
            <a:avLst/>
          </a:prstGeom>
          <a:noFill/>
        </p:spPr>
        <p:txBody>
          <a:bodyPr wrap="square">
            <a:spAutoFit/>
          </a:bodyPr>
          <a:lstStyle/>
          <a:p>
            <a:r>
              <a:rPr sz="3000" b="1">
                <a:solidFill>
                  <a:srgbClr val="1A3A4A"/>
                </a:solidFill>
                <a:latin typeface="Georgia"/>
              </a:rPr>
              <a:t>Es liegt nie an dir als Person.
Meistens ist einfach
das System zu gross gebaut.</a:t>
            </a:r>
          </a:p>
        </p:txBody>
      </p:sp>
      <p:sp>
        <p:nvSpPr>
          <p:cNvPr id="4" name="TextBox 3"/>
          <p:cNvSpPr txBox="1"/>
          <p:nvPr/>
        </p:nvSpPr>
        <p:spPr>
          <a:xfrm>
            <a:off x="1005840" y="3931920"/>
            <a:ext cx="7315200" cy="457200"/>
          </a:xfrm>
          <a:prstGeom prst="rect">
            <a:avLst/>
          </a:prstGeom>
          <a:noFill/>
        </p:spPr>
        <p:txBody>
          <a:bodyPr wrap="square">
            <a:spAutoFit/>
          </a:bodyPr>
          <a:lstStyle/>
          <a:p>
            <a:r>
              <a:rPr sz="1400" b="0">
                <a:solidFill>
                  <a:srgbClr val="12828C"/>
                </a:solidFill>
                <a:latin typeface="Calibri"/>
              </a:rPr>
              <a:t>Jeden Tag ein Beitrag neben Kindern ist kein Rhythmus. Das ist ein Sprint.</a:t>
            </a:r>
          </a:p>
        </p:txBody>
      </p:sp>
      <p:sp>
        <p:nvSpPr>
          <p:cNvPr id="5" name="TextBox 4"/>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6" name="TextBox 5"/>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Regel, die alles ändert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Wähl EINE Sache. Nicht drei.</a:t>
            </a:r>
          </a:p>
          <a:p>
            <a:pPr>
              <a:spcAft>
                <a:spcPts val="1000"/>
              </a:spcAft>
            </a:pPr>
            <a:r>
              <a:rPr sz="1600" b="1">
                <a:solidFill>
                  <a:srgbClr val="12828C"/>
                </a:solidFill>
                <a:latin typeface="Calibri"/>
              </a:rPr>
              <a:t>✓  </a:t>
            </a:r>
            <a:r>
              <a:rPr sz="1600" b="0">
                <a:solidFill>
                  <a:srgbClr val="2C3E50"/>
                </a:solidFill>
                <a:latin typeface="Calibri"/>
              </a:rPr>
              <a:t>Sie muss so klein sein, dass du sie auch an einem</a:t>
            </a:r>
          </a:p>
          <a:p>
            <a:pPr>
              <a:spcAft>
                <a:spcPts val="1000"/>
              </a:spcAft>
            </a:pPr>
            <a:r>
              <a:rPr sz="1600" b="1">
                <a:solidFill>
                  <a:srgbClr val="12828C"/>
                </a:solidFill>
                <a:latin typeface="Calibri"/>
              </a:rPr>
              <a:t>✓  </a:t>
            </a:r>
            <a:r>
              <a:rPr sz="1600" b="0">
                <a:solidFill>
                  <a:srgbClr val="2C3E50"/>
                </a:solidFill>
                <a:latin typeface="Calibri"/>
              </a:rPr>
              <a:t>beschissenen Tag noch schaffst</a:t>
            </a:r>
          </a:p>
          <a:p>
            <a:pPr>
              <a:spcAft>
                <a:spcPts val="1000"/>
              </a:spcAft>
            </a:pPr>
            <a:r>
              <a:rPr sz="1600" b="1">
                <a:solidFill>
                  <a:srgbClr val="12828C"/>
                </a:solidFill>
                <a:latin typeface="Calibri"/>
              </a:rPr>
              <a:t>✓  </a:t>
            </a:r>
            <a:r>
              <a:rPr sz="1600" b="0">
                <a:solidFill>
                  <a:srgbClr val="2C3E50"/>
                </a:solidFill>
                <a:latin typeface="Calibri"/>
              </a:rPr>
              <a:t>Und sie kriegt eine Notfall-Version für genau diese Tage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So sieht das aus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Jeden Tag eine Story  →  eine einzige Story mit dem Handy im Auto</a:t>
            </a:r>
          </a:p>
          <a:p>
            <a:pPr>
              <a:spcAft>
                <a:spcPts val="1000"/>
              </a:spcAft>
            </a:pPr>
            <a:r>
              <a:rPr sz="1600" b="1">
                <a:solidFill>
                  <a:srgbClr val="12828C"/>
                </a:solidFill>
                <a:latin typeface="Calibri"/>
              </a:rPr>
              <a:t>✓  </a:t>
            </a:r>
            <a:r>
              <a:rPr sz="1600" b="0">
                <a:solidFill>
                  <a:srgbClr val="2C3E50"/>
                </a:solidFill>
                <a:latin typeface="Calibri"/>
              </a:rPr>
              <a:t>Drei Beiträge pro Woche  →  einer, dafür fix am selben Tag</a:t>
            </a:r>
          </a:p>
          <a:p>
            <a:pPr>
              <a:spcAft>
                <a:spcPts val="1000"/>
              </a:spcAft>
            </a:pPr>
            <a:r>
              <a:rPr sz="1600" b="1">
                <a:solidFill>
                  <a:srgbClr val="12828C"/>
                </a:solidFill>
                <a:latin typeface="Calibri"/>
              </a:rPr>
              <a:t>✓  </a:t>
            </a:r>
            <a:r>
              <a:rPr sz="1600" b="0">
                <a:solidFill>
                  <a:srgbClr val="2C3E50"/>
                </a:solidFill>
                <a:latin typeface="Calibri"/>
              </a:rPr>
              <a:t>Jeden Tag zwei echte DMs  →  eine Sprachnachricht an eine Person</a:t>
            </a:r>
          </a:p>
          <a:p>
            <a:pPr>
              <a:spcAft>
                <a:spcPts val="1000"/>
              </a:spcAft>
            </a:pPr>
            <a:r>
              <a:rPr sz="1600" b="1">
                <a:solidFill>
                  <a:srgbClr val="12828C"/>
                </a:solidFill>
                <a:latin typeface="Calibri"/>
              </a:rPr>
              <a:t>✓  </a:t>
            </a:r>
            <a:r>
              <a:rPr sz="1600" b="0">
                <a:solidFill>
                  <a:srgbClr val="2C3E50"/>
                </a:solidFill>
                <a:latin typeface="Calibri"/>
              </a:rPr>
              <a:t>Sonntags die Woche planen  →  zehn Minuten, drei Zeilen, fertig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Rounded Rectangle 1"/>
          <p:cNvSpPr/>
          <p:nvPr/>
        </p:nvSpPr>
        <p:spPr>
          <a:xfrm>
            <a:off x="548640" y="457200"/>
            <a:ext cx="1600200" cy="384048"/>
          </a:xfrm>
          <a:prstGeom prst="round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latin typeface="Calibri"/>
              </a:rPr>
              <a:t>JETZT DU</a:t>
            </a:r>
          </a:p>
        </p:txBody>
      </p:sp>
      <p:sp>
        <p:nvSpPr>
          <p:cNvPr id="3" name="TextBox 2"/>
          <p:cNvSpPr txBox="1"/>
          <p:nvPr/>
        </p:nvSpPr>
        <p:spPr>
          <a:xfrm>
            <a:off x="548640" y="1005840"/>
            <a:ext cx="8046720" cy="822960"/>
          </a:xfrm>
          <a:prstGeom prst="rect">
            <a:avLst/>
          </a:prstGeom>
          <a:noFill/>
        </p:spPr>
        <p:txBody>
          <a:bodyPr wrap="square">
            <a:spAutoFit/>
          </a:bodyPr>
          <a:lstStyle/>
          <a:p>
            <a:r>
              <a:rPr sz="3000" b="1">
                <a:solidFill>
                  <a:srgbClr val="1A3A4A"/>
                </a:solidFill>
                <a:latin typeface="Georgia"/>
              </a:rPr>
              <a:t>Deine eine Sache</a:t>
            </a:r>
          </a:p>
        </p:txBody>
      </p:sp>
      <p:sp>
        <p:nvSpPr>
          <p:cNvPr id="4" name="TextBox 3"/>
          <p:cNvSpPr txBox="1"/>
          <p:nvPr/>
        </p:nvSpPr>
        <p:spPr>
          <a:xfrm>
            <a:off x="548640" y="1965960"/>
            <a:ext cx="8046720" cy="2377440"/>
          </a:xfrm>
          <a:prstGeom prst="rect">
            <a:avLst/>
          </a:prstGeom>
          <a:noFill/>
        </p:spPr>
        <p:txBody>
          <a:bodyPr wrap="square">
            <a:spAutoFit/>
          </a:bodyPr>
          <a:lstStyle/>
          <a:p>
            <a:pPr>
              <a:spcAft>
                <a:spcPts val="1200"/>
              </a:spcAft>
            </a:pPr>
            <a:r>
              <a:rPr sz="1700" b="1">
                <a:solidFill>
                  <a:srgbClr val="DC822E"/>
                </a:solidFill>
                <a:latin typeface="Georgia"/>
              </a:rPr>
              <a:t>1.  </a:t>
            </a:r>
            <a:r>
              <a:rPr sz="1700" b="0">
                <a:solidFill>
                  <a:srgbClr val="2C3E50"/>
                </a:solidFill>
                <a:latin typeface="Calibri"/>
              </a:rPr>
              <a:t>Meine eine Sache für die nächsten vier Wochen: …</a:t>
            </a:r>
          </a:p>
          <a:p>
            <a:pPr>
              <a:spcAft>
                <a:spcPts val="1200"/>
              </a:spcAft>
            </a:pPr>
            <a:r>
              <a:rPr sz="1700" b="1">
                <a:solidFill>
                  <a:srgbClr val="DC822E"/>
                </a:solidFill>
                <a:latin typeface="Georgia"/>
              </a:rPr>
              <a:t>2.  </a:t>
            </a:r>
            <a:r>
              <a:rPr sz="1700" b="0">
                <a:solidFill>
                  <a:srgbClr val="2C3E50"/>
                </a:solidFill>
                <a:latin typeface="Calibri"/>
              </a:rPr>
              <a:t>Meine Notfall-Version für schlechte Tage: …</a:t>
            </a:r>
          </a:p>
        </p:txBody>
      </p:sp>
      <p:sp>
        <p:nvSpPr>
          <p:cNvPr id="5" name="TextBox 4"/>
          <p:cNvSpPr txBox="1"/>
          <p:nvPr/>
        </p:nvSpPr>
        <p:spPr>
          <a:xfrm>
            <a:off x="548640" y="4343400"/>
            <a:ext cx="8046720" cy="365760"/>
          </a:xfrm>
          <a:prstGeom prst="rect">
            <a:avLst/>
          </a:prstGeom>
          <a:noFill/>
        </p:spPr>
        <p:txBody>
          <a:bodyPr wrap="square">
            <a:spAutoFit/>
          </a:bodyPr>
          <a:lstStyle/>
          <a:p>
            <a:r>
              <a:rPr sz="1300" b="0">
                <a:solidFill>
                  <a:srgbClr val="12828C"/>
                </a:solidFill>
                <a:latin typeface="Calibri"/>
              </a:rPr>
              <a:t>Zwei Zeilen — danach sagst du sie laut in die Runde.</a:t>
            </a:r>
          </a:p>
        </p:txBody>
      </p:sp>
      <p:sp>
        <p:nvSpPr>
          <p:cNvPr id="6" name="TextBox 5"/>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7" name="TextBox 6"/>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Deine Aufgabe für vier Wochen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Vier Wochen deine eine Sache durchziehen</a:t>
            </a:r>
          </a:p>
          <a:p>
            <a:pPr>
              <a:spcAft>
                <a:spcPts val="1000"/>
              </a:spcAft>
            </a:pPr>
            <a:r>
              <a:rPr sz="1600" b="1">
                <a:solidFill>
                  <a:srgbClr val="12828C"/>
                </a:solidFill>
                <a:latin typeface="Calibri"/>
              </a:rPr>
              <a:t>✓  </a:t>
            </a:r>
            <a:r>
              <a:rPr sz="1600" b="0">
                <a:solidFill>
                  <a:srgbClr val="2C3E50"/>
                </a:solidFill>
                <a:latin typeface="Calibri"/>
              </a:rPr>
              <a:t>Jede Woche drei Zeilen bei uns im Fragen-Bereich</a:t>
            </a:r>
          </a:p>
          <a:p>
            <a:pPr>
              <a:spcAft>
                <a:spcPts val="1000"/>
              </a:spcAft>
            </a:pPr>
            <a:r>
              <a:rPr sz="1600" b="1">
                <a:solidFill>
                  <a:srgbClr val="12828C"/>
                </a:solidFill>
                <a:latin typeface="Calibri"/>
              </a:rPr>
              <a:t>✓  </a:t>
            </a:r>
            <a:r>
              <a:rPr sz="1600" b="0">
                <a:solidFill>
                  <a:srgbClr val="2C3E50"/>
                </a:solidFill>
                <a:latin typeface="Calibri"/>
              </a:rPr>
              <a:t>Meine Sache · Durchgezogen: ja / mit Notfall-Version / nein</a:t>
            </a:r>
          </a:p>
          <a:p>
            <a:pPr>
              <a:spcAft>
                <a:spcPts val="1000"/>
              </a:spcAft>
            </a:pPr>
            <a:r>
              <a:rPr sz="1600" b="1">
                <a:solidFill>
                  <a:srgbClr val="12828C"/>
                </a:solidFill>
                <a:latin typeface="Calibri"/>
              </a:rPr>
              <a:t>✓  </a:t>
            </a:r>
            <a:r>
              <a:rPr sz="1600" b="0">
                <a:solidFill>
                  <a:srgbClr val="2C3E50"/>
                </a:solidFill>
                <a:latin typeface="Calibri"/>
              </a:rPr>
              <a:t>Was passiert ist — und da geht es NICHT ums Geld</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Und wenn eine Woche nicht klappt?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Dann schreibst du genau das rein</a:t>
            </a:r>
          </a:p>
          <a:p>
            <a:pPr>
              <a:spcAft>
                <a:spcPts val="1000"/>
              </a:spcAft>
            </a:pPr>
            <a:r>
              <a:rPr sz="1600" b="1">
                <a:solidFill>
                  <a:srgbClr val="12828C"/>
                </a:solidFill>
                <a:latin typeface="Calibri"/>
              </a:rPr>
              <a:t>✓  </a:t>
            </a:r>
            <a:r>
              <a:rPr sz="1600" b="0">
                <a:solidFill>
                  <a:srgbClr val="2C3E50"/>
                </a:solidFill>
                <a:latin typeface="Calibri"/>
              </a:rPr>
              <a:t>Wir schauen gemeinsam, ob deine Sache zu gross gebaut war</a:t>
            </a:r>
          </a:p>
          <a:p>
            <a:pPr>
              <a:spcAft>
                <a:spcPts val="1000"/>
              </a:spcAft>
            </a:pPr>
            <a:r>
              <a:rPr sz="1600" b="1">
                <a:solidFill>
                  <a:srgbClr val="12828C"/>
                </a:solidFill>
                <a:latin typeface="Calibri"/>
              </a:rPr>
              <a:t>✓  </a:t>
            </a:r>
            <a:r>
              <a:rPr sz="1600" b="0">
                <a:solidFill>
                  <a:srgbClr val="2C3E50"/>
                </a:solidFill>
                <a:latin typeface="Calibri"/>
              </a:rPr>
              <a:t>Dranbleiben heisst nicht lückenlos — es heisst zurückkommen</a:t>
            </a:r>
          </a:p>
          <a:p>
            <a:pPr>
              <a:spcAft>
                <a:spcPts val="1000"/>
              </a:spcAft>
            </a:pPr>
            <a:r>
              <a:rPr sz="1600" b="1">
                <a:solidFill>
                  <a:srgbClr val="12828C"/>
                </a:solidFill>
                <a:latin typeface="Calibri"/>
              </a:rPr>
              <a:t>✓  </a:t>
            </a:r>
            <a:r>
              <a:rPr sz="1600" b="0">
                <a:solidFill>
                  <a:srgbClr val="2C3E50"/>
                </a:solidFill>
                <a:latin typeface="Calibri"/>
              </a:rPr>
              <a:t>Aufhören ist das Einzige, was hier wirklich nicht funktioniert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Wie es weitergeht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Zwei Calls im Monat — ein Thema mit euren Fragen, einer nur für Fragen</a:t>
            </a:r>
          </a:p>
          <a:p>
            <a:pPr>
              <a:spcAft>
                <a:spcPts val="1000"/>
              </a:spcAft>
            </a:pPr>
            <a:r>
              <a:rPr sz="1600" b="1">
                <a:solidFill>
                  <a:srgbClr val="12828C"/>
                </a:solidFill>
                <a:latin typeface="Calibri"/>
              </a:rPr>
              <a:t>✓  </a:t>
            </a:r>
            <a:r>
              <a:rPr sz="1600" b="0">
                <a:solidFill>
                  <a:srgbClr val="2C3E50"/>
                </a:solidFill>
                <a:latin typeface="Calibri"/>
              </a:rPr>
              <a:t>Alles wird aufgezeichnet und liegt in der Academy</a:t>
            </a:r>
          </a:p>
          <a:p>
            <a:pPr>
              <a:spcAft>
                <a:spcPts val="1000"/>
              </a:spcAft>
            </a:pPr>
            <a:r>
              <a:rPr sz="1600" b="1">
                <a:solidFill>
                  <a:srgbClr val="12828C"/>
                </a:solidFill>
                <a:latin typeface="Calibri"/>
              </a:rPr>
              <a:t>✓  </a:t>
            </a:r>
            <a:r>
              <a:rPr sz="1600" b="0">
                <a:solidFill>
                  <a:srgbClr val="2C3E50"/>
                </a:solidFill>
                <a:latin typeface="Calibri"/>
              </a:rPr>
              <a:t>Zwischendurch: Fragen-Bereich, ich bin Di &amp; Do drin</a:t>
            </a:r>
          </a:p>
          <a:p>
            <a:pPr>
              <a:spcAft>
                <a:spcPts val="1000"/>
              </a:spcAft>
            </a:pPr>
            <a:r>
              <a:rPr sz="1600" b="1">
                <a:solidFill>
                  <a:srgbClr val="12828C"/>
                </a:solidFill>
                <a:latin typeface="Calibri"/>
              </a:rPr>
              <a:t>✓  </a:t>
            </a:r>
            <a:r>
              <a:rPr sz="1600" b="0">
                <a:solidFill>
                  <a:srgbClr val="2C3E50"/>
                </a:solidFill>
                <a:latin typeface="Calibri"/>
              </a:rPr>
              <a:t>Nächster Themen-Call: deine vier Wochen — und dein Thema</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MBA · Umsetzerinnen-Call 1 · Dranbleiben &amp; Konsistenz</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