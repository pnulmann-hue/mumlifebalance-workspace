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(15-20 Sek):
„Willkommen in Mama-CEO. Bevor wir tief in die Strukturen reingehen, klären wir ehrlich was das hier ist und was es nicht ist. Weil es viele Bilder von „Erfolgsfrau" gibt die zu uns Mamas nicht passen — und ich will dass du genau weisst worauf du dich eingelassen hast. Am Ende kannst du jemandem in 30 Sekunden erklären was Mama-CEO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Sachen in dieser Lektion. Erstens — was ist Mama-CEO konkret? Ich räume auf mit zwei Bildern die nicht zu uns passen: die Bali-Coachin und die 80-Stunden-Workaholic. Zweitens — der zentrale Mindset-Shift, von der Macherin die alles selbst tut zur Entscheiderin die führt. Und drittens — warum das nicht nur dein Business verändert, sondern wie du dich am Abend fühlst."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„Schau dir das alte Bild an — drei Symptome die ich bei fast jeder Mama-Solopreneurin sehe. Erstens: du machst alles selbst. Jede Aufgabe ist deine, vom Reel-Schnitt bis zur Steuer. Zweitens: du wartest auf eine bessere Phase. „Sobald die Kinder grösser sind, gebe ich Vollgas" — die echte Phase kommt später. Und drittens: du misst dich heimlich an Frauen die anders strukturiert sind. Die Single-Coachin auf Bali, die Influencerin ohne Kinder. Du hängst hinterher in einem Rennen das nicht deins ist. Das ist das Macher-Modus-Bild. Mama-CEO ist das Gegenteil."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„Das ist der zentrale Satz. Mama-CEO ist nicht mehr arbeiten — du hast als Mama keine Stunden mehr übrig. Mama-CEO ist ANDERS arbeiten. Du wirst von der Macherin zur Entscheiderin. Eine Macherin arbeitet die ganze Woche und ist am Sonntag fertig — sie weiss aber nicht ob es weitergebracht hat. Eine Entscheiderin arbeitet bewusst, entscheidet was nicht von ihr gemacht werden muss, und weiss am Sonntag ganz genau was diese Woche gebracht hat. Diesen Shift bauen wir in 8 Wochen."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Shifts. Erstens — von Macherin zu Entscheiderin. Du tust nicht mehr alles selbst, du entscheidest was getan wird, wann und von wem. Wem ist hier wichtig — das kann KI sein, das kann auch deine Schwester oder dein Mann sein, aber selten DU für alles. Zweitens — von Liste zu Rolle. Wir hören auf To-Do-Listen abzuarbeiten und fangen an in vier Wochen-Rollen zu denken, das vertiefen wir in Modul 1.4. Drittens — von Solo zu System. Du bist nicht mehr deine eigene Mitarbeiterin. Du baust dir ein System aus KI, Notion und Workflows. Das ist Modul 2 bis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„Kurz zu mir, damit du weisst woher das hier kommt. Ich war 2 Jahre lang die fleissigste Mama im Raum. Wochenplan-Apps, Productivity-Hacks, Schichten bis 22 Uhr — ich habe alles probiert was im Internet stand. Mein Wendepunkt kam im Mai 2025 als ich verstanden habe: das ist kein Disziplin-Problem. Ich bin nicht zu wenig diszipliniert. Es ist ein Hands-Problem — mir fehlen einfach Hände. Und das war die Geburtsstunde von Mama-CEO: Hände kommen heute von KI. Wir bauen dir KI-Mitarbeiter die genau die Sachen machen die du nicht selbst machen musst. Und das verändert wie du dich am Abend fühlst — du wirst nicht mehr ins Bett fallen weil alles aus war, sondern weil du bewusst Schluss gemacht hast."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konkrete Unterschiede. Erste Frage: Mompreneurin denkt „ich mache das selbst, am schnellsten". Mama-CEO denkt „wer oder was kann das übernehmen, bei gleicher Qualität". Zweitens: Mompreneurin hat am Donnerstag noch keinen Plan für Freitag. Mama-CEO weiss Sonntagabend wie ihre Woche läuft. Drittens: Mompreneurin schreibt abends „nur noch eine Mail" — und dann ist es 23 Uhr. Mama-CEO entweder ist abends ein bewusster Power-Slot oder es ist Schluss, beides hat klare Grenzen. Und viertens — der wichtigste Unterschied — Mompreneurin denkt Wachstum gleich mehr arbeiten. Mama-CEO denkt Wachstum gleich besser entscheiden plus KI dazu. Das ist der Kern."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„Damit es ehrlich ist — drei Sachen die Mama-CEO ausdrücklich nicht ist. Erstens: kein Bali-Hustle, kein „sechs-stellig in 90 Tagen". Ich verspreche dir nicht den schnellen Reichtum, ich verspreche dir ein System das hält. Zweitens: kein Done-for-you. Ich nehme dir nichts ab — ich zeige dir Schritt für Schritt was du selbst baust. Du bist die Entscheiderin, du baust dein System. Drittens: keine Garantie. Wenn du das hier konsumierst und nicht umsetzt, passiert nichts. Mama-CEO ist für Frauen die TUN. 100 Prozent liegt das an 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Takeaways. Mama-CEO ist anders arbeiten, nicht mehr arbeiten. Du wechselst von Macherin zu Entscheiderin. Die drei Shifts kennst du jetzt — Macherin zu Entscheiderin, Liste zu Rolle, Solo zu System. Und ganz wichtig: Mama-CEO ist kein Bali-Hustle und kein Done-for-you. Du baust das hier selbst — ich begleite dich, aber bauen tust 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(20-30 Sek):
„Bevor du zur nächsten Lektion gehst — öffne das Arbeitsblatt und mach das jetzt. In zwei, drei Sätzen schreibst du auf was Mama-CEO für DICH bedeutet. In deinen Worten, nicht in meinen. Und welcher der drei Shifts dich am meisten anfasst — von Macherin zu Entscheiderin, von Liste zu Rolle, oder von Solo zu System. Diese eigene Definition ist dein Anker für die ganzen 8 Wochen. Wenn du zwischendurch verloren gehst, schaust du da wieder hin.
In Lektion 1.2 geht es um das eine Mantra das alles trägt: 100 Prozent Selbstverantwortung. Niemand wird kommen und dich retten. Klingt hart, ist aber das Freieste was du in 8 Wochen lernst."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D"/>
        </a:solidFill>
      </p:bgPr>
    </p:bg>
    <p:spTree>
      <p:nvGrpSpPr>
        <p:cNvPr id="1" name=""/>
        <p:cNvGrpSpPr/>
        <p:nvPr/>
      </p:nvGrpSpPr>
      <p:grpSpPr>
        <a:xfrm>
          <a:off x="0" y="0"/>
          <a:ext cx="0" cy="0"/>
          <a:chOff x="0" y="0"/>
          <a:chExt cx="0" cy="0"/>
        </a:xfrm>
      </p:grpSpPr>
      <p:sp>
        <p:nvSpPr>
          <p:cNvPr id="2" name="Shape 0"/>
          <p:cNvSpPr/>
          <p:nvPr/>
        </p:nvSpPr>
        <p:spPr>
          <a:xfrm>
            <a:off x="6858000" y="3840480"/>
            <a:ext cx="3200400" cy="3200400"/>
          </a:xfrm>
          <a:prstGeom prst="ellipse">
            <a:avLst/>
          </a:prstGeom>
          <a:solidFill>
            <a:srgbClr val="DC822E">
              <a:alpha val="25000"/>
            </a:srgbClr>
          </a:solidFill>
          <a:ln w="12700">
            <a:solidFill>
              <a:srgbClr val="DC822E">
                <a:alpha val="0"/>
              </a:srgbClr>
            </a:solidFill>
            <a:prstDash val="solid"/>
          </a:ln>
        </p:spPr>
      </p:sp>
      <p:sp>
        <p:nvSpPr>
          <p:cNvPr id="3" name="Text 1"/>
          <p:cNvSpPr/>
          <p:nvPr/>
        </p:nvSpPr>
        <p:spPr>
          <a:xfrm>
            <a:off x="548640" y="548640"/>
            <a:ext cx="8046720" cy="36576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MODUL 1 · MINDSET-RESET FÜR MAMA-CEO</a:t>
            </a:r>
            <a:endParaRPr lang="en-US" sz="1100" dirty="0"/>
          </a:p>
        </p:txBody>
      </p:sp>
      <p:sp>
        <p:nvSpPr>
          <p:cNvPr id="4" name="Shape 2"/>
          <p:cNvSpPr/>
          <p:nvPr/>
        </p:nvSpPr>
        <p:spPr>
          <a:xfrm>
            <a:off x="548640" y="960120"/>
            <a:ext cx="548640" cy="36576"/>
          </a:xfrm>
          <a:prstGeom prst="rect">
            <a:avLst/>
          </a:prstGeom>
          <a:solidFill>
            <a:srgbClr val="DC822E"/>
          </a:solidFill>
          <a:ln w="12700">
            <a:solidFill>
              <a:srgbClr val="DC822E">
                <a:alpha val="0"/>
              </a:srgbClr>
            </a:solidFill>
            <a:prstDash val="solid"/>
          </a:ln>
        </p:spPr>
      </p:sp>
      <p:sp>
        <p:nvSpPr>
          <p:cNvPr id="5" name="Text 3"/>
          <p:cNvSpPr/>
          <p:nvPr/>
        </p:nvSpPr>
        <p:spPr>
          <a:xfrm>
            <a:off x="548640" y="1280160"/>
            <a:ext cx="8046720" cy="1371600"/>
          </a:xfrm>
          <a:prstGeom prst="rect">
            <a:avLst/>
          </a:prstGeom>
          <a:noFill/>
          <a:ln/>
        </p:spPr>
        <p:txBody>
          <a:bodyPr wrap="square" lIns="0" tIns="0" rIns="0" bIns="0" rtlCol="0" anchor="t"/>
          <a:lstStyle/>
          <a:p>
            <a:pPr indent="0" marL="0">
              <a:buNone/>
            </a:pPr>
            <a:r>
              <a:rPr lang="en-US" sz="4800" b="1" dirty="0">
                <a:solidFill>
                  <a:srgbClr val="1A3A4A"/>
                </a:solidFill>
                <a:latin typeface="Georgia" pitchFamily="34" charset="0"/>
                <a:ea typeface="Georgia" pitchFamily="34" charset="-122"/>
                <a:cs typeface="Georgia" pitchFamily="34" charset="-120"/>
              </a:rPr>
              <a:t>Was ist Mama-CEO?</a:t>
            </a:r>
            <a:endParaRPr lang="en-US" sz="4800" dirty="0"/>
          </a:p>
        </p:txBody>
      </p:sp>
      <p:sp>
        <p:nvSpPr>
          <p:cNvPr id="6" name="Text 4"/>
          <p:cNvSpPr/>
          <p:nvPr/>
        </p:nvSpPr>
        <p:spPr>
          <a:xfrm>
            <a:off x="548640" y="2743200"/>
            <a:ext cx="8046720" cy="1371600"/>
          </a:xfrm>
          <a:prstGeom prst="rect">
            <a:avLst/>
          </a:prstGeom>
          <a:noFill/>
          <a:ln/>
        </p:spPr>
        <p:txBody>
          <a:bodyPr wrap="square" lIns="0" tIns="0" rIns="0" bIns="0" rtlCol="0" anchor="t"/>
          <a:lstStyle/>
          <a:p>
            <a:pPr indent="0" marL="0">
              <a:buNone/>
            </a:pPr>
            <a:r>
              <a:rPr lang="en-US" sz="1800" i="1" dirty="0">
                <a:solidFill>
                  <a:srgbClr val="2C3E50"/>
                </a:solidFill>
                <a:latin typeface="Georgia" pitchFamily="34" charset="0"/>
                <a:ea typeface="Georgia" pitchFamily="34" charset="-122"/>
                <a:cs typeface="Georgia" pitchFamily="34" charset="-120"/>
              </a:rPr>
              <a:t>Damit du weisst worauf du dich eingelassen hast —</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und warum es nichts mit „Bali-Coachin" zu tun hat.</a:t>
            </a:r>
            <a:endParaRPr lang="en-US" sz="1800" dirty="0"/>
          </a:p>
        </p:txBody>
      </p:sp>
      <p:sp>
        <p:nvSpPr>
          <p:cNvPr id="7" name="Text 5"/>
          <p:cNvSpPr/>
          <p:nvPr/>
        </p:nvSpPr>
        <p:spPr>
          <a:xfrm>
            <a:off x="548640" y="4572000"/>
            <a:ext cx="3657600" cy="365760"/>
          </a:xfrm>
          <a:prstGeom prst="rect">
            <a:avLst/>
          </a:prstGeom>
          <a:noFill/>
          <a:ln/>
        </p:spPr>
        <p:txBody>
          <a:bodyPr wrap="square" rtlCol="0" anchor="ctr"/>
          <a:lstStyle/>
          <a:p>
            <a:pPr indent="0" marL="0">
              <a:buNone/>
            </a:pPr>
            <a:r>
              <a:rPr lang="en-US" sz="1200" b="1" dirty="0">
                <a:solidFill>
                  <a:srgbClr val="12828C"/>
                </a:solidFill>
                <a:latin typeface="Calibri" pitchFamily="34" charset="0"/>
                <a:ea typeface="Calibri" pitchFamily="34" charset="-122"/>
                <a:cs typeface="Calibri" pitchFamily="34" charset="-120"/>
              </a:rPr>
              <a:t>Patricia Ulmann</a:t>
            </a:r>
            <a:endParaRPr lang="en-US" sz="1200" dirty="0"/>
          </a:p>
        </p:txBody>
      </p:sp>
      <p:sp>
        <p:nvSpPr>
          <p:cNvPr id="8" name="Text 6"/>
          <p:cNvSpPr/>
          <p:nvPr/>
        </p:nvSpPr>
        <p:spPr>
          <a:xfrm>
            <a:off x="4937760" y="4572000"/>
            <a:ext cx="3657600" cy="365760"/>
          </a:xfrm>
          <a:prstGeom prst="rect">
            <a:avLst/>
          </a:prstGeom>
          <a:noFill/>
          <a:ln/>
        </p:spPr>
        <p:txBody>
          <a:bodyPr wrap="square" rtlCol="0" anchor="ctr"/>
          <a:lstStyle/>
          <a:p>
            <a:pPr algn="r" indent="0" marL="0">
              <a:buNone/>
            </a:pPr>
            <a:r>
              <a:rPr lang="en-US" sz="1100" dirty="0">
                <a:solidFill>
                  <a:srgbClr val="7A8A95"/>
                </a:solidFill>
                <a:latin typeface="Calibri" pitchFamily="34" charset="0"/>
                <a:ea typeface="Calibri" pitchFamily="34" charset="-122"/>
                <a:cs typeface="Calibri" pitchFamily="34" charset="-120"/>
              </a:rPr>
              <a:t>mumlifebalance.ch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274320"/>
          </a:xfrm>
          <a:prstGeom prst="rect">
            <a:avLst/>
          </a:prstGeom>
          <a:noFill/>
          <a:ln/>
        </p:spPr>
        <p:txBody>
          <a:bodyPr wrap="square" rtlCol="0" anchor="ctr"/>
          <a:lstStyle/>
          <a:p>
            <a:pPr indent="0" marL="0">
              <a:buNone/>
            </a:pPr>
            <a:r>
              <a:rPr lang="en-US" sz="1000" b="1" spc="400" kern="0" dirty="0">
                <a:solidFill>
                  <a:srgbClr val="DC822E"/>
                </a:solidFill>
                <a:latin typeface="Calibri" pitchFamily="34" charset="0"/>
                <a:ea typeface="Calibri" pitchFamily="34" charset="-122"/>
                <a:cs typeface="Calibri" pitchFamily="34" charset="-120"/>
              </a:rPr>
              <a:t>LEKTION 1.1</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Was du in den nächsten Minuten lernst</a:t>
            </a:r>
            <a:endParaRPr lang="en-US" sz="3200" dirty="0"/>
          </a:p>
        </p:txBody>
      </p:sp>
      <p:sp>
        <p:nvSpPr>
          <p:cNvPr id="4" name="Shape 2"/>
          <p:cNvSpPr/>
          <p:nvPr/>
        </p:nvSpPr>
        <p:spPr>
          <a:xfrm>
            <a:off x="548640" y="1828800"/>
            <a:ext cx="731520" cy="36576"/>
          </a:xfrm>
          <a:prstGeom prst="rect">
            <a:avLst/>
          </a:prstGeom>
          <a:solidFill>
            <a:srgbClr val="DC822E"/>
          </a:solidFill>
          <a:ln w="12700">
            <a:solidFill>
              <a:srgbClr val="DC822E">
                <a:alpha val="0"/>
              </a:srgbClr>
            </a:solidFill>
            <a:prstDash val="solid"/>
          </a:ln>
        </p:spPr>
      </p:sp>
      <p:sp>
        <p:nvSpPr>
          <p:cNvPr id="5" name="Shape 3"/>
          <p:cNvSpPr/>
          <p:nvPr/>
        </p:nvSpPr>
        <p:spPr>
          <a:xfrm>
            <a:off x="548640" y="2377440"/>
            <a:ext cx="457200" cy="457200"/>
          </a:xfrm>
          <a:prstGeom prst="ellipse">
            <a:avLst/>
          </a:prstGeom>
          <a:solidFill>
            <a:srgbClr val="12828C"/>
          </a:solidFill>
          <a:ln w="12700">
            <a:solidFill>
              <a:srgbClr val="12828C">
                <a:alpha val="0"/>
              </a:srgbClr>
            </a:solidFill>
            <a:prstDash val="solid"/>
          </a:ln>
        </p:spPr>
      </p:sp>
      <p:sp>
        <p:nvSpPr>
          <p:cNvPr id="6" name="Text 4"/>
          <p:cNvSpPr/>
          <p:nvPr/>
        </p:nvSpPr>
        <p:spPr>
          <a:xfrm>
            <a:off x="54864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188720" y="237744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Was Mama-CEO konkret ist — und was es NICHT ist</a:t>
            </a:r>
            <a:endParaRPr lang="en-US" sz="1800" dirty="0"/>
          </a:p>
        </p:txBody>
      </p:sp>
      <p:sp>
        <p:nvSpPr>
          <p:cNvPr id="8" name="Shape 6"/>
          <p:cNvSpPr/>
          <p:nvPr/>
        </p:nvSpPr>
        <p:spPr>
          <a:xfrm>
            <a:off x="548640" y="3108960"/>
            <a:ext cx="457200" cy="457200"/>
          </a:xfrm>
          <a:prstGeom prst="ellipse">
            <a:avLst/>
          </a:prstGeom>
          <a:solidFill>
            <a:srgbClr val="12828C"/>
          </a:solidFill>
          <a:ln w="12700">
            <a:solidFill>
              <a:srgbClr val="12828C">
                <a:alpha val="0"/>
              </a:srgbClr>
            </a:solidFill>
            <a:prstDash val="solid"/>
          </a:ln>
        </p:spPr>
      </p:sp>
      <p:sp>
        <p:nvSpPr>
          <p:cNvPr id="9" name="Text 7"/>
          <p:cNvSpPr/>
          <p:nvPr/>
        </p:nvSpPr>
        <p:spPr>
          <a:xfrm>
            <a:off x="54864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0" name="Text 8"/>
          <p:cNvSpPr/>
          <p:nvPr/>
        </p:nvSpPr>
        <p:spPr>
          <a:xfrm>
            <a:off x="1188720" y="310896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Den zentralen Shift: von der Macherin zur Entscheiderin</a:t>
            </a:r>
            <a:endParaRPr lang="en-US" sz="1800" dirty="0"/>
          </a:p>
        </p:txBody>
      </p:sp>
      <p:sp>
        <p:nvSpPr>
          <p:cNvPr id="11" name="Shape 9"/>
          <p:cNvSpPr/>
          <p:nvPr/>
        </p:nvSpPr>
        <p:spPr>
          <a:xfrm>
            <a:off x="548640" y="3840480"/>
            <a:ext cx="457200" cy="457200"/>
          </a:xfrm>
          <a:prstGeom prst="ellipse">
            <a:avLst/>
          </a:prstGeom>
          <a:solidFill>
            <a:srgbClr val="12828C"/>
          </a:solidFill>
          <a:ln w="12700">
            <a:solidFill>
              <a:srgbClr val="12828C">
                <a:alpha val="0"/>
              </a:srgbClr>
            </a:solidFill>
            <a:prstDash val="solid"/>
          </a:ln>
        </p:spPr>
      </p:sp>
      <p:sp>
        <p:nvSpPr>
          <p:cNvPr id="12" name="Text 10"/>
          <p:cNvSpPr/>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3" name="Text 11"/>
          <p:cNvSpPr/>
          <p:nvPr/>
        </p:nvSpPr>
        <p:spPr>
          <a:xfrm>
            <a:off x="1188720" y="384048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Warum dieser Shift dein Business UND deinen Mama-Alltag verändert</a:t>
            </a:r>
            <a:endParaRPr lang="en-US" sz="1800" dirty="0"/>
          </a:p>
        </p:txBody>
      </p:sp>
      <p:sp>
        <p:nvSpPr>
          <p:cNvPr id="14" name="Text 12"/>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5" name="Text 13"/>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indent="0" marL="0">
              <a:buNone/>
            </a:pPr>
            <a:r>
              <a:rPr lang="en-US" sz="2800" b="1" dirty="0">
                <a:solidFill>
                  <a:srgbClr val="1A3A4A"/>
                </a:solidFill>
                <a:latin typeface="Georgia" pitchFamily="34" charset="0"/>
                <a:ea typeface="Georgia" pitchFamily="34" charset="-122"/>
                <a:cs typeface="Georgia" pitchFamily="34" charset="-120"/>
              </a:rPr>
              <a:t>Wahrscheinlich kennst du das alte Bild</a:t>
            </a:r>
            <a:endParaRPr lang="en-US" sz="2800" dirty="0"/>
          </a:p>
        </p:txBody>
      </p:sp>
      <p:sp>
        <p:nvSpPr>
          <p:cNvPr id="3" name="Shape 1"/>
          <p:cNvSpPr/>
          <p:nvPr/>
        </p:nvSpPr>
        <p:spPr>
          <a:xfrm>
            <a:off x="548640" y="2103120"/>
            <a:ext cx="2651760" cy="2377440"/>
          </a:xfrm>
          <a:prstGeom prst="rect">
            <a:avLst/>
          </a:prstGeom>
          <a:solidFill>
            <a:srgbClr val="F1ECDD"/>
          </a:solidFill>
          <a:ln w="12700">
            <a:solidFill>
              <a:srgbClr val="F1ECDD">
                <a:alpha val="0"/>
              </a:srgbClr>
            </a:solidFill>
            <a:prstDash val="solid"/>
          </a:ln>
        </p:spPr>
      </p:sp>
      <p:sp>
        <p:nvSpPr>
          <p:cNvPr id="4" name="Shape 2"/>
          <p:cNvSpPr/>
          <p:nvPr/>
        </p:nvSpPr>
        <p:spPr>
          <a:xfrm>
            <a:off x="548640" y="2103120"/>
            <a:ext cx="73152" cy="2377440"/>
          </a:xfrm>
          <a:prstGeom prst="rect">
            <a:avLst/>
          </a:prstGeom>
          <a:solidFill>
            <a:srgbClr val="12828C"/>
          </a:solidFill>
          <a:ln w="12700">
            <a:solidFill>
              <a:srgbClr val="12828C">
                <a:alpha val="0"/>
              </a:srgbClr>
            </a:solidFill>
            <a:prstDash val="solid"/>
          </a:ln>
        </p:spPr>
      </p:sp>
      <p:sp>
        <p:nvSpPr>
          <p:cNvPr id="5" name="Text 3"/>
          <p:cNvSpPr/>
          <p:nvPr/>
        </p:nvSpPr>
        <p:spPr>
          <a:xfrm>
            <a:off x="82296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Du machst alles</a:t>
            </a:r>
            <a:endParaRPr lang="en-US" sz="2200" dirty="0"/>
          </a:p>
        </p:txBody>
      </p:sp>
      <p:sp>
        <p:nvSpPr>
          <p:cNvPr id="6" name="Text 4"/>
          <p:cNvSpPr/>
          <p:nvPr/>
        </p:nvSpPr>
        <p:spPr>
          <a:xfrm>
            <a:off x="82296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Content, Kunden, Mails, Salespage, Telegram-Posts, Reels, Buchhaltung.</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Jede Aufgabe ist deine.</a:t>
            </a:r>
            <a:endParaRPr lang="en-US" sz="1500" dirty="0"/>
          </a:p>
        </p:txBody>
      </p:sp>
      <p:sp>
        <p:nvSpPr>
          <p:cNvPr id="7" name="Shape 5"/>
          <p:cNvSpPr/>
          <p:nvPr/>
        </p:nvSpPr>
        <p:spPr>
          <a:xfrm>
            <a:off x="3337560" y="2103120"/>
            <a:ext cx="2651760" cy="2377440"/>
          </a:xfrm>
          <a:prstGeom prst="rect">
            <a:avLst/>
          </a:prstGeom>
          <a:solidFill>
            <a:srgbClr val="F1ECDD"/>
          </a:solidFill>
          <a:ln w="12700">
            <a:solidFill>
              <a:srgbClr val="F1ECDD">
                <a:alpha val="0"/>
              </a:srgbClr>
            </a:solidFill>
            <a:prstDash val="solid"/>
          </a:ln>
        </p:spPr>
      </p:sp>
      <p:sp>
        <p:nvSpPr>
          <p:cNvPr id="8" name="Shape 6"/>
          <p:cNvSpPr/>
          <p:nvPr/>
        </p:nvSpPr>
        <p:spPr>
          <a:xfrm>
            <a:off x="3337560" y="2103120"/>
            <a:ext cx="73152" cy="2377440"/>
          </a:xfrm>
          <a:prstGeom prst="rect">
            <a:avLst/>
          </a:prstGeom>
          <a:solidFill>
            <a:srgbClr val="12828C"/>
          </a:solidFill>
          <a:ln w="12700">
            <a:solidFill>
              <a:srgbClr val="12828C">
                <a:alpha val="0"/>
              </a:srgbClr>
            </a:solidFill>
            <a:prstDash val="solid"/>
          </a:ln>
        </p:spPr>
      </p:sp>
      <p:sp>
        <p:nvSpPr>
          <p:cNvPr id="9" name="Text 7"/>
          <p:cNvSpPr/>
          <p:nvPr/>
        </p:nvSpPr>
        <p:spPr>
          <a:xfrm>
            <a:off x="361188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Du wartest auf Energie</a:t>
            </a:r>
            <a:endParaRPr lang="en-US" sz="2200" dirty="0"/>
          </a:p>
        </p:txBody>
      </p:sp>
      <p:sp>
        <p:nvSpPr>
          <p:cNvPr id="10" name="Text 8"/>
          <p:cNvSpPr/>
          <p:nvPr/>
        </p:nvSpPr>
        <p:spPr>
          <a:xfrm>
            <a:off x="361188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Sobald die Kinder gross sind, wirst du Vollgas geben.</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Die „echte" Phase kommt später.</a:t>
            </a:r>
            <a:endParaRPr lang="en-US" sz="1500" dirty="0"/>
          </a:p>
        </p:txBody>
      </p:sp>
      <p:sp>
        <p:nvSpPr>
          <p:cNvPr id="11" name="Shape 9"/>
          <p:cNvSpPr/>
          <p:nvPr/>
        </p:nvSpPr>
        <p:spPr>
          <a:xfrm>
            <a:off x="6126480" y="2103120"/>
            <a:ext cx="2651760" cy="2377440"/>
          </a:xfrm>
          <a:prstGeom prst="rect">
            <a:avLst/>
          </a:prstGeom>
          <a:solidFill>
            <a:srgbClr val="F1ECDD"/>
          </a:solidFill>
          <a:ln w="12700">
            <a:solidFill>
              <a:srgbClr val="F1ECDD">
                <a:alpha val="0"/>
              </a:srgbClr>
            </a:solidFill>
            <a:prstDash val="solid"/>
          </a:ln>
        </p:spPr>
      </p:sp>
      <p:sp>
        <p:nvSpPr>
          <p:cNvPr id="12" name="Shape 10"/>
          <p:cNvSpPr/>
          <p:nvPr/>
        </p:nvSpPr>
        <p:spPr>
          <a:xfrm>
            <a:off x="6126480" y="2103120"/>
            <a:ext cx="73152" cy="2377440"/>
          </a:xfrm>
          <a:prstGeom prst="rect">
            <a:avLst/>
          </a:prstGeom>
          <a:solidFill>
            <a:srgbClr val="12828C"/>
          </a:solidFill>
          <a:ln w="12700">
            <a:solidFill>
              <a:srgbClr val="12828C">
                <a:alpha val="0"/>
              </a:srgbClr>
            </a:solidFill>
            <a:prstDash val="solid"/>
          </a:ln>
        </p:spPr>
      </p:sp>
      <p:sp>
        <p:nvSpPr>
          <p:cNvPr id="13" name="Text 11"/>
          <p:cNvSpPr/>
          <p:nvPr/>
        </p:nvSpPr>
        <p:spPr>
          <a:xfrm>
            <a:off x="6400800" y="2331720"/>
            <a:ext cx="2286000" cy="548640"/>
          </a:xfrm>
          <a:prstGeom prst="rect">
            <a:avLst/>
          </a:prstGeom>
          <a:noFill/>
          <a:ln/>
        </p:spPr>
        <p:txBody>
          <a:bodyPr wrap="square" lIns="0" tIns="0" rIns="0" bIns="0" rtlCol="0" anchor="t"/>
          <a:lstStyle/>
          <a:p>
            <a:pPr indent="0" marL="0">
              <a:buNone/>
            </a:pPr>
            <a:r>
              <a:rPr lang="en-US" sz="2200" b="1" dirty="0">
                <a:solidFill>
                  <a:srgbClr val="1A3A4A"/>
                </a:solidFill>
                <a:latin typeface="Georgia" pitchFamily="34" charset="0"/>
                <a:ea typeface="Georgia" pitchFamily="34" charset="-122"/>
                <a:cs typeface="Georgia" pitchFamily="34" charset="-120"/>
              </a:rPr>
              <a:t>Du misst dich an Solo-Frauen</a:t>
            </a:r>
            <a:endParaRPr lang="en-US" sz="2200" dirty="0"/>
          </a:p>
        </p:txBody>
      </p:sp>
      <p:sp>
        <p:nvSpPr>
          <p:cNvPr id="14" name="Text 12"/>
          <p:cNvSpPr/>
          <p:nvPr/>
        </p:nvSpPr>
        <p:spPr>
          <a:xfrm>
            <a:off x="6400800" y="2971800"/>
            <a:ext cx="2286000" cy="1371600"/>
          </a:xfrm>
          <a:prstGeom prst="rect">
            <a:avLst/>
          </a:prstGeom>
          <a:noFill/>
          <a:ln/>
        </p:spPr>
        <p:txBody>
          <a:bodyPr wrap="square" lIns="0" tIns="0" rIns="0" bIns="0" rtlCol="0" anchor="t"/>
          <a:lstStyle/>
          <a:p>
            <a:pPr indent="0" marL="0">
              <a:buNone/>
            </a:pPr>
            <a:r>
              <a:rPr lang="en-US" sz="1500" dirty="0">
                <a:solidFill>
                  <a:srgbClr val="2C3E50"/>
                </a:solidFill>
                <a:latin typeface="Calibri" pitchFamily="34" charset="0"/>
                <a:ea typeface="Calibri" pitchFamily="34" charset="-122"/>
                <a:cs typeface="Calibri" pitchFamily="34" charset="-120"/>
              </a:rPr>
              <a:t>Die Influencerin ohne Kinder. Die Single-Coachin auf Bali.</a:t>
            </a:r>
            <a:endParaRPr lang="en-US" sz="1500" dirty="0"/>
          </a:p>
          <a:p>
            <a:pPr indent="0" marL="0">
              <a:buNone/>
            </a:pPr>
            <a:endParaRPr lang="en-US" sz="1500" dirty="0"/>
          </a:p>
          <a:p>
            <a:pPr indent="0" marL="0">
              <a:buNone/>
            </a:pPr>
            <a:r>
              <a:rPr lang="en-US" sz="1500" dirty="0">
                <a:solidFill>
                  <a:srgbClr val="2C3E50"/>
                </a:solidFill>
                <a:latin typeface="Calibri" pitchFamily="34" charset="0"/>
                <a:ea typeface="Calibri" pitchFamily="34" charset="-122"/>
                <a:cs typeface="Calibri" pitchFamily="34" charset="-120"/>
              </a:rPr>
              <a:t>Du hängst hinterher.</a:t>
            </a:r>
            <a:endParaRPr lang="en-US" sz="1500" dirty="0"/>
          </a:p>
        </p:txBody>
      </p:sp>
      <p:sp>
        <p:nvSpPr>
          <p:cNvPr id="15" name="Text 1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6" name="Text 1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DER ZENTRALE SHIFT</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Mama-CEO ist nicht mehr arbeiten.</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Mama-CEO ist anders arbeiten.</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Von der Macherin zur Entscheiderin.</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1.1</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8046720" cy="73152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Die 3 Shifts der Mama-CEO</a:t>
            </a:r>
            <a:endParaRPr lang="en-US" sz="3200" dirty="0"/>
          </a:p>
        </p:txBody>
      </p:sp>
      <p:sp>
        <p:nvSpPr>
          <p:cNvPr id="3" name="Shape 1"/>
          <p:cNvSpPr/>
          <p:nvPr/>
        </p:nvSpPr>
        <p:spPr>
          <a:xfrm>
            <a:off x="822960" y="1737360"/>
            <a:ext cx="548640" cy="548640"/>
          </a:xfrm>
          <a:prstGeom prst="ellipse">
            <a:avLst/>
          </a:prstGeom>
          <a:solidFill>
            <a:srgbClr val="DC822E"/>
          </a:solidFill>
          <a:ln w="12700">
            <a:solidFill>
              <a:srgbClr val="DC822E">
                <a:alpha val="0"/>
              </a:srgbClr>
            </a:solidFill>
            <a:prstDash val="solid"/>
          </a:ln>
        </p:spPr>
      </p:sp>
      <p:sp>
        <p:nvSpPr>
          <p:cNvPr id="4" name="Text 2"/>
          <p:cNvSpPr/>
          <p:nvPr/>
        </p:nvSpPr>
        <p:spPr>
          <a:xfrm>
            <a:off x="82296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5" name="Shape 3"/>
          <p:cNvSpPr/>
          <p:nvPr/>
        </p:nvSpPr>
        <p:spPr>
          <a:xfrm>
            <a:off x="548640" y="2468880"/>
            <a:ext cx="2606040" cy="2011680"/>
          </a:xfrm>
          <a:prstGeom prst="rect">
            <a:avLst/>
          </a:prstGeom>
          <a:solidFill>
            <a:srgbClr val="F1ECDD"/>
          </a:solidFill>
          <a:ln w="12700">
            <a:solidFill>
              <a:srgbClr val="F1ECDD">
                <a:alpha val="0"/>
              </a:srgbClr>
            </a:solidFill>
            <a:prstDash val="solid"/>
          </a:ln>
        </p:spPr>
      </p:sp>
      <p:sp>
        <p:nvSpPr>
          <p:cNvPr id="6" name="Text 4"/>
          <p:cNvSpPr/>
          <p:nvPr/>
        </p:nvSpPr>
        <p:spPr>
          <a:xfrm>
            <a:off x="77724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Macherin → Entscheiderin</a:t>
            </a:r>
            <a:endParaRPr lang="en-US" sz="2000" dirty="0"/>
          </a:p>
        </p:txBody>
      </p:sp>
      <p:sp>
        <p:nvSpPr>
          <p:cNvPr id="7" name="Text 5"/>
          <p:cNvSpPr/>
          <p:nvPr/>
        </p:nvSpPr>
        <p:spPr>
          <a:xfrm>
            <a:off x="77724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Du tust nicht mehr alles selbst.</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Du entscheidest WAS getan wird, WANN, von WEM (Mensch oder KI).</a:t>
            </a:r>
            <a:endParaRPr lang="en-US" sz="1400" dirty="0"/>
          </a:p>
        </p:txBody>
      </p:sp>
      <p:sp>
        <p:nvSpPr>
          <p:cNvPr id="8" name="Shape 6"/>
          <p:cNvSpPr/>
          <p:nvPr/>
        </p:nvSpPr>
        <p:spPr>
          <a:xfrm>
            <a:off x="3611880" y="1737360"/>
            <a:ext cx="548640" cy="548640"/>
          </a:xfrm>
          <a:prstGeom prst="ellipse">
            <a:avLst/>
          </a:prstGeom>
          <a:solidFill>
            <a:srgbClr val="DC822E"/>
          </a:solidFill>
          <a:ln w="12700">
            <a:solidFill>
              <a:srgbClr val="DC822E">
                <a:alpha val="0"/>
              </a:srgbClr>
            </a:solidFill>
            <a:prstDash val="solid"/>
          </a:ln>
        </p:spPr>
      </p:sp>
      <p:sp>
        <p:nvSpPr>
          <p:cNvPr id="9" name="Text 7"/>
          <p:cNvSpPr/>
          <p:nvPr/>
        </p:nvSpPr>
        <p:spPr>
          <a:xfrm>
            <a:off x="361188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Shape 8"/>
          <p:cNvSpPr/>
          <p:nvPr/>
        </p:nvSpPr>
        <p:spPr>
          <a:xfrm>
            <a:off x="3337560" y="2468880"/>
            <a:ext cx="2606040" cy="2011680"/>
          </a:xfrm>
          <a:prstGeom prst="rect">
            <a:avLst/>
          </a:prstGeom>
          <a:solidFill>
            <a:srgbClr val="F1ECDD"/>
          </a:solidFill>
          <a:ln w="12700">
            <a:solidFill>
              <a:srgbClr val="F1ECDD">
                <a:alpha val="0"/>
              </a:srgbClr>
            </a:solidFill>
            <a:prstDash val="solid"/>
          </a:ln>
        </p:spPr>
      </p:sp>
      <p:sp>
        <p:nvSpPr>
          <p:cNvPr id="11" name="Text 9"/>
          <p:cNvSpPr/>
          <p:nvPr/>
        </p:nvSpPr>
        <p:spPr>
          <a:xfrm>
            <a:off x="356616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Liste → Rolle</a:t>
            </a:r>
            <a:endParaRPr lang="en-US" sz="2000" dirty="0"/>
          </a:p>
        </p:txBody>
      </p:sp>
      <p:sp>
        <p:nvSpPr>
          <p:cNvPr id="12" name="Text 10"/>
          <p:cNvSpPr/>
          <p:nvPr/>
        </p:nvSpPr>
        <p:spPr>
          <a:xfrm>
            <a:off x="356616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Keine To-Do-Listen mehr abarbeiten.</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Du denkst in Rollen: CEO, Sichtbarkeit, Kunde, Selbstfürsorge.</a:t>
            </a:r>
            <a:endParaRPr lang="en-US" sz="1400" dirty="0"/>
          </a:p>
        </p:txBody>
      </p:sp>
      <p:sp>
        <p:nvSpPr>
          <p:cNvPr id="13" name="Shape 11"/>
          <p:cNvSpPr/>
          <p:nvPr/>
        </p:nvSpPr>
        <p:spPr>
          <a:xfrm>
            <a:off x="6400800" y="1737360"/>
            <a:ext cx="548640" cy="548640"/>
          </a:xfrm>
          <a:prstGeom prst="ellipse">
            <a:avLst/>
          </a:prstGeom>
          <a:solidFill>
            <a:srgbClr val="DC822E"/>
          </a:solidFill>
          <a:ln w="12700">
            <a:solidFill>
              <a:srgbClr val="DC822E">
                <a:alpha val="0"/>
              </a:srgbClr>
            </a:solidFill>
            <a:prstDash val="solid"/>
          </a:ln>
        </p:spPr>
      </p:sp>
      <p:sp>
        <p:nvSpPr>
          <p:cNvPr id="14" name="Text 12"/>
          <p:cNvSpPr/>
          <p:nvPr/>
        </p:nvSpPr>
        <p:spPr>
          <a:xfrm>
            <a:off x="6400800" y="1737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5" name="Shape 13"/>
          <p:cNvSpPr/>
          <p:nvPr/>
        </p:nvSpPr>
        <p:spPr>
          <a:xfrm>
            <a:off x="6126480" y="2468880"/>
            <a:ext cx="2606040" cy="2011680"/>
          </a:xfrm>
          <a:prstGeom prst="rect">
            <a:avLst/>
          </a:prstGeom>
          <a:solidFill>
            <a:srgbClr val="F1ECDD"/>
          </a:solidFill>
          <a:ln w="12700">
            <a:solidFill>
              <a:srgbClr val="F1ECDD">
                <a:alpha val="0"/>
              </a:srgbClr>
            </a:solidFill>
            <a:prstDash val="solid"/>
          </a:ln>
        </p:spPr>
      </p:sp>
      <p:sp>
        <p:nvSpPr>
          <p:cNvPr id="16" name="Text 14"/>
          <p:cNvSpPr/>
          <p:nvPr/>
        </p:nvSpPr>
        <p:spPr>
          <a:xfrm>
            <a:off x="6355080" y="2651760"/>
            <a:ext cx="2148840" cy="548640"/>
          </a:xfrm>
          <a:prstGeom prst="rect">
            <a:avLst/>
          </a:prstGeom>
          <a:noFill/>
          <a:ln/>
        </p:spPr>
        <p:txBody>
          <a:bodyPr wrap="square" lIns="0" tIns="0" rIns="0" bIns="0" rtlCol="0" anchor="t"/>
          <a:lstStyle/>
          <a:p>
            <a:pPr indent="0" marL="0">
              <a:buNone/>
            </a:pPr>
            <a:r>
              <a:rPr lang="en-US" sz="2000" b="1" dirty="0">
                <a:solidFill>
                  <a:srgbClr val="0D6168"/>
                </a:solidFill>
                <a:latin typeface="Georgia" pitchFamily="34" charset="0"/>
                <a:ea typeface="Georgia" pitchFamily="34" charset="-122"/>
                <a:cs typeface="Georgia" pitchFamily="34" charset="-120"/>
              </a:rPr>
              <a:t>Solo → System</a:t>
            </a:r>
            <a:endParaRPr lang="en-US" sz="2000" dirty="0"/>
          </a:p>
        </p:txBody>
      </p:sp>
      <p:sp>
        <p:nvSpPr>
          <p:cNvPr id="17" name="Text 15"/>
          <p:cNvSpPr/>
          <p:nvPr/>
        </p:nvSpPr>
        <p:spPr>
          <a:xfrm>
            <a:off x="6355080" y="3246120"/>
            <a:ext cx="2148840" cy="1188720"/>
          </a:xfrm>
          <a:prstGeom prst="rect">
            <a:avLst/>
          </a:prstGeom>
          <a:noFill/>
          <a:ln/>
        </p:spPr>
        <p:txBody>
          <a:bodyPr wrap="square" lIns="0" tIns="0" rIns="0" bIns="0" rtlCol="0" anchor="t"/>
          <a:lstStyle/>
          <a:p>
            <a:pPr indent="0" marL="0">
              <a:buNone/>
            </a:pPr>
            <a:r>
              <a:rPr lang="en-US" sz="1400" dirty="0">
                <a:solidFill>
                  <a:srgbClr val="2C3E50"/>
                </a:solidFill>
                <a:latin typeface="Calibri" pitchFamily="34" charset="0"/>
                <a:ea typeface="Calibri" pitchFamily="34" charset="-122"/>
                <a:cs typeface="Calibri" pitchFamily="34" charset="-120"/>
              </a:rPr>
              <a:t>Du bist nicht mehr deine eigene Mitarbeiterin.</a:t>
            </a:r>
            <a:endParaRPr lang="en-US" sz="1400" dirty="0"/>
          </a:p>
          <a:p>
            <a:pPr indent="0" marL="0">
              <a:buNone/>
            </a:pPr>
            <a:r>
              <a:rPr lang="en-US" sz="1400" dirty="0">
                <a:solidFill>
                  <a:srgbClr val="2C3E50"/>
                </a:solidFill>
                <a:latin typeface="Calibri" pitchFamily="34" charset="0"/>
                <a:ea typeface="Calibri" pitchFamily="34" charset="-122"/>
                <a:cs typeface="Calibri" pitchFamily="34" charset="-120"/>
              </a:rPr>
              <a:t>Du baust dir ein System — KI, Notion, Workflows.</a:t>
            </a:r>
            <a:endParaRPr lang="en-US" sz="1400" dirty="0"/>
          </a:p>
        </p:txBody>
      </p:sp>
      <p:sp>
        <p:nvSpPr>
          <p:cNvPr id="18" name="Text 16"/>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9" name="Text 17"/>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000" b="1" spc="400" kern="0" dirty="0">
                <a:solidFill>
                  <a:srgbClr val="DC822E"/>
                </a:solidFill>
                <a:latin typeface="Calibri" pitchFamily="34" charset="0"/>
                <a:ea typeface="Calibri" pitchFamily="34" charset="-122"/>
                <a:cs typeface="Calibri" pitchFamily="34" charset="-120"/>
              </a:rPr>
              <a:t>WIE ES BEI MIR WAR</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1A3A4A"/>
                </a:solidFill>
                <a:latin typeface="Georgia" pitchFamily="34" charset="0"/>
                <a:ea typeface="Georgia" pitchFamily="34" charset="-122"/>
                <a:cs typeface="Georgia" pitchFamily="34" charset="-120"/>
              </a:rPr>
              <a:t>Mai 2025 — der Punkt an dem ich verstanden habe</a:t>
            </a:r>
            <a:endParaRPr lang="en-US" sz="3600" dirty="0"/>
          </a:p>
        </p:txBody>
      </p:sp>
      <p:sp>
        <p:nvSpPr>
          <p:cNvPr id="4" name="Text 2"/>
          <p:cNvSpPr/>
          <p:nvPr/>
        </p:nvSpPr>
        <p:spPr>
          <a:xfrm>
            <a:off x="548640" y="1920240"/>
            <a:ext cx="5120640" cy="2194560"/>
          </a:xfrm>
          <a:prstGeom prst="rect">
            <a:avLst/>
          </a:prstGeom>
          <a:noFill/>
          <a:ln/>
        </p:spPr>
        <p:txBody>
          <a:bodyPr wrap="square" rtlCol="0" anchor="t"/>
          <a:lstStyle/>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Ich war 2 Jahre lang die fleissigste Mama im Raum</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Wochenplan-Apps, Productivity-Hacks, 22-Uhr-Schichten — alles probiert</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Mein Wendepunkt: ich verstand, es ist KEIN Disziplin-Problem</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Es ist ein Hands-Problem — mir fehlen einfach Hände</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Heute habe ich KI-Mitarbeiter die das tun</a:t>
            </a:r>
            <a:endParaRPr lang="en-US" sz="1600" dirty="0"/>
          </a:p>
        </p:txBody>
      </p:sp>
      <p:sp>
        <p:nvSpPr>
          <p:cNvPr id="5" name="Shape 3"/>
          <p:cNvSpPr/>
          <p:nvPr/>
        </p:nvSpPr>
        <p:spPr>
          <a:xfrm>
            <a:off x="5852160" y="1920240"/>
            <a:ext cx="2743200" cy="2286000"/>
          </a:xfrm>
          <a:prstGeom prst="rect">
            <a:avLst/>
          </a:prstGeom>
          <a:solidFill>
            <a:srgbClr val="F1ECDD"/>
          </a:solidFill>
          <a:ln w="12700">
            <a:solidFill>
              <a:srgbClr val="F1ECDD">
                <a:alpha val="0"/>
              </a:srgbClr>
            </a:solidFill>
            <a:prstDash val="solid"/>
          </a:ln>
        </p:spPr>
      </p:sp>
      <p:sp>
        <p:nvSpPr>
          <p:cNvPr id="6" name="Shape 4"/>
          <p:cNvSpPr/>
          <p:nvPr/>
        </p:nvSpPr>
        <p:spPr>
          <a:xfrm>
            <a:off x="5852160" y="1920240"/>
            <a:ext cx="73152" cy="2286000"/>
          </a:xfrm>
          <a:prstGeom prst="rect">
            <a:avLst/>
          </a:prstGeom>
          <a:solidFill>
            <a:srgbClr val="DC822E"/>
          </a:solidFill>
          <a:ln w="12700">
            <a:solidFill>
              <a:srgbClr val="DC822E">
                <a:alpha val="0"/>
              </a:srgbClr>
            </a:solidFill>
            <a:prstDash val="solid"/>
          </a:ln>
        </p:spPr>
      </p:sp>
      <p:sp>
        <p:nvSpPr>
          <p:cNvPr id="7" name="Text 5"/>
          <p:cNvSpPr/>
          <p:nvPr/>
        </p:nvSpPr>
        <p:spPr>
          <a:xfrm>
            <a:off x="6080760" y="2103120"/>
            <a:ext cx="2468880" cy="274320"/>
          </a:xfrm>
          <a:prstGeom prst="rect">
            <a:avLst/>
          </a:prstGeom>
          <a:noFill/>
          <a:ln/>
        </p:spPr>
        <p:txBody>
          <a:bodyPr wrap="square" rtlCol="0" anchor="ctr"/>
          <a:lstStyle/>
          <a:p>
            <a:pPr indent="0" marL="0">
              <a:buNone/>
            </a:pPr>
            <a:r>
              <a:rPr lang="en-US" sz="900" b="1" spc="400" kern="0" dirty="0">
                <a:solidFill>
                  <a:srgbClr val="DC822E"/>
                </a:solidFill>
                <a:latin typeface="Calibri" pitchFamily="34" charset="0"/>
                <a:ea typeface="Calibri" pitchFamily="34" charset="-122"/>
                <a:cs typeface="Calibri" pitchFamily="34" charset="-120"/>
              </a:rPr>
              <a:t>PATRICIA</a:t>
            </a:r>
            <a:endParaRPr lang="en-US" sz="900" dirty="0"/>
          </a:p>
        </p:txBody>
      </p:sp>
      <p:sp>
        <p:nvSpPr>
          <p:cNvPr id="8" name="Text 6"/>
          <p:cNvSpPr/>
          <p:nvPr/>
        </p:nvSpPr>
        <p:spPr>
          <a:xfrm>
            <a:off x="6080760" y="2468880"/>
            <a:ext cx="2468880" cy="1645920"/>
          </a:xfrm>
          <a:prstGeom prst="rect">
            <a:avLst/>
          </a:prstGeom>
          <a:noFill/>
          <a:ln/>
        </p:spPr>
        <p:txBody>
          <a:bodyPr wrap="square" lIns="0" tIns="0" rIns="0" bIns="0" rtlCol="0" anchor="t"/>
          <a:lstStyle/>
          <a:p>
            <a:pPr indent="0" marL="0">
              <a:buNone/>
            </a:pPr>
            <a:r>
              <a:rPr lang="en-US" sz="1400" i="1" dirty="0">
                <a:solidFill>
                  <a:srgbClr val="0D6168"/>
                </a:solidFill>
                <a:latin typeface="Georgia" pitchFamily="34" charset="0"/>
                <a:ea typeface="Georgia" pitchFamily="34" charset="-122"/>
                <a:cs typeface="Georgia" pitchFamily="34" charset="-120"/>
              </a:rPr>
              <a:t>„Vom Versuchen alles selbst zu schaffen zur Frage: was muss von mir gemacht werden — und was nicht?"</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indent="0" marL="0">
              <a:buNone/>
            </a:pPr>
            <a:r>
              <a:rPr lang="en-US" sz="2600" b="1" dirty="0">
                <a:solidFill>
                  <a:srgbClr val="1A3A4A"/>
                </a:solidFill>
                <a:latin typeface="Georgia" pitchFamily="34" charset="0"/>
                <a:ea typeface="Georgia" pitchFamily="34" charset="-122"/>
                <a:cs typeface="Georgia" pitchFamily="34" charset="-120"/>
              </a:rPr>
              <a:t>Klassische Mompreneurin vs. Mama-CEO</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8046720" cy="914400"/>
        </p:xfrm>
        <a:graphic>
          <a:graphicData uri="http://schemas.openxmlformats.org/drawingml/2006/table">
            <a:tbl>
              <a:tblPr/>
              <a:tblGrid>
                <a:gridCol w="3200400"/>
                <a:gridCol w="4846320"/>
              </a:tblGrid>
              <a:tr h="457200">
                <a:tc>
                  <a:txBody>
                    <a:bodyPr/>
                    <a:lstStyle/>
                    <a:p>
                      <a:pPr indent="0" marL="0">
                        <a:buNone/>
                      </a:pPr>
                      <a:r>
                        <a:rPr lang="en-US" sz="1100" b="1" spc="300" kern="0" dirty="0">
                          <a:solidFill>
                            <a:srgbClr val="7A8A95"/>
                          </a:solidFill>
                          <a:latin typeface="Calibri" pitchFamily="34" charset="0"/>
                          <a:ea typeface="Calibri" pitchFamily="34" charset="-122"/>
                          <a:cs typeface="Calibri" pitchFamily="34" charset="-120"/>
                        </a:rPr>
                        <a:t>KLASSISCHE MOMPRENEURIN</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spc="300" kern="0" dirty="0">
                          <a:solidFill>
                            <a:srgbClr val="DC822E"/>
                          </a:solidFill>
                          <a:latin typeface="Calibri" pitchFamily="34" charset="0"/>
                          <a:ea typeface="Calibri" pitchFamily="34" charset="-122"/>
                          <a:cs typeface="Calibri" pitchFamily="34" charset="-120"/>
                        </a:rPr>
                        <a:t>MAMA-CEO</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„Ich mache das selbst — am schnellsten."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„Wer/was kann das übernehmen — bei gleicher Qualität?"</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Donnerstag noch keinen Plan für Freitag</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Sonntagabend weiss sie, wie die Woche läuft</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Abends „nur noch eine Mail"</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Abend ist Power-Slot ODER Schluss</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Wachstum = mehr arbeiten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Wachstum = besser entscheiden + KI dazu</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5" name="Text 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548640" y="640080"/>
            <a:ext cx="8046720" cy="822960"/>
          </a:xfrm>
          <a:prstGeom prst="rect">
            <a:avLst/>
          </a:prstGeom>
          <a:noFill/>
          <a:ln/>
        </p:spPr>
        <p:txBody>
          <a:bodyPr wrap="square" lIns="0" tIns="0" rIns="0" bIns="0" rtlCol="0" anchor="t"/>
          <a:lstStyle/>
          <a:p>
            <a:pPr indent="0" marL="0">
              <a:buNone/>
            </a:pPr>
            <a:r>
              <a:rPr lang="en-US" sz="2800" b="1" dirty="0">
                <a:solidFill>
                  <a:srgbClr val="1A3A4A"/>
                </a:solidFill>
                <a:latin typeface="Georgia" pitchFamily="34" charset="0"/>
                <a:ea typeface="Georgia" pitchFamily="34" charset="-122"/>
                <a:cs typeface="Georgia" pitchFamily="34" charset="-120"/>
              </a:rPr>
              <a:t>Was Mama-CEO NICHT ist</a:t>
            </a:r>
            <a:endParaRPr lang="en-US" sz="2800" dirty="0"/>
          </a:p>
        </p:txBody>
      </p:sp>
      <p:sp>
        <p:nvSpPr>
          <p:cNvPr id="3" name="Shape 1"/>
          <p:cNvSpPr/>
          <p:nvPr/>
        </p:nvSpPr>
        <p:spPr>
          <a:xfrm>
            <a:off x="731520" y="2011680"/>
            <a:ext cx="457200" cy="457200"/>
          </a:xfrm>
          <a:prstGeom prst="ellipse">
            <a:avLst/>
          </a:prstGeom>
          <a:solidFill>
            <a:srgbClr val="FFFFFF"/>
          </a:solidFill>
          <a:ln w="25400">
            <a:solidFill>
              <a:srgbClr val="DC822E"/>
            </a:solidFill>
            <a:prstDash val="solid"/>
          </a:ln>
        </p:spPr>
      </p:sp>
      <p:sp>
        <p:nvSpPr>
          <p:cNvPr id="4" name="Text 2"/>
          <p:cNvSpPr/>
          <p:nvPr/>
        </p:nvSpPr>
        <p:spPr>
          <a:xfrm>
            <a:off x="731520" y="201168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1371600" y="201168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Bali-Hustle oder Sechs-Stellig-in-90-Tagen</a:t>
            </a:r>
            <a:endParaRPr lang="en-US" sz="1800" dirty="0"/>
          </a:p>
        </p:txBody>
      </p:sp>
      <p:sp>
        <p:nvSpPr>
          <p:cNvPr id="6" name="Shape 4"/>
          <p:cNvSpPr/>
          <p:nvPr/>
        </p:nvSpPr>
        <p:spPr>
          <a:xfrm>
            <a:off x="731520" y="2743200"/>
            <a:ext cx="457200" cy="457200"/>
          </a:xfrm>
          <a:prstGeom prst="ellipse">
            <a:avLst/>
          </a:prstGeom>
          <a:solidFill>
            <a:srgbClr val="FFFFFF"/>
          </a:solidFill>
          <a:ln w="25400">
            <a:solidFill>
              <a:srgbClr val="DC822E"/>
            </a:solidFill>
            <a:prstDash val="solid"/>
          </a:ln>
        </p:spPr>
      </p:sp>
      <p:sp>
        <p:nvSpPr>
          <p:cNvPr id="7" name="Text 5"/>
          <p:cNvSpPr/>
          <p:nvPr/>
        </p:nvSpPr>
        <p:spPr>
          <a:xfrm>
            <a:off x="731520" y="274320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371600" y="274320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Done-for-you — ich nehm dir nichts ab</a:t>
            </a:r>
            <a:endParaRPr lang="en-US" sz="1800" dirty="0"/>
          </a:p>
        </p:txBody>
      </p:sp>
      <p:sp>
        <p:nvSpPr>
          <p:cNvPr id="9" name="Shape 7"/>
          <p:cNvSpPr/>
          <p:nvPr/>
        </p:nvSpPr>
        <p:spPr>
          <a:xfrm>
            <a:off x="731520" y="3474720"/>
            <a:ext cx="457200" cy="457200"/>
          </a:xfrm>
          <a:prstGeom prst="ellipse">
            <a:avLst/>
          </a:prstGeom>
          <a:solidFill>
            <a:srgbClr val="FFFFFF"/>
          </a:solidFill>
          <a:ln w="25400">
            <a:solidFill>
              <a:srgbClr val="DC822E"/>
            </a:solidFill>
            <a:prstDash val="solid"/>
          </a:ln>
        </p:spPr>
      </p:sp>
      <p:sp>
        <p:nvSpPr>
          <p:cNvPr id="10" name="Text 8"/>
          <p:cNvSpPr/>
          <p:nvPr/>
        </p:nvSpPr>
        <p:spPr>
          <a:xfrm>
            <a:off x="731520" y="347472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371600" y="347472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Eine Garantie für mehr Umsatz, ohne dass du implementierst</a:t>
            </a:r>
            <a:endParaRPr lang="en-US" sz="1800" dirty="0"/>
          </a:p>
        </p:txBody>
      </p:sp>
      <p:sp>
        <p:nvSpPr>
          <p:cNvPr id="12" name="Text 10"/>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3" name="Text 11"/>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DAS NIMMST DU MIT</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indent="0" marL="0">
              <a:buNone/>
            </a:pPr>
            <a:r>
              <a:rPr lang="en-US" sz="3200" b="1" dirty="0">
                <a:solidFill>
                  <a:srgbClr val="F1ECDD"/>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1828800"/>
            <a:ext cx="411480" cy="411480"/>
          </a:xfrm>
          <a:prstGeom prst="ellipse">
            <a:avLst/>
          </a:prstGeom>
          <a:solidFill>
            <a:srgbClr val="DC822E"/>
          </a:solidFill>
          <a:ln w="12700">
            <a:solidFill>
              <a:srgbClr val="DC822E">
                <a:alpha val="0"/>
              </a:srgbClr>
            </a:solidFill>
            <a:prstDash val="solid"/>
          </a:ln>
        </p:spPr>
      </p:sp>
      <p:sp>
        <p:nvSpPr>
          <p:cNvPr id="5" name="Text 3"/>
          <p:cNvSpPr/>
          <p:nvPr/>
        </p:nvSpPr>
        <p:spPr>
          <a:xfrm>
            <a:off x="640080" y="18288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34440" y="180136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Mama-CEO = anders arbeiten, nicht mehr arbeiten</a:t>
            </a:r>
            <a:endParaRPr lang="en-US" sz="1500" dirty="0"/>
          </a:p>
        </p:txBody>
      </p:sp>
      <p:sp>
        <p:nvSpPr>
          <p:cNvPr id="7" name="Shape 5"/>
          <p:cNvSpPr/>
          <p:nvPr/>
        </p:nvSpPr>
        <p:spPr>
          <a:xfrm>
            <a:off x="640080" y="2468880"/>
            <a:ext cx="411480" cy="411480"/>
          </a:xfrm>
          <a:prstGeom prst="ellipse">
            <a:avLst/>
          </a:prstGeom>
          <a:solidFill>
            <a:srgbClr val="DC822E"/>
          </a:solidFill>
          <a:ln w="12700">
            <a:solidFill>
              <a:srgbClr val="DC822E">
                <a:alpha val="0"/>
              </a:srgbClr>
            </a:solidFill>
            <a:prstDash val="solid"/>
          </a:ln>
        </p:spPr>
      </p:sp>
      <p:sp>
        <p:nvSpPr>
          <p:cNvPr id="8" name="Text 6"/>
          <p:cNvSpPr/>
          <p:nvPr/>
        </p:nvSpPr>
        <p:spPr>
          <a:xfrm>
            <a:off x="640080" y="246888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234440" y="244144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Du wechselst von Macherin zu Entscheiderin</a:t>
            </a:r>
            <a:endParaRPr lang="en-US" sz="1500" dirty="0"/>
          </a:p>
        </p:txBody>
      </p:sp>
      <p:sp>
        <p:nvSpPr>
          <p:cNvPr id="10" name="Shape 8"/>
          <p:cNvSpPr/>
          <p:nvPr/>
        </p:nvSpPr>
        <p:spPr>
          <a:xfrm>
            <a:off x="640080" y="3108960"/>
            <a:ext cx="411480" cy="411480"/>
          </a:xfrm>
          <a:prstGeom prst="ellipse">
            <a:avLst/>
          </a:prstGeom>
          <a:solidFill>
            <a:srgbClr val="DC822E"/>
          </a:solidFill>
          <a:ln w="12700">
            <a:solidFill>
              <a:srgbClr val="DC822E">
                <a:alpha val="0"/>
              </a:srgbClr>
            </a:solidFill>
            <a:prstDash val="solid"/>
          </a:ln>
        </p:spPr>
      </p:sp>
      <p:sp>
        <p:nvSpPr>
          <p:cNvPr id="11" name="Text 9"/>
          <p:cNvSpPr/>
          <p:nvPr/>
        </p:nvSpPr>
        <p:spPr>
          <a:xfrm>
            <a:off x="640080" y="310896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234440" y="308152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3 Shifts: Macher→Entscheiderin · Liste→Rolle · Solo→System</a:t>
            </a:r>
            <a:endParaRPr lang="en-US" sz="1500" dirty="0"/>
          </a:p>
        </p:txBody>
      </p:sp>
      <p:sp>
        <p:nvSpPr>
          <p:cNvPr id="13" name="Shape 11"/>
          <p:cNvSpPr/>
          <p:nvPr/>
        </p:nvSpPr>
        <p:spPr>
          <a:xfrm>
            <a:off x="640080" y="3749040"/>
            <a:ext cx="411480" cy="411480"/>
          </a:xfrm>
          <a:prstGeom prst="ellipse">
            <a:avLst/>
          </a:prstGeom>
          <a:solidFill>
            <a:srgbClr val="DC822E"/>
          </a:solidFill>
          <a:ln w="12700">
            <a:solidFill>
              <a:srgbClr val="DC822E">
                <a:alpha val="0"/>
              </a:srgbClr>
            </a:solidFill>
            <a:prstDash val="solid"/>
          </a:ln>
        </p:spPr>
      </p:sp>
      <p:sp>
        <p:nvSpPr>
          <p:cNvPr id="14" name="Text 12"/>
          <p:cNvSpPr/>
          <p:nvPr/>
        </p:nvSpPr>
        <p:spPr>
          <a:xfrm>
            <a:off x="640080" y="374904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234440" y="372160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Es ist kein Bali-Hustle und kein Done-for-you — du implementierst</a:t>
            </a:r>
            <a:endParaRPr lang="en-US" sz="1500" dirty="0"/>
          </a:p>
        </p:txBody>
      </p:sp>
      <p:sp>
        <p:nvSpPr>
          <p:cNvPr id="16" name="Text 14"/>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1.1</a:t>
            </a:r>
            <a:endParaRPr lang="en-US" sz="900" dirty="0"/>
          </a:p>
        </p:txBody>
      </p:sp>
      <p:sp>
        <p:nvSpPr>
          <p:cNvPr id="17" name="Text 15"/>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Dein nächster Schritt</a:t>
            </a:r>
            <a:endParaRPr lang="en-US" sz="3200" dirty="0"/>
          </a:p>
        </p:txBody>
      </p:sp>
      <p:sp>
        <p:nvSpPr>
          <p:cNvPr id="3" name="Shape 1"/>
          <p:cNvSpPr/>
          <p:nvPr/>
        </p:nvSpPr>
        <p:spPr>
          <a:xfrm>
            <a:off x="548640" y="1737360"/>
            <a:ext cx="3931920" cy="2743200"/>
          </a:xfrm>
          <a:prstGeom prst="rect">
            <a:avLst/>
          </a:prstGeom>
          <a:solidFill>
            <a:srgbClr val="F1ECDD"/>
          </a:solidFill>
          <a:ln w="12700">
            <a:solidFill>
              <a:srgbClr val="F1ECDD">
                <a:alpha val="0"/>
              </a:srgbClr>
            </a:solidFill>
            <a:prstDash val="solid"/>
          </a:ln>
        </p:spPr>
      </p:sp>
      <p:sp>
        <p:nvSpPr>
          <p:cNvPr id="4" name="Shape 2"/>
          <p:cNvSpPr/>
          <p:nvPr/>
        </p:nvSpPr>
        <p:spPr>
          <a:xfrm>
            <a:off x="548640" y="1737360"/>
            <a:ext cx="3931920" cy="73152"/>
          </a:xfrm>
          <a:prstGeom prst="rect">
            <a:avLst/>
          </a:prstGeom>
          <a:solidFill>
            <a:srgbClr val="12828C"/>
          </a:solidFill>
          <a:ln w="12700">
            <a:solidFill>
              <a:srgbClr val="12828C">
                <a:alpha val="0"/>
              </a:srgbClr>
            </a:solidFill>
            <a:prstDash val="solid"/>
          </a:ln>
        </p:spPr>
      </p:sp>
      <p:sp>
        <p:nvSpPr>
          <p:cNvPr id="5" name="Text 3"/>
          <p:cNvSpPr/>
          <p:nvPr/>
        </p:nvSpPr>
        <p:spPr>
          <a:xfrm>
            <a:off x="777240" y="1920240"/>
            <a:ext cx="3657600" cy="274320"/>
          </a:xfrm>
          <a:prstGeom prst="rect">
            <a:avLst/>
          </a:prstGeom>
          <a:noFill/>
          <a:ln/>
        </p:spPr>
        <p:txBody>
          <a:bodyPr wrap="square" rtlCol="0" anchor="ctr"/>
          <a:lstStyle/>
          <a:p>
            <a:pPr indent="0" marL="0">
              <a:buNone/>
            </a:pPr>
            <a:r>
              <a:rPr lang="en-US" sz="1000" b="1" spc="300" kern="0" dirty="0">
                <a:solidFill>
                  <a:srgbClr val="0D6168"/>
                </a:solidFill>
                <a:latin typeface="Calibri" pitchFamily="34" charset="0"/>
                <a:ea typeface="Calibri" pitchFamily="34" charset="-122"/>
                <a:cs typeface="Calibri" pitchFamily="34" charset="-120"/>
              </a:rPr>
              <a:t>📋  ARBEITSBLATT</a:t>
            </a:r>
            <a:endParaRPr lang="en-US" sz="1000" dirty="0"/>
          </a:p>
        </p:txBody>
      </p:sp>
      <p:sp>
        <p:nvSpPr>
          <p:cNvPr id="6" name="Text 4"/>
          <p:cNvSpPr/>
          <p:nvPr/>
        </p:nvSpPr>
        <p:spPr>
          <a:xfrm>
            <a:off x="7772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Definiere Mama-CEO in deinen Worten</a:t>
            </a:r>
            <a:endParaRPr lang="en-US" sz="1800" dirty="0"/>
          </a:p>
        </p:txBody>
      </p:sp>
      <p:sp>
        <p:nvSpPr>
          <p:cNvPr id="7" name="Text 5"/>
          <p:cNvSpPr/>
          <p:nvPr/>
        </p:nvSpPr>
        <p:spPr>
          <a:xfrm>
            <a:off x="7772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Schreib in 2-3 Sätzen: was bedeutet Mama-CEO für DICH?</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Notiere welcher der 3 Shifts dich am meisten triggert</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Halt es im Arbeitsblatt fest — wir checken es nach Säule 1 wieder</a:t>
            </a:r>
            <a:endParaRPr lang="en-US" sz="1300" dirty="0"/>
          </a:p>
        </p:txBody>
      </p:sp>
      <p:sp>
        <p:nvSpPr>
          <p:cNvPr id="8" name="Shape 6"/>
          <p:cNvSpPr/>
          <p:nvPr/>
        </p:nvSpPr>
        <p:spPr>
          <a:xfrm>
            <a:off x="4663440" y="1737360"/>
            <a:ext cx="3931920" cy="2743200"/>
          </a:xfrm>
          <a:prstGeom prst="rect">
            <a:avLst/>
          </a:prstGeom>
          <a:solidFill>
            <a:srgbClr val="F1ECDD"/>
          </a:solidFill>
          <a:ln w="12700">
            <a:solidFill>
              <a:srgbClr val="F1ECDD">
                <a:alpha val="0"/>
              </a:srgbClr>
            </a:solidFill>
            <a:prstDash val="solid"/>
          </a:ln>
        </p:spPr>
      </p:sp>
      <p:sp>
        <p:nvSpPr>
          <p:cNvPr id="9" name="Shape 7"/>
          <p:cNvSpPr/>
          <p:nvPr/>
        </p:nvSpPr>
        <p:spPr>
          <a:xfrm>
            <a:off x="4663440" y="1737360"/>
            <a:ext cx="3931920" cy="73152"/>
          </a:xfrm>
          <a:prstGeom prst="rect">
            <a:avLst/>
          </a:prstGeom>
          <a:solidFill>
            <a:srgbClr val="DC822E"/>
          </a:solidFill>
          <a:ln w="12700">
            <a:solidFill>
              <a:srgbClr val="DC822E">
                <a:alpha val="0"/>
              </a:srgbClr>
            </a:solidFill>
            <a:prstDash val="solid"/>
          </a:ln>
        </p:spPr>
      </p:sp>
      <p:sp>
        <p:nvSpPr>
          <p:cNvPr id="10" name="Text 8"/>
          <p:cNvSpPr/>
          <p:nvPr/>
        </p:nvSpPr>
        <p:spPr>
          <a:xfrm>
            <a:off x="4892040" y="1920240"/>
            <a:ext cx="3657600" cy="274320"/>
          </a:xfrm>
          <a:prstGeom prst="rect">
            <a:avLst/>
          </a:prstGeom>
          <a:noFill/>
          <a:ln/>
        </p:spPr>
        <p:txBody>
          <a:bodyPr wrap="square" rtlCol="0" anchor="ctr"/>
          <a:lstStyle/>
          <a:p>
            <a:pPr indent="0" marL="0">
              <a:buNone/>
            </a:pPr>
            <a:r>
              <a:rPr lang="en-US" sz="1000" b="1" spc="300" kern="0" dirty="0">
                <a:solidFill>
                  <a:srgbClr val="DC822E"/>
                </a:solidFill>
                <a:latin typeface="Calibri" pitchFamily="34" charset="0"/>
                <a:ea typeface="Calibri" pitchFamily="34" charset="-122"/>
                <a:cs typeface="Calibri" pitchFamily="34" charset="-120"/>
              </a:rPr>
              <a:t>▶  ALS NÄCHSTES</a:t>
            </a:r>
            <a:endParaRPr lang="en-US" sz="1000" dirty="0"/>
          </a:p>
        </p:txBody>
      </p:sp>
      <p:sp>
        <p:nvSpPr>
          <p:cNvPr id="11" name="Text 9"/>
          <p:cNvSpPr/>
          <p:nvPr/>
        </p:nvSpPr>
        <p:spPr>
          <a:xfrm>
            <a:off x="48920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Lektion 1.2 — Das EINE Mantra</a:t>
            </a:r>
            <a:endParaRPr lang="en-US" sz="1800" dirty="0"/>
          </a:p>
        </p:txBody>
      </p:sp>
      <p:sp>
        <p:nvSpPr>
          <p:cNvPr id="12" name="Text 10"/>
          <p:cNvSpPr/>
          <p:nvPr/>
        </p:nvSpPr>
        <p:spPr>
          <a:xfrm>
            <a:off x="48920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100% Selbstverantwortung — niemand wird kommen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Wo wartest du gerade unbewusst?</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Was du diese Woche selbst entscheidest, ohne zu warten</a:t>
            </a:r>
            <a:endParaRPr lang="en-US" sz="1300" dirty="0"/>
          </a:p>
        </p:txBody>
      </p:sp>
      <p:sp>
        <p:nvSpPr>
          <p:cNvPr id="13" name="Text 1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1.1</a:t>
            </a:r>
            <a:endParaRPr lang="en-US" sz="900" dirty="0"/>
          </a:p>
        </p:txBody>
      </p:sp>
      <p:sp>
        <p:nvSpPr>
          <p:cNvPr id="14" name="Text 1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Mum Life Balance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Mama-CEO · Modul 1 · Lektion 1.1 — Was ist Mama-CEO?</dc:title>
  <dc:subject>PptxGenJS Presentation</dc:subject>
  <dc:creator>Patricia Ulmann · Mum Life Balance</dc:creator>
  <cp:lastModifiedBy>Patricia Ulmann · Mum Life Balance</cp:lastModifiedBy>
  <cp:revision>1</cp:revision>
  <dcterms:created xsi:type="dcterms:W3CDTF">2026-05-21T14:18:39Z</dcterms:created>
  <dcterms:modified xsi:type="dcterms:W3CDTF">2026-05-21T14:18:39Z</dcterms:modified>
</cp:coreProperties>
</file>