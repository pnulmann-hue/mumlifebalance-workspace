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„Jetzt wird es strategisch. Du hast Power-Zeiten — aber was packst du da rein? Damit ein Business wirklich Umsatz macht, müssen drei Säulen gleichzeitig stehen: Plattform, Produkt, Verkauf. Wenn eine fehlt, läuft gar nichts — egal wie viel du arbeitest. In dieser Lektion findest du heraus welche der drei bei dir die schwache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„Drei Sachen in dieser Lektion: erstens schauen wir uns an was die drei Säulen wirklich sind — viele verwechseln das mit Marketing-Theorie. Zweitens diagnostizierst du wo bei DIR das Problem liegt — nicht generell, sondern konkret an deinem Business. Und drittens legst du EINE konkrete Action für nächste Woche fest. Eine — nicht alle drei. Eine."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„Drei Säulen. Plattform — wo sehen Menschen dich? Das ist Instagram, Newsletter, Telegram, Blog. Eine reicht, aber sie muss aktiv sein. Produkt — was kaufen sie bei dir? Du brauchst mindestens zwei Preisstufen, ein Einstiegs-Produkt und ein Hauptprogramm. Verkauf — wie kommen Leute zum Kauf? Funnel, Webinar, Salespage, DM-Verkauf. Wenn du nur „postest" ist das kein Verkauf — Verkauf ist aktives Hinführen zum Kauf-Moment."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„Das ist der Satz auf den ich hin will. Die meisten Mamas arbeiten hart — aber an der falschen Säule. Sie posten täglich auf Instagram und wundern sich warum nichts verkauft wird. Das Problem ist nicht Disziplin — das Problem ist Diagnose. Du musst wissen wo deine Lücke ist, bevor du anfängst zu schaufeln. Sonst grubst du am falschen 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„Jetzt diagnostizieren wir bei dir. Drei Symptom-Bilder: erstens du fühlst dich unsichtbar — du hast keine Reichweite, niemand kennt dich, kaum DMs. Dann fehlt dir die Plattform-Säule. Zweitens du hast Reichweite — also Follower, Newsletter-Abonnentinnen — aber niemand kauft. Du hast vielleicht nur ein Freebie oder nur ein teures 1:1, aber nichts dazwischen. Dann fehlt dir das Produkt. Drittens du hast Plattform UND Produkt — aber niemand wird zum Kauf-Knopf geführt. Dann fehlt der Verkauf. Welches Bild trifft auf dich zu? Wahrscheinlich erkennst du dich in EINEM stärker als in den anderen — das ist deine schwache Säule."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„Was ich am häufigsten sehe — Plattform und Produkt sind da, aber Verkauf fehlt komplett. Die Mama postet brav drei mal die Woche, hat ein Freebie und ein Programm — aber wenn du dir ihre letzten 30 Posts anschaust, ist nicht EIN einziger aktiver Verkaufs-Post dabei. Nur Mehrwert. Nur „hilfreich sein". Und sie wundert sich warum niemand kauft. Mehrwert ohne Verkauf ist Hobby. Mehrwert plus Verkauf ist Business. Das ist der Unterschied. Wir lernen den Verkaufs-Part in Säule 3 detailliert — jetzt geht es erstmal darum DASS du ihn hast."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„Vergleichstabelle — links was nur schön aussieht, rechts was wirklich stärkt. Plattform: viele Likes ist schön, aktive DM-Gespräche bringen Geld. Produkt: viele Angebote sind schön, ein klares Hauptprodukt verkauft. Verkauf: Mehrwert-Posten ist schön, konkrete Kauf-Aufrufe verkaufen. Und der wichtige Satz unten — Posten fühlt sich nach Arbeit an, aber Verkaufen IST Arbeit. Du musst dir den Mut nehmen den Verkaufs-Hut aufzusetzen."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„Drei klare Verbote. Erstens: versuch nicht alle drei Säulen gleichzeitig zu stärken. Du bist eine Mama, kein Team. Eine Säule pro Monat reicht. Zweitens: starte keine neue Plattform bevor die erste wirklich läuft — Mamas die zwischen Instagram, TikTok, YouTube und Blog hin und her springen sind überall halb und nirgendwo richtig. Drittens: bau kein zweites Produkt wenn das erste noch nicht verkauft. Reihenfolge ist alles."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„Vier Takeaways. Plattform, Produkt, Verkauf — alle drei müssen laufen. Wenn eine fehlt, hast du viel Arbeit und keinen Umsatz. Diagnose vor Action — du musst wissen wo deine Lücke ist bevor du etwas änderst. Und nur EINE Säule pro Woche stärken, nicht alle gleichzeitig."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Outro:
„Bevor du weiter machst — Arbeitsblatt öffnen, drei Säulen ehrlich bewerten, schwächste finden, eine Action für nächste Woche. Wenn du sagst „ich weiss noch nicht welche bei mir schwach ist" — dann ist es höchstwahrscheinlich Verkauf. Bei 80 Prozent meiner Mentees ist Verkauf die schwächste. In Lektion 1.4 kommt der nächste Layer drauf — die vier Wochen-Rollen. Plattform, Produkt, Verkauf sind die Säulen DEINES BUSINESSES. Die vier Rollen sind WIE DU dich durch die Woche bewegst. Beides braucht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DD"/>
        </a:solidFill>
      </p:bgPr>
    </p:bg>
    <p:spTree>
      <p:nvGrpSpPr>
        <p:cNvPr id="1" name=""/>
        <p:cNvGrpSpPr/>
        <p:nvPr/>
      </p:nvGrpSpPr>
      <p:grpSpPr>
        <a:xfrm>
          <a:off x="0" y="0"/>
          <a:ext cx="0" cy="0"/>
          <a:chOff x="0" y="0"/>
          <a:chExt cx="0" cy="0"/>
        </a:xfrm>
      </p:grpSpPr>
      <p:sp>
        <p:nvSpPr>
          <p:cNvPr id="2" name="Shape 0"/>
          <p:cNvSpPr/>
          <p:nvPr/>
        </p:nvSpPr>
        <p:spPr>
          <a:xfrm>
            <a:off x="6858000" y="3840480"/>
            <a:ext cx="3200400" cy="3200400"/>
          </a:xfrm>
          <a:prstGeom prst="ellipse">
            <a:avLst/>
          </a:prstGeom>
          <a:solidFill>
            <a:srgbClr val="DC822E">
              <a:alpha val="25000"/>
            </a:srgbClr>
          </a:solidFill>
          <a:ln w="12700">
            <a:solidFill>
              <a:srgbClr val="DC822E">
                <a:alpha val="0"/>
              </a:srgbClr>
            </a:solidFill>
            <a:prstDash val="solid"/>
          </a:ln>
        </p:spPr>
      </p:sp>
      <p:sp>
        <p:nvSpPr>
          <p:cNvPr id="3" name="Text 1"/>
          <p:cNvSpPr/>
          <p:nvPr/>
        </p:nvSpPr>
        <p:spPr>
          <a:xfrm>
            <a:off x="548640" y="548640"/>
            <a:ext cx="8046720" cy="365760"/>
          </a:xfrm>
          <a:prstGeom prst="rect">
            <a:avLst/>
          </a:prstGeom>
          <a:noFill/>
          <a:ln/>
        </p:spPr>
        <p:txBody>
          <a:bodyPr wrap="square" rtlCol="0" anchor="ctr"/>
          <a:lstStyle/>
          <a:p>
            <a:pPr indent="0" marL="0">
              <a:buNone/>
            </a:pPr>
            <a:r>
              <a:rPr lang="en-US" sz="1100" b="1" spc="400" kern="0" dirty="0">
                <a:solidFill>
                  <a:srgbClr val="DC822E"/>
                </a:solidFill>
                <a:latin typeface="Calibri" pitchFamily="34" charset="0"/>
                <a:ea typeface="Calibri" pitchFamily="34" charset="-122"/>
                <a:cs typeface="Calibri" pitchFamily="34" charset="-120"/>
              </a:rPr>
              <a:t>MODUL 1 · SÄULE 1 — DU ERSCHAFFST DIR DIE ZEIT</a:t>
            </a:r>
            <a:endParaRPr lang="en-US" sz="1100" dirty="0"/>
          </a:p>
        </p:txBody>
      </p:sp>
      <p:sp>
        <p:nvSpPr>
          <p:cNvPr id="4" name="Shape 2"/>
          <p:cNvSpPr/>
          <p:nvPr/>
        </p:nvSpPr>
        <p:spPr>
          <a:xfrm>
            <a:off x="548640" y="960120"/>
            <a:ext cx="548640" cy="36576"/>
          </a:xfrm>
          <a:prstGeom prst="rect">
            <a:avLst/>
          </a:prstGeom>
          <a:solidFill>
            <a:srgbClr val="DC822E"/>
          </a:solidFill>
          <a:ln w="12700">
            <a:solidFill>
              <a:srgbClr val="DC822E">
                <a:alpha val="0"/>
              </a:srgbClr>
            </a:solidFill>
            <a:prstDash val="solid"/>
          </a:ln>
        </p:spPr>
      </p:sp>
      <p:sp>
        <p:nvSpPr>
          <p:cNvPr id="5" name="Text 3"/>
          <p:cNvSpPr/>
          <p:nvPr/>
        </p:nvSpPr>
        <p:spPr>
          <a:xfrm>
            <a:off x="548640" y="1280160"/>
            <a:ext cx="8046720" cy="1371600"/>
          </a:xfrm>
          <a:prstGeom prst="rect">
            <a:avLst/>
          </a:prstGeom>
          <a:noFill/>
          <a:ln/>
        </p:spPr>
        <p:txBody>
          <a:bodyPr wrap="square" lIns="0" tIns="0" rIns="0" bIns="0" rtlCol="0" anchor="t"/>
          <a:lstStyle/>
          <a:p>
            <a:pPr indent="0" marL="0">
              <a:buNone/>
            </a:pPr>
            <a:r>
              <a:rPr lang="en-US" sz="4800" b="1" dirty="0">
                <a:solidFill>
                  <a:srgbClr val="1A3A4A"/>
                </a:solidFill>
                <a:latin typeface="Georgia" pitchFamily="34" charset="0"/>
                <a:ea typeface="Georgia" pitchFamily="34" charset="-122"/>
                <a:cs typeface="Georgia" pitchFamily="34" charset="-120"/>
              </a:rPr>
              <a:t>Die 3 Säulen</a:t>
            </a:r>
            <a:endParaRPr lang="en-US" sz="4800" dirty="0"/>
          </a:p>
        </p:txBody>
      </p:sp>
      <p:sp>
        <p:nvSpPr>
          <p:cNvPr id="6" name="Text 4"/>
          <p:cNvSpPr/>
          <p:nvPr/>
        </p:nvSpPr>
        <p:spPr>
          <a:xfrm>
            <a:off x="548640" y="2743200"/>
            <a:ext cx="8046720" cy="1371600"/>
          </a:xfrm>
          <a:prstGeom prst="rect">
            <a:avLst/>
          </a:prstGeom>
          <a:noFill/>
          <a:ln/>
        </p:spPr>
        <p:txBody>
          <a:bodyPr wrap="square" lIns="0" tIns="0" rIns="0" bIns="0" rtlCol="0" anchor="t"/>
          <a:lstStyle/>
          <a:p>
            <a:pPr indent="0" marL="0">
              <a:buNone/>
            </a:pPr>
            <a:r>
              <a:rPr lang="en-US" sz="1800" i="1" dirty="0">
                <a:solidFill>
                  <a:srgbClr val="2C3E50"/>
                </a:solidFill>
                <a:latin typeface="Georgia" pitchFamily="34" charset="0"/>
                <a:ea typeface="Georgia" pitchFamily="34" charset="-122"/>
                <a:cs typeface="Georgia" pitchFamily="34" charset="-120"/>
              </a:rPr>
              <a:t>Plattform · Produkt · Verkauf —</a:t>
            </a:r>
            <a:endParaRPr lang="en-US" sz="1800" dirty="0"/>
          </a:p>
          <a:p>
            <a:pPr indent="0" marL="0">
              <a:buNone/>
            </a:pPr>
            <a:r>
              <a:rPr lang="en-US" sz="1800" i="1" dirty="0">
                <a:solidFill>
                  <a:srgbClr val="2C3E50"/>
                </a:solidFill>
                <a:latin typeface="Georgia" pitchFamily="34" charset="0"/>
                <a:ea typeface="Georgia" pitchFamily="34" charset="-122"/>
                <a:cs typeface="Georgia" pitchFamily="34" charset="-120"/>
              </a:rPr>
              <a:t>wenn EINE fehlt, läuft nichts.</a:t>
            </a:r>
            <a:endParaRPr lang="en-US" sz="1800" dirty="0"/>
          </a:p>
          <a:p>
            <a:pPr indent="0" marL="0">
              <a:buNone/>
            </a:pPr>
            <a:r>
              <a:rPr lang="en-US" sz="1800" i="1" dirty="0">
                <a:solidFill>
                  <a:srgbClr val="2C3E50"/>
                </a:solidFill>
                <a:latin typeface="Georgia" pitchFamily="34" charset="0"/>
                <a:ea typeface="Georgia" pitchFamily="34" charset="-122"/>
                <a:cs typeface="Georgia" pitchFamily="34" charset="-120"/>
              </a:rPr>
              <a:t>In dieser Lektion findest du deine Lücke.</a:t>
            </a:r>
            <a:endParaRPr lang="en-US" sz="1800" dirty="0"/>
          </a:p>
        </p:txBody>
      </p:sp>
      <p:sp>
        <p:nvSpPr>
          <p:cNvPr id="7" name="Text 5"/>
          <p:cNvSpPr/>
          <p:nvPr/>
        </p:nvSpPr>
        <p:spPr>
          <a:xfrm>
            <a:off x="548640" y="4572000"/>
            <a:ext cx="3657600" cy="365760"/>
          </a:xfrm>
          <a:prstGeom prst="rect">
            <a:avLst/>
          </a:prstGeom>
          <a:noFill/>
          <a:ln/>
        </p:spPr>
        <p:txBody>
          <a:bodyPr wrap="square" rtlCol="0" anchor="ctr"/>
          <a:lstStyle/>
          <a:p>
            <a:pPr indent="0" marL="0">
              <a:buNone/>
            </a:pPr>
            <a:r>
              <a:rPr lang="en-US" sz="1200" b="1" dirty="0">
                <a:solidFill>
                  <a:srgbClr val="12828C"/>
                </a:solidFill>
                <a:latin typeface="Calibri" pitchFamily="34" charset="0"/>
                <a:ea typeface="Calibri" pitchFamily="34" charset="-122"/>
                <a:cs typeface="Calibri" pitchFamily="34" charset="-120"/>
              </a:rPr>
              <a:t>Patricia Ulmann</a:t>
            </a:r>
            <a:endParaRPr lang="en-US" sz="1200" dirty="0"/>
          </a:p>
        </p:txBody>
      </p:sp>
      <p:sp>
        <p:nvSpPr>
          <p:cNvPr id="8" name="Text 6"/>
          <p:cNvSpPr/>
          <p:nvPr/>
        </p:nvSpPr>
        <p:spPr>
          <a:xfrm>
            <a:off x="4937760" y="4572000"/>
            <a:ext cx="3657600" cy="365760"/>
          </a:xfrm>
          <a:prstGeom prst="rect">
            <a:avLst/>
          </a:prstGeom>
          <a:noFill/>
          <a:ln/>
        </p:spPr>
        <p:txBody>
          <a:bodyPr wrap="square" rtlCol="0" anchor="ctr"/>
          <a:lstStyle/>
          <a:p>
            <a:pPr algn="r" indent="0" marL="0">
              <a:buNone/>
            </a:pPr>
            <a:r>
              <a:rPr lang="en-US" sz="1100" dirty="0">
                <a:solidFill>
                  <a:srgbClr val="7A8A95"/>
                </a:solidFill>
                <a:latin typeface="Calibri" pitchFamily="34" charset="0"/>
                <a:ea typeface="Calibri" pitchFamily="34" charset="-122"/>
                <a:cs typeface="Calibri" pitchFamily="34" charset="-120"/>
              </a:rPr>
              <a:t>mumlifebalance.ch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274320"/>
          </a:xfrm>
          <a:prstGeom prst="rect">
            <a:avLst/>
          </a:prstGeom>
          <a:noFill/>
          <a:ln/>
        </p:spPr>
        <p:txBody>
          <a:bodyPr wrap="square" rtlCol="0" anchor="ctr"/>
          <a:lstStyle/>
          <a:p>
            <a:pPr indent="0" marL="0">
              <a:buNone/>
            </a:pPr>
            <a:r>
              <a:rPr lang="en-US" sz="1000" b="1" spc="400" kern="0" dirty="0">
                <a:solidFill>
                  <a:srgbClr val="DC822E"/>
                </a:solidFill>
                <a:latin typeface="Calibri" pitchFamily="34" charset="0"/>
                <a:ea typeface="Calibri" pitchFamily="34" charset="-122"/>
                <a:cs typeface="Calibri" pitchFamily="34" charset="-120"/>
              </a:rPr>
              <a:t>LEKTION 1.3</a:t>
            </a:r>
            <a:endParaRPr lang="en-US" sz="1000" dirty="0"/>
          </a:p>
        </p:txBody>
      </p:sp>
      <p:sp>
        <p:nvSpPr>
          <p:cNvPr id="3" name="Text 1"/>
          <p:cNvSpPr/>
          <p:nvPr/>
        </p:nvSpPr>
        <p:spPr>
          <a:xfrm>
            <a:off x="548640" y="822960"/>
            <a:ext cx="8046720" cy="82296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Was du in den nächsten Minuten lernst</a:t>
            </a:r>
            <a:endParaRPr lang="en-US" sz="3200" dirty="0"/>
          </a:p>
        </p:txBody>
      </p:sp>
      <p:sp>
        <p:nvSpPr>
          <p:cNvPr id="4" name="Shape 2"/>
          <p:cNvSpPr/>
          <p:nvPr/>
        </p:nvSpPr>
        <p:spPr>
          <a:xfrm>
            <a:off x="548640" y="1828800"/>
            <a:ext cx="731520" cy="36576"/>
          </a:xfrm>
          <a:prstGeom prst="rect">
            <a:avLst/>
          </a:prstGeom>
          <a:solidFill>
            <a:srgbClr val="DC822E"/>
          </a:solidFill>
          <a:ln w="12700">
            <a:solidFill>
              <a:srgbClr val="DC822E">
                <a:alpha val="0"/>
              </a:srgbClr>
            </a:solidFill>
            <a:prstDash val="solid"/>
          </a:ln>
        </p:spPr>
      </p:sp>
      <p:sp>
        <p:nvSpPr>
          <p:cNvPr id="5" name="Shape 3"/>
          <p:cNvSpPr/>
          <p:nvPr/>
        </p:nvSpPr>
        <p:spPr>
          <a:xfrm>
            <a:off x="548640" y="2377440"/>
            <a:ext cx="457200" cy="457200"/>
          </a:xfrm>
          <a:prstGeom prst="ellipse">
            <a:avLst/>
          </a:prstGeom>
          <a:solidFill>
            <a:srgbClr val="12828C"/>
          </a:solidFill>
          <a:ln w="12700">
            <a:solidFill>
              <a:srgbClr val="12828C">
                <a:alpha val="0"/>
              </a:srgbClr>
            </a:solidFill>
            <a:prstDash val="solid"/>
          </a:ln>
        </p:spPr>
      </p:sp>
      <p:sp>
        <p:nvSpPr>
          <p:cNvPr id="6" name="Text 4"/>
          <p:cNvSpPr/>
          <p:nvPr/>
        </p:nvSpPr>
        <p:spPr>
          <a:xfrm>
            <a:off x="548640" y="2377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188720" y="237744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Was die 3 Säulen (Plattform · Produkt · Verkauf) wirklich bedeuten</a:t>
            </a:r>
            <a:endParaRPr lang="en-US" sz="1800" dirty="0"/>
          </a:p>
        </p:txBody>
      </p:sp>
      <p:sp>
        <p:nvSpPr>
          <p:cNvPr id="8" name="Shape 6"/>
          <p:cNvSpPr/>
          <p:nvPr/>
        </p:nvSpPr>
        <p:spPr>
          <a:xfrm>
            <a:off x="548640" y="3108960"/>
            <a:ext cx="457200" cy="457200"/>
          </a:xfrm>
          <a:prstGeom prst="ellipse">
            <a:avLst/>
          </a:prstGeom>
          <a:solidFill>
            <a:srgbClr val="12828C"/>
          </a:solidFill>
          <a:ln w="12700">
            <a:solidFill>
              <a:srgbClr val="12828C">
                <a:alpha val="0"/>
              </a:srgbClr>
            </a:solidFill>
            <a:prstDash val="solid"/>
          </a:ln>
        </p:spPr>
      </p:sp>
      <p:sp>
        <p:nvSpPr>
          <p:cNvPr id="9" name="Text 7"/>
          <p:cNvSpPr/>
          <p:nvPr/>
        </p:nvSpPr>
        <p:spPr>
          <a:xfrm>
            <a:off x="548640" y="3108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0" name="Text 8"/>
          <p:cNvSpPr/>
          <p:nvPr/>
        </p:nvSpPr>
        <p:spPr>
          <a:xfrm>
            <a:off x="1188720" y="310896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Wie du erkennst, welche bei dir aktuell fehlt oder wackelt</a:t>
            </a:r>
            <a:endParaRPr lang="en-US" sz="1800" dirty="0"/>
          </a:p>
        </p:txBody>
      </p:sp>
      <p:sp>
        <p:nvSpPr>
          <p:cNvPr id="11" name="Shape 9"/>
          <p:cNvSpPr/>
          <p:nvPr/>
        </p:nvSpPr>
        <p:spPr>
          <a:xfrm>
            <a:off x="548640" y="3840480"/>
            <a:ext cx="457200" cy="457200"/>
          </a:xfrm>
          <a:prstGeom prst="ellipse">
            <a:avLst/>
          </a:prstGeom>
          <a:solidFill>
            <a:srgbClr val="12828C"/>
          </a:solidFill>
          <a:ln w="12700">
            <a:solidFill>
              <a:srgbClr val="12828C">
                <a:alpha val="0"/>
              </a:srgbClr>
            </a:solidFill>
            <a:prstDash val="solid"/>
          </a:ln>
        </p:spPr>
      </p:sp>
      <p:sp>
        <p:nvSpPr>
          <p:cNvPr id="12" name="Text 10"/>
          <p:cNvSpPr/>
          <p:nvPr/>
        </p:nvSpPr>
        <p:spPr>
          <a:xfrm>
            <a:off x="548640" y="3840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3" name="Text 11"/>
          <p:cNvSpPr/>
          <p:nvPr/>
        </p:nvSpPr>
        <p:spPr>
          <a:xfrm>
            <a:off x="1188720" y="384048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Welche EINE Action für nächste Woche deine schwächste Säule stärkt</a:t>
            </a:r>
            <a:endParaRPr lang="en-US" sz="1800" dirty="0"/>
          </a:p>
        </p:txBody>
      </p:sp>
      <p:sp>
        <p:nvSpPr>
          <p:cNvPr id="14" name="Text 12"/>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1.3</a:t>
            </a:r>
            <a:endParaRPr lang="en-US" sz="900" dirty="0"/>
          </a:p>
        </p:txBody>
      </p:sp>
      <p:sp>
        <p:nvSpPr>
          <p:cNvPr id="15" name="Text 13"/>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1097280"/>
          </a:xfrm>
          <a:prstGeom prst="rect">
            <a:avLst/>
          </a:prstGeom>
          <a:noFill/>
          <a:ln/>
        </p:spPr>
        <p:txBody>
          <a:bodyPr wrap="square" lIns="0" tIns="0" rIns="0" bIns="0" rtlCol="0" anchor="t"/>
          <a:lstStyle/>
          <a:p>
            <a:pPr indent="0" marL="0">
              <a:buNone/>
            </a:pPr>
            <a:r>
              <a:rPr lang="en-US" sz="2800" b="1" dirty="0">
                <a:solidFill>
                  <a:srgbClr val="1A3A4A"/>
                </a:solidFill>
                <a:latin typeface="Georgia" pitchFamily="34" charset="0"/>
                <a:ea typeface="Georgia" pitchFamily="34" charset="-122"/>
                <a:cs typeface="Georgia" pitchFamily="34" charset="-120"/>
              </a:rPr>
              <a:t>Die 3 Säulen — was sie sind und nicht sind</a:t>
            </a:r>
            <a:endParaRPr lang="en-US" sz="2800" dirty="0"/>
          </a:p>
        </p:txBody>
      </p:sp>
      <p:sp>
        <p:nvSpPr>
          <p:cNvPr id="3" name="Shape 1"/>
          <p:cNvSpPr/>
          <p:nvPr/>
        </p:nvSpPr>
        <p:spPr>
          <a:xfrm>
            <a:off x="548640" y="2103120"/>
            <a:ext cx="2651760" cy="2377440"/>
          </a:xfrm>
          <a:prstGeom prst="rect">
            <a:avLst/>
          </a:prstGeom>
          <a:solidFill>
            <a:srgbClr val="F1ECDD"/>
          </a:solidFill>
          <a:ln w="12700">
            <a:solidFill>
              <a:srgbClr val="F1ECDD">
                <a:alpha val="0"/>
              </a:srgbClr>
            </a:solidFill>
            <a:prstDash val="solid"/>
          </a:ln>
        </p:spPr>
      </p:sp>
      <p:sp>
        <p:nvSpPr>
          <p:cNvPr id="4" name="Shape 2"/>
          <p:cNvSpPr/>
          <p:nvPr/>
        </p:nvSpPr>
        <p:spPr>
          <a:xfrm>
            <a:off x="548640" y="2103120"/>
            <a:ext cx="73152" cy="2377440"/>
          </a:xfrm>
          <a:prstGeom prst="rect">
            <a:avLst/>
          </a:prstGeom>
          <a:solidFill>
            <a:srgbClr val="12828C"/>
          </a:solidFill>
          <a:ln w="12700">
            <a:solidFill>
              <a:srgbClr val="12828C">
                <a:alpha val="0"/>
              </a:srgbClr>
            </a:solidFill>
            <a:prstDash val="solid"/>
          </a:ln>
        </p:spPr>
      </p:sp>
      <p:sp>
        <p:nvSpPr>
          <p:cNvPr id="5" name="Text 3"/>
          <p:cNvSpPr/>
          <p:nvPr/>
        </p:nvSpPr>
        <p:spPr>
          <a:xfrm>
            <a:off x="822960" y="2331720"/>
            <a:ext cx="2286000" cy="548640"/>
          </a:xfrm>
          <a:prstGeom prst="rect">
            <a:avLst/>
          </a:prstGeom>
          <a:noFill/>
          <a:ln/>
        </p:spPr>
        <p:txBody>
          <a:bodyPr wrap="square" lIns="0" tIns="0" rIns="0" bIns="0" rtlCol="0" anchor="t"/>
          <a:lstStyle/>
          <a:p>
            <a:pPr indent="0" marL="0">
              <a:buNone/>
            </a:pPr>
            <a:r>
              <a:rPr lang="en-US" sz="2200" b="1" dirty="0">
                <a:solidFill>
                  <a:srgbClr val="1A3A4A"/>
                </a:solidFill>
                <a:latin typeface="Georgia" pitchFamily="34" charset="0"/>
                <a:ea typeface="Georgia" pitchFamily="34" charset="-122"/>
                <a:cs typeface="Georgia" pitchFamily="34" charset="-120"/>
              </a:rPr>
              <a:t>PLATTFORM</a:t>
            </a:r>
            <a:endParaRPr lang="en-US" sz="2200" dirty="0"/>
          </a:p>
        </p:txBody>
      </p:sp>
      <p:sp>
        <p:nvSpPr>
          <p:cNvPr id="6" name="Text 4"/>
          <p:cNvSpPr/>
          <p:nvPr/>
        </p:nvSpPr>
        <p:spPr>
          <a:xfrm>
            <a:off x="822960" y="2971800"/>
            <a:ext cx="2286000" cy="1371600"/>
          </a:xfrm>
          <a:prstGeom prst="rect">
            <a:avLst/>
          </a:prstGeom>
          <a:noFill/>
          <a:ln/>
        </p:spPr>
        <p:txBody>
          <a:bodyPr wrap="square" lIns="0" tIns="0" rIns="0" bIns="0" rtlCol="0" anchor="t"/>
          <a:lstStyle/>
          <a:p>
            <a:pPr indent="0" marL="0">
              <a:buNone/>
            </a:pPr>
            <a:r>
              <a:rPr lang="en-US" sz="1500" dirty="0">
                <a:solidFill>
                  <a:srgbClr val="2C3E50"/>
                </a:solidFill>
                <a:latin typeface="Calibri" pitchFamily="34" charset="0"/>
                <a:ea typeface="Calibri" pitchFamily="34" charset="-122"/>
                <a:cs typeface="Calibri" pitchFamily="34" charset="-120"/>
              </a:rPr>
              <a:t>Wo sehen Menschen dich?</a:t>
            </a:r>
            <a:endParaRPr lang="en-US" sz="1500" dirty="0"/>
          </a:p>
          <a:p>
            <a:pPr indent="0" marL="0">
              <a:buNone/>
            </a:pPr>
            <a:endParaRPr lang="en-US" sz="1500" dirty="0"/>
          </a:p>
          <a:p>
            <a:pPr indent="0" marL="0">
              <a:buNone/>
            </a:pPr>
            <a:r>
              <a:rPr lang="en-US" sz="1500" dirty="0">
                <a:solidFill>
                  <a:srgbClr val="2C3E50"/>
                </a:solidFill>
                <a:latin typeface="Calibri" pitchFamily="34" charset="0"/>
                <a:ea typeface="Calibri" pitchFamily="34" charset="-122"/>
                <a:cs typeface="Calibri" pitchFamily="34" charset="-120"/>
              </a:rPr>
              <a:t>Instagram · Newsletter · Telegram · Blog. Eine reicht — aber sie muss laufen.</a:t>
            </a:r>
            <a:endParaRPr lang="en-US" sz="1500" dirty="0"/>
          </a:p>
        </p:txBody>
      </p:sp>
      <p:sp>
        <p:nvSpPr>
          <p:cNvPr id="7" name="Shape 5"/>
          <p:cNvSpPr/>
          <p:nvPr/>
        </p:nvSpPr>
        <p:spPr>
          <a:xfrm>
            <a:off x="3337560" y="2103120"/>
            <a:ext cx="2651760" cy="2377440"/>
          </a:xfrm>
          <a:prstGeom prst="rect">
            <a:avLst/>
          </a:prstGeom>
          <a:solidFill>
            <a:srgbClr val="F1ECDD"/>
          </a:solidFill>
          <a:ln w="12700">
            <a:solidFill>
              <a:srgbClr val="F1ECDD">
                <a:alpha val="0"/>
              </a:srgbClr>
            </a:solidFill>
            <a:prstDash val="solid"/>
          </a:ln>
        </p:spPr>
      </p:sp>
      <p:sp>
        <p:nvSpPr>
          <p:cNvPr id="8" name="Shape 6"/>
          <p:cNvSpPr/>
          <p:nvPr/>
        </p:nvSpPr>
        <p:spPr>
          <a:xfrm>
            <a:off x="3337560" y="2103120"/>
            <a:ext cx="73152" cy="2377440"/>
          </a:xfrm>
          <a:prstGeom prst="rect">
            <a:avLst/>
          </a:prstGeom>
          <a:solidFill>
            <a:srgbClr val="12828C"/>
          </a:solidFill>
          <a:ln w="12700">
            <a:solidFill>
              <a:srgbClr val="12828C">
                <a:alpha val="0"/>
              </a:srgbClr>
            </a:solidFill>
            <a:prstDash val="solid"/>
          </a:ln>
        </p:spPr>
      </p:sp>
      <p:sp>
        <p:nvSpPr>
          <p:cNvPr id="9" name="Text 7"/>
          <p:cNvSpPr/>
          <p:nvPr/>
        </p:nvSpPr>
        <p:spPr>
          <a:xfrm>
            <a:off x="3611880" y="2331720"/>
            <a:ext cx="2286000" cy="548640"/>
          </a:xfrm>
          <a:prstGeom prst="rect">
            <a:avLst/>
          </a:prstGeom>
          <a:noFill/>
          <a:ln/>
        </p:spPr>
        <p:txBody>
          <a:bodyPr wrap="square" lIns="0" tIns="0" rIns="0" bIns="0" rtlCol="0" anchor="t"/>
          <a:lstStyle/>
          <a:p>
            <a:pPr indent="0" marL="0">
              <a:buNone/>
            </a:pPr>
            <a:r>
              <a:rPr lang="en-US" sz="2200" b="1" dirty="0">
                <a:solidFill>
                  <a:srgbClr val="1A3A4A"/>
                </a:solidFill>
                <a:latin typeface="Georgia" pitchFamily="34" charset="0"/>
                <a:ea typeface="Georgia" pitchFamily="34" charset="-122"/>
                <a:cs typeface="Georgia" pitchFamily="34" charset="-120"/>
              </a:rPr>
              <a:t>PRODUKT</a:t>
            </a:r>
            <a:endParaRPr lang="en-US" sz="2200" dirty="0"/>
          </a:p>
        </p:txBody>
      </p:sp>
      <p:sp>
        <p:nvSpPr>
          <p:cNvPr id="10" name="Text 8"/>
          <p:cNvSpPr/>
          <p:nvPr/>
        </p:nvSpPr>
        <p:spPr>
          <a:xfrm>
            <a:off x="3611880" y="2971800"/>
            <a:ext cx="2286000" cy="1371600"/>
          </a:xfrm>
          <a:prstGeom prst="rect">
            <a:avLst/>
          </a:prstGeom>
          <a:noFill/>
          <a:ln/>
        </p:spPr>
        <p:txBody>
          <a:bodyPr wrap="square" lIns="0" tIns="0" rIns="0" bIns="0" rtlCol="0" anchor="t"/>
          <a:lstStyle/>
          <a:p>
            <a:pPr indent="0" marL="0">
              <a:buNone/>
            </a:pPr>
            <a:r>
              <a:rPr lang="en-US" sz="1500" dirty="0">
                <a:solidFill>
                  <a:srgbClr val="2C3E50"/>
                </a:solidFill>
                <a:latin typeface="Calibri" pitchFamily="34" charset="0"/>
                <a:ea typeface="Calibri" pitchFamily="34" charset="-122"/>
                <a:cs typeface="Calibri" pitchFamily="34" charset="-120"/>
              </a:rPr>
              <a:t>Was kaufen sie bei dir?</a:t>
            </a:r>
            <a:endParaRPr lang="en-US" sz="1500" dirty="0"/>
          </a:p>
          <a:p>
            <a:pPr indent="0" marL="0">
              <a:buNone/>
            </a:pPr>
            <a:endParaRPr lang="en-US" sz="1500" dirty="0"/>
          </a:p>
          <a:p>
            <a:pPr indent="0" marL="0">
              <a:buNone/>
            </a:pPr>
            <a:r>
              <a:rPr lang="en-US" sz="1500" dirty="0">
                <a:solidFill>
                  <a:srgbClr val="2C3E50"/>
                </a:solidFill>
                <a:latin typeface="Calibri" pitchFamily="34" charset="0"/>
                <a:ea typeface="Calibri" pitchFamily="34" charset="-122"/>
                <a:cs typeface="Calibri" pitchFamily="34" charset="-120"/>
              </a:rPr>
              <a:t>Freebie · Minikurs · Hauptprogramm · 1:1. Mindestens 2 Preisstufen.</a:t>
            </a:r>
            <a:endParaRPr lang="en-US" sz="1500" dirty="0"/>
          </a:p>
        </p:txBody>
      </p:sp>
      <p:sp>
        <p:nvSpPr>
          <p:cNvPr id="11" name="Shape 9"/>
          <p:cNvSpPr/>
          <p:nvPr/>
        </p:nvSpPr>
        <p:spPr>
          <a:xfrm>
            <a:off x="6126480" y="2103120"/>
            <a:ext cx="2651760" cy="2377440"/>
          </a:xfrm>
          <a:prstGeom prst="rect">
            <a:avLst/>
          </a:prstGeom>
          <a:solidFill>
            <a:srgbClr val="F1ECDD"/>
          </a:solidFill>
          <a:ln w="12700">
            <a:solidFill>
              <a:srgbClr val="F1ECDD">
                <a:alpha val="0"/>
              </a:srgbClr>
            </a:solidFill>
            <a:prstDash val="solid"/>
          </a:ln>
        </p:spPr>
      </p:sp>
      <p:sp>
        <p:nvSpPr>
          <p:cNvPr id="12" name="Shape 10"/>
          <p:cNvSpPr/>
          <p:nvPr/>
        </p:nvSpPr>
        <p:spPr>
          <a:xfrm>
            <a:off x="6126480" y="2103120"/>
            <a:ext cx="73152" cy="2377440"/>
          </a:xfrm>
          <a:prstGeom prst="rect">
            <a:avLst/>
          </a:prstGeom>
          <a:solidFill>
            <a:srgbClr val="12828C"/>
          </a:solidFill>
          <a:ln w="12700">
            <a:solidFill>
              <a:srgbClr val="12828C">
                <a:alpha val="0"/>
              </a:srgbClr>
            </a:solidFill>
            <a:prstDash val="solid"/>
          </a:ln>
        </p:spPr>
      </p:sp>
      <p:sp>
        <p:nvSpPr>
          <p:cNvPr id="13" name="Text 11"/>
          <p:cNvSpPr/>
          <p:nvPr/>
        </p:nvSpPr>
        <p:spPr>
          <a:xfrm>
            <a:off x="6400800" y="2331720"/>
            <a:ext cx="2286000" cy="548640"/>
          </a:xfrm>
          <a:prstGeom prst="rect">
            <a:avLst/>
          </a:prstGeom>
          <a:noFill/>
          <a:ln/>
        </p:spPr>
        <p:txBody>
          <a:bodyPr wrap="square" lIns="0" tIns="0" rIns="0" bIns="0" rtlCol="0" anchor="t"/>
          <a:lstStyle/>
          <a:p>
            <a:pPr indent="0" marL="0">
              <a:buNone/>
            </a:pPr>
            <a:r>
              <a:rPr lang="en-US" sz="2200" b="1" dirty="0">
                <a:solidFill>
                  <a:srgbClr val="1A3A4A"/>
                </a:solidFill>
                <a:latin typeface="Georgia" pitchFamily="34" charset="0"/>
                <a:ea typeface="Georgia" pitchFamily="34" charset="-122"/>
                <a:cs typeface="Georgia" pitchFamily="34" charset="-120"/>
              </a:rPr>
              <a:t>VERKAUF</a:t>
            </a:r>
            <a:endParaRPr lang="en-US" sz="2200" dirty="0"/>
          </a:p>
        </p:txBody>
      </p:sp>
      <p:sp>
        <p:nvSpPr>
          <p:cNvPr id="14" name="Text 12"/>
          <p:cNvSpPr/>
          <p:nvPr/>
        </p:nvSpPr>
        <p:spPr>
          <a:xfrm>
            <a:off x="6400800" y="2971800"/>
            <a:ext cx="2286000" cy="1371600"/>
          </a:xfrm>
          <a:prstGeom prst="rect">
            <a:avLst/>
          </a:prstGeom>
          <a:noFill/>
          <a:ln/>
        </p:spPr>
        <p:txBody>
          <a:bodyPr wrap="square" lIns="0" tIns="0" rIns="0" bIns="0" rtlCol="0" anchor="t"/>
          <a:lstStyle/>
          <a:p>
            <a:pPr indent="0" marL="0">
              <a:buNone/>
            </a:pPr>
            <a:r>
              <a:rPr lang="en-US" sz="1500" dirty="0">
                <a:solidFill>
                  <a:srgbClr val="2C3E50"/>
                </a:solidFill>
                <a:latin typeface="Calibri" pitchFamily="34" charset="0"/>
                <a:ea typeface="Calibri" pitchFamily="34" charset="-122"/>
                <a:cs typeface="Calibri" pitchFamily="34" charset="-120"/>
              </a:rPr>
              <a:t>Wie kommen Leute zum Kauf?</a:t>
            </a:r>
            <a:endParaRPr lang="en-US" sz="1500" dirty="0"/>
          </a:p>
          <a:p>
            <a:pPr indent="0" marL="0">
              <a:buNone/>
            </a:pPr>
            <a:endParaRPr lang="en-US" sz="1500" dirty="0"/>
          </a:p>
          <a:p>
            <a:pPr indent="0" marL="0">
              <a:buNone/>
            </a:pPr>
            <a:r>
              <a:rPr lang="en-US" sz="1500" dirty="0">
                <a:solidFill>
                  <a:srgbClr val="2C3E50"/>
                </a:solidFill>
                <a:latin typeface="Calibri" pitchFamily="34" charset="0"/>
                <a:ea typeface="Calibri" pitchFamily="34" charset="-122"/>
                <a:cs typeface="Calibri" pitchFamily="34" charset="-120"/>
              </a:rPr>
              <a:t>Funnel · Webinar · Salespage · DM-Verkauf. Ohne aktiven Verkauf passiert nichts.</a:t>
            </a:r>
            <a:endParaRPr lang="en-US" sz="1500" dirty="0"/>
          </a:p>
        </p:txBody>
      </p:sp>
      <p:sp>
        <p:nvSpPr>
          <p:cNvPr id="15" name="Text 1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1.3</a:t>
            </a:r>
            <a:endParaRPr lang="en-US" sz="900" dirty="0"/>
          </a:p>
        </p:txBody>
      </p:sp>
      <p:sp>
        <p:nvSpPr>
          <p:cNvPr id="16" name="Text 1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1188720"/>
            <a:ext cx="8046720" cy="365760"/>
          </a:xfrm>
          <a:prstGeom prst="rect">
            <a:avLst/>
          </a:prstGeom>
          <a:noFill/>
          <a:ln/>
        </p:spPr>
        <p:txBody>
          <a:bodyPr wrap="square" rtlCol="0" anchor="ctr"/>
          <a:lstStyle/>
          <a:p>
            <a:pPr algn="ctr" indent="0" marL="0">
              <a:buNone/>
            </a:pPr>
            <a:r>
              <a:rPr lang="en-US" sz="1100" b="1" spc="400" kern="0" dirty="0">
                <a:solidFill>
                  <a:srgbClr val="DC822E"/>
                </a:solidFill>
                <a:latin typeface="Calibri" pitchFamily="34" charset="0"/>
                <a:ea typeface="Calibri" pitchFamily="34" charset="-122"/>
                <a:cs typeface="Calibri" pitchFamily="34" charset="-120"/>
              </a:rPr>
              <a:t>DER STRATEGIE-KILLER</a:t>
            </a:r>
            <a:endParaRPr lang="en-US" sz="1100" dirty="0"/>
          </a:p>
        </p:txBody>
      </p:sp>
      <p:sp>
        <p:nvSpPr>
          <p:cNvPr id="3" name="Shape 1"/>
          <p:cNvSpPr/>
          <p:nvPr/>
        </p:nvSpPr>
        <p:spPr>
          <a:xfrm>
            <a:off x="4297680" y="1691640"/>
            <a:ext cx="548640" cy="36576"/>
          </a:xfrm>
          <a:prstGeom prst="rect">
            <a:avLst/>
          </a:prstGeom>
          <a:solidFill>
            <a:srgbClr val="DC822E"/>
          </a:solidFill>
          <a:ln w="12700">
            <a:solidFill>
              <a:srgbClr val="DC822E">
                <a:alpha val="0"/>
              </a:srgbClr>
            </a:solidFill>
            <a:prstDash val="solid"/>
          </a:ln>
        </p:spPr>
      </p:sp>
      <p:sp>
        <p:nvSpPr>
          <p:cNvPr id="4" name="Text 2"/>
          <p:cNvSpPr/>
          <p:nvPr/>
        </p:nvSpPr>
        <p:spPr>
          <a:xfrm>
            <a:off x="548640" y="2011680"/>
            <a:ext cx="8046720" cy="2286000"/>
          </a:xfrm>
          <a:prstGeom prst="rect">
            <a:avLst/>
          </a:prstGeom>
          <a:noFill/>
          <a:ln/>
        </p:spPr>
        <p:txBody>
          <a:bodyPr wrap="square" lIns="0" tIns="0" rIns="0" bIns="0" rtlCol="0" anchor="ctr"/>
          <a:lstStyle/>
          <a:p>
            <a:pPr algn="ctr" indent="0" marL="0">
              <a:buNone/>
            </a:pPr>
            <a:r>
              <a:rPr lang="en-US" sz="3600" b="1" dirty="0">
                <a:solidFill>
                  <a:srgbClr val="F1ECDD"/>
                </a:solidFill>
                <a:latin typeface="Georgia" pitchFamily="34" charset="0"/>
                <a:ea typeface="Georgia" pitchFamily="34" charset="-122"/>
                <a:cs typeface="Georgia" pitchFamily="34" charset="-120"/>
              </a:rPr>
              <a:t>Du arbeitest hart an der falschen Säule —</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und wunderst dich, warum es nicht läuft.</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Das ist nicht Disziplin.</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Das ist Diagnose-Fehler.</a:t>
            </a:r>
            <a:endParaRPr lang="en-US" sz="3600" dirty="0"/>
          </a:p>
        </p:txBody>
      </p:sp>
      <p:sp>
        <p:nvSpPr>
          <p:cNvPr id="5" name="Text 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1.3</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8046720" cy="73152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Welche Säule fehlt bei dir? Symptome:</a:t>
            </a:r>
            <a:endParaRPr lang="en-US" sz="3200" dirty="0"/>
          </a:p>
        </p:txBody>
      </p:sp>
      <p:sp>
        <p:nvSpPr>
          <p:cNvPr id="3" name="Shape 1"/>
          <p:cNvSpPr/>
          <p:nvPr/>
        </p:nvSpPr>
        <p:spPr>
          <a:xfrm>
            <a:off x="822960" y="1737360"/>
            <a:ext cx="548640" cy="548640"/>
          </a:xfrm>
          <a:prstGeom prst="ellipse">
            <a:avLst/>
          </a:prstGeom>
          <a:solidFill>
            <a:srgbClr val="DC822E"/>
          </a:solidFill>
          <a:ln w="12700">
            <a:solidFill>
              <a:srgbClr val="DC822E">
                <a:alpha val="0"/>
              </a:srgbClr>
            </a:solidFill>
            <a:prstDash val="solid"/>
          </a:ln>
        </p:spPr>
      </p:sp>
      <p:sp>
        <p:nvSpPr>
          <p:cNvPr id="4" name="Text 2"/>
          <p:cNvSpPr/>
          <p:nvPr/>
        </p:nvSpPr>
        <p:spPr>
          <a:xfrm>
            <a:off x="82296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5" name="Shape 3"/>
          <p:cNvSpPr/>
          <p:nvPr/>
        </p:nvSpPr>
        <p:spPr>
          <a:xfrm>
            <a:off x="548640" y="2468880"/>
            <a:ext cx="2606040" cy="2011680"/>
          </a:xfrm>
          <a:prstGeom prst="rect">
            <a:avLst/>
          </a:prstGeom>
          <a:solidFill>
            <a:srgbClr val="F1ECDD"/>
          </a:solidFill>
          <a:ln w="12700">
            <a:solidFill>
              <a:srgbClr val="F1ECDD">
                <a:alpha val="0"/>
              </a:srgbClr>
            </a:solidFill>
            <a:prstDash val="solid"/>
          </a:ln>
        </p:spPr>
      </p:sp>
      <p:sp>
        <p:nvSpPr>
          <p:cNvPr id="6" name="Text 4"/>
          <p:cNvSpPr/>
          <p:nvPr/>
        </p:nvSpPr>
        <p:spPr>
          <a:xfrm>
            <a:off x="777240" y="2651760"/>
            <a:ext cx="2148840" cy="548640"/>
          </a:xfrm>
          <a:prstGeom prst="rect">
            <a:avLst/>
          </a:prstGeom>
          <a:noFill/>
          <a:ln/>
        </p:spPr>
        <p:txBody>
          <a:bodyPr wrap="square" lIns="0" tIns="0" rIns="0" bIns="0" rtlCol="0" anchor="t"/>
          <a:lstStyle/>
          <a:p>
            <a:pPr indent="0" marL="0">
              <a:buNone/>
            </a:pPr>
            <a:r>
              <a:rPr lang="en-US" sz="2000" b="1" dirty="0">
                <a:solidFill>
                  <a:srgbClr val="0D6168"/>
                </a:solidFill>
                <a:latin typeface="Georgia" pitchFamily="34" charset="0"/>
                <a:ea typeface="Georgia" pitchFamily="34" charset="-122"/>
                <a:cs typeface="Georgia" pitchFamily="34" charset="-120"/>
              </a:rPr>
              <a:t>Plattform fehlt</a:t>
            </a:r>
            <a:endParaRPr lang="en-US" sz="2000" dirty="0"/>
          </a:p>
        </p:txBody>
      </p:sp>
      <p:sp>
        <p:nvSpPr>
          <p:cNvPr id="7" name="Text 5"/>
          <p:cNvSpPr/>
          <p:nvPr/>
        </p:nvSpPr>
        <p:spPr>
          <a:xfrm>
            <a:off x="777240" y="3246120"/>
            <a:ext cx="2148840" cy="1188720"/>
          </a:xfrm>
          <a:prstGeom prst="rect">
            <a:avLst/>
          </a:prstGeom>
          <a:noFill/>
          <a:ln/>
        </p:spPr>
        <p:txBody>
          <a:bodyPr wrap="square" lIns="0" tIns="0" rIns="0" bIns="0" rtlCol="0" anchor="t"/>
          <a:lstStyle/>
          <a:p>
            <a:pPr indent="0" marL="0">
              <a:buNone/>
            </a:pPr>
            <a:r>
              <a:rPr lang="en-US" sz="1400" dirty="0">
                <a:solidFill>
                  <a:srgbClr val="2C3E50"/>
                </a:solidFill>
                <a:latin typeface="Calibri" pitchFamily="34" charset="0"/>
                <a:ea typeface="Calibri" pitchFamily="34" charset="-122"/>
                <a:cs typeface="Calibri" pitchFamily="34" charset="-120"/>
              </a:rPr>
              <a:t>Du fühlst dich unsichtbar.</a:t>
            </a: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Wenig Reichweite, wenig DMs, niemand sieht was du tust.</a:t>
            </a:r>
            <a:endParaRPr lang="en-US" sz="1400" dirty="0"/>
          </a:p>
          <a:p>
            <a:pPr indent="0" marL="0">
              <a:buNone/>
            </a:pP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Fokus: Sichtbarkeit aufbauen.</a:t>
            </a:r>
            <a:endParaRPr lang="en-US" sz="1400" dirty="0"/>
          </a:p>
        </p:txBody>
      </p:sp>
      <p:sp>
        <p:nvSpPr>
          <p:cNvPr id="8" name="Shape 6"/>
          <p:cNvSpPr/>
          <p:nvPr/>
        </p:nvSpPr>
        <p:spPr>
          <a:xfrm>
            <a:off x="3611880" y="1737360"/>
            <a:ext cx="548640" cy="548640"/>
          </a:xfrm>
          <a:prstGeom prst="ellipse">
            <a:avLst/>
          </a:prstGeom>
          <a:solidFill>
            <a:srgbClr val="DC822E"/>
          </a:solidFill>
          <a:ln w="12700">
            <a:solidFill>
              <a:srgbClr val="DC822E">
                <a:alpha val="0"/>
              </a:srgbClr>
            </a:solidFill>
            <a:prstDash val="solid"/>
          </a:ln>
        </p:spPr>
      </p:sp>
      <p:sp>
        <p:nvSpPr>
          <p:cNvPr id="9" name="Text 7"/>
          <p:cNvSpPr/>
          <p:nvPr/>
        </p:nvSpPr>
        <p:spPr>
          <a:xfrm>
            <a:off x="361188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0" name="Shape 8"/>
          <p:cNvSpPr/>
          <p:nvPr/>
        </p:nvSpPr>
        <p:spPr>
          <a:xfrm>
            <a:off x="3337560" y="2468880"/>
            <a:ext cx="2606040" cy="2011680"/>
          </a:xfrm>
          <a:prstGeom prst="rect">
            <a:avLst/>
          </a:prstGeom>
          <a:solidFill>
            <a:srgbClr val="F1ECDD"/>
          </a:solidFill>
          <a:ln w="12700">
            <a:solidFill>
              <a:srgbClr val="F1ECDD">
                <a:alpha val="0"/>
              </a:srgbClr>
            </a:solidFill>
            <a:prstDash val="solid"/>
          </a:ln>
        </p:spPr>
      </p:sp>
      <p:sp>
        <p:nvSpPr>
          <p:cNvPr id="11" name="Text 9"/>
          <p:cNvSpPr/>
          <p:nvPr/>
        </p:nvSpPr>
        <p:spPr>
          <a:xfrm>
            <a:off x="3566160" y="2651760"/>
            <a:ext cx="2148840" cy="548640"/>
          </a:xfrm>
          <a:prstGeom prst="rect">
            <a:avLst/>
          </a:prstGeom>
          <a:noFill/>
          <a:ln/>
        </p:spPr>
        <p:txBody>
          <a:bodyPr wrap="square" lIns="0" tIns="0" rIns="0" bIns="0" rtlCol="0" anchor="t"/>
          <a:lstStyle/>
          <a:p>
            <a:pPr indent="0" marL="0">
              <a:buNone/>
            </a:pPr>
            <a:r>
              <a:rPr lang="en-US" sz="2000" b="1" dirty="0">
                <a:solidFill>
                  <a:srgbClr val="0D6168"/>
                </a:solidFill>
                <a:latin typeface="Georgia" pitchFamily="34" charset="0"/>
                <a:ea typeface="Georgia" pitchFamily="34" charset="-122"/>
                <a:cs typeface="Georgia" pitchFamily="34" charset="-120"/>
              </a:rPr>
              <a:t>Produkt fehlt</a:t>
            </a:r>
            <a:endParaRPr lang="en-US" sz="2000" dirty="0"/>
          </a:p>
        </p:txBody>
      </p:sp>
      <p:sp>
        <p:nvSpPr>
          <p:cNvPr id="12" name="Text 10"/>
          <p:cNvSpPr/>
          <p:nvPr/>
        </p:nvSpPr>
        <p:spPr>
          <a:xfrm>
            <a:off x="3566160" y="3246120"/>
            <a:ext cx="2148840" cy="1188720"/>
          </a:xfrm>
          <a:prstGeom prst="rect">
            <a:avLst/>
          </a:prstGeom>
          <a:noFill/>
          <a:ln/>
        </p:spPr>
        <p:txBody>
          <a:bodyPr wrap="square" lIns="0" tIns="0" rIns="0" bIns="0" rtlCol="0" anchor="t"/>
          <a:lstStyle/>
          <a:p>
            <a:pPr indent="0" marL="0">
              <a:buNone/>
            </a:pPr>
            <a:r>
              <a:rPr lang="en-US" sz="1400" dirty="0">
                <a:solidFill>
                  <a:srgbClr val="2C3E50"/>
                </a:solidFill>
                <a:latin typeface="Calibri" pitchFamily="34" charset="0"/>
                <a:ea typeface="Calibri" pitchFamily="34" charset="-122"/>
                <a:cs typeface="Calibri" pitchFamily="34" charset="-120"/>
              </a:rPr>
              <a:t>Du hast Reichweite, aber niemand kauft.</a:t>
            </a: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Du hast nur Freebie oder nur 1:1.</a:t>
            </a:r>
            <a:endParaRPr lang="en-US" sz="1400" dirty="0"/>
          </a:p>
          <a:p>
            <a:pPr indent="0" marL="0">
              <a:buNone/>
            </a:pP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Fokus: Mid-Price-Angebot bauen.</a:t>
            </a:r>
            <a:endParaRPr lang="en-US" sz="1400" dirty="0"/>
          </a:p>
        </p:txBody>
      </p:sp>
      <p:sp>
        <p:nvSpPr>
          <p:cNvPr id="13" name="Shape 11"/>
          <p:cNvSpPr/>
          <p:nvPr/>
        </p:nvSpPr>
        <p:spPr>
          <a:xfrm>
            <a:off x="6400800" y="1737360"/>
            <a:ext cx="548640" cy="548640"/>
          </a:xfrm>
          <a:prstGeom prst="ellipse">
            <a:avLst/>
          </a:prstGeom>
          <a:solidFill>
            <a:srgbClr val="DC822E"/>
          </a:solidFill>
          <a:ln w="12700">
            <a:solidFill>
              <a:srgbClr val="DC822E">
                <a:alpha val="0"/>
              </a:srgbClr>
            </a:solidFill>
            <a:prstDash val="solid"/>
          </a:ln>
        </p:spPr>
      </p:sp>
      <p:sp>
        <p:nvSpPr>
          <p:cNvPr id="14" name="Text 12"/>
          <p:cNvSpPr/>
          <p:nvPr/>
        </p:nvSpPr>
        <p:spPr>
          <a:xfrm>
            <a:off x="640080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5" name="Shape 13"/>
          <p:cNvSpPr/>
          <p:nvPr/>
        </p:nvSpPr>
        <p:spPr>
          <a:xfrm>
            <a:off x="6126480" y="2468880"/>
            <a:ext cx="2606040" cy="2011680"/>
          </a:xfrm>
          <a:prstGeom prst="rect">
            <a:avLst/>
          </a:prstGeom>
          <a:solidFill>
            <a:srgbClr val="F1ECDD"/>
          </a:solidFill>
          <a:ln w="12700">
            <a:solidFill>
              <a:srgbClr val="F1ECDD">
                <a:alpha val="0"/>
              </a:srgbClr>
            </a:solidFill>
            <a:prstDash val="solid"/>
          </a:ln>
        </p:spPr>
      </p:sp>
      <p:sp>
        <p:nvSpPr>
          <p:cNvPr id="16" name="Text 14"/>
          <p:cNvSpPr/>
          <p:nvPr/>
        </p:nvSpPr>
        <p:spPr>
          <a:xfrm>
            <a:off x="6355080" y="2651760"/>
            <a:ext cx="2148840" cy="548640"/>
          </a:xfrm>
          <a:prstGeom prst="rect">
            <a:avLst/>
          </a:prstGeom>
          <a:noFill/>
          <a:ln/>
        </p:spPr>
        <p:txBody>
          <a:bodyPr wrap="square" lIns="0" tIns="0" rIns="0" bIns="0" rtlCol="0" anchor="t"/>
          <a:lstStyle/>
          <a:p>
            <a:pPr indent="0" marL="0">
              <a:buNone/>
            </a:pPr>
            <a:r>
              <a:rPr lang="en-US" sz="2000" b="1" dirty="0">
                <a:solidFill>
                  <a:srgbClr val="0D6168"/>
                </a:solidFill>
                <a:latin typeface="Georgia" pitchFamily="34" charset="0"/>
                <a:ea typeface="Georgia" pitchFamily="34" charset="-122"/>
                <a:cs typeface="Georgia" pitchFamily="34" charset="-120"/>
              </a:rPr>
              <a:t>Verkauf fehlt</a:t>
            </a:r>
            <a:endParaRPr lang="en-US" sz="2000" dirty="0"/>
          </a:p>
        </p:txBody>
      </p:sp>
      <p:sp>
        <p:nvSpPr>
          <p:cNvPr id="17" name="Text 15"/>
          <p:cNvSpPr/>
          <p:nvPr/>
        </p:nvSpPr>
        <p:spPr>
          <a:xfrm>
            <a:off x="6355080" y="3246120"/>
            <a:ext cx="2148840" cy="1188720"/>
          </a:xfrm>
          <a:prstGeom prst="rect">
            <a:avLst/>
          </a:prstGeom>
          <a:noFill/>
          <a:ln/>
        </p:spPr>
        <p:txBody>
          <a:bodyPr wrap="square" lIns="0" tIns="0" rIns="0" bIns="0" rtlCol="0" anchor="t"/>
          <a:lstStyle/>
          <a:p>
            <a:pPr indent="0" marL="0">
              <a:buNone/>
            </a:pPr>
            <a:r>
              <a:rPr lang="en-US" sz="1400" dirty="0">
                <a:solidFill>
                  <a:srgbClr val="2C3E50"/>
                </a:solidFill>
                <a:latin typeface="Calibri" pitchFamily="34" charset="0"/>
                <a:ea typeface="Calibri" pitchFamily="34" charset="-122"/>
                <a:cs typeface="Calibri" pitchFamily="34" charset="-120"/>
              </a:rPr>
              <a:t>Du hast Plattform + Produkt.</a:t>
            </a: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Aber niemand wird zum Kauf hingeführt.</a:t>
            </a:r>
            <a:endParaRPr lang="en-US" sz="1400" dirty="0"/>
          </a:p>
          <a:p>
            <a:pPr indent="0" marL="0">
              <a:buNone/>
            </a:pP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Fokus: Funnel oder Launch-Mechanik.</a:t>
            </a:r>
            <a:endParaRPr lang="en-US" sz="1400" dirty="0"/>
          </a:p>
        </p:txBody>
      </p:sp>
      <p:sp>
        <p:nvSpPr>
          <p:cNvPr id="18" name="Text 16"/>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1.3</a:t>
            </a:r>
            <a:endParaRPr lang="en-US" sz="900" dirty="0"/>
          </a:p>
        </p:txBody>
      </p:sp>
      <p:sp>
        <p:nvSpPr>
          <p:cNvPr id="19" name="Text 17"/>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000" b="1" spc="400" kern="0" dirty="0">
                <a:solidFill>
                  <a:srgbClr val="DC822E"/>
                </a:solidFill>
                <a:latin typeface="Calibri" pitchFamily="34" charset="0"/>
                <a:ea typeface="Calibri" pitchFamily="34" charset="-122"/>
                <a:cs typeface="Calibri" pitchFamily="34" charset="-120"/>
              </a:rPr>
              <a:t>WAS ICH IMMER WIEDER SEHE</a:t>
            </a:r>
            <a:endParaRPr lang="en-US" sz="1000" dirty="0"/>
          </a:p>
        </p:txBody>
      </p:sp>
      <p:sp>
        <p:nvSpPr>
          <p:cNvPr id="3" name="Text 1"/>
          <p:cNvSpPr/>
          <p:nvPr/>
        </p:nvSpPr>
        <p:spPr>
          <a:xfrm>
            <a:off x="548640" y="822960"/>
            <a:ext cx="8046720" cy="822960"/>
          </a:xfrm>
          <a:prstGeom prst="rect">
            <a:avLst/>
          </a:prstGeom>
          <a:noFill/>
          <a:ln/>
        </p:spPr>
        <p:txBody>
          <a:bodyPr wrap="square" lIns="0" tIns="0" rIns="0" bIns="0" rtlCol="0" anchor="t"/>
          <a:lstStyle/>
          <a:p>
            <a:pPr indent="0" marL="0">
              <a:buNone/>
            </a:pPr>
            <a:r>
              <a:rPr lang="en-US" sz="3600" b="1" dirty="0">
                <a:solidFill>
                  <a:srgbClr val="1A3A4A"/>
                </a:solidFill>
                <a:latin typeface="Georgia" pitchFamily="34" charset="0"/>
                <a:ea typeface="Georgia" pitchFamily="34" charset="-122"/>
                <a:cs typeface="Georgia" pitchFamily="34" charset="-120"/>
              </a:rPr>
              <a:t>Die meisten Mamas haben Plattform + Produkt — aber keinen Verkauf</a:t>
            </a:r>
            <a:endParaRPr lang="en-US" sz="3600" dirty="0"/>
          </a:p>
        </p:txBody>
      </p:sp>
      <p:sp>
        <p:nvSpPr>
          <p:cNvPr id="4" name="Text 2"/>
          <p:cNvSpPr/>
          <p:nvPr/>
        </p:nvSpPr>
        <p:spPr>
          <a:xfrm>
            <a:off x="548640" y="1920240"/>
            <a:ext cx="5120640" cy="2194560"/>
          </a:xfrm>
          <a:prstGeom prst="rect">
            <a:avLst/>
          </a:prstGeom>
          <a:noFill/>
          <a:ln/>
        </p:spPr>
        <p:txBody>
          <a:bodyPr wrap="square" rtlCol="0" anchor="t"/>
          <a:lstStyle/>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Sie posten regelmässig (Plattform ✓)</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Sie haben ein Freebie und ein Programm (Produkt ✓)</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Aber: Posts sind alle Mehrwert — kein einziges aktives Verkaufs-Element</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Resultat: viel Arbeit, kein Umsatz</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Lösung: bewusst Verkaufs-Posts/Stories/Mails einplanen</a:t>
            </a:r>
            <a:endParaRPr lang="en-US" sz="1600" dirty="0"/>
          </a:p>
        </p:txBody>
      </p:sp>
      <p:sp>
        <p:nvSpPr>
          <p:cNvPr id="5" name="Shape 3"/>
          <p:cNvSpPr/>
          <p:nvPr/>
        </p:nvSpPr>
        <p:spPr>
          <a:xfrm>
            <a:off x="5852160" y="1920240"/>
            <a:ext cx="2743200" cy="2286000"/>
          </a:xfrm>
          <a:prstGeom prst="rect">
            <a:avLst/>
          </a:prstGeom>
          <a:solidFill>
            <a:srgbClr val="F1ECDD"/>
          </a:solidFill>
          <a:ln w="12700">
            <a:solidFill>
              <a:srgbClr val="F1ECDD">
                <a:alpha val="0"/>
              </a:srgbClr>
            </a:solidFill>
            <a:prstDash val="solid"/>
          </a:ln>
        </p:spPr>
      </p:sp>
      <p:sp>
        <p:nvSpPr>
          <p:cNvPr id="6" name="Shape 4"/>
          <p:cNvSpPr/>
          <p:nvPr/>
        </p:nvSpPr>
        <p:spPr>
          <a:xfrm>
            <a:off x="5852160" y="1920240"/>
            <a:ext cx="73152" cy="2286000"/>
          </a:xfrm>
          <a:prstGeom prst="rect">
            <a:avLst/>
          </a:prstGeom>
          <a:solidFill>
            <a:srgbClr val="DC822E"/>
          </a:solidFill>
          <a:ln w="12700">
            <a:solidFill>
              <a:srgbClr val="DC822E">
                <a:alpha val="0"/>
              </a:srgbClr>
            </a:solidFill>
            <a:prstDash val="solid"/>
          </a:ln>
        </p:spPr>
      </p:sp>
      <p:sp>
        <p:nvSpPr>
          <p:cNvPr id="7" name="Text 5"/>
          <p:cNvSpPr/>
          <p:nvPr/>
        </p:nvSpPr>
        <p:spPr>
          <a:xfrm>
            <a:off x="6080760" y="2103120"/>
            <a:ext cx="2468880" cy="274320"/>
          </a:xfrm>
          <a:prstGeom prst="rect">
            <a:avLst/>
          </a:prstGeom>
          <a:noFill/>
          <a:ln/>
        </p:spPr>
        <p:txBody>
          <a:bodyPr wrap="square" rtlCol="0" anchor="ctr"/>
          <a:lstStyle/>
          <a:p>
            <a:pPr indent="0" marL="0">
              <a:buNone/>
            </a:pPr>
            <a:r>
              <a:rPr lang="en-US" sz="900" b="1" spc="400" kern="0" dirty="0">
                <a:solidFill>
                  <a:srgbClr val="DC822E"/>
                </a:solidFill>
                <a:latin typeface="Calibri" pitchFamily="34" charset="0"/>
                <a:ea typeface="Calibri" pitchFamily="34" charset="-122"/>
                <a:cs typeface="Calibri" pitchFamily="34" charset="-120"/>
              </a:rPr>
              <a:t>PATRICIA</a:t>
            </a:r>
            <a:endParaRPr lang="en-US" sz="900" dirty="0"/>
          </a:p>
        </p:txBody>
      </p:sp>
      <p:sp>
        <p:nvSpPr>
          <p:cNvPr id="8" name="Text 6"/>
          <p:cNvSpPr/>
          <p:nvPr/>
        </p:nvSpPr>
        <p:spPr>
          <a:xfrm>
            <a:off x="6080760" y="2468880"/>
            <a:ext cx="2468880" cy="1645920"/>
          </a:xfrm>
          <a:prstGeom prst="rect">
            <a:avLst/>
          </a:prstGeom>
          <a:noFill/>
          <a:ln/>
        </p:spPr>
        <p:txBody>
          <a:bodyPr wrap="square" lIns="0" tIns="0" rIns="0" bIns="0" rtlCol="0" anchor="t"/>
          <a:lstStyle/>
          <a:p>
            <a:pPr indent="0" marL="0">
              <a:buNone/>
            </a:pPr>
            <a:r>
              <a:rPr lang="en-US" sz="1400" i="1" dirty="0">
                <a:solidFill>
                  <a:srgbClr val="0D6168"/>
                </a:solidFill>
                <a:latin typeface="Georgia" pitchFamily="34" charset="0"/>
                <a:ea typeface="Georgia" pitchFamily="34" charset="-122"/>
                <a:cs typeface="Georgia" pitchFamily="34" charset="-120"/>
              </a:rPr>
              <a:t>„Mehrwert ohne Verkauf ist Hobby. Mehrwert plus Verkauf ist Business."</a:t>
            </a:r>
            <a:endParaRPr lang="en-US" sz="1400" dirty="0"/>
          </a:p>
        </p:txBody>
      </p:sp>
      <p:sp>
        <p:nvSpPr>
          <p:cNvPr id="9" name="Text 7"/>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1.3</a:t>
            </a:r>
            <a:endParaRPr lang="en-US" sz="900" dirty="0"/>
          </a:p>
        </p:txBody>
      </p:sp>
      <p:sp>
        <p:nvSpPr>
          <p:cNvPr id="10" name="Text 8"/>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1097280"/>
          </a:xfrm>
          <a:prstGeom prst="rect">
            <a:avLst/>
          </a:prstGeom>
          <a:noFill/>
          <a:ln/>
        </p:spPr>
        <p:txBody>
          <a:bodyPr wrap="square" lIns="0" tIns="0" rIns="0" bIns="0" rtlCol="0" anchor="t"/>
          <a:lstStyle/>
          <a:p>
            <a:pPr indent="0" marL="0">
              <a:buNone/>
            </a:pPr>
            <a:r>
              <a:rPr lang="en-US" sz="2600" b="1" dirty="0">
                <a:solidFill>
                  <a:srgbClr val="1A3A4A"/>
                </a:solidFill>
                <a:latin typeface="Georgia" pitchFamily="34" charset="0"/>
                <a:ea typeface="Georgia" pitchFamily="34" charset="-122"/>
                <a:cs typeface="Georgia" pitchFamily="34" charset="-120"/>
              </a:rPr>
              <a:t>Was die Säule wirklich stärkt vs. nur „aussieht"</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8046720" cy="914400"/>
        </p:xfrm>
        <a:graphic>
          <a:graphicData uri="http://schemas.openxmlformats.org/drawingml/2006/table">
            <a:tbl>
              <a:tblPr/>
              <a:tblGrid>
                <a:gridCol w="3200400"/>
                <a:gridCol w="4846320"/>
              </a:tblGrid>
              <a:tr h="457200">
                <a:tc>
                  <a:txBody>
                    <a:bodyPr/>
                    <a:lstStyle/>
                    <a:p>
                      <a:pPr indent="0" marL="0">
                        <a:buNone/>
                      </a:pPr>
                      <a:r>
                        <a:rPr lang="en-US" sz="1100" b="1" spc="300" kern="0" dirty="0">
                          <a:solidFill>
                            <a:srgbClr val="7A8A95"/>
                          </a:solidFill>
                          <a:latin typeface="Calibri" pitchFamily="34" charset="0"/>
                          <a:ea typeface="Calibri" pitchFamily="34" charset="-122"/>
                          <a:cs typeface="Calibri" pitchFamily="34" charset="-120"/>
                        </a:rPr>
                        <a:t>NUR SCHÖN</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b="1" spc="300" kern="0" dirty="0">
                          <a:solidFill>
                            <a:srgbClr val="DC822E"/>
                          </a:solidFill>
                          <a:latin typeface="Calibri" pitchFamily="34" charset="0"/>
                          <a:ea typeface="Calibri" pitchFamily="34" charset="-122"/>
                          <a:cs typeface="Calibri" pitchFamily="34" charset="-120"/>
                        </a:rPr>
                        <a:t>WIRKLICH WIRKSAM</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Plattform: viele Likes</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Plattform: aktive DM-Gespräche</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Produkt: viele Angebote</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Produkt: 1 klares Hauptprodukt</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Verkauf: Mehrwert-Posts</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Verkauf: konkrete Kauf-Aufrufe</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Posten = Arbeit</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Verkaufen = Arbeit</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1.3</a:t>
            </a:r>
            <a:endParaRPr lang="en-US" sz="900" dirty="0"/>
          </a:p>
        </p:txBody>
      </p:sp>
      <p:sp>
        <p:nvSpPr>
          <p:cNvPr id="5" name="Text 2"/>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548640" y="640080"/>
            <a:ext cx="8046720" cy="822960"/>
          </a:xfrm>
          <a:prstGeom prst="rect">
            <a:avLst/>
          </a:prstGeom>
          <a:noFill/>
          <a:ln/>
        </p:spPr>
        <p:txBody>
          <a:bodyPr wrap="square" lIns="0" tIns="0" rIns="0" bIns="0" rtlCol="0" anchor="t"/>
          <a:lstStyle/>
          <a:p>
            <a:pPr indent="0" marL="0">
              <a:buNone/>
            </a:pPr>
            <a:r>
              <a:rPr lang="en-US" sz="2800" b="1" dirty="0">
                <a:solidFill>
                  <a:srgbClr val="1A3A4A"/>
                </a:solidFill>
                <a:latin typeface="Georgia" pitchFamily="34" charset="0"/>
                <a:ea typeface="Georgia" pitchFamily="34" charset="-122"/>
                <a:cs typeface="Georgia" pitchFamily="34" charset="-120"/>
              </a:rPr>
              <a:t>Was du diese Woche NICHT machst</a:t>
            </a:r>
            <a:endParaRPr lang="en-US" sz="2800" dirty="0"/>
          </a:p>
        </p:txBody>
      </p:sp>
      <p:sp>
        <p:nvSpPr>
          <p:cNvPr id="3" name="Shape 1"/>
          <p:cNvSpPr/>
          <p:nvPr/>
        </p:nvSpPr>
        <p:spPr>
          <a:xfrm>
            <a:off x="731520" y="2011680"/>
            <a:ext cx="457200" cy="457200"/>
          </a:xfrm>
          <a:prstGeom prst="ellipse">
            <a:avLst/>
          </a:prstGeom>
          <a:solidFill>
            <a:srgbClr val="FFFFFF"/>
          </a:solidFill>
          <a:ln w="25400">
            <a:solidFill>
              <a:srgbClr val="DC822E"/>
            </a:solidFill>
            <a:prstDash val="solid"/>
          </a:ln>
        </p:spPr>
      </p:sp>
      <p:sp>
        <p:nvSpPr>
          <p:cNvPr id="4" name="Text 2"/>
          <p:cNvSpPr/>
          <p:nvPr/>
        </p:nvSpPr>
        <p:spPr>
          <a:xfrm>
            <a:off x="731520" y="201168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5" name="Text 3"/>
          <p:cNvSpPr/>
          <p:nvPr/>
        </p:nvSpPr>
        <p:spPr>
          <a:xfrm>
            <a:off x="1371600" y="201168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Alle 3 Säulen gleichzeitig boosten — du bist eine Mama, nicht ein Team</a:t>
            </a:r>
            <a:endParaRPr lang="en-US" sz="1800" dirty="0"/>
          </a:p>
        </p:txBody>
      </p:sp>
      <p:sp>
        <p:nvSpPr>
          <p:cNvPr id="6" name="Shape 4"/>
          <p:cNvSpPr/>
          <p:nvPr/>
        </p:nvSpPr>
        <p:spPr>
          <a:xfrm>
            <a:off x="731520" y="2743200"/>
            <a:ext cx="457200" cy="457200"/>
          </a:xfrm>
          <a:prstGeom prst="ellipse">
            <a:avLst/>
          </a:prstGeom>
          <a:solidFill>
            <a:srgbClr val="FFFFFF"/>
          </a:solidFill>
          <a:ln w="25400">
            <a:solidFill>
              <a:srgbClr val="DC822E"/>
            </a:solidFill>
            <a:prstDash val="solid"/>
          </a:ln>
        </p:spPr>
      </p:sp>
      <p:sp>
        <p:nvSpPr>
          <p:cNvPr id="7" name="Text 5"/>
          <p:cNvSpPr/>
          <p:nvPr/>
        </p:nvSpPr>
        <p:spPr>
          <a:xfrm>
            <a:off x="731520" y="274320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371600" y="274320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Eine neue Plattform starten, bevor die erste läuft</a:t>
            </a:r>
            <a:endParaRPr lang="en-US" sz="1800" dirty="0"/>
          </a:p>
        </p:txBody>
      </p:sp>
      <p:sp>
        <p:nvSpPr>
          <p:cNvPr id="9" name="Shape 7"/>
          <p:cNvSpPr/>
          <p:nvPr/>
        </p:nvSpPr>
        <p:spPr>
          <a:xfrm>
            <a:off x="731520" y="3474720"/>
            <a:ext cx="457200" cy="457200"/>
          </a:xfrm>
          <a:prstGeom prst="ellipse">
            <a:avLst/>
          </a:prstGeom>
          <a:solidFill>
            <a:srgbClr val="FFFFFF"/>
          </a:solidFill>
          <a:ln w="25400">
            <a:solidFill>
              <a:srgbClr val="DC822E"/>
            </a:solidFill>
            <a:prstDash val="solid"/>
          </a:ln>
        </p:spPr>
      </p:sp>
      <p:sp>
        <p:nvSpPr>
          <p:cNvPr id="10" name="Text 8"/>
          <p:cNvSpPr/>
          <p:nvPr/>
        </p:nvSpPr>
        <p:spPr>
          <a:xfrm>
            <a:off x="731520" y="347472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371600" y="347472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Ein zweites Produkt bauen, wenn das erste noch nicht verkauft</a:t>
            </a:r>
            <a:endParaRPr lang="en-US" sz="1800" dirty="0"/>
          </a:p>
        </p:txBody>
      </p:sp>
      <p:sp>
        <p:nvSpPr>
          <p:cNvPr id="12" name="Text 10"/>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1.3</a:t>
            </a:r>
            <a:endParaRPr lang="en-US" sz="900" dirty="0"/>
          </a:p>
        </p:txBody>
      </p:sp>
      <p:sp>
        <p:nvSpPr>
          <p:cNvPr id="13" name="Text 11"/>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100" b="1" spc="400" kern="0" dirty="0">
                <a:solidFill>
                  <a:srgbClr val="DC822E"/>
                </a:solidFill>
                <a:latin typeface="Calibri" pitchFamily="34" charset="0"/>
                <a:ea typeface="Calibri" pitchFamily="34" charset="-122"/>
                <a:cs typeface="Calibri" pitchFamily="34" charset="-120"/>
              </a:rPr>
              <a:t>DAS NIMMST DU MIT</a:t>
            </a:r>
            <a:endParaRPr lang="en-US" sz="1100" dirty="0"/>
          </a:p>
        </p:txBody>
      </p:sp>
      <p:sp>
        <p:nvSpPr>
          <p:cNvPr id="3" name="Text 1"/>
          <p:cNvSpPr/>
          <p:nvPr/>
        </p:nvSpPr>
        <p:spPr>
          <a:xfrm>
            <a:off x="548640" y="822960"/>
            <a:ext cx="8046720" cy="731520"/>
          </a:xfrm>
          <a:prstGeom prst="rect">
            <a:avLst/>
          </a:prstGeom>
          <a:noFill/>
          <a:ln/>
        </p:spPr>
        <p:txBody>
          <a:bodyPr wrap="square" lIns="0" tIns="0" rIns="0" bIns="0" rtlCol="0" anchor="t"/>
          <a:lstStyle/>
          <a:p>
            <a:pPr indent="0" marL="0">
              <a:buNone/>
            </a:pPr>
            <a:r>
              <a:rPr lang="en-US" sz="3200" b="1" dirty="0">
                <a:solidFill>
                  <a:srgbClr val="F1ECDD"/>
                </a:solidFill>
                <a:latin typeface="Georgia" pitchFamily="34" charset="0"/>
                <a:ea typeface="Georgia" pitchFamily="34" charset="-122"/>
                <a:cs typeface="Georgia" pitchFamily="34" charset="-120"/>
              </a:rPr>
              <a:t>Key Takeaways</a:t>
            </a:r>
            <a:endParaRPr lang="en-US" sz="3200" dirty="0"/>
          </a:p>
        </p:txBody>
      </p:sp>
      <p:sp>
        <p:nvSpPr>
          <p:cNvPr id="4" name="Shape 2"/>
          <p:cNvSpPr/>
          <p:nvPr/>
        </p:nvSpPr>
        <p:spPr>
          <a:xfrm>
            <a:off x="640080" y="1828800"/>
            <a:ext cx="411480" cy="411480"/>
          </a:xfrm>
          <a:prstGeom prst="ellipse">
            <a:avLst/>
          </a:prstGeom>
          <a:solidFill>
            <a:srgbClr val="DC822E"/>
          </a:solidFill>
          <a:ln w="12700">
            <a:solidFill>
              <a:srgbClr val="DC822E">
                <a:alpha val="0"/>
              </a:srgbClr>
            </a:solidFill>
            <a:prstDash val="solid"/>
          </a:ln>
        </p:spPr>
      </p:sp>
      <p:sp>
        <p:nvSpPr>
          <p:cNvPr id="5" name="Text 3"/>
          <p:cNvSpPr/>
          <p:nvPr/>
        </p:nvSpPr>
        <p:spPr>
          <a:xfrm>
            <a:off x="640080" y="182880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234440" y="180136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Plattform · Produkt · Verkauf — alle drei müssen laufen</a:t>
            </a:r>
            <a:endParaRPr lang="en-US" sz="1500" dirty="0"/>
          </a:p>
        </p:txBody>
      </p:sp>
      <p:sp>
        <p:nvSpPr>
          <p:cNvPr id="7" name="Shape 5"/>
          <p:cNvSpPr/>
          <p:nvPr/>
        </p:nvSpPr>
        <p:spPr>
          <a:xfrm>
            <a:off x="640080" y="2468880"/>
            <a:ext cx="411480" cy="411480"/>
          </a:xfrm>
          <a:prstGeom prst="ellipse">
            <a:avLst/>
          </a:prstGeom>
          <a:solidFill>
            <a:srgbClr val="DC822E"/>
          </a:solidFill>
          <a:ln w="12700">
            <a:solidFill>
              <a:srgbClr val="DC822E">
                <a:alpha val="0"/>
              </a:srgbClr>
            </a:solidFill>
            <a:prstDash val="solid"/>
          </a:ln>
        </p:spPr>
      </p:sp>
      <p:sp>
        <p:nvSpPr>
          <p:cNvPr id="8" name="Text 6"/>
          <p:cNvSpPr/>
          <p:nvPr/>
        </p:nvSpPr>
        <p:spPr>
          <a:xfrm>
            <a:off x="640080" y="246888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234440" y="244144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Wenn EINE fehlt: viel Arbeit, kein Umsatz</a:t>
            </a:r>
            <a:endParaRPr lang="en-US" sz="1500" dirty="0"/>
          </a:p>
        </p:txBody>
      </p:sp>
      <p:sp>
        <p:nvSpPr>
          <p:cNvPr id="10" name="Shape 8"/>
          <p:cNvSpPr/>
          <p:nvPr/>
        </p:nvSpPr>
        <p:spPr>
          <a:xfrm>
            <a:off x="640080" y="3108960"/>
            <a:ext cx="411480" cy="411480"/>
          </a:xfrm>
          <a:prstGeom prst="ellipse">
            <a:avLst/>
          </a:prstGeom>
          <a:solidFill>
            <a:srgbClr val="DC822E"/>
          </a:solidFill>
          <a:ln w="12700">
            <a:solidFill>
              <a:srgbClr val="DC822E">
                <a:alpha val="0"/>
              </a:srgbClr>
            </a:solidFill>
            <a:prstDash val="solid"/>
          </a:ln>
        </p:spPr>
      </p:sp>
      <p:sp>
        <p:nvSpPr>
          <p:cNvPr id="11" name="Text 9"/>
          <p:cNvSpPr/>
          <p:nvPr/>
        </p:nvSpPr>
        <p:spPr>
          <a:xfrm>
            <a:off x="640080" y="310896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234440" y="308152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Diagnose vor Action — wo ist DEINE Lücke?</a:t>
            </a:r>
            <a:endParaRPr lang="en-US" sz="1500" dirty="0"/>
          </a:p>
        </p:txBody>
      </p:sp>
      <p:sp>
        <p:nvSpPr>
          <p:cNvPr id="13" name="Shape 11"/>
          <p:cNvSpPr/>
          <p:nvPr/>
        </p:nvSpPr>
        <p:spPr>
          <a:xfrm>
            <a:off x="640080" y="3749040"/>
            <a:ext cx="411480" cy="411480"/>
          </a:xfrm>
          <a:prstGeom prst="ellipse">
            <a:avLst/>
          </a:prstGeom>
          <a:solidFill>
            <a:srgbClr val="DC822E"/>
          </a:solidFill>
          <a:ln w="12700">
            <a:solidFill>
              <a:srgbClr val="DC822E">
                <a:alpha val="0"/>
              </a:srgbClr>
            </a:solidFill>
            <a:prstDash val="solid"/>
          </a:ln>
        </p:spPr>
      </p:sp>
      <p:sp>
        <p:nvSpPr>
          <p:cNvPr id="14" name="Text 12"/>
          <p:cNvSpPr/>
          <p:nvPr/>
        </p:nvSpPr>
        <p:spPr>
          <a:xfrm>
            <a:off x="640080" y="374904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234440" y="372160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EINE Säule diese Woche stärken, nicht alle drei</a:t>
            </a:r>
            <a:endParaRPr lang="en-US" sz="1500" dirty="0"/>
          </a:p>
        </p:txBody>
      </p:sp>
      <p:sp>
        <p:nvSpPr>
          <p:cNvPr id="16" name="Text 14"/>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1.3</a:t>
            </a:r>
            <a:endParaRPr lang="en-US" sz="900" dirty="0"/>
          </a:p>
        </p:txBody>
      </p:sp>
      <p:sp>
        <p:nvSpPr>
          <p:cNvPr id="17" name="Text 15"/>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82296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Dein nächster Schritt</a:t>
            </a:r>
            <a:endParaRPr lang="en-US" sz="3200" dirty="0"/>
          </a:p>
        </p:txBody>
      </p:sp>
      <p:sp>
        <p:nvSpPr>
          <p:cNvPr id="3" name="Shape 1"/>
          <p:cNvSpPr/>
          <p:nvPr/>
        </p:nvSpPr>
        <p:spPr>
          <a:xfrm>
            <a:off x="548640" y="1737360"/>
            <a:ext cx="3931920" cy="2743200"/>
          </a:xfrm>
          <a:prstGeom prst="rect">
            <a:avLst/>
          </a:prstGeom>
          <a:solidFill>
            <a:srgbClr val="F1ECDD"/>
          </a:solidFill>
          <a:ln w="12700">
            <a:solidFill>
              <a:srgbClr val="F1ECDD">
                <a:alpha val="0"/>
              </a:srgbClr>
            </a:solidFill>
            <a:prstDash val="solid"/>
          </a:ln>
        </p:spPr>
      </p:sp>
      <p:sp>
        <p:nvSpPr>
          <p:cNvPr id="4" name="Shape 2"/>
          <p:cNvSpPr/>
          <p:nvPr/>
        </p:nvSpPr>
        <p:spPr>
          <a:xfrm>
            <a:off x="548640" y="1737360"/>
            <a:ext cx="3931920" cy="73152"/>
          </a:xfrm>
          <a:prstGeom prst="rect">
            <a:avLst/>
          </a:prstGeom>
          <a:solidFill>
            <a:srgbClr val="12828C"/>
          </a:solidFill>
          <a:ln w="12700">
            <a:solidFill>
              <a:srgbClr val="12828C">
                <a:alpha val="0"/>
              </a:srgbClr>
            </a:solidFill>
            <a:prstDash val="solid"/>
          </a:ln>
        </p:spPr>
      </p:sp>
      <p:sp>
        <p:nvSpPr>
          <p:cNvPr id="5" name="Text 3"/>
          <p:cNvSpPr/>
          <p:nvPr/>
        </p:nvSpPr>
        <p:spPr>
          <a:xfrm>
            <a:off x="777240" y="1920240"/>
            <a:ext cx="3657600" cy="274320"/>
          </a:xfrm>
          <a:prstGeom prst="rect">
            <a:avLst/>
          </a:prstGeom>
          <a:noFill/>
          <a:ln/>
        </p:spPr>
        <p:txBody>
          <a:bodyPr wrap="square" rtlCol="0" anchor="ctr"/>
          <a:lstStyle/>
          <a:p>
            <a:pPr indent="0" marL="0">
              <a:buNone/>
            </a:pPr>
            <a:r>
              <a:rPr lang="en-US" sz="1000" b="1" spc="300" kern="0" dirty="0">
                <a:solidFill>
                  <a:srgbClr val="0D6168"/>
                </a:solidFill>
                <a:latin typeface="Calibri" pitchFamily="34" charset="0"/>
                <a:ea typeface="Calibri" pitchFamily="34" charset="-122"/>
                <a:cs typeface="Calibri" pitchFamily="34" charset="-120"/>
              </a:rPr>
              <a:t>📋  ARBEITSBLATT</a:t>
            </a:r>
            <a:endParaRPr lang="en-US" sz="1000" dirty="0"/>
          </a:p>
        </p:txBody>
      </p:sp>
      <p:sp>
        <p:nvSpPr>
          <p:cNvPr id="6" name="Text 4"/>
          <p:cNvSpPr/>
          <p:nvPr/>
        </p:nvSpPr>
        <p:spPr>
          <a:xfrm>
            <a:off x="777240" y="2240280"/>
            <a:ext cx="3657600" cy="457200"/>
          </a:xfrm>
          <a:prstGeom prst="rect">
            <a:avLst/>
          </a:prstGeom>
          <a:noFill/>
          <a:ln/>
        </p:spPr>
        <p:txBody>
          <a:bodyPr wrap="square" lIns="0" tIns="0" rIns="0" bIns="0" rtlCol="0" anchor="t"/>
          <a:lstStyle/>
          <a:p>
            <a:pPr indent="0" marL="0">
              <a:buNone/>
            </a:pPr>
            <a:r>
              <a:rPr lang="en-US" sz="1800" b="1" dirty="0">
                <a:solidFill>
                  <a:srgbClr val="1A3A4A"/>
                </a:solidFill>
                <a:latin typeface="Georgia" pitchFamily="34" charset="0"/>
                <a:ea typeface="Georgia" pitchFamily="34" charset="-122"/>
                <a:cs typeface="Georgia" pitchFamily="34" charset="-120"/>
              </a:rPr>
              <a:t>3-Säulen-Diagnose</a:t>
            </a:r>
            <a:endParaRPr lang="en-US" sz="1800" dirty="0"/>
          </a:p>
        </p:txBody>
      </p:sp>
      <p:sp>
        <p:nvSpPr>
          <p:cNvPr id="7" name="Text 5"/>
          <p:cNvSpPr/>
          <p:nvPr/>
        </p:nvSpPr>
        <p:spPr>
          <a:xfrm>
            <a:off x="7772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Bewerte deine 3 Säulen ehrlich (Skala 1-10)</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Identifiziere deine schwächste Säule</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Definiere EINE konkrete Action für nächste Woche</a:t>
            </a:r>
            <a:endParaRPr lang="en-US" sz="1300" dirty="0"/>
          </a:p>
        </p:txBody>
      </p:sp>
      <p:sp>
        <p:nvSpPr>
          <p:cNvPr id="8" name="Shape 6"/>
          <p:cNvSpPr/>
          <p:nvPr/>
        </p:nvSpPr>
        <p:spPr>
          <a:xfrm>
            <a:off x="4663440" y="1737360"/>
            <a:ext cx="3931920" cy="2743200"/>
          </a:xfrm>
          <a:prstGeom prst="rect">
            <a:avLst/>
          </a:prstGeom>
          <a:solidFill>
            <a:srgbClr val="F1ECDD"/>
          </a:solidFill>
          <a:ln w="12700">
            <a:solidFill>
              <a:srgbClr val="F1ECDD">
                <a:alpha val="0"/>
              </a:srgbClr>
            </a:solidFill>
            <a:prstDash val="solid"/>
          </a:ln>
        </p:spPr>
      </p:sp>
      <p:sp>
        <p:nvSpPr>
          <p:cNvPr id="9" name="Shape 7"/>
          <p:cNvSpPr/>
          <p:nvPr/>
        </p:nvSpPr>
        <p:spPr>
          <a:xfrm>
            <a:off x="4663440" y="1737360"/>
            <a:ext cx="3931920" cy="73152"/>
          </a:xfrm>
          <a:prstGeom prst="rect">
            <a:avLst/>
          </a:prstGeom>
          <a:solidFill>
            <a:srgbClr val="DC822E"/>
          </a:solidFill>
          <a:ln w="12700">
            <a:solidFill>
              <a:srgbClr val="DC822E">
                <a:alpha val="0"/>
              </a:srgbClr>
            </a:solidFill>
            <a:prstDash val="solid"/>
          </a:ln>
        </p:spPr>
      </p:sp>
      <p:sp>
        <p:nvSpPr>
          <p:cNvPr id="10" name="Text 8"/>
          <p:cNvSpPr/>
          <p:nvPr/>
        </p:nvSpPr>
        <p:spPr>
          <a:xfrm>
            <a:off x="4892040" y="1920240"/>
            <a:ext cx="3657600" cy="274320"/>
          </a:xfrm>
          <a:prstGeom prst="rect">
            <a:avLst/>
          </a:prstGeom>
          <a:noFill/>
          <a:ln/>
        </p:spPr>
        <p:txBody>
          <a:bodyPr wrap="square" rtlCol="0" anchor="ctr"/>
          <a:lstStyle/>
          <a:p>
            <a:pPr indent="0" marL="0">
              <a:buNone/>
            </a:pPr>
            <a:r>
              <a:rPr lang="en-US" sz="1000" b="1" spc="300" kern="0" dirty="0">
                <a:solidFill>
                  <a:srgbClr val="DC822E"/>
                </a:solidFill>
                <a:latin typeface="Calibri" pitchFamily="34" charset="0"/>
                <a:ea typeface="Calibri" pitchFamily="34" charset="-122"/>
                <a:cs typeface="Calibri" pitchFamily="34" charset="-120"/>
              </a:rPr>
              <a:t>▶  ALS NÄCHSTES</a:t>
            </a:r>
            <a:endParaRPr lang="en-US" sz="1000" dirty="0"/>
          </a:p>
        </p:txBody>
      </p:sp>
      <p:sp>
        <p:nvSpPr>
          <p:cNvPr id="11" name="Text 9"/>
          <p:cNvSpPr/>
          <p:nvPr/>
        </p:nvSpPr>
        <p:spPr>
          <a:xfrm>
            <a:off x="4892040" y="2240280"/>
            <a:ext cx="3657600" cy="457200"/>
          </a:xfrm>
          <a:prstGeom prst="rect">
            <a:avLst/>
          </a:prstGeom>
          <a:noFill/>
          <a:ln/>
        </p:spPr>
        <p:txBody>
          <a:bodyPr wrap="square" lIns="0" tIns="0" rIns="0" bIns="0" rtlCol="0" anchor="t"/>
          <a:lstStyle/>
          <a:p>
            <a:pPr indent="0" marL="0">
              <a:buNone/>
            </a:pPr>
            <a:r>
              <a:rPr lang="en-US" sz="1800" b="1" dirty="0">
                <a:solidFill>
                  <a:srgbClr val="1A3A4A"/>
                </a:solidFill>
                <a:latin typeface="Georgia" pitchFamily="34" charset="0"/>
                <a:ea typeface="Georgia" pitchFamily="34" charset="-122"/>
                <a:cs typeface="Georgia" pitchFamily="34" charset="-120"/>
              </a:rPr>
              <a:t>Lektion 1.4 — Die 4 Wochen-Rollen</a:t>
            </a:r>
            <a:endParaRPr lang="en-US" sz="1800" dirty="0"/>
          </a:p>
        </p:txBody>
      </p:sp>
      <p:sp>
        <p:nvSpPr>
          <p:cNvPr id="12" name="Text 10"/>
          <p:cNvSpPr/>
          <p:nvPr/>
        </p:nvSpPr>
        <p:spPr>
          <a:xfrm>
            <a:off x="48920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CEO · Sichtbarkeit · Kunde · Selbstfürsorge</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Welche Rolle vernachlässigst du gerade</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Wie du Rollen statt To-Do-Listen denkst</a:t>
            </a:r>
            <a:endParaRPr lang="en-US" sz="1300" dirty="0"/>
          </a:p>
        </p:txBody>
      </p:sp>
      <p:sp>
        <p:nvSpPr>
          <p:cNvPr id="13" name="Text 11"/>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1.3</a:t>
            </a:r>
            <a:endParaRPr lang="en-US" sz="900" dirty="0"/>
          </a:p>
        </p:txBody>
      </p:sp>
      <p:sp>
        <p:nvSpPr>
          <p:cNvPr id="14" name="Text 12"/>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Mum Life Balance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Mama-CEO · Lektion 1.3 — Die 3 Säulen</dc:title>
  <dc:subject>PptxGenJS Presentation</dc:subject>
  <dc:creator>Patricia Ulmann · Mum Life Balance</dc:creator>
  <cp:lastModifiedBy>Patricia Ulmann · Mum Life Balance</cp:lastModifiedBy>
  <cp:revision>1</cp:revision>
  <dcterms:created xsi:type="dcterms:W3CDTF">2026-05-21T14:27:22Z</dcterms:created>
  <dcterms:modified xsi:type="dcterms:W3CDTF">2026-05-21T14:27:22Z</dcterms:modified>
</cp:coreProperties>
</file>