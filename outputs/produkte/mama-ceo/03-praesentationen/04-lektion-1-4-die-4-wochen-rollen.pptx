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„Jetzt kommt das Rollen-Modell. Du hast Power-Slots, du kennst die drei Säulen. Aber WAS machst du in welchem Slot? Und vor allem: woran erkennst du, dass eine Woche „gut" war? Nicht an einer To-Do-Liste — sondern an vier Rollen die du jede Woche aufhattest. CEO, Sichtbarkeit, Kunde, Selbstfürsorge. Klingt simpel — verändert aber dein ganzes Wochengefühl."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Sachen in dieser Lektion. Erstens warum Rollen-Denken die To-Do-Liste schlägt. Zweitens was die vier Rollen konkret enthalten — viele verwechseln Rolle eins mit Rolle zwei oder vergessen Rolle vier komplett. Und drittens machen wir eine ehrliche Diagnose: welche Rolle vernachlässigst du gerade? Versprochen, eine davon ist 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„Die vier Rollen. CEO — das ist deine Strategie-Rolle. Entscheidungen treffen, Reflexion, Zahlen anschauen. Die meisten Mamas haben diese Rolle gar nicht im Wochenplan. Sichtbarkeit — Content, Plattform-Pflege, Reichweite, DMs. Da sind die meisten zu viel. Kunde — Bestandskunden pflegen, Calls geben, Onboarding, Antworten. Wichtig: das ist nicht „neue Kunden gewinnen" — das ist die da hast. Und Selbstfürsorge — Schlaf, Bewegung, Pause, echte Frei-Zeit. Das ist die Rolle die meistens als erste rausfliegt. Falsch."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„Das ist der zentrale Shift. Eine To-Do-Liste fragt was muss ich tun. Sie macht dich zum Abarbeiter. Die Rollen-Sicht fragt wer war ich diese Woche — sie macht dich zur Gestalterin. Wenn du am Sonntagabend zurück schaust und sagst „ich war CEO, ich war sichtbar, ich war bei meinen Kundinnen und ich habe mir Zeit für mich genommen" — dann war es eine gute Woche. Egal ob die To-Do-Liste leer ist oder nicht."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„Schau dir das an — ein typischer Wochen-Rhythmus mit vier Rollen verteilt. Montag CEO — du startest die Woche mit Reflexion und Zahlen, 30 Minuten. Dienstag Sichtbarkeit — Content aufnehmen, posten. Mittwoch Kunde — Coaching-Calls, Antworten, deine Leute pflegen. Donnerstag wieder Sichtbarkeit — zweiter Content-Tag, DMs. Freitag CEO — Wochen-Review und Planung. Wochenende Selbstfürsorge — Bewegung, Familie, echte Pause. Jeden Tag eine Haupt-Rolle, jede Rolle mindestens einmal pro Woche. Das ist machbar — auch in deinen zwei Power-Slots pro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„Was ich am häufigsten sehe — die CEO-Rolle fehlt komplett. Die meisten Mamas haben keine fixe Zeit in der sie wirklich strategisch denken. Sie reagieren, sie machen Content, sie kümmern sich um Kunden — aber wann ist die Stunde in der du Zahlen anschaust und entscheidest? Daneben ist Selbstfürsorge die andere Rolle die rausfliegt, gerade in Push-Phasen. Und Sichtbarkeit wird oft überbetont weil sie sich am meisten nach Arbeit anfühlt. Aber Posten fühlt sich nach Arbeit an — CEO-Sein IST Arbeit. Das ist der Unterschied."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„Die Vergleichstabelle. To-Do-Liste fragt was muss ich tun, Rollen-Sicht fragt wer war ich diese Woche. To-Do-Liste macht dich zum Abarbeiter, Rollen-Sicht zur Gestalterin. To-Do-Liste-Erfolg ist eine leere Liste — die hattest du noch nie. Rollen-Sicht-Erfolg ist dass alle vier Rollen vorgekommen sind. Und ganz wichtig: eine To-Do-Liste ist nie fertig, eine Rollen-Sicht hat Sonntagabend Schluss. Du gehst rein in die nächste Woche mit dem Gefühl ich hab es geschafft, statt mit dem Gefühl ich bin schon wieder hinten dran."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„Drei Verbote. Erstens: versuche nicht alle vier Rollen JEDEN Tag zu spielen — du wirst alle Rollen schlecht spielen. Eine Rolle pro Tag, das reicht. Zweitens: Selbstfürsorge ist nicht „wenn ich Zeit habe" — Selbstfürsorge ist ein fester Slot, sonst passiert sie nie. Drittens: CEO-Rolle nicht aufschieben. Die ist die wichtigste, weil sie alles andere steuert. Mach sie zur ersten Woche-Aktivität — Montag früh, bevor andere Sachen reinkommen."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Sprechnotiz:
„Vier Takeaways. Rollen-Sicht statt To-Do-Liste — das ist der wichtigste Mind-Shift in dieser Lektion. Vier Rollen kennst du jetzt: CEO, Sichtbarkeit, Kunde, Selbstfürsorge. Jede mindestens einmal pro Woche reicht. Und die zwei Rollen die meistens fehlen sind CEO und Selbstfürsorge — schau bei dir 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Outro:
„Bevor du zur 1.5 gehst — Arbeitsblatt öffnen, Rollen-Audit machen. Welche Rolle hat aktuell wie viel Zeit? Welche fehlt? Und ganz konkret: ein Slot für die vernachlässigte Rolle in der nächsten Woche eintragen. In Lektion 1.5 wird es ernst — wir setzen alle Bausteine zusammen. Power-Zeiten aus 1.2, Säulen-Fokus aus 1.3, Rollen aus 1.4 — daraus baust du in der Lektion deinen eigenen Wochenrhythmus. Fertig in der Stunde."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1ECDD"/>
        </a:solidFill>
      </p:bgPr>
    </p:bg>
    <p:spTree>
      <p:nvGrpSpPr>
        <p:cNvPr id="1" name=""/>
        <p:cNvGrpSpPr/>
        <p:nvPr/>
      </p:nvGrpSpPr>
      <p:grpSpPr>
        <a:xfrm>
          <a:off x="0" y="0"/>
          <a:ext cx="0" cy="0"/>
          <a:chOff x="0" y="0"/>
          <a:chExt cx="0" cy="0"/>
        </a:xfrm>
      </p:grpSpPr>
      <p:sp>
        <p:nvSpPr>
          <p:cNvPr id="2" name="Shape 0"/>
          <p:cNvSpPr/>
          <p:nvPr/>
        </p:nvSpPr>
        <p:spPr>
          <a:xfrm>
            <a:off x="6858000" y="3840480"/>
            <a:ext cx="3200400" cy="3200400"/>
          </a:xfrm>
          <a:prstGeom prst="ellipse">
            <a:avLst/>
          </a:prstGeom>
          <a:solidFill>
            <a:srgbClr val="DC822E">
              <a:alpha val="25000"/>
            </a:srgbClr>
          </a:solidFill>
          <a:ln w="12700">
            <a:solidFill>
              <a:srgbClr val="DC822E">
                <a:alpha val="0"/>
              </a:srgbClr>
            </a:solidFill>
            <a:prstDash val="solid"/>
          </a:ln>
        </p:spPr>
      </p:sp>
      <p:sp>
        <p:nvSpPr>
          <p:cNvPr id="3" name="Text 1"/>
          <p:cNvSpPr/>
          <p:nvPr/>
        </p:nvSpPr>
        <p:spPr>
          <a:xfrm>
            <a:off x="548640" y="548640"/>
            <a:ext cx="8046720" cy="36576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MODUL 1 · SÄULE 1 — DU ERSCHAFFST DIR DIE ZEIT</a:t>
            </a:r>
            <a:endParaRPr lang="en-US" sz="1100" dirty="0"/>
          </a:p>
        </p:txBody>
      </p:sp>
      <p:sp>
        <p:nvSpPr>
          <p:cNvPr id="4" name="Shape 2"/>
          <p:cNvSpPr/>
          <p:nvPr/>
        </p:nvSpPr>
        <p:spPr>
          <a:xfrm>
            <a:off x="548640" y="960120"/>
            <a:ext cx="548640" cy="36576"/>
          </a:xfrm>
          <a:prstGeom prst="rect">
            <a:avLst/>
          </a:prstGeom>
          <a:solidFill>
            <a:srgbClr val="DC822E"/>
          </a:solidFill>
          <a:ln w="12700">
            <a:solidFill>
              <a:srgbClr val="DC822E">
                <a:alpha val="0"/>
              </a:srgbClr>
            </a:solidFill>
            <a:prstDash val="solid"/>
          </a:ln>
        </p:spPr>
      </p:sp>
      <p:sp>
        <p:nvSpPr>
          <p:cNvPr id="5" name="Text 3"/>
          <p:cNvSpPr/>
          <p:nvPr/>
        </p:nvSpPr>
        <p:spPr>
          <a:xfrm>
            <a:off x="548640" y="1280160"/>
            <a:ext cx="8046720" cy="1371600"/>
          </a:xfrm>
          <a:prstGeom prst="rect">
            <a:avLst/>
          </a:prstGeom>
          <a:noFill/>
          <a:ln/>
        </p:spPr>
        <p:txBody>
          <a:bodyPr wrap="square" lIns="0" tIns="0" rIns="0" bIns="0" rtlCol="0" anchor="t"/>
          <a:lstStyle/>
          <a:p>
            <a:pPr indent="0" marL="0">
              <a:buNone/>
            </a:pPr>
            <a:r>
              <a:rPr lang="en-US" sz="4800" b="1" dirty="0">
                <a:solidFill>
                  <a:srgbClr val="1A3A4A"/>
                </a:solidFill>
                <a:latin typeface="Georgia" pitchFamily="34" charset="0"/>
                <a:ea typeface="Georgia" pitchFamily="34" charset="-122"/>
                <a:cs typeface="Georgia" pitchFamily="34" charset="-120"/>
              </a:rPr>
              <a:t>Die 4 Wochen-Rollen</a:t>
            </a:r>
            <a:endParaRPr lang="en-US" sz="4800" dirty="0"/>
          </a:p>
        </p:txBody>
      </p:sp>
      <p:sp>
        <p:nvSpPr>
          <p:cNvPr id="6" name="Text 4"/>
          <p:cNvSpPr/>
          <p:nvPr/>
        </p:nvSpPr>
        <p:spPr>
          <a:xfrm>
            <a:off x="548640" y="2743200"/>
            <a:ext cx="8046720" cy="1371600"/>
          </a:xfrm>
          <a:prstGeom prst="rect">
            <a:avLst/>
          </a:prstGeom>
          <a:noFill/>
          <a:ln/>
        </p:spPr>
        <p:txBody>
          <a:bodyPr wrap="square" lIns="0" tIns="0" rIns="0" bIns="0" rtlCol="0" anchor="t"/>
          <a:lstStyle/>
          <a:p>
            <a:pPr indent="0" marL="0">
              <a:buNone/>
            </a:pPr>
            <a:r>
              <a:rPr lang="en-US" sz="1800" i="1" dirty="0">
                <a:solidFill>
                  <a:srgbClr val="2C3E50"/>
                </a:solidFill>
                <a:latin typeface="Georgia" pitchFamily="34" charset="0"/>
                <a:ea typeface="Georgia" pitchFamily="34" charset="-122"/>
                <a:cs typeface="Georgia" pitchFamily="34" charset="-120"/>
              </a:rPr>
              <a:t>CEO · Sichtbarkeit · Kunde · Selbstfürsorge —</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vier Hüte, die du jede Woche aufhast.</a:t>
            </a:r>
            <a:endParaRPr lang="en-US" sz="1800" dirty="0"/>
          </a:p>
          <a:p>
            <a:pPr indent="0" marL="0">
              <a:buNone/>
            </a:pPr>
            <a:r>
              <a:rPr lang="en-US" sz="1800" i="1" dirty="0">
                <a:solidFill>
                  <a:srgbClr val="2C3E50"/>
                </a:solidFill>
                <a:latin typeface="Georgia" pitchFamily="34" charset="0"/>
                <a:ea typeface="Georgia" pitchFamily="34" charset="-122"/>
                <a:cs typeface="Georgia" pitchFamily="34" charset="-120"/>
              </a:rPr>
              <a:t>Nicht jeden Tag — aber jede Woche.</a:t>
            </a:r>
            <a:endParaRPr lang="en-US" sz="1800" dirty="0"/>
          </a:p>
        </p:txBody>
      </p:sp>
      <p:sp>
        <p:nvSpPr>
          <p:cNvPr id="7" name="Text 5"/>
          <p:cNvSpPr/>
          <p:nvPr/>
        </p:nvSpPr>
        <p:spPr>
          <a:xfrm>
            <a:off x="548640" y="4572000"/>
            <a:ext cx="3657600" cy="365760"/>
          </a:xfrm>
          <a:prstGeom prst="rect">
            <a:avLst/>
          </a:prstGeom>
          <a:noFill/>
          <a:ln/>
        </p:spPr>
        <p:txBody>
          <a:bodyPr wrap="square" rtlCol="0" anchor="ctr"/>
          <a:lstStyle/>
          <a:p>
            <a:pPr indent="0" marL="0">
              <a:buNone/>
            </a:pPr>
            <a:r>
              <a:rPr lang="en-US" sz="1200" b="1" dirty="0">
                <a:solidFill>
                  <a:srgbClr val="12828C"/>
                </a:solidFill>
                <a:latin typeface="Calibri" pitchFamily="34" charset="0"/>
                <a:ea typeface="Calibri" pitchFamily="34" charset="-122"/>
                <a:cs typeface="Calibri" pitchFamily="34" charset="-120"/>
              </a:rPr>
              <a:t>Patricia Ulmann</a:t>
            </a:r>
            <a:endParaRPr lang="en-US" sz="1200" dirty="0"/>
          </a:p>
        </p:txBody>
      </p:sp>
      <p:sp>
        <p:nvSpPr>
          <p:cNvPr id="8" name="Text 6"/>
          <p:cNvSpPr/>
          <p:nvPr/>
        </p:nvSpPr>
        <p:spPr>
          <a:xfrm>
            <a:off x="4937760" y="4572000"/>
            <a:ext cx="3657600" cy="365760"/>
          </a:xfrm>
          <a:prstGeom prst="rect">
            <a:avLst/>
          </a:prstGeom>
          <a:noFill/>
          <a:ln/>
        </p:spPr>
        <p:txBody>
          <a:bodyPr wrap="square" rtlCol="0" anchor="ctr"/>
          <a:lstStyle/>
          <a:p>
            <a:pPr algn="r" indent="0" marL="0">
              <a:buNone/>
            </a:pPr>
            <a:r>
              <a:rPr lang="en-US" sz="1100" dirty="0">
                <a:solidFill>
                  <a:srgbClr val="7A8A95"/>
                </a:solidFill>
                <a:latin typeface="Calibri" pitchFamily="34" charset="0"/>
                <a:ea typeface="Calibri" pitchFamily="34" charset="-122"/>
                <a:cs typeface="Calibri" pitchFamily="34" charset="-120"/>
              </a:rPr>
              <a:t>mumlifebalance.ch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365760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LEKTION 1.4</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Was du in den nächsten Minuten lernst</a:t>
            </a:r>
            <a:endParaRPr lang="en-US" sz="3200" dirty="0"/>
          </a:p>
        </p:txBody>
      </p:sp>
      <p:sp>
        <p:nvSpPr>
          <p:cNvPr id="4" name="Shape 2"/>
          <p:cNvSpPr/>
          <p:nvPr/>
        </p:nvSpPr>
        <p:spPr>
          <a:xfrm>
            <a:off x="548640" y="1828800"/>
            <a:ext cx="731520" cy="36576"/>
          </a:xfrm>
          <a:prstGeom prst="rect">
            <a:avLst/>
          </a:prstGeom>
          <a:solidFill>
            <a:srgbClr val="DC822E"/>
          </a:solidFill>
          <a:ln w="12700">
            <a:solidFill>
              <a:srgbClr val="DC822E">
                <a:alpha val="0"/>
              </a:srgbClr>
            </a:solidFill>
            <a:prstDash val="solid"/>
          </a:ln>
        </p:spPr>
      </p:sp>
      <p:sp>
        <p:nvSpPr>
          <p:cNvPr id="5" name="Shape 3"/>
          <p:cNvSpPr/>
          <p:nvPr/>
        </p:nvSpPr>
        <p:spPr>
          <a:xfrm>
            <a:off x="548640" y="2377440"/>
            <a:ext cx="457200" cy="457200"/>
          </a:xfrm>
          <a:prstGeom prst="ellipse">
            <a:avLst/>
          </a:prstGeom>
          <a:solidFill>
            <a:srgbClr val="12828C"/>
          </a:solidFill>
          <a:ln w="12700">
            <a:solidFill>
              <a:srgbClr val="12828C">
                <a:alpha val="0"/>
              </a:srgbClr>
            </a:solidFill>
            <a:prstDash val="solid"/>
          </a:ln>
        </p:spPr>
      </p:sp>
      <p:sp>
        <p:nvSpPr>
          <p:cNvPr id="6" name="Text 4"/>
          <p:cNvSpPr/>
          <p:nvPr/>
        </p:nvSpPr>
        <p:spPr>
          <a:xfrm>
            <a:off x="548640" y="2377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Text 5"/>
          <p:cNvSpPr/>
          <p:nvPr/>
        </p:nvSpPr>
        <p:spPr>
          <a:xfrm>
            <a:off x="1188720" y="237744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Warum Rollen-Denken besser ist als To-Do-Listen</a:t>
            </a:r>
            <a:endParaRPr lang="en-US" sz="1800" dirty="0"/>
          </a:p>
        </p:txBody>
      </p:sp>
      <p:sp>
        <p:nvSpPr>
          <p:cNvPr id="8" name="Shape 6"/>
          <p:cNvSpPr/>
          <p:nvPr/>
        </p:nvSpPr>
        <p:spPr>
          <a:xfrm>
            <a:off x="548640" y="3108960"/>
            <a:ext cx="457200" cy="457200"/>
          </a:xfrm>
          <a:prstGeom prst="ellipse">
            <a:avLst/>
          </a:prstGeom>
          <a:solidFill>
            <a:srgbClr val="12828C"/>
          </a:solidFill>
          <a:ln w="12700">
            <a:solidFill>
              <a:srgbClr val="12828C">
                <a:alpha val="0"/>
              </a:srgbClr>
            </a:solidFill>
            <a:prstDash val="solid"/>
          </a:ln>
        </p:spPr>
      </p:sp>
      <p:sp>
        <p:nvSpPr>
          <p:cNvPr id="9" name="Text 7"/>
          <p:cNvSpPr/>
          <p:nvPr/>
        </p:nvSpPr>
        <p:spPr>
          <a:xfrm>
            <a:off x="548640" y="310896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0" name="Text 8"/>
          <p:cNvSpPr/>
          <p:nvPr/>
        </p:nvSpPr>
        <p:spPr>
          <a:xfrm>
            <a:off x="1188720" y="310896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Was die 4 Rollen konkret bedeuten — und was NICHT dazugehört</a:t>
            </a:r>
            <a:endParaRPr lang="en-US" sz="1800" dirty="0"/>
          </a:p>
        </p:txBody>
      </p:sp>
      <p:sp>
        <p:nvSpPr>
          <p:cNvPr id="11" name="Shape 9"/>
          <p:cNvSpPr/>
          <p:nvPr/>
        </p:nvSpPr>
        <p:spPr>
          <a:xfrm>
            <a:off x="548640" y="3840480"/>
            <a:ext cx="457200" cy="457200"/>
          </a:xfrm>
          <a:prstGeom prst="ellipse">
            <a:avLst/>
          </a:prstGeom>
          <a:solidFill>
            <a:srgbClr val="12828C"/>
          </a:solidFill>
          <a:ln w="12700">
            <a:solidFill>
              <a:srgbClr val="12828C">
                <a:alpha val="0"/>
              </a:srgbClr>
            </a:solidFill>
            <a:prstDash val="solid"/>
          </a:ln>
        </p:spPr>
      </p:sp>
      <p:sp>
        <p:nvSpPr>
          <p:cNvPr id="12" name="Text 10"/>
          <p:cNvSpPr/>
          <p:nvPr/>
        </p:nvSpPr>
        <p:spPr>
          <a:xfrm>
            <a:off x="548640" y="38404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3" name="Text 11"/>
          <p:cNvSpPr/>
          <p:nvPr/>
        </p:nvSpPr>
        <p:spPr>
          <a:xfrm>
            <a:off x="1188720" y="3840480"/>
            <a:ext cx="7315200" cy="457200"/>
          </a:xfrm>
          <a:prstGeom prst="rect">
            <a:avLst/>
          </a:prstGeom>
          <a:noFill/>
          <a:ln/>
        </p:spPr>
        <p:txBody>
          <a:bodyPr wrap="square" lIns="0" tIns="0" rIns="0" bIns="0" rtlCol="0" anchor="ctr"/>
          <a:lstStyle/>
          <a:p>
            <a:pPr indent="0" marL="0">
              <a:buNone/>
            </a:pPr>
            <a:r>
              <a:rPr lang="en-US" sz="1800" dirty="0">
                <a:solidFill>
                  <a:srgbClr val="2C3E50"/>
                </a:solidFill>
                <a:latin typeface="Calibri" pitchFamily="34" charset="0"/>
                <a:ea typeface="Calibri" pitchFamily="34" charset="-122"/>
                <a:cs typeface="Calibri" pitchFamily="34" charset="-120"/>
              </a:rPr>
              <a:t>Welche Rolle du gerade vernachlässigst (Diagnose)</a:t>
            </a:r>
            <a:endParaRPr lang="en-US" sz="1800" dirty="0"/>
          </a:p>
        </p:txBody>
      </p:sp>
      <p:sp>
        <p:nvSpPr>
          <p:cNvPr id="14" name="Text 12"/>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1.4</a:t>
            </a:r>
            <a:endParaRPr lang="en-US" sz="900" dirty="0"/>
          </a:p>
        </p:txBody>
      </p:sp>
      <p:sp>
        <p:nvSpPr>
          <p:cNvPr id="15" name="Text 13"/>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73152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Die 4 Rollen einer Mama-CEO</a:t>
            </a:r>
            <a:endParaRPr lang="en-US" sz="2800" dirty="0"/>
          </a:p>
        </p:txBody>
      </p:sp>
      <p:sp>
        <p:nvSpPr>
          <p:cNvPr id="3" name="Shape 1"/>
          <p:cNvSpPr/>
          <p:nvPr/>
        </p:nvSpPr>
        <p:spPr>
          <a:xfrm>
            <a:off x="548640" y="1463040"/>
            <a:ext cx="3931920" cy="1371600"/>
          </a:xfrm>
          <a:prstGeom prst="rect">
            <a:avLst/>
          </a:prstGeom>
          <a:solidFill>
            <a:srgbClr val="F1ECDD"/>
          </a:solidFill>
          <a:ln w="12700">
            <a:solidFill>
              <a:srgbClr val="F1ECDD">
                <a:alpha val="0"/>
              </a:srgbClr>
            </a:solidFill>
            <a:prstDash val="solid"/>
          </a:ln>
        </p:spPr>
      </p:sp>
      <p:sp>
        <p:nvSpPr>
          <p:cNvPr id="4" name="Shape 2"/>
          <p:cNvSpPr/>
          <p:nvPr/>
        </p:nvSpPr>
        <p:spPr>
          <a:xfrm>
            <a:off x="548640" y="1463040"/>
            <a:ext cx="91440" cy="1371600"/>
          </a:xfrm>
          <a:prstGeom prst="rect">
            <a:avLst/>
          </a:prstGeom>
          <a:solidFill>
            <a:srgbClr val="12828C"/>
          </a:solidFill>
          <a:ln w="12700">
            <a:solidFill>
              <a:srgbClr val="12828C">
                <a:alpha val="0"/>
              </a:srgbClr>
            </a:solidFill>
            <a:prstDash val="solid"/>
          </a:ln>
        </p:spPr>
      </p:sp>
      <p:sp>
        <p:nvSpPr>
          <p:cNvPr id="5" name="Text 3"/>
          <p:cNvSpPr/>
          <p:nvPr/>
        </p:nvSpPr>
        <p:spPr>
          <a:xfrm>
            <a:off x="822960" y="1600200"/>
            <a:ext cx="640080" cy="45720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6" name="Text 4"/>
          <p:cNvSpPr/>
          <p:nvPr/>
        </p:nvSpPr>
        <p:spPr>
          <a:xfrm>
            <a:off x="1463040" y="1600200"/>
            <a:ext cx="2743200" cy="457200"/>
          </a:xfrm>
          <a:prstGeom prst="rect">
            <a:avLst/>
          </a:prstGeom>
          <a:noFill/>
          <a:ln/>
        </p:spPr>
        <p:txBody>
          <a:bodyPr wrap="square" lIns="0" tIns="0" rIns="0" bIns="0" rtlCol="0" anchor="ctr"/>
          <a:lstStyle/>
          <a:p>
            <a:pPr indent="0" marL="0">
              <a:buNone/>
            </a:pPr>
            <a:r>
              <a:rPr lang="en-US" sz="2000" b="1" dirty="0">
                <a:solidFill>
                  <a:srgbClr val="1A3A4A"/>
                </a:solidFill>
                <a:latin typeface="Georgia" pitchFamily="34" charset="0"/>
                <a:ea typeface="Georgia" pitchFamily="34" charset="-122"/>
                <a:cs typeface="Georgia" pitchFamily="34" charset="-120"/>
              </a:rPr>
              <a:t>CEO</a:t>
            </a:r>
            <a:endParaRPr lang="en-US" sz="2000" dirty="0"/>
          </a:p>
        </p:txBody>
      </p:sp>
      <p:sp>
        <p:nvSpPr>
          <p:cNvPr id="7" name="Text 5"/>
          <p:cNvSpPr/>
          <p:nvPr/>
        </p:nvSpPr>
        <p:spPr>
          <a:xfrm>
            <a:off x="822960" y="2103120"/>
            <a:ext cx="3566160" cy="685800"/>
          </a:xfrm>
          <a:prstGeom prst="rect">
            <a:avLst/>
          </a:prstGeom>
          <a:noFill/>
          <a:ln/>
        </p:spPr>
        <p:txBody>
          <a:bodyPr wrap="square" lIns="0" tIns="0" rIns="0" bIns="0" rtlCol="0" anchor="t"/>
          <a:lstStyle/>
          <a:p>
            <a:pPr indent="0" marL="0">
              <a:buNone/>
            </a:pPr>
            <a:r>
              <a:rPr lang="en-US" sz="1300" dirty="0">
                <a:solidFill>
                  <a:srgbClr val="2C3E50"/>
                </a:solidFill>
                <a:latin typeface="Calibri" pitchFamily="34" charset="0"/>
                <a:ea typeface="Calibri" pitchFamily="34" charset="-122"/>
                <a:cs typeface="Calibri" pitchFamily="34" charset="-120"/>
              </a:rPr>
              <a:t>Strategie · Entscheidungen · Reflexion · Zahlen anschauen</a:t>
            </a:r>
            <a:endParaRPr lang="en-US" sz="1300" dirty="0"/>
          </a:p>
        </p:txBody>
      </p:sp>
      <p:sp>
        <p:nvSpPr>
          <p:cNvPr id="8" name="Shape 6"/>
          <p:cNvSpPr/>
          <p:nvPr/>
        </p:nvSpPr>
        <p:spPr>
          <a:xfrm>
            <a:off x="4663440" y="1463040"/>
            <a:ext cx="3931920" cy="1371600"/>
          </a:xfrm>
          <a:prstGeom prst="rect">
            <a:avLst/>
          </a:prstGeom>
          <a:solidFill>
            <a:srgbClr val="F1ECDD"/>
          </a:solidFill>
          <a:ln w="12700">
            <a:solidFill>
              <a:srgbClr val="F1ECDD">
                <a:alpha val="0"/>
              </a:srgbClr>
            </a:solidFill>
            <a:prstDash val="solid"/>
          </a:ln>
        </p:spPr>
      </p:sp>
      <p:sp>
        <p:nvSpPr>
          <p:cNvPr id="9" name="Shape 7"/>
          <p:cNvSpPr/>
          <p:nvPr/>
        </p:nvSpPr>
        <p:spPr>
          <a:xfrm>
            <a:off x="4663440" y="1463040"/>
            <a:ext cx="91440" cy="1371600"/>
          </a:xfrm>
          <a:prstGeom prst="rect">
            <a:avLst/>
          </a:prstGeom>
          <a:solidFill>
            <a:srgbClr val="12828C"/>
          </a:solidFill>
          <a:ln w="12700">
            <a:solidFill>
              <a:srgbClr val="12828C">
                <a:alpha val="0"/>
              </a:srgbClr>
            </a:solidFill>
            <a:prstDash val="solid"/>
          </a:ln>
        </p:spPr>
      </p:sp>
      <p:sp>
        <p:nvSpPr>
          <p:cNvPr id="10" name="Text 8"/>
          <p:cNvSpPr/>
          <p:nvPr/>
        </p:nvSpPr>
        <p:spPr>
          <a:xfrm>
            <a:off x="4937760" y="1600200"/>
            <a:ext cx="640080" cy="45720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1" name="Text 9"/>
          <p:cNvSpPr/>
          <p:nvPr/>
        </p:nvSpPr>
        <p:spPr>
          <a:xfrm>
            <a:off x="5577840" y="1600200"/>
            <a:ext cx="2743200" cy="457200"/>
          </a:xfrm>
          <a:prstGeom prst="rect">
            <a:avLst/>
          </a:prstGeom>
          <a:noFill/>
          <a:ln/>
        </p:spPr>
        <p:txBody>
          <a:bodyPr wrap="square" lIns="0" tIns="0" rIns="0" bIns="0" rtlCol="0" anchor="ctr"/>
          <a:lstStyle/>
          <a:p>
            <a:pPr indent="0" marL="0">
              <a:buNone/>
            </a:pPr>
            <a:r>
              <a:rPr lang="en-US" sz="2000" b="1" dirty="0">
                <a:solidFill>
                  <a:srgbClr val="1A3A4A"/>
                </a:solidFill>
                <a:latin typeface="Georgia" pitchFamily="34" charset="0"/>
                <a:ea typeface="Georgia" pitchFamily="34" charset="-122"/>
                <a:cs typeface="Georgia" pitchFamily="34" charset="-120"/>
              </a:rPr>
              <a:t>Sichtbarkeit</a:t>
            </a:r>
            <a:endParaRPr lang="en-US" sz="2000" dirty="0"/>
          </a:p>
        </p:txBody>
      </p:sp>
      <p:sp>
        <p:nvSpPr>
          <p:cNvPr id="12" name="Text 10"/>
          <p:cNvSpPr/>
          <p:nvPr/>
        </p:nvSpPr>
        <p:spPr>
          <a:xfrm>
            <a:off x="4937760" y="2103120"/>
            <a:ext cx="3566160" cy="685800"/>
          </a:xfrm>
          <a:prstGeom prst="rect">
            <a:avLst/>
          </a:prstGeom>
          <a:noFill/>
          <a:ln/>
        </p:spPr>
        <p:txBody>
          <a:bodyPr wrap="square" lIns="0" tIns="0" rIns="0" bIns="0" rtlCol="0" anchor="t"/>
          <a:lstStyle/>
          <a:p>
            <a:pPr indent="0" marL="0">
              <a:buNone/>
            </a:pPr>
            <a:r>
              <a:rPr lang="en-US" sz="1300" dirty="0">
                <a:solidFill>
                  <a:srgbClr val="2C3E50"/>
                </a:solidFill>
                <a:latin typeface="Calibri" pitchFamily="34" charset="0"/>
                <a:ea typeface="Calibri" pitchFamily="34" charset="-122"/>
                <a:cs typeface="Calibri" pitchFamily="34" charset="-120"/>
              </a:rPr>
              <a:t>Content · Plattform-Pflege · Reichweite · DMs</a:t>
            </a:r>
            <a:endParaRPr lang="en-US" sz="1300" dirty="0"/>
          </a:p>
        </p:txBody>
      </p:sp>
      <p:sp>
        <p:nvSpPr>
          <p:cNvPr id="13" name="Shape 11"/>
          <p:cNvSpPr/>
          <p:nvPr/>
        </p:nvSpPr>
        <p:spPr>
          <a:xfrm>
            <a:off x="548640" y="3017520"/>
            <a:ext cx="3931920" cy="1371600"/>
          </a:xfrm>
          <a:prstGeom prst="rect">
            <a:avLst/>
          </a:prstGeom>
          <a:solidFill>
            <a:srgbClr val="F1ECDD"/>
          </a:solidFill>
          <a:ln w="12700">
            <a:solidFill>
              <a:srgbClr val="F1ECDD">
                <a:alpha val="0"/>
              </a:srgbClr>
            </a:solidFill>
            <a:prstDash val="solid"/>
          </a:ln>
        </p:spPr>
      </p:sp>
      <p:sp>
        <p:nvSpPr>
          <p:cNvPr id="14" name="Shape 12"/>
          <p:cNvSpPr/>
          <p:nvPr/>
        </p:nvSpPr>
        <p:spPr>
          <a:xfrm>
            <a:off x="548640" y="3017520"/>
            <a:ext cx="91440" cy="1371600"/>
          </a:xfrm>
          <a:prstGeom prst="rect">
            <a:avLst/>
          </a:prstGeom>
          <a:solidFill>
            <a:srgbClr val="12828C"/>
          </a:solidFill>
          <a:ln w="12700">
            <a:solidFill>
              <a:srgbClr val="12828C">
                <a:alpha val="0"/>
              </a:srgbClr>
            </a:solidFill>
            <a:prstDash val="solid"/>
          </a:ln>
        </p:spPr>
      </p:sp>
      <p:sp>
        <p:nvSpPr>
          <p:cNvPr id="15" name="Text 13"/>
          <p:cNvSpPr/>
          <p:nvPr/>
        </p:nvSpPr>
        <p:spPr>
          <a:xfrm>
            <a:off x="822960" y="3154680"/>
            <a:ext cx="640080" cy="45720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16" name="Text 14"/>
          <p:cNvSpPr/>
          <p:nvPr/>
        </p:nvSpPr>
        <p:spPr>
          <a:xfrm>
            <a:off x="1463040" y="3154680"/>
            <a:ext cx="2743200" cy="457200"/>
          </a:xfrm>
          <a:prstGeom prst="rect">
            <a:avLst/>
          </a:prstGeom>
          <a:noFill/>
          <a:ln/>
        </p:spPr>
        <p:txBody>
          <a:bodyPr wrap="square" lIns="0" tIns="0" rIns="0" bIns="0" rtlCol="0" anchor="ctr"/>
          <a:lstStyle/>
          <a:p>
            <a:pPr indent="0" marL="0">
              <a:buNone/>
            </a:pPr>
            <a:r>
              <a:rPr lang="en-US" sz="2000" b="1" dirty="0">
                <a:solidFill>
                  <a:srgbClr val="1A3A4A"/>
                </a:solidFill>
                <a:latin typeface="Georgia" pitchFamily="34" charset="0"/>
                <a:ea typeface="Georgia" pitchFamily="34" charset="-122"/>
                <a:cs typeface="Georgia" pitchFamily="34" charset="-120"/>
              </a:rPr>
              <a:t>Kunde</a:t>
            </a:r>
            <a:endParaRPr lang="en-US" sz="2000" dirty="0"/>
          </a:p>
        </p:txBody>
      </p:sp>
      <p:sp>
        <p:nvSpPr>
          <p:cNvPr id="17" name="Text 15"/>
          <p:cNvSpPr/>
          <p:nvPr/>
        </p:nvSpPr>
        <p:spPr>
          <a:xfrm>
            <a:off x="822960" y="3657600"/>
            <a:ext cx="3566160" cy="685800"/>
          </a:xfrm>
          <a:prstGeom prst="rect">
            <a:avLst/>
          </a:prstGeom>
          <a:noFill/>
          <a:ln/>
        </p:spPr>
        <p:txBody>
          <a:bodyPr wrap="square" lIns="0" tIns="0" rIns="0" bIns="0" rtlCol="0" anchor="t"/>
          <a:lstStyle/>
          <a:p>
            <a:pPr indent="0" marL="0">
              <a:buNone/>
            </a:pPr>
            <a:r>
              <a:rPr lang="en-US" sz="1300" dirty="0">
                <a:solidFill>
                  <a:srgbClr val="2C3E50"/>
                </a:solidFill>
                <a:latin typeface="Calibri" pitchFamily="34" charset="0"/>
                <a:ea typeface="Calibri" pitchFamily="34" charset="-122"/>
                <a:cs typeface="Calibri" pitchFamily="34" charset="-120"/>
              </a:rPr>
              <a:t>Bestandskunden · Calls · Onboarding · Antworten</a:t>
            </a:r>
            <a:endParaRPr lang="en-US" sz="1300" dirty="0"/>
          </a:p>
        </p:txBody>
      </p:sp>
      <p:sp>
        <p:nvSpPr>
          <p:cNvPr id="18" name="Shape 16"/>
          <p:cNvSpPr/>
          <p:nvPr/>
        </p:nvSpPr>
        <p:spPr>
          <a:xfrm>
            <a:off x="4663440" y="3017520"/>
            <a:ext cx="3931920" cy="1371600"/>
          </a:xfrm>
          <a:prstGeom prst="rect">
            <a:avLst/>
          </a:prstGeom>
          <a:solidFill>
            <a:srgbClr val="F1ECDD"/>
          </a:solidFill>
          <a:ln w="12700">
            <a:solidFill>
              <a:srgbClr val="F1ECDD">
                <a:alpha val="0"/>
              </a:srgbClr>
            </a:solidFill>
            <a:prstDash val="solid"/>
          </a:ln>
        </p:spPr>
      </p:sp>
      <p:sp>
        <p:nvSpPr>
          <p:cNvPr id="19" name="Shape 17"/>
          <p:cNvSpPr/>
          <p:nvPr/>
        </p:nvSpPr>
        <p:spPr>
          <a:xfrm>
            <a:off x="4663440" y="3017520"/>
            <a:ext cx="91440" cy="1371600"/>
          </a:xfrm>
          <a:prstGeom prst="rect">
            <a:avLst/>
          </a:prstGeom>
          <a:solidFill>
            <a:srgbClr val="12828C"/>
          </a:solidFill>
          <a:ln w="12700">
            <a:solidFill>
              <a:srgbClr val="12828C">
                <a:alpha val="0"/>
              </a:srgbClr>
            </a:solidFill>
            <a:prstDash val="solid"/>
          </a:ln>
        </p:spPr>
      </p:sp>
      <p:sp>
        <p:nvSpPr>
          <p:cNvPr id="20" name="Text 18"/>
          <p:cNvSpPr/>
          <p:nvPr/>
        </p:nvSpPr>
        <p:spPr>
          <a:xfrm>
            <a:off x="4937760" y="3154680"/>
            <a:ext cx="640080" cy="457200"/>
          </a:xfrm>
          <a:prstGeom prst="rect">
            <a:avLst/>
          </a:prstGeom>
          <a:noFill/>
          <a:ln/>
        </p:spPr>
        <p:txBody>
          <a:bodyPr wrap="square" lIns="0" tIns="0" rIns="0" bIns="0" rtlCol="0" anchor="ctr"/>
          <a:lstStyle/>
          <a:p>
            <a:pPr indent="0" marL="0">
              <a:buNone/>
            </a:pPr>
            <a:r>
              <a:rPr lang="en-US" sz="2400" dirty="0">
                <a:solidFill>
                  <a:srgbClr val="000000"/>
                </a:solidFill>
              </a:rPr>
              <a:t>🌿</a:t>
            </a:r>
            <a:endParaRPr lang="en-US" sz="2400" dirty="0"/>
          </a:p>
        </p:txBody>
      </p:sp>
      <p:sp>
        <p:nvSpPr>
          <p:cNvPr id="21" name="Text 19"/>
          <p:cNvSpPr/>
          <p:nvPr/>
        </p:nvSpPr>
        <p:spPr>
          <a:xfrm>
            <a:off x="5577840" y="3154680"/>
            <a:ext cx="2743200" cy="457200"/>
          </a:xfrm>
          <a:prstGeom prst="rect">
            <a:avLst/>
          </a:prstGeom>
          <a:noFill/>
          <a:ln/>
        </p:spPr>
        <p:txBody>
          <a:bodyPr wrap="square" lIns="0" tIns="0" rIns="0" bIns="0" rtlCol="0" anchor="ctr"/>
          <a:lstStyle/>
          <a:p>
            <a:pPr indent="0" marL="0">
              <a:buNone/>
            </a:pPr>
            <a:r>
              <a:rPr lang="en-US" sz="2000" b="1" dirty="0">
                <a:solidFill>
                  <a:srgbClr val="1A3A4A"/>
                </a:solidFill>
                <a:latin typeface="Georgia" pitchFamily="34" charset="0"/>
                <a:ea typeface="Georgia" pitchFamily="34" charset="-122"/>
                <a:cs typeface="Georgia" pitchFamily="34" charset="-120"/>
              </a:rPr>
              <a:t>Selbstfürsorge</a:t>
            </a:r>
            <a:endParaRPr lang="en-US" sz="2000" dirty="0"/>
          </a:p>
        </p:txBody>
      </p:sp>
      <p:sp>
        <p:nvSpPr>
          <p:cNvPr id="22" name="Text 20"/>
          <p:cNvSpPr/>
          <p:nvPr/>
        </p:nvSpPr>
        <p:spPr>
          <a:xfrm>
            <a:off x="4937760" y="3657600"/>
            <a:ext cx="3566160" cy="685800"/>
          </a:xfrm>
          <a:prstGeom prst="rect">
            <a:avLst/>
          </a:prstGeom>
          <a:noFill/>
          <a:ln/>
        </p:spPr>
        <p:txBody>
          <a:bodyPr wrap="square" lIns="0" tIns="0" rIns="0" bIns="0" rtlCol="0" anchor="t"/>
          <a:lstStyle/>
          <a:p>
            <a:pPr indent="0" marL="0">
              <a:buNone/>
            </a:pPr>
            <a:r>
              <a:rPr lang="en-US" sz="1300" dirty="0">
                <a:solidFill>
                  <a:srgbClr val="2C3E50"/>
                </a:solidFill>
                <a:latin typeface="Calibri" pitchFamily="34" charset="0"/>
                <a:ea typeface="Calibri" pitchFamily="34" charset="-122"/>
                <a:cs typeface="Calibri" pitchFamily="34" charset="-120"/>
              </a:rPr>
              <a:t>Schlaf · Bewegung · Pause · echte Frei-Zeit</a:t>
            </a:r>
            <a:endParaRPr lang="en-US" sz="1300" dirty="0"/>
          </a:p>
        </p:txBody>
      </p:sp>
      <p:sp>
        <p:nvSpPr>
          <p:cNvPr id="23" name="Text 2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1.4</a:t>
            </a:r>
            <a:endParaRPr lang="en-US" sz="900" dirty="0"/>
          </a:p>
        </p:txBody>
      </p:sp>
      <p:sp>
        <p:nvSpPr>
          <p:cNvPr id="24" name="Text 2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1188720"/>
            <a:ext cx="8046720" cy="365760"/>
          </a:xfrm>
          <a:prstGeom prst="rect">
            <a:avLst/>
          </a:prstGeom>
          <a:noFill/>
          <a:ln/>
        </p:spPr>
        <p:txBody>
          <a:bodyPr wrap="square" rtlCol="0" anchor="ctr"/>
          <a:lstStyle/>
          <a:p>
            <a:pPr algn="ctr" indent="0" marL="0">
              <a:buNone/>
            </a:pPr>
            <a:r>
              <a:rPr lang="en-US" sz="1100" b="1" spc="400" kern="0" dirty="0">
                <a:solidFill>
                  <a:srgbClr val="DC822E"/>
                </a:solidFill>
                <a:latin typeface="Calibri" pitchFamily="34" charset="0"/>
                <a:ea typeface="Calibri" pitchFamily="34" charset="-122"/>
                <a:cs typeface="Calibri" pitchFamily="34" charset="-120"/>
              </a:rPr>
              <a:t>DER ROLLEN-WECHSEL</a:t>
            </a:r>
            <a:endParaRPr lang="en-US" sz="1100" dirty="0"/>
          </a:p>
        </p:txBody>
      </p:sp>
      <p:sp>
        <p:nvSpPr>
          <p:cNvPr id="3" name="Shape 1"/>
          <p:cNvSpPr/>
          <p:nvPr/>
        </p:nvSpPr>
        <p:spPr>
          <a:xfrm>
            <a:off x="4297680" y="1691640"/>
            <a:ext cx="548640" cy="36576"/>
          </a:xfrm>
          <a:prstGeom prst="rect">
            <a:avLst/>
          </a:prstGeom>
          <a:solidFill>
            <a:srgbClr val="DC822E"/>
          </a:solidFill>
          <a:ln w="12700">
            <a:solidFill>
              <a:srgbClr val="DC822E">
                <a:alpha val="0"/>
              </a:srgbClr>
            </a:solidFill>
            <a:prstDash val="solid"/>
          </a:ln>
        </p:spPr>
      </p:sp>
      <p:sp>
        <p:nvSpPr>
          <p:cNvPr id="4" name="Text 2"/>
          <p:cNvSpPr/>
          <p:nvPr/>
        </p:nvSpPr>
        <p:spPr>
          <a:xfrm>
            <a:off x="548640" y="2011680"/>
            <a:ext cx="8046720" cy="2286000"/>
          </a:xfrm>
          <a:prstGeom prst="rect">
            <a:avLst/>
          </a:prstGeom>
          <a:noFill/>
          <a:ln/>
        </p:spPr>
        <p:txBody>
          <a:bodyPr wrap="square" lIns="0" tIns="0" rIns="0" bIns="0" rtlCol="0" anchor="ctr"/>
          <a:lstStyle/>
          <a:p>
            <a:pPr algn="ctr" indent="0" marL="0">
              <a:buNone/>
            </a:pPr>
            <a:r>
              <a:rPr lang="en-US" sz="3600" b="1" dirty="0">
                <a:solidFill>
                  <a:srgbClr val="F1ECDD"/>
                </a:solidFill>
                <a:latin typeface="Georgia" pitchFamily="34" charset="0"/>
                <a:ea typeface="Georgia" pitchFamily="34" charset="-122"/>
                <a:cs typeface="Georgia" pitchFamily="34" charset="-120"/>
              </a:rPr>
              <a:t>Die To-Do-Liste fragt: „Was muss ich tun?"</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Die Rollen-Sicht fragt: „Wer war ich diese Woche?"</a:t>
            </a:r>
            <a:endParaRPr lang="en-US" sz="3600" dirty="0"/>
          </a:p>
          <a:p>
            <a:pPr algn="ctr" indent="0" marL="0">
              <a:buNone/>
            </a:pPr>
            <a:r>
              <a:rPr lang="en-US" sz="3600" b="1" dirty="0">
                <a:solidFill>
                  <a:srgbClr val="F1ECDD"/>
                </a:solidFill>
                <a:latin typeface="Georgia" pitchFamily="34" charset="0"/>
                <a:ea typeface="Georgia" pitchFamily="34" charset="-122"/>
                <a:cs typeface="Georgia" pitchFamily="34" charset="-120"/>
              </a:rPr>
              <a:t>Der Unterschied macht alles.</a:t>
            </a:r>
            <a:endParaRPr lang="en-US" sz="3600" dirty="0"/>
          </a:p>
        </p:txBody>
      </p:sp>
      <p:sp>
        <p:nvSpPr>
          <p:cNvPr id="5" name="Text 3"/>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1.4</a:t>
            </a:r>
            <a:endParaRPr lang="en-US" sz="900" dirty="0"/>
          </a:p>
        </p:txBody>
      </p:sp>
      <p:sp>
        <p:nvSpPr>
          <p:cNvPr id="6" name="Text 4"/>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640080"/>
          </a:xfrm>
          <a:prstGeom prst="rect">
            <a:avLst/>
          </a:prstGeom>
          <a:noFill/>
          <a:ln/>
        </p:spPr>
        <p:txBody>
          <a:bodyPr wrap="square" lIns="0" tIns="0" rIns="0" bIns="0" rtlCol="0" anchor="t"/>
          <a:lstStyle/>
          <a:p>
            <a:pPr indent="0" marL="0">
              <a:buNone/>
            </a:pPr>
            <a:r>
              <a:rPr lang="en-US" sz="2600" b="1" dirty="0">
                <a:solidFill>
                  <a:srgbClr val="1A3A4A"/>
                </a:solidFill>
                <a:latin typeface="Georgia" pitchFamily="34" charset="0"/>
                <a:ea typeface="Georgia" pitchFamily="34" charset="-122"/>
                <a:cs typeface="Georgia" pitchFamily="34" charset="-120"/>
              </a:rPr>
              <a:t>So sieht das in einer typischen Woche aus</a:t>
            </a:r>
            <a:endParaRPr lang="en-US" sz="2600" dirty="0"/>
          </a:p>
        </p:txBody>
      </p:sp>
      <p:sp>
        <p:nvSpPr>
          <p:cNvPr id="3" name="Shape 1"/>
          <p:cNvSpPr/>
          <p:nvPr/>
        </p:nvSpPr>
        <p:spPr>
          <a:xfrm>
            <a:off x="548640" y="1417320"/>
            <a:ext cx="731520" cy="457200"/>
          </a:xfrm>
          <a:prstGeom prst="rect">
            <a:avLst/>
          </a:prstGeom>
          <a:solidFill>
            <a:srgbClr val="12828C"/>
          </a:solidFill>
          <a:ln w="12700">
            <a:solidFill>
              <a:srgbClr val="12828C">
                <a:alpha val="0"/>
              </a:srgbClr>
            </a:solidFill>
            <a:prstDash val="solid"/>
          </a:ln>
        </p:spPr>
      </p:sp>
      <p:sp>
        <p:nvSpPr>
          <p:cNvPr id="4" name="Text 2"/>
          <p:cNvSpPr/>
          <p:nvPr/>
        </p:nvSpPr>
        <p:spPr>
          <a:xfrm>
            <a:off x="548640" y="141732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Mo</a:t>
            </a:r>
            <a:endParaRPr lang="en-US" sz="1400" dirty="0"/>
          </a:p>
        </p:txBody>
      </p:sp>
      <p:sp>
        <p:nvSpPr>
          <p:cNvPr id="5" name="Text 3"/>
          <p:cNvSpPr/>
          <p:nvPr/>
        </p:nvSpPr>
        <p:spPr>
          <a:xfrm>
            <a:off x="1417320" y="1417320"/>
            <a:ext cx="1645920" cy="457200"/>
          </a:xfrm>
          <a:prstGeom prst="rect">
            <a:avLst/>
          </a:prstGeom>
          <a:noFill/>
          <a:ln/>
        </p:spPr>
        <p:txBody>
          <a:bodyPr wrap="square" lIns="0" tIns="0" rIns="0" bIns="0" rtlCol="0" anchor="ctr"/>
          <a:lstStyle/>
          <a:p>
            <a:pPr indent="0" marL="0">
              <a:buNone/>
            </a:pPr>
            <a:r>
              <a:rPr lang="en-US" sz="1300" b="1" dirty="0">
                <a:solidFill>
                  <a:srgbClr val="12828C"/>
                </a:solidFill>
                <a:latin typeface="Calibri" pitchFamily="34" charset="0"/>
                <a:ea typeface="Calibri" pitchFamily="34" charset="-122"/>
                <a:cs typeface="Calibri" pitchFamily="34" charset="-120"/>
              </a:rPr>
              <a:t>CEO</a:t>
            </a:r>
            <a:endParaRPr lang="en-US" sz="1300" dirty="0"/>
          </a:p>
        </p:txBody>
      </p:sp>
      <p:sp>
        <p:nvSpPr>
          <p:cNvPr id="6" name="Text 4"/>
          <p:cNvSpPr/>
          <p:nvPr/>
        </p:nvSpPr>
        <p:spPr>
          <a:xfrm>
            <a:off x="3200400" y="1417320"/>
            <a:ext cx="5394960" cy="45720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Wochenstart-Reflexion + Zahlen-Check (30 Min)</a:t>
            </a:r>
            <a:endParaRPr lang="en-US" sz="1300" dirty="0"/>
          </a:p>
        </p:txBody>
      </p:sp>
      <p:sp>
        <p:nvSpPr>
          <p:cNvPr id="7" name="Shape 5"/>
          <p:cNvSpPr/>
          <p:nvPr/>
        </p:nvSpPr>
        <p:spPr>
          <a:xfrm>
            <a:off x="548640" y="1947672"/>
            <a:ext cx="731520" cy="457200"/>
          </a:xfrm>
          <a:prstGeom prst="rect">
            <a:avLst/>
          </a:prstGeom>
          <a:solidFill>
            <a:srgbClr val="29556D"/>
          </a:solidFill>
          <a:ln w="12700">
            <a:solidFill>
              <a:srgbClr val="29556D">
                <a:alpha val="0"/>
              </a:srgbClr>
            </a:solidFill>
            <a:prstDash val="solid"/>
          </a:ln>
        </p:spPr>
      </p:sp>
      <p:sp>
        <p:nvSpPr>
          <p:cNvPr id="8" name="Text 6"/>
          <p:cNvSpPr/>
          <p:nvPr/>
        </p:nvSpPr>
        <p:spPr>
          <a:xfrm>
            <a:off x="548640" y="1947672"/>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Di</a:t>
            </a:r>
            <a:endParaRPr lang="en-US" sz="1400" dirty="0"/>
          </a:p>
        </p:txBody>
      </p:sp>
      <p:sp>
        <p:nvSpPr>
          <p:cNvPr id="9" name="Text 7"/>
          <p:cNvSpPr/>
          <p:nvPr/>
        </p:nvSpPr>
        <p:spPr>
          <a:xfrm>
            <a:off x="1417320" y="1947672"/>
            <a:ext cx="1645920" cy="457200"/>
          </a:xfrm>
          <a:prstGeom prst="rect">
            <a:avLst/>
          </a:prstGeom>
          <a:noFill/>
          <a:ln/>
        </p:spPr>
        <p:txBody>
          <a:bodyPr wrap="square" lIns="0" tIns="0" rIns="0" bIns="0" rtlCol="0" anchor="ctr"/>
          <a:lstStyle/>
          <a:p>
            <a:pPr indent="0" marL="0">
              <a:buNone/>
            </a:pPr>
            <a:r>
              <a:rPr lang="en-US" sz="1300" b="1" dirty="0">
                <a:solidFill>
                  <a:srgbClr val="29556D"/>
                </a:solidFill>
                <a:latin typeface="Calibri" pitchFamily="34" charset="0"/>
                <a:ea typeface="Calibri" pitchFamily="34" charset="-122"/>
                <a:cs typeface="Calibri" pitchFamily="34" charset="-120"/>
              </a:rPr>
              <a:t>Sichtbarkeit</a:t>
            </a:r>
            <a:endParaRPr lang="en-US" sz="1300" dirty="0"/>
          </a:p>
        </p:txBody>
      </p:sp>
      <p:sp>
        <p:nvSpPr>
          <p:cNvPr id="10" name="Text 8"/>
          <p:cNvSpPr/>
          <p:nvPr/>
        </p:nvSpPr>
        <p:spPr>
          <a:xfrm>
            <a:off x="3200400" y="1947672"/>
            <a:ext cx="5394960" cy="45720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Content-Aufnahme + Posten</a:t>
            </a:r>
            <a:endParaRPr lang="en-US" sz="1300" dirty="0"/>
          </a:p>
        </p:txBody>
      </p:sp>
      <p:sp>
        <p:nvSpPr>
          <p:cNvPr id="11" name="Shape 9"/>
          <p:cNvSpPr/>
          <p:nvPr/>
        </p:nvSpPr>
        <p:spPr>
          <a:xfrm>
            <a:off x="548640" y="2478024"/>
            <a:ext cx="731520" cy="457200"/>
          </a:xfrm>
          <a:prstGeom prst="rect">
            <a:avLst/>
          </a:prstGeom>
          <a:solidFill>
            <a:srgbClr val="DC822E"/>
          </a:solidFill>
          <a:ln w="12700">
            <a:solidFill>
              <a:srgbClr val="DC822E">
                <a:alpha val="0"/>
              </a:srgbClr>
            </a:solidFill>
            <a:prstDash val="solid"/>
          </a:ln>
        </p:spPr>
      </p:sp>
      <p:sp>
        <p:nvSpPr>
          <p:cNvPr id="12" name="Text 10"/>
          <p:cNvSpPr/>
          <p:nvPr/>
        </p:nvSpPr>
        <p:spPr>
          <a:xfrm>
            <a:off x="548640" y="2478024"/>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Mi</a:t>
            </a:r>
            <a:endParaRPr lang="en-US" sz="1400" dirty="0"/>
          </a:p>
        </p:txBody>
      </p:sp>
      <p:sp>
        <p:nvSpPr>
          <p:cNvPr id="13" name="Text 11"/>
          <p:cNvSpPr/>
          <p:nvPr/>
        </p:nvSpPr>
        <p:spPr>
          <a:xfrm>
            <a:off x="1417320" y="2478024"/>
            <a:ext cx="1645920" cy="457200"/>
          </a:xfrm>
          <a:prstGeom prst="rect">
            <a:avLst/>
          </a:prstGeom>
          <a:noFill/>
          <a:ln/>
        </p:spPr>
        <p:txBody>
          <a:bodyPr wrap="square" lIns="0" tIns="0" rIns="0" bIns="0" rtlCol="0" anchor="ctr"/>
          <a:lstStyle/>
          <a:p>
            <a:pPr indent="0" marL="0">
              <a:buNone/>
            </a:pPr>
            <a:r>
              <a:rPr lang="en-US" sz="1300" b="1" dirty="0">
                <a:solidFill>
                  <a:srgbClr val="DC822E"/>
                </a:solidFill>
                <a:latin typeface="Calibri" pitchFamily="34" charset="0"/>
                <a:ea typeface="Calibri" pitchFamily="34" charset="-122"/>
                <a:cs typeface="Calibri" pitchFamily="34" charset="-120"/>
              </a:rPr>
              <a:t>Kunde</a:t>
            </a:r>
            <a:endParaRPr lang="en-US" sz="1300" dirty="0"/>
          </a:p>
        </p:txBody>
      </p:sp>
      <p:sp>
        <p:nvSpPr>
          <p:cNvPr id="14" name="Text 12"/>
          <p:cNvSpPr/>
          <p:nvPr/>
        </p:nvSpPr>
        <p:spPr>
          <a:xfrm>
            <a:off x="3200400" y="2478024"/>
            <a:ext cx="5394960" cy="45720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Coaching-Calls / Antworten / Care</a:t>
            </a:r>
            <a:endParaRPr lang="en-US" sz="1300" dirty="0"/>
          </a:p>
        </p:txBody>
      </p:sp>
      <p:sp>
        <p:nvSpPr>
          <p:cNvPr id="15" name="Shape 13"/>
          <p:cNvSpPr/>
          <p:nvPr/>
        </p:nvSpPr>
        <p:spPr>
          <a:xfrm>
            <a:off x="548640" y="3008376"/>
            <a:ext cx="731520" cy="457200"/>
          </a:xfrm>
          <a:prstGeom prst="rect">
            <a:avLst/>
          </a:prstGeom>
          <a:solidFill>
            <a:srgbClr val="29556D"/>
          </a:solidFill>
          <a:ln w="12700">
            <a:solidFill>
              <a:srgbClr val="29556D">
                <a:alpha val="0"/>
              </a:srgbClr>
            </a:solidFill>
            <a:prstDash val="solid"/>
          </a:ln>
        </p:spPr>
      </p:sp>
      <p:sp>
        <p:nvSpPr>
          <p:cNvPr id="16" name="Text 14"/>
          <p:cNvSpPr/>
          <p:nvPr/>
        </p:nvSpPr>
        <p:spPr>
          <a:xfrm>
            <a:off x="548640" y="3008376"/>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Do</a:t>
            </a:r>
            <a:endParaRPr lang="en-US" sz="1400" dirty="0"/>
          </a:p>
        </p:txBody>
      </p:sp>
      <p:sp>
        <p:nvSpPr>
          <p:cNvPr id="17" name="Text 15"/>
          <p:cNvSpPr/>
          <p:nvPr/>
        </p:nvSpPr>
        <p:spPr>
          <a:xfrm>
            <a:off x="1417320" y="3008376"/>
            <a:ext cx="1645920" cy="457200"/>
          </a:xfrm>
          <a:prstGeom prst="rect">
            <a:avLst/>
          </a:prstGeom>
          <a:noFill/>
          <a:ln/>
        </p:spPr>
        <p:txBody>
          <a:bodyPr wrap="square" lIns="0" tIns="0" rIns="0" bIns="0" rtlCol="0" anchor="ctr"/>
          <a:lstStyle/>
          <a:p>
            <a:pPr indent="0" marL="0">
              <a:buNone/>
            </a:pPr>
            <a:r>
              <a:rPr lang="en-US" sz="1300" b="1" dirty="0">
                <a:solidFill>
                  <a:srgbClr val="29556D"/>
                </a:solidFill>
                <a:latin typeface="Calibri" pitchFamily="34" charset="0"/>
                <a:ea typeface="Calibri" pitchFamily="34" charset="-122"/>
                <a:cs typeface="Calibri" pitchFamily="34" charset="-120"/>
              </a:rPr>
              <a:t>Sichtbarkeit</a:t>
            </a:r>
            <a:endParaRPr lang="en-US" sz="1300" dirty="0"/>
          </a:p>
        </p:txBody>
      </p:sp>
      <p:sp>
        <p:nvSpPr>
          <p:cNvPr id="18" name="Text 16"/>
          <p:cNvSpPr/>
          <p:nvPr/>
        </p:nvSpPr>
        <p:spPr>
          <a:xfrm>
            <a:off x="3200400" y="3008376"/>
            <a:ext cx="5394960" cy="45720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Content-Tag #2 + DMs</a:t>
            </a:r>
            <a:endParaRPr lang="en-US" sz="1300" dirty="0"/>
          </a:p>
        </p:txBody>
      </p:sp>
      <p:sp>
        <p:nvSpPr>
          <p:cNvPr id="19" name="Shape 17"/>
          <p:cNvSpPr/>
          <p:nvPr/>
        </p:nvSpPr>
        <p:spPr>
          <a:xfrm>
            <a:off x="548640" y="3538728"/>
            <a:ext cx="731520" cy="457200"/>
          </a:xfrm>
          <a:prstGeom prst="rect">
            <a:avLst/>
          </a:prstGeom>
          <a:solidFill>
            <a:srgbClr val="12828C"/>
          </a:solidFill>
          <a:ln w="12700">
            <a:solidFill>
              <a:srgbClr val="12828C">
                <a:alpha val="0"/>
              </a:srgbClr>
            </a:solidFill>
            <a:prstDash val="solid"/>
          </a:ln>
        </p:spPr>
      </p:sp>
      <p:sp>
        <p:nvSpPr>
          <p:cNvPr id="20" name="Text 18"/>
          <p:cNvSpPr/>
          <p:nvPr/>
        </p:nvSpPr>
        <p:spPr>
          <a:xfrm>
            <a:off x="548640" y="3538728"/>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Fr</a:t>
            </a:r>
            <a:endParaRPr lang="en-US" sz="1400" dirty="0"/>
          </a:p>
        </p:txBody>
      </p:sp>
      <p:sp>
        <p:nvSpPr>
          <p:cNvPr id="21" name="Text 19"/>
          <p:cNvSpPr/>
          <p:nvPr/>
        </p:nvSpPr>
        <p:spPr>
          <a:xfrm>
            <a:off x="1417320" y="3538728"/>
            <a:ext cx="1645920" cy="457200"/>
          </a:xfrm>
          <a:prstGeom prst="rect">
            <a:avLst/>
          </a:prstGeom>
          <a:noFill/>
          <a:ln/>
        </p:spPr>
        <p:txBody>
          <a:bodyPr wrap="square" lIns="0" tIns="0" rIns="0" bIns="0" rtlCol="0" anchor="ctr"/>
          <a:lstStyle/>
          <a:p>
            <a:pPr indent="0" marL="0">
              <a:buNone/>
            </a:pPr>
            <a:r>
              <a:rPr lang="en-US" sz="1300" b="1" dirty="0">
                <a:solidFill>
                  <a:srgbClr val="12828C"/>
                </a:solidFill>
                <a:latin typeface="Calibri" pitchFamily="34" charset="0"/>
                <a:ea typeface="Calibri" pitchFamily="34" charset="-122"/>
                <a:cs typeface="Calibri" pitchFamily="34" charset="-120"/>
              </a:rPr>
              <a:t>CEO</a:t>
            </a:r>
            <a:endParaRPr lang="en-US" sz="1300" dirty="0"/>
          </a:p>
        </p:txBody>
      </p:sp>
      <p:sp>
        <p:nvSpPr>
          <p:cNvPr id="22" name="Text 20"/>
          <p:cNvSpPr/>
          <p:nvPr/>
        </p:nvSpPr>
        <p:spPr>
          <a:xfrm>
            <a:off x="3200400" y="3538728"/>
            <a:ext cx="5394960" cy="45720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Wochen-Review + Planung nächste Woche</a:t>
            </a:r>
            <a:endParaRPr lang="en-US" sz="1300" dirty="0"/>
          </a:p>
        </p:txBody>
      </p:sp>
      <p:sp>
        <p:nvSpPr>
          <p:cNvPr id="23" name="Shape 21"/>
          <p:cNvSpPr/>
          <p:nvPr/>
        </p:nvSpPr>
        <p:spPr>
          <a:xfrm>
            <a:off x="548640" y="4069080"/>
            <a:ext cx="731520" cy="457200"/>
          </a:xfrm>
          <a:prstGeom prst="rect">
            <a:avLst/>
          </a:prstGeom>
          <a:solidFill>
            <a:srgbClr val="0D6168"/>
          </a:solidFill>
          <a:ln w="12700">
            <a:solidFill>
              <a:srgbClr val="0D6168">
                <a:alpha val="0"/>
              </a:srgbClr>
            </a:solidFill>
            <a:prstDash val="solid"/>
          </a:ln>
        </p:spPr>
      </p:sp>
      <p:sp>
        <p:nvSpPr>
          <p:cNvPr id="24" name="Text 22"/>
          <p:cNvSpPr/>
          <p:nvPr/>
        </p:nvSpPr>
        <p:spPr>
          <a:xfrm>
            <a:off x="548640" y="4069080"/>
            <a:ext cx="73152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Sa/So</a:t>
            </a:r>
            <a:endParaRPr lang="en-US" sz="1400" dirty="0"/>
          </a:p>
        </p:txBody>
      </p:sp>
      <p:sp>
        <p:nvSpPr>
          <p:cNvPr id="25" name="Text 23"/>
          <p:cNvSpPr/>
          <p:nvPr/>
        </p:nvSpPr>
        <p:spPr>
          <a:xfrm>
            <a:off x="1417320" y="4069080"/>
            <a:ext cx="1645920" cy="457200"/>
          </a:xfrm>
          <a:prstGeom prst="rect">
            <a:avLst/>
          </a:prstGeom>
          <a:noFill/>
          <a:ln/>
        </p:spPr>
        <p:txBody>
          <a:bodyPr wrap="square" lIns="0" tIns="0" rIns="0" bIns="0" rtlCol="0" anchor="ctr"/>
          <a:lstStyle/>
          <a:p>
            <a:pPr indent="0" marL="0">
              <a:buNone/>
            </a:pPr>
            <a:r>
              <a:rPr lang="en-US" sz="1300" b="1" dirty="0">
                <a:solidFill>
                  <a:srgbClr val="0D6168"/>
                </a:solidFill>
                <a:latin typeface="Calibri" pitchFamily="34" charset="0"/>
                <a:ea typeface="Calibri" pitchFamily="34" charset="-122"/>
                <a:cs typeface="Calibri" pitchFamily="34" charset="-120"/>
              </a:rPr>
              <a:t>Selbstfürsorge</a:t>
            </a:r>
            <a:endParaRPr lang="en-US" sz="1300" dirty="0"/>
          </a:p>
        </p:txBody>
      </p:sp>
      <p:sp>
        <p:nvSpPr>
          <p:cNvPr id="26" name="Text 24"/>
          <p:cNvSpPr/>
          <p:nvPr/>
        </p:nvSpPr>
        <p:spPr>
          <a:xfrm>
            <a:off x="3200400" y="4069080"/>
            <a:ext cx="5394960" cy="457200"/>
          </a:xfrm>
          <a:prstGeom prst="rect">
            <a:avLst/>
          </a:prstGeom>
          <a:noFill/>
          <a:ln/>
        </p:spPr>
        <p:txBody>
          <a:bodyPr wrap="square" lIns="0" tIns="0" rIns="0" bIns="0" rtlCol="0" anchor="ctr"/>
          <a:lstStyle/>
          <a:p>
            <a:pPr indent="0" marL="0">
              <a:buNone/>
            </a:pPr>
            <a:r>
              <a:rPr lang="en-US" sz="1300" dirty="0">
                <a:solidFill>
                  <a:srgbClr val="2C3E50"/>
                </a:solidFill>
                <a:latin typeface="Calibri" pitchFamily="34" charset="0"/>
                <a:ea typeface="Calibri" pitchFamily="34" charset="-122"/>
                <a:cs typeface="Calibri" pitchFamily="34" charset="-120"/>
              </a:rPr>
              <a:t>Bewegung · Familien-Zeit · echte Pause</a:t>
            </a:r>
            <a:endParaRPr lang="en-US" sz="1300" dirty="0"/>
          </a:p>
        </p:txBody>
      </p:sp>
      <p:sp>
        <p:nvSpPr>
          <p:cNvPr id="27" name="Text 25"/>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1.4</a:t>
            </a:r>
            <a:endParaRPr lang="en-US" sz="900" dirty="0"/>
          </a:p>
        </p:txBody>
      </p:sp>
      <p:sp>
        <p:nvSpPr>
          <p:cNvPr id="28" name="Text 26"/>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000" b="1" spc="400" kern="0" dirty="0">
                <a:solidFill>
                  <a:srgbClr val="DC822E"/>
                </a:solidFill>
                <a:latin typeface="Calibri" pitchFamily="34" charset="0"/>
                <a:ea typeface="Calibri" pitchFamily="34" charset="-122"/>
                <a:cs typeface="Calibri" pitchFamily="34" charset="-120"/>
              </a:rPr>
              <a:t>EHRLICHE DIAGNOSE</a:t>
            </a:r>
            <a:endParaRPr lang="en-US" sz="1000" dirty="0"/>
          </a:p>
        </p:txBody>
      </p:sp>
      <p:sp>
        <p:nvSpPr>
          <p:cNvPr id="3" name="Text 1"/>
          <p:cNvSpPr/>
          <p:nvPr/>
        </p:nvSpPr>
        <p:spPr>
          <a:xfrm>
            <a:off x="548640" y="822960"/>
            <a:ext cx="8046720" cy="822960"/>
          </a:xfrm>
          <a:prstGeom prst="rect">
            <a:avLst/>
          </a:prstGeom>
          <a:noFill/>
          <a:ln/>
        </p:spPr>
        <p:txBody>
          <a:bodyPr wrap="square" lIns="0" tIns="0" rIns="0" bIns="0" rtlCol="0" anchor="t"/>
          <a:lstStyle/>
          <a:p>
            <a:pPr indent="0" marL="0">
              <a:buNone/>
            </a:pPr>
            <a:r>
              <a:rPr lang="en-US" sz="3600" b="1" dirty="0">
                <a:solidFill>
                  <a:srgbClr val="1A3A4A"/>
                </a:solidFill>
                <a:latin typeface="Georgia" pitchFamily="34" charset="0"/>
                <a:ea typeface="Georgia" pitchFamily="34" charset="-122"/>
                <a:cs typeface="Georgia" pitchFamily="34" charset="-120"/>
              </a:rPr>
              <a:t>Welche Rolle vernachlässigen Mamas am häufigsten?</a:t>
            </a:r>
            <a:endParaRPr lang="en-US" sz="3600" dirty="0"/>
          </a:p>
        </p:txBody>
      </p:sp>
      <p:sp>
        <p:nvSpPr>
          <p:cNvPr id="4" name="Text 2"/>
          <p:cNvSpPr/>
          <p:nvPr/>
        </p:nvSpPr>
        <p:spPr>
          <a:xfrm>
            <a:off x="548640" y="1920240"/>
            <a:ext cx="51206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CEO-Rolle: 65 % aller Mamas haben keine fixe CEO-Zeit</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Selbstfürsorge: 50 % gehen auf dem Zahnfleisch</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Kunden-Rolle: oft überbetont — alle wollen liebevoll sein</a:t>
            </a:r>
            <a:endParaRPr lang="en-US" sz="1600" dirty="0"/>
          </a:p>
          <a:p>
            <a:pPr marL="342900" indent="-342900">
              <a:spcAft>
                <a:spcPts val="800"/>
              </a:spcAft>
              <a:buSzPct val="100000"/>
              <a:buChar char="●"/>
            </a:pPr>
            <a:r>
              <a:rPr lang="en-US" sz="1600" dirty="0">
                <a:solidFill>
                  <a:srgbClr val="2C3E50"/>
                </a:solidFill>
                <a:latin typeface="Calibri" pitchFamily="34" charset="0"/>
                <a:ea typeface="Calibri" pitchFamily="34" charset="-122"/>
                <a:cs typeface="Calibri" pitchFamily="34" charset="-120"/>
              </a:rPr>
              <a:t>Sichtbarkeit: oft übermässig — weil sich am sichtbarsten anfühlt</a:t>
            </a:r>
            <a:endParaRPr lang="en-US" sz="1600" dirty="0"/>
          </a:p>
        </p:txBody>
      </p:sp>
      <p:sp>
        <p:nvSpPr>
          <p:cNvPr id="5" name="Shape 3"/>
          <p:cNvSpPr/>
          <p:nvPr/>
        </p:nvSpPr>
        <p:spPr>
          <a:xfrm>
            <a:off x="5852160" y="1920240"/>
            <a:ext cx="2743200" cy="2286000"/>
          </a:xfrm>
          <a:prstGeom prst="rect">
            <a:avLst/>
          </a:prstGeom>
          <a:solidFill>
            <a:srgbClr val="F1ECDD"/>
          </a:solidFill>
          <a:ln w="12700">
            <a:solidFill>
              <a:srgbClr val="F1ECDD">
                <a:alpha val="0"/>
              </a:srgbClr>
            </a:solidFill>
            <a:prstDash val="solid"/>
          </a:ln>
        </p:spPr>
      </p:sp>
      <p:sp>
        <p:nvSpPr>
          <p:cNvPr id="6" name="Shape 4"/>
          <p:cNvSpPr/>
          <p:nvPr/>
        </p:nvSpPr>
        <p:spPr>
          <a:xfrm>
            <a:off x="5852160" y="1920240"/>
            <a:ext cx="73152" cy="2286000"/>
          </a:xfrm>
          <a:prstGeom prst="rect">
            <a:avLst/>
          </a:prstGeom>
          <a:solidFill>
            <a:srgbClr val="DC822E"/>
          </a:solidFill>
          <a:ln w="12700">
            <a:solidFill>
              <a:srgbClr val="DC822E">
                <a:alpha val="0"/>
              </a:srgbClr>
            </a:solidFill>
            <a:prstDash val="solid"/>
          </a:ln>
        </p:spPr>
      </p:sp>
      <p:sp>
        <p:nvSpPr>
          <p:cNvPr id="7" name="Text 5"/>
          <p:cNvSpPr/>
          <p:nvPr/>
        </p:nvSpPr>
        <p:spPr>
          <a:xfrm>
            <a:off x="6080760" y="2103120"/>
            <a:ext cx="2468880" cy="274320"/>
          </a:xfrm>
          <a:prstGeom prst="rect">
            <a:avLst/>
          </a:prstGeom>
          <a:noFill/>
          <a:ln/>
        </p:spPr>
        <p:txBody>
          <a:bodyPr wrap="square" rtlCol="0" anchor="ctr"/>
          <a:lstStyle/>
          <a:p>
            <a:pPr indent="0" marL="0">
              <a:buNone/>
            </a:pPr>
            <a:r>
              <a:rPr lang="en-US" sz="900" b="1" spc="400" kern="0" dirty="0">
                <a:solidFill>
                  <a:srgbClr val="DC822E"/>
                </a:solidFill>
                <a:latin typeface="Calibri" pitchFamily="34" charset="0"/>
                <a:ea typeface="Calibri" pitchFamily="34" charset="-122"/>
                <a:cs typeface="Calibri" pitchFamily="34" charset="-120"/>
              </a:rPr>
              <a:t>PATRICIA</a:t>
            </a:r>
            <a:endParaRPr lang="en-US" sz="900" dirty="0"/>
          </a:p>
        </p:txBody>
      </p:sp>
      <p:sp>
        <p:nvSpPr>
          <p:cNvPr id="8" name="Text 6"/>
          <p:cNvSpPr/>
          <p:nvPr/>
        </p:nvSpPr>
        <p:spPr>
          <a:xfrm>
            <a:off x="6080760" y="2468880"/>
            <a:ext cx="2468880" cy="1645920"/>
          </a:xfrm>
          <a:prstGeom prst="rect">
            <a:avLst/>
          </a:prstGeom>
          <a:noFill/>
          <a:ln/>
        </p:spPr>
        <p:txBody>
          <a:bodyPr wrap="square" lIns="0" tIns="0" rIns="0" bIns="0" rtlCol="0" anchor="t"/>
          <a:lstStyle/>
          <a:p>
            <a:pPr indent="0" marL="0">
              <a:buNone/>
            </a:pPr>
            <a:r>
              <a:rPr lang="en-US" sz="1400" i="1" dirty="0">
                <a:solidFill>
                  <a:srgbClr val="0D6168"/>
                </a:solidFill>
                <a:latin typeface="Georgia" pitchFamily="34" charset="0"/>
                <a:ea typeface="Georgia" pitchFamily="34" charset="-122"/>
                <a:cs typeface="Georgia" pitchFamily="34" charset="-120"/>
              </a:rPr>
              <a:t>„Sichtbarkeit fühlt sich nach Arbeit an. CEO-Sein ist Arbeit."</a:t>
            </a:r>
            <a:endParaRPr lang="en-US" sz="1400" dirty="0"/>
          </a:p>
        </p:txBody>
      </p:sp>
      <p:sp>
        <p:nvSpPr>
          <p:cNvPr id="9" name="Text 7"/>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1.4</a:t>
            </a:r>
            <a:endParaRPr lang="en-US" sz="900" dirty="0"/>
          </a:p>
        </p:txBody>
      </p:sp>
      <p:sp>
        <p:nvSpPr>
          <p:cNvPr id="10" name="Text 8"/>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1097280"/>
          </a:xfrm>
          <a:prstGeom prst="rect">
            <a:avLst/>
          </a:prstGeom>
          <a:noFill/>
          <a:ln/>
        </p:spPr>
        <p:txBody>
          <a:bodyPr wrap="square" lIns="0" tIns="0" rIns="0" bIns="0" rtlCol="0" anchor="t"/>
          <a:lstStyle/>
          <a:p>
            <a:pPr indent="0" marL="0">
              <a:buNone/>
            </a:pPr>
            <a:r>
              <a:rPr lang="en-US" sz="2600" b="1" dirty="0">
                <a:solidFill>
                  <a:srgbClr val="1A3A4A"/>
                </a:solidFill>
                <a:latin typeface="Georgia" pitchFamily="34" charset="0"/>
                <a:ea typeface="Georgia" pitchFamily="34" charset="-122"/>
                <a:cs typeface="Georgia" pitchFamily="34" charset="-120"/>
              </a:rPr>
              <a:t>To-Do-Liste vs. Rollen-Sicht</a:t>
            </a:r>
            <a:endParaRPr lang="en-US" sz="2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8046720" cy="914400"/>
        </p:xfrm>
        <a:graphic>
          <a:graphicData uri="http://schemas.openxmlformats.org/drawingml/2006/table">
            <a:tbl>
              <a:tblPr/>
              <a:tblGrid>
                <a:gridCol w="3200400"/>
                <a:gridCol w="4846320"/>
              </a:tblGrid>
              <a:tr h="457200">
                <a:tc>
                  <a:txBody>
                    <a:bodyPr/>
                    <a:lstStyle/>
                    <a:p>
                      <a:pPr indent="0" marL="0">
                        <a:buNone/>
                      </a:pPr>
                      <a:r>
                        <a:rPr lang="en-US" sz="1100" b="1" spc="300" kern="0" dirty="0">
                          <a:solidFill>
                            <a:srgbClr val="7A8A95"/>
                          </a:solidFill>
                          <a:latin typeface="Calibri" pitchFamily="34" charset="0"/>
                          <a:ea typeface="Calibri" pitchFamily="34" charset="-122"/>
                          <a:cs typeface="Calibri" pitchFamily="34" charset="-120"/>
                        </a:rPr>
                        <a:t>TO-DO-LISTE</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100" b="1" spc="300" kern="0" dirty="0">
                          <a:solidFill>
                            <a:srgbClr val="DC822E"/>
                          </a:solidFill>
                          <a:latin typeface="Calibri" pitchFamily="34" charset="0"/>
                          <a:ea typeface="Calibri" pitchFamily="34" charset="-122"/>
                          <a:cs typeface="Calibri" pitchFamily="34" charset="-120"/>
                        </a:rPr>
                        <a:t>ROLLEN-SICHT</a:t>
                      </a:r>
                      <a:endParaRPr lang="en-US" sz="11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Was muss ich tun?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Wer war ich diese Woche?</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Abarbeiten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Gestalten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Erfolg = Liste leer</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Erfolg = alle 4 Rollen vorgekommen</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1ECDD"/>
                    </a:solidFill>
                  </a:tcPr>
                </a:tc>
              </a:tr>
              <a:tr h="594360">
                <a:tc>
                  <a:txBody>
                    <a:bodyPr/>
                    <a:lstStyle/>
                    <a:p>
                      <a:pPr indent="0" marL="0">
                        <a:buNone/>
                      </a:pPr>
                      <a:r>
                        <a:rPr lang="en-US" sz="1500" dirty="0">
                          <a:solidFill>
                            <a:srgbClr val="2C3E50"/>
                          </a:solidFill>
                          <a:latin typeface="Calibri" pitchFamily="34" charset="0"/>
                          <a:ea typeface="Calibri" pitchFamily="34" charset="-122"/>
                          <a:cs typeface="Calibri" pitchFamily="34" charset="-120"/>
                        </a:rPr>
                        <a:t>Niemals fertig</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500" b="1" dirty="0">
                          <a:solidFill>
                            <a:srgbClr val="1A3A4A"/>
                          </a:solidFill>
                          <a:latin typeface="Calibri" pitchFamily="34" charset="0"/>
                          <a:ea typeface="Calibri" pitchFamily="34" charset="-122"/>
                          <a:cs typeface="Calibri" pitchFamily="34" charset="-120"/>
                        </a:rPr>
                        <a:t>Sonntagabend ist Schluss</a:t>
                      </a:r>
                      <a:endParaRPr lang="en-US" sz="1500" dirty="0">
                        <a:latin typeface="Calibri" charset="0"/>
                        <a:ea typeface="Calibri" charset="0"/>
                        <a:cs typeface="Calibri" charset="0"/>
                      </a:endParaRPr>
                    </a:p>
                  </a:txBody>
                  <a:tcPr marL="91440" marR="91440" marT="45720" marB="45720">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0" cap="flat" cmpd="sng" algn="ctr">
                      <a:solidFill>
                        <a:srgbClr val="FFFFFF"/>
                      </a:solidFill>
                      <a:prstDash val="solid"/>
                      <a:round/>
                      <a:headEnd type="none" w="med" len="med"/>
                      <a:tailEnd type="none" w="med" len="med"/>
                    </a:lnB>
                    <a:solidFill>
                      <a:srgbClr val="FFFFFF"/>
                    </a:solidFill>
                  </a:tcPr>
                </a:tc>
              </a:tr>
            </a:tbl>
          </a:graphicData>
        </a:graphic>
      </p:graphicFrame>
      <p:sp>
        <p:nvSpPr>
          <p:cNvPr id="4" name="Text 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1.4</a:t>
            </a:r>
            <a:endParaRPr lang="en-US" sz="900" dirty="0"/>
          </a:p>
        </p:txBody>
      </p:sp>
      <p:sp>
        <p:nvSpPr>
          <p:cNvPr id="5" name="Text 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ECDD"/>
        </a:solidFill>
      </p:bgPr>
    </p:bg>
    <p:spTree>
      <p:nvGrpSpPr>
        <p:cNvPr id="1" name=""/>
        <p:cNvGrpSpPr/>
        <p:nvPr/>
      </p:nvGrpSpPr>
      <p:grpSpPr>
        <a:xfrm>
          <a:off x="0" y="0"/>
          <a:ext cx="0" cy="0"/>
          <a:chOff x="0" y="0"/>
          <a:chExt cx="0" cy="0"/>
        </a:xfrm>
      </p:grpSpPr>
      <p:sp>
        <p:nvSpPr>
          <p:cNvPr id="2" name="Text 0"/>
          <p:cNvSpPr/>
          <p:nvPr/>
        </p:nvSpPr>
        <p:spPr>
          <a:xfrm>
            <a:off x="548640" y="640080"/>
            <a:ext cx="8046720" cy="822960"/>
          </a:xfrm>
          <a:prstGeom prst="rect">
            <a:avLst/>
          </a:prstGeom>
          <a:noFill/>
          <a:ln/>
        </p:spPr>
        <p:txBody>
          <a:bodyPr wrap="square" lIns="0" tIns="0" rIns="0" bIns="0" rtlCol="0" anchor="t"/>
          <a:lstStyle/>
          <a:p>
            <a:pPr indent="0" marL="0">
              <a:buNone/>
            </a:pPr>
            <a:r>
              <a:rPr lang="en-US" sz="2800" b="1" dirty="0">
                <a:solidFill>
                  <a:srgbClr val="1A3A4A"/>
                </a:solidFill>
                <a:latin typeface="Georgia" pitchFamily="34" charset="0"/>
                <a:ea typeface="Georgia" pitchFamily="34" charset="-122"/>
                <a:cs typeface="Georgia" pitchFamily="34" charset="-120"/>
              </a:rPr>
              <a:t>Was du beim Rollen-Bauen NICHT machst</a:t>
            </a:r>
            <a:endParaRPr lang="en-US" sz="2800" dirty="0"/>
          </a:p>
        </p:txBody>
      </p:sp>
      <p:sp>
        <p:nvSpPr>
          <p:cNvPr id="3" name="Shape 1"/>
          <p:cNvSpPr/>
          <p:nvPr/>
        </p:nvSpPr>
        <p:spPr>
          <a:xfrm>
            <a:off x="731520" y="2011680"/>
            <a:ext cx="457200" cy="457200"/>
          </a:xfrm>
          <a:prstGeom prst="ellipse">
            <a:avLst/>
          </a:prstGeom>
          <a:solidFill>
            <a:srgbClr val="FFFFFF"/>
          </a:solidFill>
          <a:ln w="25400">
            <a:solidFill>
              <a:srgbClr val="DC822E"/>
            </a:solidFill>
            <a:prstDash val="solid"/>
          </a:ln>
        </p:spPr>
      </p:sp>
      <p:sp>
        <p:nvSpPr>
          <p:cNvPr id="4" name="Text 2"/>
          <p:cNvSpPr/>
          <p:nvPr/>
        </p:nvSpPr>
        <p:spPr>
          <a:xfrm>
            <a:off x="731520" y="201168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5" name="Text 3"/>
          <p:cNvSpPr/>
          <p:nvPr/>
        </p:nvSpPr>
        <p:spPr>
          <a:xfrm>
            <a:off x="1371600" y="201168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Versuchen alle 4 Rollen jeden Tag zu spielen</a:t>
            </a:r>
            <a:endParaRPr lang="en-US" sz="1800" dirty="0"/>
          </a:p>
        </p:txBody>
      </p:sp>
      <p:sp>
        <p:nvSpPr>
          <p:cNvPr id="6" name="Shape 4"/>
          <p:cNvSpPr/>
          <p:nvPr/>
        </p:nvSpPr>
        <p:spPr>
          <a:xfrm>
            <a:off x="731520" y="2743200"/>
            <a:ext cx="457200" cy="457200"/>
          </a:xfrm>
          <a:prstGeom prst="ellipse">
            <a:avLst/>
          </a:prstGeom>
          <a:solidFill>
            <a:srgbClr val="FFFFFF"/>
          </a:solidFill>
          <a:ln w="25400">
            <a:solidFill>
              <a:srgbClr val="DC822E"/>
            </a:solidFill>
            <a:prstDash val="solid"/>
          </a:ln>
        </p:spPr>
      </p:sp>
      <p:sp>
        <p:nvSpPr>
          <p:cNvPr id="7" name="Text 5"/>
          <p:cNvSpPr/>
          <p:nvPr/>
        </p:nvSpPr>
        <p:spPr>
          <a:xfrm>
            <a:off x="731520" y="274320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371600" y="274320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Selbstfürsorge als „wenn ich Zeit habe" einplanen</a:t>
            </a:r>
            <a:endParaRPr lang="en-US" sz="1800" dirty="0"/>
          </a:p>
        </p:txBody>
      </p:sp>
      <p:sp>
        <p:nvSpPr>
          <p:cNvPr id="9" name="Shape 7"/>
          <p:cNvSpPr/>
          <p:nvPr/>
        </p:nvSpPr>
        <p:spPr>
          <a:xfrm>
            <a:off x="731520" y="3474720"/>
            <a:ext cx="457200" cy="457200"/>
          </a:xfrm>
          <a:prstGeom prst="ellipse">
            <a:avLst/>
          </a:prstGeom>
          <a:solidFill>
            <a:srgbClr val="FFFFFF"/>
          </a:solidFill>
          <a:ln w="25400">
            <a:solidFill>
              <a:srgbClr val="DC822E"/>
            </a:solidFill>
            <a:prstDash val="solid"/>
          </a:ln>
        </p:spPr>
      </p:sp>
      <p:sp>
        <p:nvSpPr>
          <p:cNvPr id="10" name="Text 8"/>
          <p:cNvSpPr/>
          <p:nvPr/>
        </p:nvSpPr>
        <p:spPr>
          <a:xfrm>
            <a:off x="731520" y="3474720"/>
            <a:ext cx="457200" cy="457200"/>
          </a:xfrm>
          <a:prstGeom prst="rect">
            <a:avLst/>
          </a:prstGeom>
          <a:noFill/>
          <a:ln/>
        </p:spPr>
        <p:txBody>
          <a:bodyPr wrap="square" lIns="0" tIns="0" rIns="0" bIns="0" rtlCol="0" anchor="ctr"/>
          <a:lstStyle/>
          <a:p>
            <a:pPr algn="ctr" indent="0" marL="0">
              <a:buNone/>
            </a:pPr>
            <a:r>
              <a:rPr lang="en-US" sz="1800" b="1" dirty="0">
                <a:solidFill>
                  <a:srgbClr val="DC822E"/>
                </a:solidFill>
                <a:latin typeface="Calibri" pitchFamily="34" charset="0"/>
                <a:ea typeface="Calibri" pitchFamily="34" charset="-122"/>
                <a:cs typeface="Calibri" pitchFamily="34" charset="-120"/>
              </a:rPr>
              <a:t>✕</a:t>
            </a:r>
            <a:endParaRPr lang="en-US" sz="1800" dirty="0"/>
          </a:p>
        </p:txBody>
      </p:sp>
      <p:sp>
        <p:nvSpPr>
          <p:cNvPr id="11" name="Text 9"/>
          <p:cNvSpPr/>
          <p:nvPr/>
        </p:nvSpPr>
        <p:spPr>
          <a:xfrm>
            <a:off x="1371600" y="3474720"/>
            <a:ext cx="7132320" cy="457200"/>
          </a:xfrm>
          <a:prstGeom prst="rect">
            <a:avLst/>
          </a:prstGeom>
          <a:noFill/>
          <a:ln/>
        </p:spPr>
        <p:txBody>
          <a:bodyPr wrap="square" lIns="0" tIns="0" rIns="0" bIns="0" rtlCol="0" anchor="ctr"/>
          <a:lstStyle/>
          <a:p>
            <a:pPr indent="0" marL="0">
              <a:buNone/>
            </a:pPr>
            <a:r>
              <a:rPr lang="en-US" sz="1800" strike="sngStrike" dirty="0">
                <a:solidFill>
                  <a:srgbClr val="7A8A95"/>
                </a:solidFill>
                <a:latin typeface="Calibri" pitchFamily="34" charset="0"/>
                <a:ea typeface="Calibri" pitchFamily="34" charset="-122"/>
                <a:cs typeface="Calibri" pitchFamily="34" charset="-120"/>
              </a:rPr>
              <a:t>CEO-Rolle als „mache ich später" verschieben</a:t>
            </a:r>
            <a:endParaRPr lang="en-US" sz="1800" dirty="0"/>
          </a:p>
        </p:txBody>
      </p:sp>
      <p:sp>
        <p:nvSpPr>
          <p:cNvPr id="12" name="Text 10"/>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1.4</a:t>
            </a:r>
            <a:endParaRPr lang="en-US" sz="900" dirty="0"/>
          </a:p>
        </p:txBody>
      </p:sp>
      <p:sp>
        <p:nvSpPr>
          <p:cNvPr id="13" name="Text 11"/>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828C"/>
        </a:solidFill>
      </p:bgPr>
    </p:bg>
    <p:spTree>
      <p:nvGrpSpPr>
        <p:cNvPr id="1" name=""/>
        <p:cNvGrpSpPr/>
        <p:nvPr/>
      </p:nvGrpSpPr>
      <p:grpSpPr>
        <a:xfrm>
          <a:off x="0" y="0"/>
          <a:ext cx="0" cy="0"/>
          <a:chOff x="0" y="0"/>
          <a:chExt cx="0" cy="0"/>
        </a:xfrm>
      </p:grpSpPr>
      <p:sp>
        <p:nvSpPr>
          <p:cNvPr id="2" name="Text 0"/>
          <p:cNvSpPr/>
          <p:nvPr/>
        </p:nvSpPr>
        <p:spPr>
          <a:xfrm>
            <a:off x="548640" y="457200"/>
            <a:ext cx="8046720" cy="274320"/>
          </a:xfrm>
          <a:prstGeom prst="rect">
            <a:avLst/>
          </a:prstGeom>
          <a:noFill/>
          <a:ln/>
        </p:spPr>
        <p:txBody>
          <a:bodyPr wrap="square" rtlCol="0" anchor="ctr"/>
          <a:lstStyle/>
          <a:p>
            <a:pPr indent="0" marL="0">
              <a:buNone/>
            </a:pPr>
            <a:r>
              <a:rPr lang="en-US" sz="1100" b="1" spc="400" kern="0" dirty="0">
                <a:solidFill>
                  <a:srgbClr val="DC822E"/>
                </a:solidFill>
                <a:latin typeface="Calibri" pitchFamily="34" charset="0"/>
                <a:ea typeface="Calibri" pitchFamily="34" charset="-122"/>
                <a:cs typeface="Calibri" pitchFamily="34" charset="-120"/>
              </a:rPr>
              <a:t>DAS NIMMST DU MIT</a:t>
            </a:r>
            <a:endParaRPr lang="en-US" sz="1100" dirty="0"/>
          </a:p>
        </p:txBody>
      </p:sp>
      <p:sp>
        <p:nvSpPr>
          <p:cNvPr id="3" name="Text 1"/>
          <p:cNvSpPr/>
          <p:nvPr/>
        </p:nvSpPr>
        <p:spPr>
          <a:xfrm>
            <a:off x="548640" y="822960"/>
            <a:ext cx="8046720" cy="731520"/>
          </a:xfrm>
          <a:prstGeom prst="rect">
            <a:avLst/>
          </a:prstGeom>
          <a:noFill/>
          <a:ln/>
        </p:spPr>
        <p:txBody>
          <a:bodyPr wrap="square" lIns="0" tIns="0" rIns="0" bIns="0" rtlCol="0" anchor="t"/>
          <a:lstStyle/>
          <a:p>
            <a:pPr indent="0" marL="0">
              <a:buNone/>
            </a:pPr>
            <a:r>
              <a:rPr lang="en-US" sz="3200" b="1" dirty="0">
                <a:solidFill>
                  <a:srgbClr val="F1ECDD"/>
                </a:solidFill>
                <a:latin typeface="Georgia" pitchFamily="34" charset="0"/>
                <a:ea typeface="Georgia" pitchFamily="34" charset="-122"/>
                <a:cs typeface="Georgia" pitchFamily="34" charset="-120"/>
              </a:rPr>
              <a:t>Key Takeaways</a:t>
            </a:r>
            <a:endParaRPr lang="en-US" sz="3200" dirty="0"/>
          </a:p>
        </p:txBody>
      </p:sp>
      <p:sp>
        <p:nvSpPr>
          <p:cNvPr id="4" name="Shape 2"/>
          <p:cNvSpPr/>
          <p:nvPr/>
        </p:nvSpPr>
        <p:spPr>
          <a:xfrm>
            <a:off x="640080" y="1828800"/>
            <a:ext cx="411480" cy="411480"/>
          </a:xfrm>
          <a:prstGeom prst="ellipse">
            <a:avLst/>
          </a:prstGeom>
          <a:solidFill>
            <a:srgbClr val="DC822E"/>
          </a:solidFill>
          <a:ln w="12700">
            <a:solidFill>
              <a:srgbClr val="DC822E">
                <a:alpha val="0"/>
              </a:srgbClr>
            </a:solidFill>
            <a:prstDash val="solid"/>
          </a:ln>
        </p:spPr>
      </p:sp>
      <p:sp>
        <p:nvSpPr>
          <p:cNvPr id="5" name="Text 3"/>
          <p:cNvSpPr/>
          <p:nvPr/>
        </p:nvSpPr>
        <p:spPr>
          <a:xfrm>
            <a:off x="640080" y="182880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6" name="Text 4"/>
          <p:cNvSpPr/>
          <p:nvPr/>
        </p:nvSpPr>
        <p:spPr>
          <a:xfrm>
            <a:off x="1234440" y="180136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Rollen-Sicht schlägt To-Do-Liste — du wirst Gestalterin statt Abarbeiterin</a:t>
            </a:r>
            <a:endParaRPr lang="en-US" sz="1500" dirty="0"/>
          </a:p>
        </p:txBody>
      </p:sp>
      <p:sp>
        <p:nvSpPr>
          <p:cNvPr id="7" name="Shape 5"/>
          <p:cNvSpPr/>
          <p:nvPr/>
        </p:nvSpPr>
        <p:spPr>
          <a:xfrm>
            <a:off x="640080" y="2468880"/>
            <a:ext cx="411480" cy="411480"/>
          </a:xfrm>
          <a:prstGeom prst="ellipse">
            <a:avLst/>
          </a:prstGeom>
          <a:solidFill>
            <a:srgbClr val="DC822E"/>
          </a:solidFill>
          <a:ln w="12700">
            <a:solidFill>
              <a:srgbClr val="DC822E">
                <a:alpha val="0"/>
              </a:srgbClr>
            </a:solidFill>
            <a:prstDash val="solid"/>
          </a:ln>
        </p:spPr>
      </p:sp>
      <p:sp>
        <p:nvSpPr>
          <p:cNvPr id="8" name="Text 6"/>
          <p:cNvSpPr/>
          <p:nvPr/>
        </p:nvSpPr>
        <p:spPr>
          <a:xfrm>
            <a:off x="640080" y="246888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234440" y="244144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4 Rollen: CEO · Sichtbarkeit · Kunde · Selbstfürsorge</a:t>
            </a:r>
            <a:endParaRPr lang="en-US" sz="1500" dirty="0"/>
          </a:p>
        </p:txBody>
      </p:sp>
      <p:sp>
        <p:nvSpPr>
          <p:cNvPr id="10" name="Shape 8"/>
          <p:cNvSpPr/>
          <p:nvPr/>
        </p:nvSpPr>
        <p:spPr>
          <a:xfrm>
            <a:off x="640080" y="3108960"/>
            <a:ext cx="411480" cy="411480"/>
          </a:xfrm>
          <a:prstGeom prst="ellipse">
            <a:avLst/>
          </a:prstGeom>
          <a:solidFill>
            <a:srgbClr val="DC822E"/>
          </a:solidFill>
          <a:ln w="12700">
            <a:solidFill>
              <a:srgbClr val="DC822E">
                <a:alpha val="0"/>
              </a:srgbClr>
            </a:solidFill>
            <a:prstDash val="solid"/>
          </a:ln>
        </p:spPr>
      </p:sp>
      <p:sp>
        <p:nvSpPr>
          <p:cNvPr id="11" name="Text 9"/>
          <p:cNvSpPr/>
          <p:nvPr/>
        </p:nvSpPr>
        <p:spPr>
          <a:xfrm>
            <a:off x="640080" y="310896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1234440" y="308152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Jede Rolle mindestens einmal pro Woche — eine pro Tag genug</a:t>
            </a:r>
            <a:endParaRPr lang="en-US" sz="1500" dirty="0"/>
          </a:p>
        </p:txBody>
      </p:sp>
      <p:sp>
        <p:nvSpPr>
          <p:cNvPr id="13" name="Shape 11"/>
          <p:cNvSpPr/>
          <p:nvPr/>
        </p:nvSpPr>
        <p:spPr>
          <a:xfrm>
            <a:off x="640080" y="3749040"/>
            <a:ext cx="411480" cy="411480"/>
          </a:xfrm>
          <a:prstGeom prst="ellipse">
            <a:avLst/>
          </a:prstGeom>
          <a:solidFill>
            <a:srgbClr val="DC822E"/>
          </a:solidFill>
          <a:ln w="12700">
            <a:solidFill>
              <a:srgbClr val="DC822E">
                <a:alpha val="0"/>
              </a:srgbClr>
            </a:solidFill>
            <a:prstDash val="solid"/>
          </a:ln>
        </p:spPr>
      </p:sp>
      <p:sp>
        <p:nvSpPr>
          <p:cNvPr id="14" name="Text 12"/>
          <p:cNvSpPr/>
          <p:nvPr/>
        </p:nvSpPr>
        <p:spPr>
          <a:xfrm>
            <a:off x="640080" y="3749040"/>
            <a:ext cx="4114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1234440" y="3721608"/>
            <a:ext cx="7315200" cy="502920"/>
          </a:xfrm>
          <a:prstGeom prst="rect">
            <a:avLst/>
          </a:prstGeom>
          <a:noFill/>
          <a:ln/>
        </p:spPr>
        <p:txBody>
          <a:bodyPr wrap="square" lIns="0" tIns="0" rIns="0" bIns="0" rtlCol="0" anchor="ctr"/>
          <a:lstStyle/>
          <a:p>
            <a:pPr indent="0" marL="0">
              <a:buNone/>
            </a:pPr>
            <a:r>
              <a:rPr lang="en-US" sz="1500" dirty="0">
                <a:solidFill>
                  <a:srgbClr val="F1ECDD"/>
                </a:solidFill>
                <a:latin typeface="Calibri" pitchFamily="34" charset="0"/>
                <a:ea typeface="Calibri" pitchFamily="34" charset="-122"/>
                <a:cs typeface="Calibri" pitchFamily="34" charset="-120"/>
              </a:rPr>
              <a:t>CEO + Selbstfürsorge sind die typisch vernachlässigten Rollen</a:t>
            </a:r>
            <a:endParaRPr lang="en-US" sz="1500" dirty="0"/>
          </a:p>
        </p:txBody>
      </p:sp>
      <p:sp>
        <p:nvSpPr>
          <p:cNvPr id="16" name="Text 14"/>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F1ECDD"/>
                </a:solidFill>
                <a:latin typeface="Calibri" pitchFamily="34" charset="0"/>
                <a:ea typeface="Calibri" pitchFamily="34" charset="-122"/>
                <a:cs typeface="Calibri" pitchFamily="34" charset="-120"/>
              </a:rPr>
              <a:t>Mama-CEO · Modul 1 · Lektion 1.4</a:t>
            </a:r>
            <a:endParaRPr lang="en-US" sz="900" dirty="0"/>
          </a:p>
        </p:txBody>
      </p:sp>
      <p:sp>
        <p:nvSpPr>
          <p:cNvPr id="17" name="Text 15"/>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F1ECDD"/>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046720" cy="822960"/>
          </a:xfrm>
          <a:prstGeom prst="rect">
            <a:avLst/>
          </a:prstGeom>
          <a:noFill/>
          <a:ln/>
        </p:spPr>
        <p:txBody>
          <a:bodyPr wrap="square" lIns="0" tIns="0" rIns="0" bIns="0" rtlCol="0" anchor="t"/>
          <a:lstStyle/>
          <a:p>
            <a:pPr indent="0" marL="0">
              <a:buNone/>
            </a:pPr>
            <a:r>
              <a:rPr lang="en-US" sz="3200" b="1" dirty="0">
                <a:solidFill>
                  <a:srgbClr val="1A3A4A"/>
                </a:solidFill>
                <a:latin typeface="Georgia" pitchFamily="34" charset="0"/>
                <a:ea typeface="Georgia" pitchFamily="34" charset="-122"/>
                <a:cs typeface="Georgia" pitchFamily="34" charset="-120"/>
              </a:rPr>
              <a:t>Dein nächster Schritt</a:t>
            </a:r>
            <a:endParaRPr lang="en-US" sz="3200" dirty="0"/>
          </a:p>
        </p:txBody>
      </p:sp>
      <p:sp>
        <p:nvSpPr>
          <p:cNvPr id="3" name="Shape 1"/>
          <p:cNvSpPr/>
          <p:nvPr/>
        </p:nvSpPr>
        <p:spPr>
          <a:xfrm>
            <a:off x="548640" y="1737360"/>
            <a:ext cx="3931920" cy="2743200"/>
          </a:xfrm>
          <a:prstGeom prst="rect">
            <a:avLst/>
          </a:prstGeom>
          <a:solidFill>
            <a:srgbClr val="F1ECDD"/>
          </a:solidFill>
          <a:ln w="12700">
            <a:solidFill>
              <a:srgbClr val="F1ECDD">
                <a:alpha val="0"/>
              </a:srgbClr>
            </a:solidFill>
            <a:prstDash val="solid"/>
          </a:ln>
        </p:spPr>
      </p:sp>
      <p:sp>
        <p:nvSpPr>
          <p:cNvPr id="4" name="Shape 2"/>
          <p:cNvSpPr/>
          <p:nvPr/>
        </p:nvSpPr>
        <p:spPr>
          <a:xfrm>
            <a:off x="548640" y="1737360"/>
            <a:ext cx="3931920" cy="73152"/>
          </a:xfrm>
          <a:prstGeom prst="rect">
            <a:avLst/>
          </a:prstGeom>
          <a:solidFill>
            <a:srgbClr val="12828C"/>
          </a:solidFill>
          <a:ln w="12700">
            <a:solidFill>
              <a:srgbClr val="12828C">
                <a:alpha val="0"/>
              </a:srgbClr>
            </a:solidFill>
            <a:prstDash val="solid"/>
          </a:ln>
        </p:spPr>
      </p:sp>
      <p:sp>
        <p:nvSpPr>
          <p:cNvPr id="5" name="Text 3"/>
          <p:cNvSpPr/>
          <p:nvPr/>
        </p:nvSpPr>
        <p:spPr>
          <a:xfrm>
            <a:off x="777240" y="1920240"/>
            <a:ext cx="3657600" cy="274320"/>
          </a:xfrm>
          <a:prstGeom prst="rect">
            <a:avLst/>
          </a:prstGeom>
          <a:noFill/>
          <a:ln/>
        </p:spPr>
        <p:txBody>
          <a:bodyPr wrap="square" rtlCol="0" anchor="ctr"/>
          <a:lstStyle/>
          <a:p>
            <a:pPr indent="0" marL="0">
              <a:buNone/>
            </a:pPr>
            <a:r>
              <a:rPr lang="en-US" sz="1000" b="1" spc="300" kern="0" dirty="0">
                <a:solidFill>
                  <a:srgbClr val="0D6168"/>
                </a:solidFill>
                <a:latin typeface="Calibri" pitchFamily="34" charset="0"/>
                <a:ea typeface="Calibri" pitchFamily="34" charset="-122"/>
                <a:cs typeface="Calibri" pitchFamily="34" charset="-120"/>
              </a:rPr>
              <a:t>📋  ARBEITSBLATT</a:t>
            </a:r>
            <a:endParaRPr lang="en-US" sz="1000" dirty="0"/>
          </a:p>
        </p:txBody>
      </p:sp>
      <p:sp>
        <p:nvSpPr>
          <p:cNvPr id="6" name="Text 4"/>
          <p:cNvSpPr/>
          <p:nvPr/>
        </p:nvSpPr>
        <p:spPr>
          <a:xfrm>
            <a:off x="7772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Rollen-Audit</a:t>
            </a:r>
            <a:endParaRPr lang="en-US" sz="1800" dirty="0"/>
          </a:p>
        </p:txBody>
      </p:sp>
      <p:sp>
        <p:nvSpPr>
          <p:cNvPr id="7" name="Text 5"/>
          <p:cNvSpPr/>
          <p:nvPr/>
        </p:nvSpPr>
        <p:spPr>
          <a:xfrm>
            <a:off x="7772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Bewerte jede Rolle (wie viel Zeit aktuell?)</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Identifiziere die vernachlässigte Rolle</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Plane EINEN konkreten Slot für nächste Woche</a:t>
            </a:r>
            <a:endParaRPr lang="en-US" sz="1300" dirty="0"/>
          </a:p>
        </p:txBody>
      </p:sp>
      <p:sp>
        <p:nvSpPr>
          <p:cNvPr id="8" name="Shape 6"/>
          <p:cNvSpPr/>
          <p:nvPr/>
        </p:nvSpPr>
        <p:spPr>
          <a:xfrm>
            <a:off x="4663440" y="1737360"/>
            <a:ext cx="3931920" cy="2743200"/>
          </a:xfrm>
          <a:prstGeom prst="rect">
            <a:avLst/>
          </a:prstGeom>
          <a:solidFill>
            <a:srgbClr val="F1ECDD"/>
          </a:solidFill>
          <a:ln w="12700">
            <a:solidFill>
              <a:srgbClr val="F1ECDD">
                <a:alpha val="0"/>
              </a:srgbClr>
            </a:solidFill>
            <a:prstDash val="solid"/>
          </a:ln>
        </p:spPr>
      </p:sp>
      <p:sp>
        <p:nvSpPr>
          <p:cNvPr id="9" name="Shape 7"/>
          <p:cNvSpPr/>
          <p:nvPr/>
        </p:nvSpPr>
        <p:spPr>
          <a:xfrm>
            <a:off x="4663440" y="1737360"/>
            <a:ext cx="3931920" cy="73152"/>
          </a:xfrm>
          <a:prstGeom prst="rect">
            <a:avLst/>
          </a:prstGeom>
          <a:solidFill>
            <a:srgbClr val="DC822E"/>
          </a:solidFill>
          <a:ln w="12700">
            <a:solidFill>
              <a:srgbClr val="DC822E">
                <a:alpha val="0"/>
              </a:srgbClr>
            </a:solidFill>
            <a:prstDash val="solid"/>
          </a:ln>
        </p:spPr>
      </p:sp>
      <p:sp>
        <p:nvSpPr>
          <p:cNvPr id="10" name="Text 8"/>
          <p:cNvSpPr/>
          <p:nvPr/>
        </p:nvSpPr>
        <p:spPr>
          <a:xfrm>
            <a:off x="4892040" y="1920240"/>
            <a:ext cx="3657600" cy="274320"/>
          </a:xfrm>
          <a:prstGeom prst="rect">
            <a:avLst/>
          </a:prstGeom>
          <a:noFill/>
          <a:ln/>
        </p:spPr>
        <p:txBody>
          <a:bodyPr wrap="square" rtlCol="0" anchor="ctr"/>
          <a:lstStyle/>
          <a:p>
            <a:pPr indent="0" marL="0">
              <a:buNone/>
            </a:pPr>
            <a:r>
              <a:rPr lang="en-US" sz="1000" b="1" spc="300" kern="0" dirty="0">
                <a:solidFill>
                  <a:srgbClr val="DC822E"/>
                </a:solidFill>
                <a:latin typeface="Calibri" pitchFamily="34" charset="0"/>
                <a:ea typeface="Calibri" pitchFamily="34" charset="-122"/>
                <a:cs typeface="Calibri" pitchFamily="34" charset="-120"/>
              </a:rPr>
              <a:t>▶  ALS NÄCHSTES</a:t>
            </a:r>
            <a:endParaRPr lang="en-US" sz="1000" dirty="0"/>
          </a:p>
        </p:txBody>
      </p:sp>
      <p:sp>
        <p:nvSpPr>
          <p:cNvPr id="11" name="Text 9"/>
          <p:cNvSpPr/>
          <p:nvPr/>
        </p:nvSpPr>
        <p:spPr>
          <a:xfrm>
            <a:off x="4892040" y="2240280"/>
            <a:ext cx="3657600" cy="457200"/>
          </a:xfrm>
          <a:prstGeom prst="rect">
            <a:avLst/>
          </a:prstGeom>
          <a:noFill/>
          <a:ln/>
        </p:spPr>
        <p:txBody>
          <a:bodyPr wrap="square" lIns="0" tIns="0" rIns="0" bIns="0" rtlCol="0" anchor="t"/>
          <a:lstStyle/>
          <a:p>
            <a:pPr indent="0" marL="0">
              <a:buNone/>
            </a:pPr>
            <a:r>
              <a:rPr lang="en-US" sz="1800" b="1" dirty="0">
                <a:solidFill>
                  <a:srgbClr val="1A3A4A"/>
                </a:solidFill>
                <a:latin typeface="Georgia" pitchFamily="34" charset="0"/>
                <a:ea typeface="Georgia" pitchFamily="34" charset="-122"/>
                <a:cs typeface="Georgia" pitchFamily="34" charset="-120"/>
              </a:rPr>
              <a:t>Lektion 1.5 — Dein Wochenrhythmus</a:t>
            </a:r>
            <a:endParaRPr lang="en-US" sz="1800" dirty="0"/>
          </a:p>
        </p:txBody>
      </p:sp>
      <p:sp>
        <p:nvSpPr>
          <p:cNvPr id="12" name="Text 10"/>
          <p:cNvSpPr/>
          <p:nvPr/>
        </p:nvSpPr>
        <p:spPr>
          <a:xfrm>
            <a:off x="4892040" y="2834640"/>
            <a:ext cx="3566160" cy="1554480"/>
          </a:xfrm>
          <a:prstGeom prst="rect">
            <a:avLst/>
          </a:prstGeom>
          <a:noFill/>
          <a:ln/>
        </p:spPr>
        <p:txBody>
          <a:bodyPr wrap="square" rtlCol="0" anchor="t"/>
          <a:lstStyle/>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Live-Übung: alle Bausteine aus 1.1-1.4 zusammensetzen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Dein eigener Wochenrhythmus, fertig in der Lektion</a:t>
            </a:r>
            <a:endParaRPr lang="en-US" sz="1300" dirty="0"/>
          </a:p>
          <a:p>
            <a:pPr marL="342900" indent="-342900">
              <a:spcAft>
                <a:spcPts val="600"/>
              </a:spcAft>
              <a:buSzPct val="100000"/>
              <a:buChar char="▸"/>
            </a:pPr>
            <a:r>
              <a:rPr lang="en-US" sz="1300" dirty="0">
                <a:solidFill>
                  <a:srgbClr val="2C3E50"/>
                </a:solidFill>
                <a:latin typeface="Calibri" pitchFamily="34" charset="0"/>
                <a:ea typeface="Calibri" pitchFamily="34" charset="-122"/>
                <a:cs typeface="Calibri" pitchFamily="34" charset="-120"/>
              </a:rPr>
              <a:t>Sonntag-Reset einrichten</a:t>
            </a:r>
            <a:endParaRPr lang="en-US" sz="1300" dirty="0"/>
          </a:p>
        </p:txBody>
      </p:sp>
      <p:sp>
        <p:nvSpPr>
          <p:cNvPr id="13" name="Text 11"/>
          <p:cNvSpPr/>
          <p:nvPr/>
        </p:nvSpPr>
        <p:spPr>
          <a:xfrm>
            <a:off x="457200" y="4800600"/>
            <a:ext cx="5486400" cy="274320"/>
          </a:xfrm>
          <a:prstGeom prst="rect">
            <a:avLst/>
          </a:prstGeom>
          <a:noFill/>
          <a:ln/>
        </p:spPr>
        <p:txBody>
          <a:bodyPr wrap="square" rtlCol="0" anchor="ctr"/>
          <a:lstStyle/>
          <a:p>
            <a:pPr indent="0" marL="0">
              <a:buNone/>
            </a:pPr>
            <a:r>
              <a:rPr lang="en-US" sz="900" spc="200" kern="0" dirty="0">
                <a:solidFill>
                  <a:srgbClr val="7A8A95"/>
                </a:solidFill>
                <a:latin typeface="Calibri" pitchFamily="34" charset="0"/>
                <a:ea typeface="Calibri" pitchFamily="34" charset="-122"/>
                <a:cs typeface="Calibri" pitchFamily="34" charset="-120"/>
              </a:rPr>
              <a:t>Mama-CEO · Modul 1 · Lektion 1.4</a:t>
            </a:r>
            <a:endParaRPr lang="en-US" sz="900" dirty="0"/>
          </a:p>
        </p:txBody>
      </p:sp>
      <p:sp>
        <p:nvSpPr>
          <p:cNvPr id="14" name="Text 12"/>
          <p:cNvSpPr/>
          <p:nvPr/>
        </p:nvSpPr>
        <p:spPr>
          <a:xfrm>
            <a:off x="6400800" y="4800600"/>
            <a:ext cx="2286000" cy="274320"/>
          </a:xfrm>
          <a:prstGeom prst="rect">
            <a:avLst/>
          </a:prstGeom>
          <a:noFill/>
          <a:ln/>
        </p:spPr>
        <p:txBody>
          <a:bodyPr wrap="square" rtlCol="0" anchor="ctr"/>
          <a:lstStyle/>
          <a:p>
            <a:pPr algn="r" indent="0" marL="0">
              <a:buNone/>
            </a:pPr>
            <a:r>
              <a:rPr lang="en-US" sz="900" i="1" dirty="0">
                <a:solidFill>
                  <a:srgbClr val="7A8A95"/>
                </a:solidFill>
                <a:latin typeface="Calibri" pitchFamily="34" charset="0"/>
                <a:ea typeface="Calibri" pitchFamily="34" charset="-122"/>
                <a:cs typeface="Calibri" pitchFamily="34" charset="-120"/>
              </a:rPr>
              <a:t>Mum Life Balance</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Mum Life Balance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Mama-CEO · Lektion 1.4 — Die 4 Wochen-Rollen</dc:title>
  <dc:subject>PptxGenJS Presentation</dc:subject>
  <dc:creator>Patricia Ulmann · Mum Life Balance</dc:creator>
  <cp:lastModifiedBy>Patricia Ulmann · Mum Life Balance</cp:lastModifiedBy>
  <cp:revision>1</cp:revision>
  <dcterms:created xsi:type="dcterms:W3CDTF">2026-05-21T14:27:22Z</dcterms:created>
  <dcterms:modified xsi:type="dcterms:W3CDTF">2026-05-21T14:27:22Z</dcterms:modified>
</cp:coreProperties>
</file>