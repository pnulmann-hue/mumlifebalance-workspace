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der letzten Lektion hast du gesehen, wie viel du abgeben kannst. Jetzt reden wir über das Gegenteil: über das, was du auf keinen Fall abgibst. Denn beim Skalieren kann man sich auch kaputt-automatisieren, und davor will ich dich bewahren.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Gefahr ist verlockend: du wirst so gut im Automatisieren, dass du irgendwann alles an Bots und Systeme gibst, auch das Menschliche. Und dann wundern sich deine Kundinnen, warum sich alles so kühl anfühlt. Effizienz ist super, aber nicht auf Kosten der Nähe.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Darum definierst du jetzt deinen inneren Kreis. Das sind die Menschen und Beziehungen, die immer direkt von dir kommen, egal wie gross dein Business wird. Alles andere darf über KI und System laufen, aber dieser Kreis bleibt heilig.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Ganz vorne in diesem Kreis: deine Bestandskundinnen. Die haben schon ja zu dir gesagt, die kennen dich, die empfehlen dich weiter. Eine neue Kundin zu gewinnen ist viel teurer, als eine bestehende zu halten. Diese Gespräche, diese Betreuung, die gibst du nie an eine Maschine.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Dazu gehören auch die Frauen, mit denen du dich austauschst, dein Sparring, und die Person, von der du lernst. Diese Beziehungen tragen dich an schwierigen Tagen, und sie brauchen echte Zeit von dir, keine automatische Nachricht.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der allerinnerste Kreis ist deine Familie. Das hast du schon in Säule 1 und 2 verankert, und es bleibt der Massstab: kein System der Welt ist es wert, dass die Familie hintenrunterfällt. Deshalb skalierst du ja überhaupt, um mehr von dieser Zeit zu haben.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Schützen heisst nicht hoffen, sondern planen. Reservier deinem inneren Kreis feste Zeit in deinem Wochenrhythmus, genau wie du es mit deinen Power-Slots machst. Was einen festen Platz hat, fällt nicht weg. Was nur wenn-Zeit-bleibt ist, verschwindet als Erstes.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schreibst du deinen inneren Kreis auf und legst fest, wie du ihm feste Zeit gibst. In der letzten Lektion bauen wir dann deinen 90-Tage-Plan, damit du genau weisst, wie's nach dem Programm weitergeht. Bis gleich.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spAutoFit/>
          </a:bodyPr>
          <a:lstStyle/>
          <a:p>
            <a:r>
              <a:rPr sz="1100" b="1">
                <a:solidFill>
                  <a:srgbClr val="DC822E"/>
                </a:solidFill>
                <a:latin typeface="Calibri"/>
              </a:rPr>
              <a:t>SÄULE 5 — BUSINESS SKALIEREN</a:t>
            </a:r>
          </a:p>
        </p:txBody>
      </p:sp>
      <p:sp>
        <p:nvSpPr>
          <p:cNvPr id="4" name="Rectangle 3"/>
          <p:cNvSpPr/>
          <p:nvPr/>
        </p:nvSpPr>
        <p:spPr>
          <a:xfrm>
            <a:off x="548640" y="960120"/>
            <a:ext cx="548640" cy="45720"/>
          </a:xfrm>
          <a:prstGeom prst="rect">
            <a:avLst/>
          </a:prstGeom>
          <a:solidFill>
            <a:srgbClr val="DC82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554480"/>
          </a:xfrm>
          <a:prstGeom prst="rect">
            <a:avLst/>
          </a:prstGeom>
          <a:noFill/>
        </p:spPr>
        <p:txBody>
          <a:bodyPr wrap="square">
            <a:spAutoFit/>
          </a:bodyPr>
          <a:lstStyle/>
          <a:p>
            <a:r>
              <a:rPr sz="4400" b="1">
                <a:solidFill>
                  <a:srgbClr val="1A3A4A"/>
                </a:solidFill>
                <a:latin typeface="Georgia"/>
              </a:rPr>
              <a:t>Dein innerer Kreis</a:t>
            </a:r>
          </a:p>
        </p:txBody>
      </p:sp>
      <p:sp>
        <p:nvSpPr>
          <p:cNvPr id="6" name="TextBox 5"/>
          <p:cNvSpPr txBox="1"/>
          <p:nvPr/>
        </p:nvSpPr>
        <p:spPr>
          <a:xfrm>
            <a:off x="548640" y="2880360"/>
            <a:ext cx="7680960" cy="1280160"/>
          </a:xfrm>
          <a:prstGeom prst="rect">
            <a:avLst/>
          </a:prstGeom>
          <a:noFill/>
        </p:spPr>
        <p:txBody>
          <a:bodyPr wrap="square">
            <a:spAutoFit/>
          </a:bodyPr>
          <a:lstStyle/>
          <a:p>
            <a:r>
              <a:rPr sz="1800" b="0">
                <a:solidFill>
                  <a:srgbClr val="2C3E50"/>
                </a:solidFill>
                <a:latin typeface="Georgia"/>
              </a:rPr>
              <a:t>Was DEINS bleibt — Beziehungen schützen</a:t>
            </a:r>
          </a:p>
        </p:txBody>
      </p:sp>
      <p:sp>
        <p:nvSpPr>
          <p:cNvPr id="7" name="TextBox 6"/>
          <p:cNvSpPr txBox="1"/>
          <p:nvPr/>
        </p:nvSpPr>
        <p:spPr>
          <a:xfrm>
            <a:off x="548640" y="4572000"/>
            <a:ext cx="3657600" cy="365760"/>
          </a:xfrm>
          <a:prstGeom prst="rect">
            <a:avLst/>
          </a:prstGeom>
          <a:noFill/>
        </p:spPr>
        <p:txBody>
          <a:bodyPr wrap="square">
            <a:spAutoFit/>
          </a:bodyPr>
          <a:lstStyle/>
          <a:p>
            <a:r>
              <a:rPr sz="1200" b="1">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spAutoFit/>
          </a:bodyPr>
          <a:lstStyle/>
          <a:p>
            <a:pPr algn="r"/>
            <a:r>
              <a:rPr sz="1100" b="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Die Gefahr beim Skalieren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Effizienz ↔ Nähe (Waage)</a:t>
            </a:r>
          </a:p>
          <a:p>
            <a:pPr>
              <a:spcAft>
                <a:spcPts val="1000"/>
              </a:spcAft>
            </a:pPr>
            <a:r>
              <a:rPr sz="1600" b="1">
                <a:solidFill>
                  <a:srgbClr val="12828C"/>
                </a:solidFill>
                <a:latin typeface="Calibri"/>
              </a:rPr>
              <a:t>✓  </a:t>
            </a:r>
            <a:r>
              <a:rPr sz="1600" b="0">
                <a:solidFill>
                  <a:srgbClr val="2C3E50"/>
                </a:solidFill>
                <a:latin typeface="Calibri"/>
              </a:rPr>
              <a:t>Zu viel Automatik fühlt sich kühl an</a:t>
            </a:r>
          </a:p>
          <a:p>
            <a:pPr>
              <a:spcAft>
                <a:spcPts val="1000"/>
              </a:spcAft>
            </a:pPr>
            <a:r>
              <a:rPr sz="1600" b="1">
                <a:solidFill>
                  <a:srgbClr val="12828C"/>
                </a:solidFill>
                <a:latin typeface="Calibri"/>
              </a:rPr>
              <a:t>✓  </a:t>
            </a:r>
            <a:r>
              <a:rPr sz="1600" b="0">
                <a:solidFill>
                  <a:srgbClr val="2C3E50"/>
                </a:solidFill>
                <a:latin typeface="Calibri"/>
              </a:rPr>
              <a:t>Skalieren nie auf Kosten der Beziehung</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Der innere Kreis</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Die Beziehungen, die immer von DIR kommen</a:t>
            </a:r>
          </a:p>
          <a:p>
            <a:pPr>
              <a:spcAft>
                <a:spcPts val="1000"/>
              </a:spcAft>
            </a:pPr>
            <a:r>
              <a:rPr sz="1600" b="1">
                <a:solidFill>
                  <a:srgbClr val="12828C"/>
                </a:solidFill>
                <a:latin typeface="Calibri"/>
              </a:rPr>
              <a:t>✓  </a:t>
            </a:r>
            <a:r>
              <a:rPr sz="1600" b="0">
                <a:solidFill>
                  <a:srgbClr val="2C3E50"/>
                </a:solidFill>
                <a:latin typeface="Calibri"/>
              </a:rPr>
              <a:t>Egal wie gross dein Business wird</a:t>
            </a:r>
          </a:p>
          <a:p>
            <a:pPr>
              <a:spcAft>
                <a:spcPts val="1000"/>
              </a:spcAft>
            </a:pPr>
            <a:r>
              <a:rPr sz="1600" b="1">
                <a:solidFill>
                  <a:srgbClr val="12828C"/>
                </a:solidFill>
                <a:latin typeface="Calibri"/>
              </a:rPr>
              <a:t>✓  </a:t>
            </a:r>
            <a:r>
              <a:rPr sz="1600" b="0">
                <a:solidFill>
                  <a:srgbClr val="2C3E50"/>
                </a:solidFill>
                <a:latin typeface="Calibri"/>
              </a:rPr>
              <a:t>Alles andere darf über KI/System laufen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Bestandskundinnen = Gold</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Die, die schon ja gesagt haben</a:t>
            </a:r>
          </a:p>
          <a:p>
            <a:pPr>
              <a:spcAft>
                <a:spcPts val="1000"/>
              </a:spcAft>
            </a:pPr>
            <a:r>
              <a:rPr sz="1600" b="1">
                <a:solidFill>
                  <a:srgbClr val="12828C"/>
                </a:solidFill>
                <a:latin typeface="Calibri"/>
              </a:rPr>
              <a:t>✓  </a:t>
            </a:r>
            <a:r>
              <a:rPr sz="1600" b="0">
                <a:solidFill>
                  <a:srgbClr val="2C3E50"/>
                </a:solidFill>
                <a:latin typeface="Calibri"/>
              </a:rPr>
              <a:t>Halten ist günstiger als neu gewinnen</a:t>
            </a:r>
          </a:p>
          <a:p>
            <a:pPr>
              <a:spcAft>
                <a:spcPts val="1000"/>
              </a:spcAft>
            </a:pPr>
            <a:r>
              <a:rPr sz="1600" b="1">
                <a:solidFill>
                  <a:srgbClr val="12828C"/>
                </a:solidFill>
                <a:latin typeface="Calibri"/>
              </a:rPr>
              <a:t>✓  </a:t>
            </a:r>
            <a:r>
              <a:rPr sz="1600" b="0">
                <a:solidFill>
                  <a:srgbClr val="2C3E50"/>
                </a:solidFill>
                <a:latin typeface="Calibri"/>
              </a:rPr>
              <a:t>Diese Betreuung nie an die KI</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Sparring + Mentorin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Dein Frauen-Team / Austausch auf Augenhöhe</a:t>
            </a:r>
          </a:p>
          <a:p>
            <a:pPr>
              <a:spcAft>
                <a:spcPts val="1000"/>
              </a:spcAft>
            </a:pPr>
            <a:r>
              <a:rPr sz="1600" b="1">
                <a:solidFill>
                  <a:srgbClr val="12828C"/>
                </a:solidFill>
                <a:latin typeface="Calibri"/>
              </a:rPr>
              <a:t>✓  </a:t>
            </a:r>
            <a:r>
              <a:rPr sz="1600" b="0">
                <a:solidFill>
                  <a:srgbClr val="2C3E50"/>
                </a:solidFill>
                <a:latin typeface="Calibri"/>
              </a:rPr>
              <a:t>Die Person, von der du lernst</a:t>
            </a:r>
          </a:p>
          <a:p>
            <a:pPr>
              <a:spcAft>
                <a:spcPts val="1000"/>
              </a:spcAft>
            </a:pPr>
            <a:r>
              <a:rPr sz="1600" b="1">
                <a:solidFill>
                  <a:srgbClr val="12828C"/>
                </a:solidFill>
                <a:latin typeface="Calibri"/>
              </a:rPr>
              <a:t>✓  </a:t>
            </a:r>
            <a:r>
              <a:rPr sz="1600" b="0">
                <a:solidFill>
                  <a:srgbClr val="2C3E50"/>
                </a:solidFill>
                <a:latin typeface="Calibri"/>
              </a:rPr>
              <a:t>Tragen dich an schwierigen Tagen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Familie zuerst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Der innerste Kreis (aus Säule 1/2)</a:t>
            </a:r>
          </a:p>
          <a:p>
            <a:pPr>
              <a:spcAft>
                <a:spcPts val="1000"/>
              </a:spcAft>
            </a:pPr>
            <a:r>
              <a:rPr sz="1600" b="1">
                <a:solidFill>
                  <a:srgbClr val="12828C"/>
                </a:solidFill>
                <a:latin typeface="Calibri"/>
              </a:rPr>
              <a:t>✓  </a:t>
            </a:r>
            <a:r>
              <a:rPr sz="1600" b="0">
                <a:solidFill>
                  <a:srgbClr val="2C3E50"/>
                </a:solidFill>
                <a:latin typeface="Calibri"/>
              </a:rPr>
              <a:t>Kein System ist es wert, dass Familie hintenrunterfällt</a:t>
            </a:r>
          </a:p>
          <a:p>
            <a:pPr>
              <a:spcAft>
                <a:spcPts val="1000"/>
              </a:spcAft>
            </a:pPr>
            <a:r>
              <a:rPr sz="1600" b="1">
                <a:solidFill>
                  <a:srgbClr val="12828C"/>
                </a:solidFill>
                <a:latin typeface="Calibri"/>
              </a:rPr>
              <a:t>✓  </a:t>
            </a:r>
            <a:r>
              <a:rPr sz="1600" b="0">
                <a:solidFill>
                  <a:srgbClr val="2C3E50"/>
                </a:solidFill>
                <a:latin typeface="Calibri"/>
              </a:rPr>
              <a:t>Dafür skalierst du ja überhaupt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Wie du den Kreis schützt</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Feste Zeit reservieren (im Wochenrhythmus)</a:t>
            </a:r>
          </a:p>
          <a:p>
            <a:pPr>
              <a:spcAft>
                <a:spcPts val="1000"/>
              </a:spcAft>
            </a:pPr>
            <a:r>
              <a:rPr sz="1600" b="1">
                <a:solidFill>
                  <a:srgbClr val="12828C"/>
                </a:solidFill>
                <a:latin typeface="Calibri"/>
              </a:rPr>
              <a:t>✓  </a:t>
            </a:r>
            <a:r>
              <a:rPr sz="1600" b="0">
                <a:solidFill>
                  <a:srgbClr val="2C3E50"/>
                </a:solidFill>
                <a:latin typeface="Calibri"/>
              </a:rPr>
              <a:t>Was einen festen Platz hat, fällt nicht weg</a:t>
            </a:r>
          </a:p>
          <a:p>
            <a:pPr>
              <a:spcAft>
                <a:spcPts val="1000"/>
              </a:spcAft>
            </a:pPr>
            <a:r>
              <a:rPr sz="1600" b="1">
                <a:solidFill>
                  <a:srgbClr val="12828C"/>
                </a:solidFill>
                <a:latin typeface="Calibri"/>
              </a:rPr>
              <a:t>✓  </a:t>
            </a:r>
            <a:r>
              <a:rPr sz="1600" b="0">
                <a:solidFill>
                  <a:srgbClr val="2C3E50"/>
                </a:solidFill>
                <a:latin typeface="Calibri"/>
              </a:rPr>
              <a:t>Was „wenn Zeit bleibt" ist, verschwindet zuerst</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spAutoFit/>
          </a:bodyPr>
          <a:lstStyle/>
          <a:p>
            <a:r>
              <a:rPr sz="3000" b="1">
                <a:solidFill>
                  <a:srgbClr val="1A3A4A"/>
                </a:solidFill>
                <a:latin typeface="Georgia"/>
              </a:rPr>
              <a:t>Arbeitsblatt + nächste Lektion</a:t>
            </a:r>
          </a:p>
        </p:txBody>
      </p:sp>
      <p:sp>
        <p:nvSpPr>
          <p:cNvPr id="3" name="TextBox 2"/>
          <p:cNvSpPr txBox="1"/>
          <p:nvPr/>
        </p:nvSpPr>
        <p:spPr>
          <a:xfrm>
            <a:off x="548640" y="1417320"/>
            <a:ext cx="8046720" cy="3154680"/>
          </a:xfrm>
          <a:prstGeom prst="rect">
            <a:avLst/>
          </a:prstGeom>
          <a:noFill/>
        </p:spPr>
        <p:txBody>
          <a:bodyPr wrap="square">
            <a:spAutoFit/>
          </a:bodyPr>
          <a:lstStyle/>
          <a:p>
            <a:pPr>
              <a:spcAft>
                <a:spcPts val="1000"/>
              </a:spcAft>
            </a:pPr>
            <a:r>
              <a:rPr sz="1600" b="1">
                <a:solidFill>
                  <a:srgbClr val="12828C"/>
                </a:solidFill>
                <a:latin typeface="Calibri"/>
              </a:rPr>
              <a:t>✓  </a:t>
            </a:r>
            <a:r>
              <a:rPr sz="1600" b="0">
                <a:solidFill>
                  <a:srgbClr val="2C3E50"/>
                </a:solidFill>
                <a:latin typeface="Calibri"/>
              </a:rPr>
              <a:t>📋 Definier deinen inneren Kreis + schütz ihn</a:t>
            </a:r>
          </a:p>
          <a:p>
            <a:pPr>
              <a:spcAft>
                <a:spcPts val="1000"/>
              </a:spcAft>
            </a:pPr>
            <a:r>
              <a:rPr sz="1600" b="1">
                <a:solidFill>
                  <a:srgbClr val="12828C"/>
                </a:solidFill>
                <a:latin typeface="Calibri"/>
              </a:rPr>
              <a:t>✓  </a:t>
            </a:r>
            <a:r>
              <a:rPr sz="1600" b="0">
                <a:solidFill>
                  <a:srgbClr val="2C3E50"/>
                </a:solidFill>
                <a:latin typeface="Calibri"/>
              </a:rPr>
              <a:t>Nächste Lektion: 5.4 — dein 90-Tage-Plan</a:t>
            </a:r>
          </a:p>
        </p:txBody>
      </p:sp>
      <p:sp>
        <p:nvSpPr>
          <p:cNvPr id="4" name="TextBox 3"/>
          <p:cNvSpPr txBox="1"/>
          <p:nvPr/>
        </p:nvSpPr>
        <p:spPr>
          <a:xfrm>
            <a:off x="457200" y="4754880"/>
            <a:ext cx="5486400" cy="274320"/>
          </a:xfrm>
          <a:prstGeom prst="rect">
            <a:avLst/>
          </a:prstGeom>
          <a:noFill/>
        </p:spPr>
        <p:txBody>
          <a:bodyPr wrap="square">
            <a:spAutoFit/>
          </a:bodyPr>
          <a:lstStyle/>
          <a:p>
            <a:r>
              <a:rPr sz="900" b="0">
                <a:solidFill>
                  <a:srgbClr val="7A8A95"/>
                </a:solidFill>
                <a:latin typeface="Calibri"/>
              </a:rPr>
              <a:t>Mama-CEO · Säule 5 · Lektion 5.3</a:t>
            </a:r>
          </a:p>
        </p:txBody>
      </p:sp>
      <p:sp>
        <p:nvSpPr>
          <p:cNvPr id="5" name="TextBox 4"/>
          <p:cNvSpPr txBox="1"/>
          <p:nvPr/>
        </p:nvSpPr>
        <p:spPr>
          <a:xfrm>
            <a:off x="6400800" y="4754880"/>
            <a:ext cx="2286000" cy="274320"/>
          </a:xfrm>
          <a:prstGeom prst="rect">
            <a:avLst/>
          </a:prstGeom>
          <a:noFill/>
        </p:spPr>
        <p:txBody>
          <a:bodyPr wrap="square">
            <a:spAutoFit/>
          </a:bodyPr>
          <a:lstStyle/>
          <a:p>
            <a:pPr algn="r"/>
            <a:r>
              <a:rPr sz="900" b="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