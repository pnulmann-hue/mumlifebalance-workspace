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sie, die letzte Lektion des ganzen Programms. Wir machen jetzt aus all deiner Arbeit einen konkreten Plan für die nächsten neunzig Tage, damit du nicht mit einem schönen Gefühl, sondern mit klaren Schritten rausgehst.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Säule 3 hast du die Methode gelernt, wie man von oben nach unten plant. Jetzt machen wir's konkret für dich: einen klaren Plan für die nächsten drei Monate. Am Ende dieser Lektion weisst du an jedem einzelnen Tag, was zu tun ist, und musst nie wieder morgens überlegen, wo du anfängst.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Geheimnis ist Fokus: pro Monat gibt es EIN Zentrum. Ein Thema, über das du redest, ein 0-Euro-Angebot, mit dem du Leute reinholst, und ein Produkt, das du verkaufst. Genau das Monats-Trio aus Säule 3. Nicht zehn Themen gleichzeitig, eines pro Monat, das du richtig ausspielst.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meine eigenen nächsten drei Monate als Beispiel, damit du siehst, wie schlicht das aussieht. Eine Zeile pro Monat: Thema, 0-Euro-Angebot, Produkt. Mehr braucht das Grundgerüst nicht. Du füllst gleich deine eigenen drei Zeilen.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der wichtigste Denk-Dreh: du planst rückwärts. Du nimmst dein Monatsziel, zum Beispiel diesen Launch am Monatsende, und rechnest rückwärts, was vorher passieren muss. Welche Mails, welche Story-Tage, welcher Content, welches Freebie zuerst. So zerfällt ein grosses Ziel in lauter kleine, machbare Aufgaben.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Aufgaben schreibst du nicht auf einen Zettel, der verschwindet, sondern direkt in deine Notion-Aufgabenliste aus Säule 3. Und jetzt zahlt sich alles aus: dein Cockpit-Bot aus Säule 4 serviert dir jeden Morgen genau die Aufgaben, die heute dran sind. Du musst nie wieder den Plan suchen, er kommt zu 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bei jeder Aufgabe stellst du die Matrix-Frage aus dieser Säule: mach ich das selbst, oder kann es die KI vorbereiten, oder läuft es über ein System? So ist dein Plan nicht nur klar, sondern auch leicht, weil die Hälfte gar nicht mehr auf deinem Tisch landet.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mein Lieblingsteil, der fast nie gemacht wird: schreib auf, was du in diesen drei Monaten bewusst NICHT machst. Kein neues Tool, keine neue Plattform, kein fünftes Thema. Diese Nicht-Liste schützt deinen Fokus mehr als jede To-do-Liste, weil sie dich vor dir selbst bewahrt.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zum Schluss. Erstens: fertig ist besser als perfekt, dein Plan darf Version eins sein, du verbesserst im Tun. Und zweitens: du bist nicht allein. Die Community bleibt offen, und dein Cockpit-Bot begleitet dich jeden Morgen weiter. Das Programm endet, dein System läuft weiter.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 was du in acht Wochen gebaut hast: Zeit, ein neues Mindset, eine Struktur in Notion, zwei KI-Mitarbeiter, eine klare Matrix und jetzt einen konkreten Plan für drei Monate. Im Arbeitsblatt füllst du diesen Plan aus. Und dann sag ich dir von Herzen: du bist jetzt Mama-CEO, nicht weil alles perfekt ist, sondern weil du führst statt funktionierst. Wir sehen uns im Live-Call vier, bring deinen Plan 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90-Tage-Plan</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Was kommt als Nächstes, was machst du NICHT</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Von der Methode zum konkreten Plan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Säule 3 = Methode gelernt</a:t>
            </a:r>
          </a:p>
          <a:p>
            <a:pPr>
              <a:spcAft>
                <a:spcPts val="1000"/>
              </a:spcAft>
            </a:pPr>
            <a:r>
              <a:rPr sz="1600" b="1">
                <a:solidFill>
                  <a:srgbClr val="12828C"/>
                </a:solidFill>
                <a:latin typeface="Calibri"/>
              </a:rPr>
              <a:t>✓  </a:t>
            </a:r>
            <a:r>
              <a:rPr sz="1600" b="0">
                <a:solidFill>
                  <a:srgbClr val="2C3E50"/>
                </a:solidFill>
                <a:latin typeface="Calibri"/>
              </a:rPr>
              <a:t>Jetzt: DEINE nächsten 3 Monate</a:t>
            </a:r>
          </a:p>
          <a:p>
            <a:pPr>
              <a:spcAft>
                <a:spcPts val="1000"/>
              </a:spcAft>
            </a:pPr>
            <a:r>
              <a:rPr sz="1600" b="1">
                <a:solidFill>
                  <a:srgbClr val="12828C"/>
                </a:solidFill>
                <a:latin typeface="Calibri"/>
              </a:rPr>
              <a:t>✓  </a:t>
            </a:r>
            <a:r>
              <a:rPr sz="1600" b="0">
                <a:solidFill>
                  <a:srgbClr val="2C3E50"/>
                </a:solidFill>
                <a:latin typeface="Calibri"/>
              </a:rPr>
              <a:t>Am Ende weisst du jeden Tag, was zu tun ist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Pro Monat EIN Zentrum</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1 Thema · 1 0€-Angebot · 1 Produkt</a:t>
            </a:r>
          </a:p>
          <a:p>
            <a:pPr>
              <a:spcAft>
                <a:spcPts val="1000"/>
              </a:spcAft>
            </a:pPr>
            <a:r>
              <a:rPr sz="1600" b="1">
                <a:solidFill>
                  <a:srgbClr val="12828C"/>
                </a:solidFill>
                <a:latin typeface="Calibri"/>
              </a:rPr>
              <a:t>✓  </a:t>
            </a:r>
            <a:r>
              <a:rPr sz="1600" b="0">
                <a:solidFill>
                  <a:srgbClr val="2C3E50"/>
                </a:solidFill>
                <a:latin typeface="Calibri"/>
              </a:rPr>
              <a:t>Das Monats-Trio aus Säule 3</a:t>
            </a:r>
          </a:p>
          <a:p>
            <a:pPr>
              <a:spcAft>
                <a:spcPts val="1000"/>
              </a:spcAft>
            </a:pPr>
            <a:r>
              <a:rPr sz="1600" b="1">
                <a:solidFill>
                  <a:srgbClr val="12828C"/>
                </a:solidFill>
                <a:latin typeface="Calibri"/>
              </a:rPr>
              <a:t>✓  </a:t>
            </a:r>
            <a:r>
              <a:rPr sz="1600" b="0">
                <a:solidFill>
                  <a:srgbClr val="2C3E50"/>
                </a:solidFill>
                <a:latin typeface="Calibri"/>
              </a:rPr>
              <a:t>Eines pro Monat, richtig ausgespielt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Beispiel: 3 Monate auf einen Blick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Tabelle: Monat 1/2/3</a:t>
            </a:r>
          </a:p>
          <a:p>
            <a:pPr>
              <a:spcAft>
                <a:spcPts val="1000"/>
              </a:spcAft>
            </a:pPr>
            <a:r>
              <a:rPr sz="1600" b="1">
                <a:solidFill>
                  <a:srgbClr val="12828C"/>
                </a:solidFill>
                <a:latin typeface="Calibri"/>
              </a:rPr>
              <a:t>✓  </a:t>
            </a:r>
            <a:r>
              <a:rPr sz="1600" b="0">
                <a:solidFill>
                  <a:srgbClr val="2C3E50"/>
                </a:solidFill>
                <a:latin typeface="Calibri"/>
              </a:rPr>
              <a:t>je Zeile: Thema · 0€-Angebot · Produkt</a:t>
            </a:r>
          </a:p>
          <a:p>
            <a:pPr>
              <a:spcAft>
                <a:spcPts val="1000"/>
              </a:spcAft>
            </a:pPr>
            <a:r>
              <a:rPr sz="1600" b="1">
                <a:solidFill>
                  <a:srgbClr val="12828C"/>
                </a:solidFill>
                <a:latin typeface="Calibri"/>
              </a:rPr>
              <a:t>✓  </a:t>
            </a:r>
            <a:r>
              <a:rPr sz="1600" b="0">
                <a:solidFill>
                  <a:srgbClr val="2C3E50"/>
                </a:solidFill>
                <a:latin typeface="Calibri"/>
              </a:rPr>
              <a:t>Mein Beispiel — dann füllst du deins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Rückwärts rechnen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Vom Monatsziel → Wochen → Aufgaben</a:t>
            </a:r>
          </a:p>
          <a:p>
            <a:pPr>
              <a:spcAft>
                <a:spcPts val="1000"/>
              </a:spcAft>
            </a:pPr>
            <a:r>
              <a:rPr sz="1600" b="1">
                <a:solidFill>
                  <a:srgbClr val="12828C"/>
                </a:solidFill>
                <a:latin typeface="Calibri"/>
              </a:rPr>
              <a:t>✓  </a:t>
            </a:r>
            <a:r>
              <a:rPr sz="1600" b="0">
                <a:solidFill>
                  <a:srgbClr val="2C3E50"/>
                </a:solidFill>
                <a:latin typeface="Calibri"/>
              </a:rPr>
              <a:t>Launch rückwärts denken</a:t>
            </a:r>
          </a:p>
          <a:p>
            <a:pPr>
              <a:spcAft>
                <a:spcPts val="1000"/>
              </a:spcAft>
            </a:pPr>
            <a:r>
              <a:rPr sz="1600" b="1">
                <a:solidFill>
                  <a:srgbClr val="12828C"/>
                </a:solidFill>
                <a:latin typeface="Calibri"/>
              </a:rPr>
              <a:t>✓  </a:t>
            </a:r>
            <a:r>
              <a:rPr sz="1600" b="0">
                <a:solidFill>
                  <a:srgbClr val="2C3E50"/>
                </a:solidFill>
                <a:latin typeface="Calibri"/>
              </a:rPr>
              <a:t>Grosses Ziel → viele kleine Aufgaben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Ab in die Aufgabenliste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Aufgaben → Notion (aus Säule 3)</a:t>
            </a:r>
          </a:p>
          <a:p>
            <a:pPr>
              <a:spcAft>
                <a:spcPts val="1000"/>
              </a:spcAft>
            </a:pPr>
            <a:r>
              <a:rPr sz="1600" b="1">
                <a:solidFill>
                  <a:srgbClr val="12828C"/>
                </a:solidFill>
                <a:latin typeface="Calibri"/>
              </a:rPr>
              <a:t>✓  </a:t>
            </a:r>
            <a:r>
              <a:rPr sz="1600" b="0">
                <a:solidFill>
                  <a:srgbClr val="2C3E50"/>
                </a:solidFill>
                <a:latin typeface="Calibri"/>
              </a:rPr>
              <a:t>Cockpit-Bot serviert sie dir täglich</a:t>
            </a:r>
          </a:p>
          <a:p>
            <a:pPr>
              <a:spcAft>
                <a:spcPts val="1000"/>
              </a:spcAft>
            </a:pPr>
            <a:r>
              <a:rPr sz="1600" b="1">
                <a:solidFill>
                  <a:srgbClr val="12828C"/>
                </a:solidFill>
                <a:latin typeface="Calibri"/>
              </a:rPr>
              <a:t>✓  </a:t>
            </a:r>
            <a:r>
              <a:rPr sz="1600" b="0">
                <a:solidFill>
                  <a:srgbClr val="2C3E50"/>
                </a:solidFill>
                <a:latin typeface="Calibri"/>
              </a:rPr>
              <a:t>Du musst den Plan nie mehr suchen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Wer macht was? Die Matrix entscheidet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Jede Aufgabe: 🙋 ich / 🤖 KI / ⚙️ System</a:t>
            </a:r>
          </a:p>
          <a:p>
            <a:pPr>
              <a:spcAft>
                <a:spcPts val="1000"/>
              </a:spcAft>
            </a:pPr>
            <a:r>
              <a:rPr sz="1600" b="1">
                <a:solidFill>
                  <a:srgbClr val="12828C"/>
                </a:solidFill>
                <a:latin typeface="Calibri"/>
              </a:rPr>
              <a:t>✓  </a:t>
            </a:r>
            <a:r>
              <a:rPr sz="1600" b="0">
                <a:solidFill>
                  <a:srgbClr val="2C3E50"/>
                </a:solidFill>
                <a:latin typeface="Calibri"/>
              </a:rPr>
              <a:t>Die Hälfte landet gar nicht auf deinem Tisch</a:t>
            </a:r>
          </a:p>
          <a:p>
            <a:pPr>
              <a:spcAft>
                <a:spcPts val="1000"/>
              </a:spcAft>
            </a:pPr>
            <a:r>
              <a:rPr sz="1600" b="1">
                <a:solidFill>
                  <a:srgbClr val="12828C"/>
                </a:solidFill>
                <a:latin typeface="Calibri"/>
              </a:rPr>
              <a:t>✓  </a:t>
            </a:r>
            <a:r>
              <a:rPr sz="1600" b="0">
                <a:solidFill>
                  <a:srgbClr val="2C3E50"/>
                </a:solidFill>
                <a:latin typeface="Calibri"/>
              </a:rPr>
              <a:t>Plan = klar UND leicht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Nicht-Liste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du bewusst NICHT machst</a:t>
            </a:r>
          </a:p>
          <a:p>
            <a:pPr>
              <a:spcAft>
                <a:spcPts val="1000"/>
              </a:spcAft>
            </a:pPr>
            <a:r>
              <a:rPr sz="1600" b="1">
                <a:solidFill>
                  <a:srgbClr val="12828C"/>
                </a:solidFill>
                <a:latin typeface="Calibri"/>
              </a:rPr>
              <a:t>✓  </a:t>
            </a:r>
            <a:r>
              <a:rPr sz="1600" b="0">
                <a:solidFill>
                  <a:srgbClr val="2C3E50"/>
                </a:solidFill>
                <a:latin typeface="Calibri"/>
              </a:rPr>
              <a:t>Kein neues Tool, keine neue Plattform, kein 5. Thema</a:t>
            </a:r>
          </a:p>
          <a:p>
            <a:pPr>
              <a:spcAft>
                <a:spcPts val="1000"/>
              </a:spcAft>
            </a:pPr>
            <a:r>
              <a:rPr sz="1600" b="1">
                <a:solidFill>
                  <a:srgbClr val="12828C"/>
                </a:solidFill>
                <a:latin typeface="Calibri"/>
              </a:rPr>
              <a:t>✓  </a:t>
            </a:r>
            <a:r>
              <a:rPr sz="1600" b="0">
                <a:solidFill>
                  <a:srgbClr val="2C3E50"/>
                </a:solidFill>
                <a:latin typeface="Calibri"/>
              </a:rPr>
              <a:t>Schützt deinen Fokus mehr als jede To-do-Liste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Fertig besser als perfekt + wie's weitergeht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Dein Plan darf Version 1 sein</a:t>
            </a:r>
          </a:p>
          <a:p>
            <a:pPr>
              <a:spcAft>
                <a:spcPts val="1000"/>
              </a:spcAft>
            </a:pPr>
            <a:r>
              <a:rPr sz="1600" b="1">
                <a:solidFill>
                  <a:srgbClr val="12828C"/>
                </a:solidFill>
                <a:latin typeface="Calibri"/>
              </a:rPr>
              <a:t>✓  </a:t>
            </a:r>
            <a:r>
              <a:rPr sz="1600" b="0">
                <a:solidFill>
                  <a:srgbClr val="2C3E50"/>
                </a:solidFill>
                <a:latin typeface="Calibri"/>
              </a:rPr>
              <a:t>Die Community bleibt offen</a:t>
            </a:r>
          </a:p>
          <a:p>
            <a:pPr>
              <a:spcAft>
                <a:spcPts val="1000"/>
              </a:spcAft>
            </a:pPr>
            <a:r>
              <a:rPr sz="1600" b="1">
                <a:solidFill>
                  <a:srgbClr val="12828C"/>
                </a:solidFill>
                <a:latin typeface="Calibri"/>
              </a:rPr>
              <a:t>✓  </a:t>
            </a:r>
            <a:r>
              <a:rPr sz="1600" b="0">
                <a:solidFill>
                  <a:srgbClr val="2C3E50"/>
                </a:solidFill>
                <a:latin typeface="Calibri"/>
              </a:rPr>
              <a:t>Cockpit-Bot begleitet dich jeden Morgen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Abschluss — du bist Mama-CEO</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Zeit · Mindset · Struktur · KI · Matrix · Plan</a:t>
            </a:r>
          </a:p>
          <a:p>
            <a:pPr>
              <a:spcAft>
                <a:spcPts val="1000"/>
              </a:spcAft>
            </a:pPr>
            <a:r>
              <a:rPr sz="1600" b="1">
                <a:solidFill>
                  <a:srgbClr val="12828C"/>
                </a:solidFill>
                <a:latin typeface="Calibri"/>
              </a:rPr>
              <a:t>✓  </a:t>
            </a:r>
            <a:r>
              <a:rPr sz="1600" b="0">
                <a:solidFill>
                  <a:srgbClr val="2C3E50"/>
                </a:solidFill>
                <a:latin typeface="Calibri"/>
              </a:rPr>
              <a:t>📋 Plan im Arbeitsblatt ausfüllen</a:t>
            </a:r>
          </a:p>
          <a:p>
            <a:pPr>
              <a:spcAft>
                <a:spcPts val="1000"/>
              </a:spcAft>
            </a:pPr>
            <a:r>
              <a:rPr sz="1600" b="1">
                <a:solidFill>
                  <a:srgbClr val="12828C"/>
                </a:solidFill>
                <a:latin typeface="Calibri"/>
              </a:rPr>
              <a:t>✓  </a:t>
            </a:r>
            <a:r>
              <a:rPr sz="1600" b="0">
                <a:solidFill>
                  <a:srgbClr val="2C3E50"/>
                </a:solidFill>
                <a:latin typeface="Calibri"/>
              </a:rPr>
              <a:t>Du führst statt zu funktionieren 💛</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