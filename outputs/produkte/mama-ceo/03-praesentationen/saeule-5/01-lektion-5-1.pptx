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Willkommen in der letzten Säule. Wir ziehen jetzt alles zusammen, was du in den letzten Wochen gebaut hast, und geben deinem ganzen Business eine Ordnung. Das Werkzeug dafür heisst Mama-CEO-Matrix, und es ist dein Kompass fürs Skalieren.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Schau kurz, was du schon hast: deinen Rhythmus, dein Mindset, dein Notion-Brain und zwei KI-Mitarbeiter. Das ist enorm viel. Jetzt fehlt nur noch eins, nämlich für jede einzelne Aufgabe zu wissen, wo sie hingehört. Genau das macht die Matrix.</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Säule 4 hatten wir zwei Seiten: was macht die KI, was machst du. Das war der Anfang. Jetzt kommen zwei Felder dazu, die das Bild komplett machen: Sachen, die ganz ohne dich als System laufen, und Sachen, die einfach weg dürfen. Aus der Linie wird ein Vierer-Raster.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ist die Matrix: vier Felder. Ich, also nur du. KI, deine Bots bereiten vor. System, läuft mechanisch ohne dich. Und raus, das darf einfach aufhören. Jede Aufgabe deines Business landet in genau einem dieser Felder, und das gibt dir eine Klarheit, die du vorher nie hattest.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Fangen wir beim wichtigsten Feld an: ich. Da gehören deine fünf CEO-Aufgaben rein, die du aus Säule 1 kennst, plus die echten Beziehungen, die Gespräche mit deinen Kundinnen. Das ist der Kern, warum dich Menschen buchen, und der bleibt immer deins.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Jetzt der feine, aber wichtige Unterschied. Die KI denkt mit: du gibst einen Auftrag, sie liefert was zurück, zum Beispiel dein Morgenbriefing oder ein erster Entwurf. Ein System läuft mechanisch, ohne Denken: eine Vorlage, eine Automatisierung, ein festes Ämtli in der Familie. Faustregel: musst du jedes Mal urteilen, ist es KI. Läuft es immer gleich, ist es System.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 dann das Feld, das die meisten überspringen, weil es wehtut: raus. Das sind die Sachen, die eigentlich niemand braucht und die du nur aus Gewohnheit machst. Erinnerst du dich an den 4-Filter aus Säule 2, das X? Genau die kommen hierher. Etwas wegzulassen ist die ehrlichste Form von Skalieren.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Arbeitsblatt schreibst du zu jedem Feld schon mal ein Beispiel aus deinem Alltag. In der nächsten Lektion, der MASTERY, machen wir's dann richtig: du nimmst fünfundzwanzig echte Aufgaben und sortierst jede in ihr Feld. Bis gleich.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6858000" y="3840480"/>
            <a:ext cx="3200400" cy="3200400"/>
          </a:xfrm>
          <a:prstGeom prst="ellipse">
            <a:avLst/>
          </a:prstGeom>
          <a:solidFill>
            <a:srgbClr val="DC8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8046720" cy="365760"/>
          </a:xfrm>
          <a:prstGeom prst="rect">
            <a:avLst/>
          </a:prstGeom>
          <a:noFill/>
        </p:spPr>
        <p:txBody>
          <a:bodyPr wrap="square">
            <a:spAutoFit/>
          </a:bodyPr>
          <a:lstStyle/>
          <a:p>
            <a:r>
              <a:rPr sz="1100" b="1">
                <a:solidFill>
                  <a:srgbClr val="DC822E"/>
                </a:solidFill>
                <a:latin typeface="Calibri"/>
              </a:rPr>
              <a:t>SÄULE 5 — BUSINESS SKALIEREN</a:t>
            </a:r>
          </a:p>
        </p:txBody>
      </p:sp>
      <p:sp>
        <p:nvSpPr>
          <p:cNvPr id="4" name="Rectangle 3"/>
          <p:cNvSpPr/>
          <p:nvPr/>
        </p:nvSpPr>
        <p:spPr>
          <a:xfrm>
            <a:off x="548640" y="960120"/>
            <a:ext cx="548640" cy="45720"/>
          </a:xfrm>
          <a:prstGeom prst="rect">
            <a:avLst/>
          </a:prstGeom>
          <a:solidFill>
            <a:srgbClr val="DC8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34440"/>
            <a:ext cx="7863840" cy="1554480"/>
          </a:xfrm>
          <a:prstGeom prst="rect">
            <a:avLst/>
          </a:prstGeom>
          <a:noFill/>
        </p:spPr>
        <p:txBody>
          <a:bodyPr wrap="square">
            <a:spAutoFit/>
          </a:bodyPr>
          <a:lstStyle/>
          <a:p>
            <a:r>
              <a:rPr sz="4400" b="1">
                <a:solidFill>
                  <a:srgbClr val="1A3A4A"/>
                </a:solidFill>
                <a:latin typeface="Georgia"/>
              </a:rPr>
              <a:t>Die Mama-CEO-Matrix</a:t>
            </a:r>
          </a:p>
        </p:txBody>
      </p:sp>
      <p:sp>
        <p:nvSpPr>
          <p:cNvPr id="6" name="TextBox 5"/>
          <p:cNvSpPr txBox="1"/>
          <p:nvPr/>
        </p:nvSpPr>
        <p:spPr>
          <a:xfrm>
            <a:off x="548640" y="2880360"/>
            <a:ext cx="7680960" cy="1280160"/>
          </a:xfrm>
          <a:prstGeom prst="rect">
            <a:avLst/>
          </a:prstGeom>
          <a:noFill/>
        </p:spPr>
        <p:txBody>
          <a:bodyPr wrap="square">
            <a:spAutoFit/>
          </a:bodyPr>
          <a:lstStyle/>
          <a:p>
            <a:r>
              <a:rPr sz="1800" b="0">
                <a:solidFill>
                  <a:srgbClr val="2C3E50"/>
                </a:solidFill>
                <a:latin typeface="Georgia"/>
              </a:rPr>
              <a:t>Was bleibt deins, was gibst du ab</a:t>
            </a:r>
          </a:p>
        </p:txBody>
      </p:sp>
      <p:sp>
        <p:nvSpPr>
          <p:cNvPr id="7" name="TextBox 6"/>
          <p:cNvSpPr txBox="1"/>
          <p:nvPr/>
        </p:nvSpPr>
        <p:spPr>
          <a:xfrm>
            <a:off x="548640" y="4572000"/>
            <a:ext cx="3657600" cy="365760"/>
          </a:xfrm>
          <a:prstGeom prst="rect">
            <a:avLst/>
          </a:prstGeom>
          <a:noFill/>
        </p:spPr>
        <p:txBody>
          <a:bodyPr wrap="square">
            <a:spAutoFit/>
          </a:bodyPr>
          <a:lstStyle/>
          <a:p>
            <a:r>
              <a:rPr sz="1200" b="1">
                <a:solidFill>
                  <a:srgbClr val="12828C"/>
                </a:solidFill>
                <a:latin typeface="Calibri"/>
              </a:rPr>
              <a:t>Patricia Ulmann</a:t>
            </a:r>
          </a:p>
        </p:txBody>
      </p:sp>
      <p:sp>
        <p:nvSpPr>
          <p:cNvPr id="8" name="TextBox 7"/>
          <p:cNvSpPr txBox="1"/>
          <p:nvPr/>
        </p:nvSpPr>
        <p:spPr>
          <a:xfrm>
            <a:off x="4937760" y="4572000"/>
            <a:ext cx="3657600" cy="365760"/>
          </a:xfrm>
          <a:prstGeom prst="rect">
            <a:avLst/>
          </a:prstGeom>
          <a:noFill/>
        </p:spPr>
        <p:txBody>
          <a:bodyPr wrap="square">
            <a:spAutoFit/>
          </a:bodyPr>
          <a:lstStyle/>
          <a:p>
            <a:pPr algn="r"/>
            <a:r>
              <a:rPr sz="1100" b="0">
                <a:solidFill>
                  <a:srgbClr val="7A8A95"/>
                </a:solidFill>
                <a:latin typeface="Calibri"/>
              </a:rPr>
              <a:t>mumlifebalance.ch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Wo du stehst</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 Rhythmus (Säule 1)</a:t>
            </a:r>
          </a:p>
          <a:p>
            <a:pPr>
              <a:spcAft>
                <a:spcPts val="1000"/>
              </a:spcAft>
            </a:pPr>
            <a:r>
              <a:rPr sz="1600" b="1">
                <a:solidFill>
                  <a:srgbClr val="12828C"/>
                </a:solidFill>
                <a:latin typeface="Calibri"/>
              </a:rPr>
              <a:t>▸  </a:t>
            </a:r>
            <a:r>
              <a:rPr sz="1600" b="0">
                <a:solidFill>
                  <a:srgbClr val="2C3E50"/>
                </a:solidFill>
                <a:latin typeface="Calibri"/>
              </a:rPr>
              <a:t>✓ Mindset (Säule 2)</a:t>
            </a:r>
          </a:p>
          <a:p>
            <a:pPr>
              <a:spcAft>
                <a:spcPts val="1000"/>
              </a:spcAft>
            </a:pPr>
            <a:r>
              <a:rPr sz="1600" b="1">
                <a:solidFill>
                  <a:srgbClr val="12828C"/>
                </a:solidFill>
                <a:latin typeface="Calibri"/>
              </a:rPr>
              <a:t>▸  </a:t>
            </a:r>
            <a:r>
              <a:rPr sz="1600" b="0">
                <a:solidFill>
                  <a:srgbClr val="2C3E50"/>
                </a:solidFill>
                <a:latin typeface="Calibri"/>
              </a:rPr>
              <a:t>✓ Notion-Brain (Säule 3)</a:t>
            </a:r>
          </a:p>
          <a:p>
            <a:pPr>
              <a:spcAft>
                <a:spcPts val="1000"/>
              </a:spcAft>
            </a:pPr>
            <a:r>
              <a:rPr sz="1600" b="1">
                <a:solidFill>
                  <a:srgbClr val="12828C"/>
                </a:solidFill>
                <a:latin typeface="Calibri"/>
              </a:rPr>
              <a:t>▸  </a:t>
            </a:r>
            <a:r>
              <a:rPr sz="1600" b="0">
                <a:solidFill>
                  <a:srgbClr val="2C3E50"/>
                </a:solidFill>
                <a:latin typeface="Calibri"/>
              </a:rPr>
              <a:t>✓ 2 KI-Mitarbeiter (Säule 4)</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5 · Lektion 5.1</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Von der Linie zur Matrix</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Säule 4: ich / KI (zwei Seiten)</a:t>
            </a:r>
          </a:p>
          <a:p>
            <a:pPr>
              <a:spcAft>
                <a:spcPts val="1000"/>
              </a:spcAft>
            </a:pPr>
            <a:r>
              <a:rPr sz="1600" b="1">
                <a:solidFill>
                  <a:srgbClr val="12828C"/>
                </a:solidFill>
                <a:latin typeface="Calibri"/>
              </a:rPr>
              <a:t>▸  </a:t>
            </a:r>
            <a:r>
              <a:rPr sz="1600" b="0">
                <a:solidFill>
                  <a:srgbClr val="2C3E50"/>
                </a:solidFill>
                <a:latin typeface="Calibri"/>
              </a:rPr>
              <a:t>+ ⚙️ System (läuft ohne dich)</a:t>
            </a:r>
          </a:p>
          <a:p>
            <a:pPr>
              <a:spcAft>
                <a:spcPts val="1000"/>
              </a:spcAft>
            </a:pPr>
            <a:r>
              <a:rPr sz="1600" b="1">
                <a:solidFill>
                  <a:srgbClr val="12828C"/>
                </a:solidFill>
                <a:latin typeface="Calibri"/>
              </a:rPr>
              <a:t>▸  </a:t>
            </a:r>
            <a:r>
              <a:rPr sz="1600" b="0">
                <a:solidFill>
                  <a:srgbClr val="2C3E50"/>
                </a:solidFill>
                <a:latin typeface="Calibri"/>
              </a:rPr>
              <a:t>+ 🗑 raus (darf aufhören)</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5 · Lektion 5.1</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Die 4 Felder</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 ich — nur du</a:t>
            </a:r>
          </a:p>
          <a:p>
            <a:pPr>
              <a:spcAft>
                <a:spcPts val="1000"/>
              </a:spcAft>
            </a:pPr>
            <a:r>
              <a:rPr sz="1600" b="1">
                <a:solidFill>
                  <a:srgbClr val="12828C"/>
                </a:solidFill>
                <a:latin typeface="Calibri"/>
              </a:rPr>
              <a:t>▸  </a:t>
            </a:r>
            <a:r>
              <a:rPr sz="1600" b="0">
                <a:solidFill>
                  <a:srgbClr val="2C3E50"/>
                </a:solidFill>
                <a:latin typeface="Calibri"/>
              </a:rPr>
              <a:t>🤖 KI — Bots bereiten vor</a:t>
            </a:r>
          </a:p>
          <a:p>
            <a:pPr>
              <a:spcAft>
                <a:spcPts val="1000"/>
              </a:spcAft>
            </a:pPr>
            <a:r>
              <a:rPr sz="1600" b="1">
                <a:solidFill>
                  <a:srgbClr val="12828C"/>
                </a:solidFill>
                <a:latin typeface="Calibri"/>
              </a:rPr>
              <a:t>▸  </a:t>
            </a:r>
            <a:r>
              <a:rPr sz="1600" b="0">
                <a:solidFill>
                  <a:srgbClr val="2C3E50"/>
                </a:solidFill>
                <a:latin typeface="Calibri"/>
              </a:rPr>
              <a:t>⚙️ System — läuft mechanisch ohne dich</a:t>
            </a:r>
          </a:p>
          <a:p>
            <a:pPr>
              <a:spcAft>
                <a:spcPts val="1000"/>
              </a:spcAft>
            </a:pPr>
            <a:r>
              <a:rPr sz="1600" b="1">
                <a:solidFill>
                  <a:srgbClr val="12828C"/>
                </a:solidFill>
                <a:latin typeface="Calibri"/>
              </a:rPr>
              <a:t>▸  </a:t>
            </a:r>
            <a:r>
              <a:rPr sz="1600" b="0">
                <a:solidFill>
                  <a:srgbClr val="2C3E50"/>
                </a:solidFill>
                <a:latin typeface="Calibri"/>
              </a:rPr>
              <a:t>🗑 raus — darf aufhören</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5 · Lektion 5.1</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 ICH = nur du</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Die 5 CEO-Aufgaben (aus Säule 1)</a:t>
            </a:r>
          </a:p>
          <a:p>
            <a:pPr>
              <a:spcAft>
                <a:spcPts val="1000"/>
              </a:spcAft>
            </a:pPr>
            <a:r>
              <a:rPr sz="1600" b="1">
                <a:solidFill>
                  <a:srgbClr val="12828C"/>
                </a:solidFill>
                <a:latin typeface="Calibri"/>
              </a:rPr>
              <a:t>▸  </a:t>
            </a:r>
            <a:r>
              <a:rPr sz="1600" b="0">
                <a:solidFill>
                  <a:srgbClr val="2C3E50"/>
                </a:solidFill>
                <a:latin typeface="Calibri"/>
              </a:rPr>
              <a:t>1:1 mit deinen Kundinnen</a:t>
            </a:r>
          </a:p>
          <a:p>
            <a:pPr>
              <a:spcAft>
                <a:spcPts val="1000"/>
              </a:spcAft>
            </a:pPr>
            <a:r>
              <a:rPr sz="1600" b="1">
                <a:solidFill>
                  <a:srgbClr val="12828C"/>
                </a:solidFill>
                <a:latin typeface="Calibri"/>
              </a:rPr>
              <a:t>▸  </a:t>
            </a:r>
            <a:r>
              <a:rPr sz="1600" b="0">
                <a:solidFill>
                  <a:srgbClr val="2C3E50"/>
                </a:solidFill>
                <a:latin typeface="Calibri"/>
              </a:rPr>
              <a:t>Deine Story, deine Stimme</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5 · Lektion 5.1</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 KI vs. ⚙️ System</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KI denkt mit: Auftrag → Output</a:t>
            </a:r>
          </a:p>
          <a:p>
            <a:pPr>
              <a:spcAft>
                <a:spcPts val="1000"/>
              </a:spcAft>
            </a:pPr>
            <a:r>
              <a:rPr sz="1600" b="1">
                <a:solidFill>
                  <a:srgbClr val="12828C"/>
                </a:solidFill>
                <a:latin typeface="Calibri"/>
              </a:rPr>
              <a:t>▸  </a:t>
            </a:r>
            <a:r>
              <a:rPr sz="1600" b="0">
                <a:solidFill>
                  <a:srgbClr val="2C3E50"/>
                </a:solidFill>
                <a:latin typeface="Calibri"/>
              </a:rPr>
              <a:t>System läuft mechanisch: Vorlage, Automatik, Ämtli</a:t>
            </a:r>
          </a:p>
          <a:p>
            <a:pPr>
              <a:spcAft>
                <a:spcPts val="1000"/>
              </a:spcAft>
            </a:pPr>
            <a:r>
              <a:rPr sz="1600" b="1">
                <a:solidFill>
                  <a:srgbClr val="12828C"/>
                </a:solidFill>
                <a:latin typeface="Calibri"/>
              </a:rPr>
              <a:t>▸  </a:t>
            </a:r>
            <a:r>
              <a:rPr sz="1600" b="0">
                <a:solidFill>
                  <a:srgbClr val="2C3E50"/>
                </a:solidFill>
                <a:latin typeface="Calibri"/>
              </a:rPr>
              <a:t>Faustregel: jedes Mal urteilen = KI · immer gleich = System</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5 · Lektion 5.1</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 RAUS — das mutigste Feld</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Was eigentlich niemand braucht</a:t>
            </a:r>
          </a:p>
          <a:p>
            <a:pPr>
              <a:spcAft>
                <a:spcPts val="1000"/>
              </a:spcAft>
            </a:pPr>
            <a:r>
              <a:rPr sz="1600" b="1">
                <a:solidFill>
                  <a:srgbClr val="12828C"/>
                </a:solidFill>
                <a:latin typeface="Calibri"/>
              </a:rPr>
              <a:t>▸  </a:t>
            </a:r>
            <a:r>
              <a:rPr sz="1600" b="0">
                <a:solidFill>
                  <a:srgbClr val="2C3E50"/>
                </a:solidFill>
                <a:latin typeface="Calibri"/>
              </a:rPr>
              <a:t>Aus dem 4-Filter „X" (Säule 2)</a:t>
            </a:r>
          </a:p>
          <a:p>
            <a:pPr>
              <a:spcAft>
                <a:spcPts val="1000"/>
              </a:spcAft>
            </a:pPr>
            <a:r>
              <a:rPr sz="1600" b="1">
                <a:solidFill>
                  <a:srgbClr val="12828C"/>
                </a:solidFill>
                <a:latin typeface="Calibri"/>
              </a:rPr>
              <a:t>▸  </a:t>
            </a:r>
            <a:r>
              <a:rPr sz="1600" b="0">
                <a:solidFill>
                  <a:srgbClr val="2C3E50"/>
                </a:solidFill>
                <a:latin typeface="Calibri"/>
              </a:rPr>
              <a:t>Weglassen ist die ehrlichste Form von Skalieren</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5 · Lektion 5.1</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Arbeitsblatt + nächste Lektion</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 Zu jedem Feld 1 Beispiel notieren</a:t>
            </a:r>
          </a:p>
          <a:p>
            <a:pPr>
              <a:spcAft>
                <a:spcPts val="1000"/>
              </a:spcAft>
            </a:pPr>
            <a:r>
              <a:rPr sz="1600" b="1">
                <a:solidFill>
                  <a:srgbClr val="12828C"/>
                </a:solidFill>
                <a:latin typeface="Calibri"/>
              </a:rPr>
              <a:t>▸  </a:t>
            </a:r>
            <a:r>
              <a:rPr sz="1600" b="0">
                <a:solidFill>
                  <a:srgbClr val="2C3E50"/>
                </a:solidFill>
                <a:latin typeface="Calibri"/>
              </a:rPr>
              <a:t>Nächste Lektion: 5.2 MASTERY — 25 Tasks sortieren</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5 · Lektion 5.1</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