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Lektion, auf die alles hinausläuft. Wir füllen jetzt deine Matrix mit echten Aufgaben, und ich verspreche dir, am Ende schaust du anders auf dein Business. Nimm dir Zeit und ein ungestörtes halbes Stündchen.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Warum fünfundzwanzig? Weil fünf zu wenig sind, um ein Muster zu sehen, und alles auf einmal überfordert. Fünfundzwanzig ist genau die Menge, bei der sichtbar wird, wie dein Business wirklich verteilt ist. Du wirst überrascht sein.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Schritt eins: sammle fünfundzwanzig echte Aufgaben. Nimm dein Hütchen-Inventar aus Säule 2 und ergänze deinen Business-Alltag, also Content, DMs, Buchhaltung, Planung, was auch immer dich beschäftigt. Schreib einfach runter, was du in einer typischen Woche so tust.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Schritt zwei: jede Aufgabe kommt in genau ein Feld. Nicht zwei, nicht kommt drauf an, entscheide dich. Und keine Sorge, du darfst später korrigieren. Es geht erstmal ums erste, ehrliche Bauchgefühl.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du nicht raten musst, gebe ich dir pro Feld eine Hilfsfrage. Für ich frag dich: würde es meiner Marke oder einer Beziehung schaden, wenn das jemand anders macht? Wenn ja, gehört es zu dir. Wenn nein, darf es weg von deinem Tisch.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KI frag dich: ist das vorbereitend oder wiederholbar, braucht aber trotzdem ein bisschen Urteil? Recherche, ein erster Entwurf, ein Plan. Wenn ja, ab zur KI. Deine Bots aus Säule 4 sind genau dafür 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System frag dich: kann das immer gleich ablaufen, ohne dass jemand denken muss, oder kann es jemand anders fix übernehmen? Eine Vorlage, eine Automatik, ein Ämtli für die Kinder. Wenn ja, mach ein System draus, dann musst du es nie wieder anfassen.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für raus die ehrlichste Frage: braucht das wirklich jemand, und was passiert, wenn ich es einfach lasse? Oft ist die Antwort: nichts passiert. Genau das darf weg, und das ist kein Versagen, das ist Führung.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zeig dir jetzt meine eigene Matrix, damit du ein Gefühl kriegst, wie das aussieht. Du siehst, bei mir ist das Feld ich erstaunlich klein, und ganz viel läuft über KI und Systeme. Genau dahin willst du auch.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das ist der grosse Aha-Moment dieser Lektion: das Feld ich ist viel kleiner, als du denkst. Die meiste Arbeit, die dich auffrisst, gehört eigentlich gar nicht zu dir. Das ist die Erlaubnis loszulassen, schwarz auf weiss.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das nicht nur ein schönes Bild bleibt: such dir aus deinem KI- und System-Feld die zwei, drei Sachen raus, die dich am meisten nerven, und richte sie als Erstes ein. Ein Bot mehr, eine Automatik, ein Ämtli abgegeben. Schritt für Schritt wird dein Tisch leerer.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füllst du jetzt deine eigene 25-Task-Matrix, am besten direkt in deinem Notion-Template. In der nächsten Lektion schauen wir genauer auf das Feld ich: welche Beziehungen du beim Skalieren auf keinen Fall verlierst.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5 — BUSINESS SKALIEREN</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MASTERY · 25 Tasks sortieren</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Die Matrix füllen — ich / KI / System / raus</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Warum genau 25</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5 ist zu wenig, um ein Muster zu sehen</a:t>
            </a:r>
          </a:p>
          <a:p>
            <a:pPr>
              <a:spcAft>
                <a:spcPts val="1000"/>
              </a:spcAft>
            </a:pPr>
            <a:r>
              <a:rPr sz="1600" b="1">
                <a:solidFill>
                  <a:srgbClr val="12828C"/>
                </a:solidFill>
                <a:latin typeface="Calibri"/>
              </a:rPr>
              <a:t>✓  </a:t>
            </a:r>
            <a:r>
              <a:rPr sz="1600" b="0">
                <a:solidFill>
                  <a:srgbClr val="2C3E50"/>
                </a:solidFill>
                <a:latin typeface="Calibri"/>
              </a:rPr>
              <a:t>Alles auf einmal überfordert</a:t>
            </a:r>
          </a:p>
          <a:p>
            <a:pPr>
              <a:spcAft>
                <a:spcPts val="1000"/>
              </a:spcAft>
            </a:pPr>
            <a:r>
              <a:rPr sz="1600" b="1">
                <a:solidFill>
                  <a:srgbClr val="12828C"/>
                </a:solidFill>
                <a:latin typeface="Calibri"/>
              </a:rPr>
              <a:t>✓  </a:t>
            </a:r>
            <a:r>
              <a:rPr sz="1600" b="0">
                <a:solidFill>
                  <a:srgbClr val="2C3E50"/>
                </a:solidFill>
                <a:latin typeface="Calibri"/>
              </a:rPr>
              <a:t>25 macht alles sichtbar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Schritt 1: 25 Aufgaben sammeln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Aus deinem Hütchen-Inventar (Säule 2)</a:t>
            </a:r>
          </a:p>
          <a:p>
            <a:pPr>
              <a:spcAft>
                <a:spcPts val="1000"/>
              </a:spcAft>
            </a:pPr>
            <a:r>
              <a:rPr sz="1600" b="1">
                <a:solidFill>
                  <a:srgbClr val="12828C"/>
                </a:solidFill>
                <a:latin typeface="Calibri"/>
              </a:rPr>
              <a:t>✓  </a:t>
            </a:r>
            <a:r>
              <a:rPr sz="1600" b="0">
                <a:solidFill>
                  <a:srgbClr val="2C3E50"/>
                </a:solidFill>
                <a:latin typeface="Calibri"/>
              </a:rPr>
              <a:t>+ dein Business-Alltag (Content, DMs, Buchhaltung …)</a:t>
            </a:r>
          </a:p>
          <a:p>
            <a:pPr>
              <a:spcAft>
                <a:spcPts val="1000"/>
              </a:spcAft>
            </a:pPr>
            <a:r>
              <a:rPr sz="1600" b="1">
                <a:solidFill>
                  <a:srgbClr val="12828C"/>
                </a:solidFill>
                <a:latin typeface="Calibri"/>
              </a:rPr>
              <a:t>✓  </a:t>
            </a:r>
            <a:r>
              <a:rPr sz="1600" b="0">
                <a:solidFill>
                  <a:srgbClr val="2C3E50"/>
                </a:solidFill>
                <a:latin typeface="Calibri"/>
              </a:rPr>
              <a:t>Einfach runterschreiben, was du in einer Woche tust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Schritt 2: jede in EIN Feld</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Genau ein Feld pro Aufgabe</a:t>
            </a:r>
          </a:p>
          <a:p>
            <a:pPr>
              <a:spcAft>
                <a:spcPts val="1000"/>
              </a:spcAft>
            </a:pPr>
            <a:r>
              <a:rPr sz="1600" b="1">
                <a:solidFill>
                  <a:srgbClr val="12828C"/>
                </a:solidFill>
                <a:latin typeface="Calibri"/>
              </a:rPr>
              <a:t>✓  </a:t>
            </a:r>
            <a:r>
              <a:rPr sz="1600" b="0">
                <a:solidFill>
                  <a:srgbClr val="2C3E50"/>
                </a:solidFill>
                <a:latin typeface="Calibri"/>
              </a:rPr>
              <a:t>Nicht „kommt drauf an" — entscheide dich</a:t>
            </a:r>
          </a:p>
          <a:p>
            <a:pPr>
              <a:spcAft>
                <a:spcPts val="1000"/>
              </a:spcAft>
            </a:pPr>
            <a:r>
              <a:rPr sz="1600" b="1">
                <a:solidFill>
                  <a:srgbClr val="12828C"/>
                </a:solidFill>
                <a:latin typeface="Calibri"/>
              </a:rPr>
              <a:t>✓  </a:t>
            </a:r>
            <a:r>
              <a:rPr sz="1600" b="0">
                <a:solidFill>
                  <a:srgbClr val="2C3E50"/>
                </a:solidFill>
                <a:latin typeface="Calibri"/>
              </a:rPr>
              <a:t>Erstes ehrliches Bauchgefühl (korrigieren geht später)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Hilfsfrage 🙋 ICH</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„Würde es meiner Marke / Beziehung schaden,</a:t>
            </a:r>
          </a:p>
          <a:p>
            <a:pPr>
              <a:spcAft>
                <a:spcPts val="1000"/>
              </a:spcAft>
            </a:pPr>
            <a:r>
              <a:rPr sz="1600" b="1">
                <a:solidFill>
                  <a:srgbClr val="12828C"/>
                </a:solidFill>
                <a:latin typeface="Calibri"/>
              </a:rPr>
              <a:t>✓  </a:t>
            </a:r>
            <a:r>
              <a:rPr sz="1600" b="0">
                <a:solidFill>
                  <a:srgbClr val="2C3E50"/>
                </a:solidFill>
                <a:latin typeface="Calibri"/>
              </a:rPr>
              <a:t>wenn das jemand anders macht?"</a:t>
            </a:r>
          </a:p>
          <a:p>
            <a:pPr>
              <a:spcAft>
                <a:spcPts val="1000"/>
              </a:spcAft>
            </a:pPr>
            <a:r>
              <a:rPr sz="1600" b="1">
                <a:solidFill>
                  <a:srgbClr val="12828C"/>
                </a:solidFill>
                <a:latin typeface="Calibri"/>
              </a:rPr>
              <a:t>✓  </a:t>
            </a:r>
            <a:r>
              <a:rPr sz="1600" b="0">
                <a:solidFill>
                  <a:srgbClr val="2C3E50"/>
                </a:solidFill>
                <a:latin typeface="Calibri"/>
              </a:rPr>
              <a:t>Ja → bleibt bei dir · Nein → weg vom Tisch</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Hilfsfrage 🤖 KI</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„Vorbereitend oder wiederholbar,</a:t>
            </a:r>
          </a:p>
          <a:p>
            <a:pPr>
              <a:spcAft>
                <a:spcPts val="1000"/>
              </a:spcAft>
            </a:pPr>
            <a:r>
              <a:rPr sz="1600" b="1">
                <a:solidFill>
                  <a:srgbClr val="12828C"/>
                </a:solidFill>
                <a:latin typeface="Calibri"/>
              </a:rPr>
              <a:t>✓  </a:t>
            </a:r>
            <a:r>
              <a:rPr sz="1600" b="0">
                <a:solidFill>
                  <a:srgbClr val="2C3E50"/>
                </a:solidFill>
                <a:latin typeface="Calibri"/>
              </a:rPr>
              <a:t>braucht aber Urteil?"</a:t>
            </a:r>
          </a:p>
          <a:p>
            <a:pPr>
              <a:spcAft>
                <a:spcPts val="1000"/>
              </a:spcAft>
            </a:pPr>
            <a:r>
              <a:rPr sz="1600" b="1">
                <a:solidFill>
                  <a:srgbClr val="12828C"/>
                </a:solidFill>
                <a:latin typeface="Calibri"/>
              </a:rPr>
              <a:t>✓  </a:t>
            </a:r>
            <a:r>
              <a:rPr sz="1600" b="0">
                <a:solidFill>
                  <a:srgbClr val="2C3E50"/>
                </a:solidFill>
                <a:latin typeface="Calibri"/>
              </a:rPr>
              <a:t>Recherche, Entwurf, Plan → ab zur KI</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Hilfsfrage ⚙️ SYSTEM</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„Kann das mechanisch laufen</a:t>
            </a:r>
          </a:p>
          <a:p>
            <a:pPr>
              <a:spcAft>
                <a:spcPts val="1000"/>
              </a:spcAft>
            </a:pPr>
            <a:r>
              <a:rPr sz="1600" b="1">
                <a:solidFill>
                  <a:srgbClr val="12828C"/>
                </a:solidFill>
                <a:latin typeface="Calibri"/>
              </a:rPr>
              <a:t>✓  </a:t>
            </a:r>
            <a:r>
              <a:rPr sz="1600" b="0">
                <a:solidFill>
                  <a:srgbClr val="2C3E50"/>
                </a:solidFill>
                <a:latin typeface="Calibri"/>
              </a:rPr>
              <a:t>oder jemand fix übernehmen?"</a:t>
            </a:r>
          </a:p>
          <a:p>
            <a:pPr>
              <a:spcAft>
                <a:spcPts val="1000"/>
              </a:spcAft>
            </a:pPr>
            <a:r>
              <a:rPr sz="1600" b="1">
                <a:solidFill>
                  <a:srgbClr val="12828C"/>
                </a:solidFill>
                <a:latin typeface="Calibri"/>
              </a:rPr>
              <a:t>✓  </a:t>
            </a:r>
            <a:r>
              <a:rPr sz="1600" b="0">
                <a:solidFill>
                  <a:srgbClr val="2C3E50"/>
                </a:solidFill>
                <a:latin typeface="Calibri"/>
              </a:rPr>
              <a:t>Vorlage, Automatik, Ämtli → einmal bauen, nie wieder anfassen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Hilfsfrage 🗑 RAUS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„Braucht das wirklich jemand?</a:t>
            </a:r>
          </a:p>
          <a:p>
            <a:pPr>
              <a:spcAft>
                <a:spcPts val="1000"/>
              </a:spcAft>
            </a:pPr>
            <a:r>
              <a:rPr sz="1600" b="1">
                <a:solidFill>
                  <a:srgbClr val="12828C"/>
                </a:solidFill>
                <a:latin typeface="Calibri"/>
              </a:rPr>
              <a:t>✓  </a:t>
            </a:r>
            <a:r>
              <a:rPr sz="1600" b="0">
                <a:solidFill>
                  <a:srgbClr val="2C3E50"/>
                </a:solidFill>
                <a:latin typeface="Calibri"/>
              </a:rPr>
              <a:t>Was passiert, wenn ich's lasse?"</a:t>
            </a:r>
          </a:p>
          <a:p>
            <a:pPr>
              <a:spcAft>
                <a:spcPts val="1000"/>
              </a:spcAft>
            </a:pPr>
            <a:r>
              <a:rPr sz="1600" b="1">
                <a:solidFill>
                  <a:srgbClr val="12828C"/>
                </a:solidFill>
                <a:latin typeface="Calibri"/>
              </a:rPr>
              <a:t>✓  </a:t>
            </a:r>
            <a:r>
              <a:rPr sz="1600" b="0">
                <a:solidFill>
                  <a:srgbClr val="2C3E50"/>
                </a:solidFill>
                <a:latin typeface="Calibri"/>
              </a:rPr>
              <a:t>Oft: nichts passiert → darf weg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Live-Demo: meine Matrix</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Patricias eigene Tasks in den 4 Feldern</a:t>
            </a:r>
          </a:p>
          <a:p>
            <a:pPr>
              <a:spcAft>
                <a:spcPts val="1000"/>
              </a:spcAft>
            </a:pPr>
            <a:r>
              <a:rPr sz="1600" b="1">
                <a:solidFill>
                  <a:srgbClr val="12828C"/>
                </a:solidFill>
                <a:latin typeface="Calibri"/>
              </a:rPr>
              <a:t>✓  </a:t>
            </a:r>
            <a:r>
              <a:rPr sz="1600" b="0">
                <a:solidFill>
                  <a:srgbClr val="2C3E50"/>
                </a:solidFill>
                <a:latin typeface="Calibri"/>
              </a:rPr>
              <a:t>Feld „ich" ist erstaunlich klein</a:t>
            </a:r>
          </a:p>
          <a:p>
            <a:pPr>
              <a:spcAft>
                <a:spcPts val="1000"/>
              </a:spcAft>
            </a:pPr>
            <a:r>
              <a:rPr sz="1600" b="1">
                <a:solidFill>
                  <a:srgbClr val="12828C"/>
                </a:solidFill>
                <a:latin typeface="Calibri"/>
              </a:rPr>
              <a:t>✓  </a:t>
            </a:r>
            <a:r>
              <a:rPr sz="1600" b="0">
                <a:solidFill>
                  <a:srgbClr val="2C3E50"/>
                </a:solidFill>
                <a:latin typeface="Calibri"/>
              </a:rPr>
              <a:t>Viel läuft über KI + Systeme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Aha: das meiste ist NICHT „ich"</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Feld „ich" klein, Rest gross</a:t>
            </a:r>
          </a:p>
          <a:p>
            <a:pPr>
              <a:spcAft>
                <a:spcPts val="1000"/>
              </a:spcAft>
            </a:pPr>
            <a:r>
              <a:rPr sz="1600" b="1">
                <a:solidFill>
                  <a:srgbClr val="12828C"/>
                </a:solidFill>
                <a:latin typeface="Calibri"/>
              </a:rPr>
              <a:t>✓  </a:t>
            </a:r>
            <a:r>
              <a:rPr sz="1600" b="0">
                <a:solidFill>
                  <a:srgbClr val="2C3E50"/>
                </a:solidFill>
                <a:latin typeface="Calibri"/>
              </a:rPr>
              <a:t>Die Arbeit, die dich auffrisst, ist gar nicht deine</a:t>
            </a:r>
          </a:p>
          <a:p>
            <a:pPr>
              <a:spcAft>
                <a:spcPts val="1000"/>
              </a:spcAft>
            </a:pPr>
            <a:r>
              <a:rPr sz="1600" b="1">
                <a:solidFill>
                  <a:srgbClr val="12828C"/>
                </a:solidFill>
                <a:latin typeface="Calibri"/>
              </a:rPr>
              <a:t>✓  </a:t>
            </a:r>
            <a:r>
              <a:rPr sz="1600" b="0">
                <a:solidFill>
                  <a:srgbClr val="2C3E50"/>
                </a:solidFill>
                <a:latin typeface="Calibri"/>
              </a:rPr>
              <a:t>Das ist deine Erlaubnis loszulassen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Dein nächster Schritt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Aus KI/System die 2-3 nervigsten rauspicken</a:t>
            </a:r>
          </a:p>
          <a:p>
            <a:pPr>
              <a:spcAft>
                <a:spcPts val="1000"/>
              </a:spcAft>
            </a:pPr>
            <a:r>
              <a:rPr sz="1600" b="1">
                <a:solidFill>
                  <a:srgbClr val="12828C"/>
                </a:solidFill>
                <a:latin typeface="Calibri"/>
              </a:rPr>
              <a:t>✓  </a:t>
            </a:r>
            <a:r>
              <a:rPr sz="1600" b="0">
                <a:solidFill>
                  <a:srgbClr val="2C3E50"/>
                </a:solidFill>
                <a:latin typeface="Calibri"/>
              </a:rPr>
              <a:t>Einen Bot mehr · eine Automatik · ein Ämtli abgeben</a:t>
            </a:r>
          </a:p>
          <a:p>
            <a:pPr>
              <a:spcAft>
                <a:spcPts val="1000"/>
              </a:spcAft>
            </a:pPr>
            <a:r>
              <a:rPr sz="1600" b="1">
                <a:solidFill>
                  <a:srgbClr val="12828C"/>
                </a:solidFill>
                <a:latin typeface="Calibri"/>
              </a:rPr>
              <a:t>✓  </a:t>
            </a:r>
            <a:r>
              <a:rPr sz="1600" b="0">
                <a:solidFill>
                  <a:srgbClr val="2C3E50"/>
                </a:solidFill>
                <a:latin typeface="Calibri"/>
              </a:rPr>
              <a:t>Schritt für Schritt wird dein Tisch leerer</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Deine 25-Task-Matrix füllen (in Notion)</a:t>
            </a:r>
          </a:p>
          <a:p>
            <a:pPr>
              <a:spcAft>
                <a:spcPts val="1000"/>
              </a:spcAft>
            </a:pPr>
            <a:r>
              <a:rPr sz="1600" b="1">
                <a:solidFill>
                  <a:srgbClr val="12828C"/>
                </a:solidFill>
                <a:latin typeface="Calibri"/>
              </a:rPr>
              <a:t>✓  </a:t>
            </a:r>
            <a:r>
              <a:rPr sz="1600" b="0">
                <a:solidFill>
                  <a:srgbClr val="2C3E50"/>
                </a:solidFill>
                <a:latin typeface="Calibri"/>
              </a:rPr>
              <a:t>Nächste Lektion: 5.3 — was deins bleibt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