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Letzte Lektion von Säule 4, und hier ziehen wir die wichtigste Linie überhaupt: was macht ab jetzt die KI, und was bleibt immer deins. Denn beides falsch zu machen kostet dich, und ich zeig dir wie du's richtig aufteilst.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Schau, was du in den letzten Lektionen aufgebaut hast: einen Cockpit-Bot fürs Business und einen Haushalts-Helfer fürs Zuhause. Zwei Mitarbeiter, die nie müde werden. Die Frage ist jetzt nur noch, welche Arbeit du ihnen gibst, ohne dass du dich selbst überflüssig machst.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gibt zwei Fehler. Der eine ist, alles an die KI abzugeben, dann klingt dein Business austauschbar und deine Kundinnen spüren, dass keine echte Frau mehr dahintersteht. Der andere ist, aus Stolz oder Angst gar nichts abzugeben, dann bleibst du im Hamsterrad aus Säule 2. Die Kunst liegt in der Mitte.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die Regel dafür ist erstaunlich einfach. Die KI macht alles, was wiederholbar oder vorbereitend ist, also Recherche, erste Entwürfe, Pläne, Listen, Zusammenfassungen. Und du machst alles, wo es um Beziehung, Entscheidung und deine Stimme geht. Die KI bereitet vor, du entscheidest und gibst den letzten Schliff.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Konkret darf zur KI: Recherche, erste Entwürfe von Texten, deine Wochenplanung und deine Essensplanung, Listen aller Art, Zusammenfassungen von langen Sachen, und natürlich dein Morgenbriefing. All das, was Zeit frisst, aber nicht zwingend dein Herzblut braucht.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was bleibt immer deins? Genau die fünf CEO-Aufgaben aus Säule 1. Deine Vision und Strategie, deine Entscheidungen, deine Brand und deine Stimme, deine Beziehungen zu den Kundinnen, und deine Reflexion. Das ist der Kern, warum dich Menschen buchen, und den gibst du nie an eine Maschine 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machen wir's konkret für deine Woche. Du nimmst deine Aufgaben und stempelst hinter jede entweder KI oder ich. Das Morgenbriefing kriegt KI, das Kundengespräch kriegst du, der erste Caption-Entwurf KI, die finale Stimme du. So siehst du auf einen Blick, wo dir Stunden geschenkt werden.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das hier ist erst der Anfang, denn in Säule 5 bauen wir diese Linie zur vollen Mama-CEO-Matrix aus. Da kommen noch zwei Felder dazu: was kann ein System ohne KI übernehmen, und was darf einfach ganz weg. Aber das Fundament, Mensch gegen Maschine, das legst du hier.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baust du jetzt deinen KI-Wochenplan und stempelst jede Aufgabe. Damit hast du Säule 4 abgeschlossen: zwei KI-Mitarbeiter laufen, und du weisst genau wo Mensch aufhört und Maschine anfängt. Wir sehen uns im Live-Call 3, der Bot-Bau-Werkstatt. Ich freu mich drauf.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4 — DU DELEGIERST DEN ADMINKRAM</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KI-Wochenplan</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Mensch vs. Maschine</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Du hast jetzt 2 Mitarbeiter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Cockpit-Bot · 🏠 Haushalts-Helfer</a:t>
            </a:r>
          </a:p>
          <a:p>
            <a:pPr>
              <a:spcAft>
                <a:spcPts val="1000"/>
              </a:spcAft>
            </a:pPr>
            <a:r>
              <a:rPr sz="1600" b="1">
                <a:solidFill>
                  <a:srgbClr val="12828C"/>
                </a:solidFill>
                <a:latin typeface="Calibri"/>
              </a:rPr>
              <a:t>▸  </a:t>
            </a:r>
            <a:r>
              <a:rPr sz="1600" b="0">
                <a:solidFill>
                  <a:srgbClr val="2C3E50"/>
                </a:solidFill>
                <a:latin typeface="Calibri"/>
              </a:rPr>
              <a:t>Zwei Mitarbeiter, die nie müde werden</a:t>
            </a:r>
          </a:p>
          <a:p>
            <a:pPr>
              <a:spcAft>
                <a:spcPts val="1000"/>
              </a:spcAft>
            </a:pPr>
            <a:r>
              <a:rPr sz="1600" b="1">
                <a:solidFill>
                  <a:srgbClr val="12828C"/>
                </a:solidFill>
                <a:latin typeface="Calibri"/>
              </a:rPr>
              <a:t>▸  </a:t>
            </a:r>
            <a:r>
              <a:rPr sz="1600" b="0">
                <a:solidFill>
                  <a:srgbClr val="2C3E50"/>
                </a:solidFill>
                <a:latin typeface="Calibri"/>
              </a:rPr>
              <a:t>Wie teilst du die Arbeit?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zwei Fehler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Alles abgeben → deine Stimme weg</a:t>
            </a:r>
          </a:p>
          <a:p>
            <a:pPr>
              <a:spcAft>
                <a:spcPts val="1000"/>
              </a:spcAft>
            </a:pPr>
            <a:r>
              <a:rPr sz="1600" b="1">
                <a:solidFill>
                  <a:srgbClr val="12828C"/>
                </a:solidFill>
                <a:latin typeface="Calibri"/>
              </a:rPr>
              <a:t>▸  </a:t>
            </a:r>
            <a:r>
              <a:rPr sz="1600" b="0">
                <a:solidFill>
                  <a:srgbClr val="2C3E50"/>
                </a:solidFill>
                <a:latin typeface="Calibri"/>
              </a:rPr>
              <a:t>Nichts abgeben → zurück ins Hamsterrad</a:t>
            </a:r>
          </a:p>
          <a:p>
            <a:pPr>
              <a:spcAft>
                <a:spcPts val="1000"/>
              </a:spcAft>
            </a:pPr>
            <a:r>
              <a:rPr sz="1600" b="1">
                <a:solidFill>
                  <a:srgbClr val="12828C"/>
                </a:solidFill>
                <a:latin typeface="Calibri"/>
              </a:rPr>
              <a:t>▸  </a:t>
            </a:r>
            <a:r>
              <a:rPr sz="1600" b="0">
                <a:solidFill>
                  <a:srgbClr val="2C3E50"/>
                </a:solidFill>
                <a:latin typeface="Calibri"/>
              </a:rPr>
              <a:t>Die Kunst liegt in der Mitte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einfache Regel</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KI: Wiederholbares + Vorbereitendes</a:t>
            </a:r>
          </a:p>
          <a:p>
            <a:pPr>
              <a:spcAft>
                <a:spcPts val="1000"/>
              </a:spcAft>
            </a:pPr>
            <a:r>
              <a:rPr sz="1600" b="1">
                <a:solidFill>
                  <a:srgbClr val="12828C"/>
                </a:solidFill>
                <a:latin typeface="Calibri"/>
              </a:rPr>
              <a:t>▸  </a:t>
            </a:r>
            <a:r>
              <a:rPr sz="1600" b="0">
                <a:solidFill>
                  <a:srgbClr val="2C3E50"/>
                </a:solidFill>
                <a:latin typeface="Calibri"/>
              </a:rPr>
              <a:t>Du: Beziehung + Entscheidung + Stimme</a:t>
            </a:r>
          </a:p>
          <a:p>
            <a:pPr>
              <a:spcAft>
                <a:spcPts val="1000"/>
              </a:spcAft>
            </a:pPr>
            <a:r>
              <a:rPr sz="1600" b="1">
                <a:solidFill>
                  <a:srgbClr val="12828C"/>
                </a:solidFill>
                <a:latin typeface="Calibri"/>
              </a:rPr>
              <a:t>▸  </a:t>
            </a:r>
            <a:r>
              <a:rPr sz="1600" b="0">
                <a:solidFill>
                  <a:srgbClr val="2C3E50"/>
                </a:solidFill>
                <a:latin typeface="Calibri"/>
              </a:rPr>
              <a:t>KI bereitet vor, du entscheidest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zur KI darf</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Recherche, erste Entwürfe</a:t>
            </a:r>
          </a:p>
          <a:p>
            <a:pPr>
              <a:spcAft>
                <a:spcPts val="1000"/>
              </a:spcAft>
            </a:pPr>
            <a:r>
              <a:rPr sz="1600" b="1">
                <a:solidFill>
                  <a:srgbClr val="12828C"/>
                </a:solidFill>
                <a:latin typeface="Calibri"/>
              </a:rPr>
              <a:t>▸  </a:t>
            </a:r>
            <a:r>
              <a:rPr sz="1600" b="0">
                <a:solidFill>
                  <a:srgbClr val="2C3E50"/>
                </a:solidFill>
                <a:latin typeface="Calibri"/>
              </a:rPr>
              <a:t>Wochen- + Essenspläne, Listen</a:t>
            </a:r>
          </a:p>
          <a:p>
            <a:pPr>
              <a:spcAft>
                <a:spcPts val="1000"/>
              </a:spcAft>
            </a:pPr>
            <a:r>
              <a:rPr sz="1600" b="1">
                <a:solidFill>
                  <a:srgbClr val="12828C"/>
                </a:solidFill>
                <a:latin typeface="Calibri"/>
              </a:rPr>
              <a:t>▸  </a:t>
            </a:r>
            <a:r>
              <a:rPr sz="1600" b="0">
                <a:solidFill>
                  <a:srgbClr val="2C3E50"/>
                </a:solidFill>
                <a:latin typeface="Calibri"/>
              </a:rPr>
              <a:t>Zusammenfassungen, Morgenbriefing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deins bleibt: die 5 CEO-Aufgaben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Vision &amp; Strategie · Entscheidungen</a:t>
            </a:r>
          </a:p>
          <a:p>
            <a:pPr>
              <a:spcAft>
                <a:spcPts val="1000"/>
              </a:spcAft>
            </a:pPr>
            <a:r>
              <a:rPr sz="1600" b="1">
                <a:solidFill>
                  <a:srgbClr val="12828C"/>
                </a:solidFill>
                <a:latin typeface="Calibri"/>
              </a:rPr>
              <a:t>▸  </a:t>
            </a:r>
            <a:r>
              <a:rPr sz="1600" b="0">
                <a:solidFill>
                  <a:srgbClr val="2C3E50"/>
                </a:solidFill>
                <a:latin typeface="Calibri"/>
              </a:rPr>
              <a:t>Brand &amp; Stimme · Beziehungen</a:t>
            </a:r>
          </a:p>
          <a:p>
            <a:pPr>
              <a:spcAft>
                <a:spcPts val="1000"/>
              </a:spcAft>
            </a:pPr>
            <a:r>
              <a:rPr sz="1600" b="1">
                <a:solidFill>
                  <a:srgbClr val="12828C"/>
                </a:solidFill>
                <a:latin typeface="Calibri"/>
              </a:rPr>
              <a:t>▸  </a:t>
            </a:r>
            <a:r>
              <a:rPr sz="1600" b="0">
                <a:solidFill>
                  <a:srgbClr val="2C3E50"/>
                </a:solidFill>
                <a:latin typeface="Calibri"/>
              </a:rPr>
              <a:t>Reflexion &amp; Zahlen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Dein KI-Wochenplan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Jede Aufgabe stempeln: 🤖 KI / 🙋 ich</a:t>
            </a:r>
          </a:p>
          <a:p>
            <a:pPr>
              <a:spcAft>
                <a:spcPts val="1000"/>
              </a:spcAft>
            </a:pPr>
            <a:r>
              <a:rPr sz="1600" b="1">
                <a:solidFill>
                  <a:srgbClr val="12828C"/>
                </a:solidFill>
                <a:latin typeface="Calibri"/>
              </a:rPr>
              <a:t>▸  </a:t>
            </a:r>
            <a:r>
              <a:rPr sz="1600" b="0">
                <a:solidFill>
                  <a:srgbClr val="2C3E50"/>
                </a:solidFill>
                <a:latin typeface="Calibri"/>
              </a:rPr>
              <a:t>Morgenbriefing → KI, Kundengespräch → du</a:t>
            </a:r>
          </a:p>
          <a:p>
            <a:pPr>
              <a:spcAft>
                <a:spcPts val="1000"/>
              </a:spcAft>
            </a:pPr>
            <a:r>
              <a:rPr sz="1600" b="1">
                <a:solidFill>
                  <a:srgbClr val="12828C"/>
                </a:solidFill>
                <a:latin typeface="Calibri"/>
              </a:rPr>
              <a:t>▸  </a:t>
            </a:r>
            <a:r>
              <a:rPr sz="1600" b="0">
                <a:solidFill>
                  <a:srgbClr val="2C3E50"/>
                </a:solidFill>
                <a:latin typeface="Calibri"/>
              </a:rPr>
              <a:t>Erster Entwurf → KI, finale Stimme → du</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Vorschau Säule 5</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Die Linie → volle Mama-CEO-Matrix</a:t>
            </a:r>
          </a:p>
          <a:p>
            <a:pPr>
              <a:spcAft>
                <a:spcPts val="1000"/>
              </a:spcAft>
            </a:pPr>
            <a:r>
              <a:rPr sz="1600" b="1">
                <a:solidFill>
                  <a:srgbClr val="12828C"/>
                </a:solidFill>
                <a:latin typeface="Calibri"/>
              </a:rPr>
              <a:t>▸  </a:t>
            </a:r>
            <a:r>
              <a:rPr sz="1600" b="0">
                <a:solidFill>
                  <a:srgbClr val="2C3E50"/>
                </a:solidFill>
                <a:latin typeface="Calibri"/>
              </a:rPr>
              <a:t>+ System (ohne KI) + ganz raus</a:t>
            </a:r>
          </a:p>
          <a:p>
            <a:pPr>
              <a:spcAft>
                <a:spcPts val="1000"/>
              </a:spcAft>
            </a:pPr>
            <a:r>
              <a:rPr sz="1600" b="1">
                <a:solidFill>
                  <a:srgbClr val="12828C"/>
                </a:solidFill>
                <a:latin typeface="Calibri"/>
              </a:rPr>
              <a:t>▸  </a:t>
            </a:r>
            <a:r>
              <a:rPr sz="1600" b="0">
                <a:solidFill>
                  <a:srgbClr val="2C3E50"/>
                </a:solidFill>
                <a:latin typeface="Calibri"/>
              </a:rPr>
              <a:t>Das Fundament legst du hier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Säule 4 komplett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Dein KI-Wochenplan</a:t>
            </a:r>
          </a:p>
          <a:p>
            <a:pPr>
              <a:spcAft>
                <a:spcPts val="1000"/>
              </a:spcAft>
            </a:pPr>
            <a:r>
              <a:rPr sz="1600" b="1">
                <a:solidFill>
                  <a:srgbClr val="12828C"/>
                </a:solidFill>
                <a:latin typeface="Calibri"/>
              </a:rPr>
              <a:t>▸  </a:t>
            </a:r>
            <a:r>
              <a:rPr sz="1600" b="0">
                <a:solidFill>
                  <a:srgbClr val="2C3E50"/>
                </a:solidFill>
                <a:latin typeface="Calibri"/>
              </a:rPr>
              <a:t>Säule 4 abgeschlossen — Live-Call 3</a:t>
            </a:r>
          </a:p>
          <a:p>
            <a:pPr>
              <a:spcAft>
                <a:spcPts val="1000"/>
              </a:spcAft>
            </a:pPr>
            <a:r>
              <a:rPr sz="1600" b="1">
                <a:solidFill>
                  <a:srgbClr val="12828C"/>
                </a:solidFill>
                <a:latin typeface="Calibri"/>
              </a:rPr>
              <a:t>▸  </a:t>
            </a:r>
            <a:r>
              <a:rPr sz="1600" b="0">
                <a:solidFill>
                  <a:srgbClr val="2C3E50"/>
                </a:solidFill>
                <a:latin typeface="Calibri"/>
              </a:rPr>
              <a:t>2 Bots laufen, die Linie ist klar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4.6</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