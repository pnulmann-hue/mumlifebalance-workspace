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wird's konkret, denn wir bauen deinen ersten echten KI-Mitarbeiter. Ich nenne ihn den Cockpit-Bot, weil er dir morgens das Cockpit zeigt, also alles was heute wichtig ist, auf einen Blick.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dieser Bot macht, ist einfach erklärt: du fragst ihn morgens „was ist heute dran", und er gibt dir deinen Tagesfokus, deine drei wichtigsten Aufgaben und einen kurzen Überblick über die Woche. Du musst nicht mehr selbst in Notion wühlen und dich verlieren, er macht das für dich.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zahlt sich Säule 3 aus. Dein Cockpit-Bot kann nur deshalb wissen was heute dran ist, weil du dein Notion-Business-Brain aufgebaut hast, mit Wochenplan, Tagesplaner und Aufgaben. Der Bot ist die Stimme, die dir vorliest, was in deinem Brain steht. Ohne das Brain kein Briefing.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Erinnerst du dich an die drei Stufen aus 4.2? Stufe null wäre einfach dein Notion aufmachen. Wir bauen jetzt Stufe eins, deinen Bot in Claude Cowork, ganz ohne Code. Und für die, die irgendwann mehr wollen, gibt's Stufe zwei mit Claude Code, der automatisch aufs Handy schickt. Für neunzig Prozent reicht Stufe eins völlig, also fangen wir da 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 Cockpit-Bot braucht genau zwei Dinge. Erstens deinen Business-Brief aus der letzten Lektion, damit er dich kennt. Und zweitens dein Notion, das du in Cowork einmal per Connector verbindest, dann liest er deine Wochenplanung direkt, du musst nichts mehr reinkopieren. Genau das machen wir jetzt zusammen.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du nicht bei null anfängst, hast du von mir eine fertige Vorlage als Bonus. Das ist der komplette System-Prompt, also die Bedienungsanleitung für den Bot, und du musst nur deinen Namen und deinen Kontext eintragen. Den Link zum Download findest du gleich hier in der Lektion.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jetzt bau ich ihn live in Cowork, und du baust einfach mit, pausier wo du musst. Schritt eins: ich öffne Cowork, gehe in die Einstellungen und stecke den Notion-Connector ein, also einmal bei Notion einloggen und die Seiten freigeben. Dann füge ich meine fertige Vorlage ein. Du siehst, ich tippe nichts Kompliziertes, ich klicke und kopiere.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Schritt zwei: ich gebe ihm noch meinen Business-Brief, damit er weiss wer ich bin. Mein Notion ist ja jetzt verbunden, also muss ich nichts mehr reinkopieren, er schaut von selbst rein. Damit hat der Bot alles, was er braucht.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Schritt drei, der schönste: ich frag ihn „was ist heute mein Fokus", und schau dir das an, er gibt mir meinen Tagesfokus, meine drei Hauptaufgaben und einen kurzen Wochenblick. Wie geil ist das denn. Genau das hast du gleich auch.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Alltag sieht das dann so aus: Cowork auf, Bot fragen, loslegen. Dreissig Sekunden statt zehn Minuten in Notion verlieren. Einmal pro Woche wirfst du ihm deine neue Wochenseite rein, und der Rest läuft. So fühlt sich Mama-CEO an einem normalen Morgen 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für die, die irgendwann Blut lecken, zeig ich dir ehrlich, wie die Profi-Variante läuft. Das ist ein Bot, der Tag und Nacht auf einem kleinen Server liegt und mir jeden Morgen um halb sieben von selbst eine Telegram-Nachricht schickt. Dafür braucht es drei Dinge: du meldest deinen Bot kostenlos bei Telegram an, du brauchst einen Ort wo er rund um die Uhr läuft, das nennt man Hosting, und du brauchst ein bisschen Code, der die Verbindung macht. Und ganz wichtig, damit dir nicht graut: deinen Bot-Prompt von eben nimmst du eins zu eins mit, du schreibst nichts Neues. Der Prompt ist das Rezept und bleibt gleich, Claude Code baut nur die Hülle drumherum, also Telegram und den automatischen Versand. Cowork ist der Herd zu Hause, Claude Code ist die Lieferung an die Haustür.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das Wichtige, weil ich ehrlich bleibe: dieses Hosting kostet etwa fünf Franken im Monat, dazu kommen je nach Nutzung ein paar Franken KI-Kosten. Den Code musst du nicht selbst schreiben, das macht Claude Code für dich, und es führt dich Schritt für Schritt durch alles. Aber sei dir bewusst: das ist mehr Aufwand und kostet etwas, und es ist ausdrücklich kein Muss. Stufe eins trägt dich weit, also fang da 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baust du jetzt deinen Cockpit-Bot mit der Vorlage und testest ihn drei Tage lang jeden Morgen. In der nächsten Lektion, der MASTERY, bauen wir seinen Zwilling fürs Zuhause: deinen Haushalts-Helfer.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4 — DU DELEGIERST DEN ADMINKRAM</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Dein Cockpit-Bot</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Dein persönliches Morgenbriefing</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er für dich tut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Morgens fragen: „was ist heute dran?"</a:t>
            </a:r>
          </a:p>
          <a:p>
            <a:pPr>
              <a:spcAft>
                <a:spcPts val="1000"/>
              </a:spcAft>
            </a:pPr>
            <a:r>
              <a:rPr sz="1600" b="1">
                <a:solidFill>
                  <a:srgbClr val="12828C"/>
                </a:solidFill>
                <a:latin typeface="Calibri"/>
              </a:rPr>
              <a:t>✓  </a:t>
            </a:r>
            <a:r>
              <a:rPr sz="1600" b="0">
                <a:solidFill>
                  <a:srgbClr val="2C3E50"/>
                </a:solidFill>
                <a:latin typeface="Calibri"/>
              </a:rPr>
              <a:t>→ Tagesfokus + 3 Hauptaufgaben + Wochenblick</a:t>
            </a:r>
          </a:p>
          <a:p>
            <a:pPr>
              <a:spcAft>
                <a:spcPts val="1000"/>
              </a:spcAft>
            </a:pPr>
            <a:r>
              <a:rPr sz="1600" b="1">
                <a:solidFill>
                  <a:srgbClr val="12828C"/>
                </a:solidFill>
                <a:latin typeface="Calibri"/>
              </a:rPr>
              <a:t>✓  </a:t>
            </a:r>
            <a:r>
              <a:rPr sz="1600" b="0">
                <a:solidFill>
                  <a:srgbClr val="2C3E50"/>
                </a:solidFill>
                <a:latin typeface="Calibri"/>
              </a:rPr>
              <a:t>Kein Wühlen in Notion mehr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Warum wir Säule 3 gebraucht haben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Bot liest dein Notion-Business-Brain</a:t>
            </a:r>
          </a:p>
          <a:p>
            <a:pPr>
              <a:spcAft>
                <a:spcPts val="1000"/>
              </a:spcAft>
            </a:pPr>
            <a:r>
              <a:rPr sz="1600" b="1">
                <a:solidFill>
                  <a:srgbClr val="12828C"/>
                </a:solidFill>
                <a:latin typeface="Calibri"/>
              </a:rPr>
              <a:t>✓  </a:t>
            </a:r>
            <a:r>
              <a:rPr sz="1600" b="0">
                <a:solidFill>
                  <a:srgbClr val="2C3E50"/>
                </a:solidFill>
                <a:latin typeface="Calibri"/>
              </a:rPr>
              <a:t>Wochenplan, Tagesplaner, Aufgaben</a:t>
            </a:r>
          </a:p>
          <a:p>
            <a:pPr>
              <a:spcAft>
                <a:spcPts val="1000"/>
              </a:spcAft>
            </a:pPr>
            <a:r>
              <a:rPr sz="1600" b="1">
                <a:solidFill>
                  <a:srgbClr val="12828C"/>
                </a:solidFill>
                <a:latin typeface="Calibri"/>
              </a:rPr>
              <a:t>✓  </a:t>
            </a:r>
            <a:r>
              <a:rPr sz="1600" b="0">
                <a:solidFill>
                  <a:srgbClr val="2C3E50"/>
                </a:solidFill>
                <a:latin typeface="Calibri"/>
              </a:rPr>
              <a:t>Ohne Brain kein Briefing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3 Stufen — wir bauen Stufe 1 (Cowork)</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Stufe 0 Notion-Ansicht</a:t>
            </a:r>
          </a:p>
          <a:p>
            <a:pPr>
              <a:spcAft>
                <a:spcPts val="1000"/>
              </a:spcAft>
            </a:pPr>
            <a:r>
              <a:rPr sz="1600" b="1">
                <a:solidFill>
                  <a:srgbClr val="12828C"/>
                </a:solidFill>
                <a:latin typeface="Calibri"/>
              </a:rPr>
              <a:t>✓  </a:t>
            </a:r>
            <a:r>
              <a:rPr sz="1600" b="0">
                <a:solidFill>
                  <a:srgbClr val="2C3E50"/>
                </a:solidFill>
                <a:latin typeface="Calibri"/>
              </a:rPr>
              <a:t>🟡 Stufe 1 Cowork (kein Code) ← jetzt</a:t>
            </a:r>
          </a:p>
          <a:p>
            <a:pPr>
              <a:spcAft>
                <a:spcPts val="1000"/>
              </a:spcAft>
            </a:pPr>
            <a:r>
              <a:rPr sz="1600" b="1">
                <a:solidFill>
                  <a:srgbClr val="12828C"/>
                </a:solidFill>
                <a:latin typeface="Calibri"/>
              </a:rPr>
              <a:t>✓  </a:t>
            </a:r>
            <a:r>
              <a:rPr sz="1600" b="0">
                <a:solidFill>
                  <a:srgbClr val="2C3E50"/>
                </a:solidFill>
                <a:latin typeface="Calibri"/>
              </a:rPr>
              <a:t>🔵 Stufe 2 Claude Code/Telegram</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1: was der Bot braucht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Dein Business-Brief (aus 4.3)</a:t>
            </a:r>
          </a:p>
          <a:p>
            <a:pPr>
              <a:spcAft>
                <a:spcPts val="1000"/>
              </a:spcAft>
            </a:pPr>
            <a:r>
              <a:rPr sz="1600" b="1">
                <a:solidFill>
                  <a:srgbClr val="12828C"/>
                </a:solidFill>
                <a:latin typeface="Calibri"/>
              </a:rPr>
              <a:t>✓  </a:t>
            </a:r>
            <a:r>
              <a:rPr sz="1600" b="0">
                <a:solidFill>
                  <a:srgbClr val="2C3E50"/>
                </a:solidFill>
                <a:latin typeface="Calibri"/>
              </a:rPr>
              <a:t>Dein Notion (in Cowork verbunden)</a:t>
            </a:r>
          </a:p>
          <a:p>
            <a:pPr>
              <a:spcAft>
                <a:spcPts val="1000"/>
              </a:spcAft>
            </a:pPr>
            <a:r>
              <a:rPr sz="1600" b="1">
                <a:solidFill>
                  <a:srgbClr val="12828C"/>
                </a:solidFill>
                <a:latin typeface="Calibri"/>
              </a:rPr>
              <a:t>✓  </a:t>
            </a:r>
            <a:r>
              <a:rPr sz="1600" b="0">
                <a:solidFill>
                  <a:srgbClr val="2C3E50"/>
                </a:solidFill>
                <a:latin typeface="Calibri"/>
              </a:rPr>
              <a:t>Er liest direkt — kein Reinkopieren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fertige Vorlage (Bonus)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Kompletter System-Prompt fertig</a:t>
            </a:r>
          </a:p>
          <a:p>
            <a:pPr>
              <a:spcAft>
                <a:spcPts val="1000"/>
              </a:spcAft>
            </a:pPr>
            <a:r>
              <a:rPr sz="1600" b="1">
                <a:solidFill>
                  <a:srgbClr val="12828C"/>
                </a:solidFill>
                <a:latin typeface="Calibri"/>
              </a:rPr>
              <a:t>✓  </a:t>
            </a:r>
            <a:r>
              <a:rPr sz="1600" b="0">
                <a:solidFill>
                  <a:srgbClr val="2C3E50"/>
                </a:solidFill>
                <a:latin typeface="Calibri"/>
              </a:rPr>
              <a:t>Du trägst nur Namen + Kontext ein</a:t>
            </a:r>
          </a:p>
          <a:p>
            <a:pPr>
              <a:spcAft>
                <a:spcPts val="1000"/>
              </a:spcAft>
            </a:pPr>
            <a:r>
              <a:rPr sz="1600" b="1">
                <a:solidFill>
                  <a:srgbClr val="12828C"/>
                </a:solidFill>
                <a:latin typeface="Calibri"/>
              </a:rPr>
              <a:t>✓  </a:t>
            </a:r>
            <a:r>
              <a:rPr sz="1600" b="0">
                <a:solidFill>
                  <a:srgbClr val="2C3E50"/>
                </a:solidFill>
                <a:latin typeface="Calibri"/>
              </a:rPr>
              <a:t>Download direkt in der Lektion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1: Cowork + Notion verbinden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Cowork öffnen</a:t>
            </a:r>
          </a:p>
          <a:p>
            <a:pPr>
              <a:spcAft>
                <a:spcPts val="1000"/>
              </a:spcAft>
            </a:pPr>
            <a:r>
              <a:rPr sz="1600" b="1">
                <a:solidFill>
                  <a:srgbClr val="12828C"/>
                </a:solidFill>
                <a:latin typeface="Calibri"/>
              </a:rPr>
              <a:t>✓  </a:t>
            </a:r>
            <a:r>
              <a:rPr sz="1600" b="0">
                <a:solidFill>
                  <a:srgbClr val="2C3E50"/>
                </a:solidFill>
                <a:latin typeface="Calibri"/>
              </a:rPr>
              <a:t>Notion-Connector einstecken (einloggen + freigeben)</a:t>
            </a:r>
          </a:p>
          <a:p>
            <a:pPr>
              <a:spcAft>
                <a:spcPts val="1000"/>
              </a:spcAft>
            </a:pPr>
            <a:r>
              <a:rPr sz="1600" b="1">
                <a:solidFill>
                  <a:srgbClr val="12828C"/>
                </a:solidFill>
                <a:latin typeface="Calibri"/>
              </a:rPr>
              <a:t>✓  </a:t>
            </a:r>
            <a:r>
              <a:rPr sz="1600" b="0">
                <a:solidFill>
                  <a:srgbClr val="2C3E50"/>
                </a:solidFill>
                <a:latin typeface="Calibri"/>
              </a:rPr>
              <a:t>Vorlage einfügen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2: Business-Brief rein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Business-Brief einfügen</a:t>
            </a:r>
          </a:p>
          <a:p>
            <a:pPr>
              <a:spcAft>
                <a:spcPts val="1000"/>
              </a:spcAft>
            </a:pPr>
            <a:r>
              <a:rPr sz="1600" b="1">
                <a:solidFill>
                  <a:srgbClr val="12828C"/>
                </a:solidFill>
                <a:latin typeface="Calibri"/>
              </a:rPr>
              <a:t>✓  </a:t>
            </a:r>
            <a:r>
              <a:rPr sz="1600" b="0">
                <a:solidFill>
                  <a:srgbClr val="2C3E50"/>
                </a:solidFill>
                <a:latin typeface="Calibri"/>
              </a:rPr>
              <a:t>Notion ist schon verbunden</a:t>
            </a:r>
          </a:p>
          <a:p>
            <a:pPr>
              <a:spcAft>
                <a:spcPts val="1000"/>
              </a:spcAft>
            </a:pPr>
            <a:r>
              <a:rPr sz="1600" b="1">
                <a:solidFill>
                  <a:srgbClr val="12828C"/>
                </a:solidFill>
                <a:latin typeface="Calibri"/>
              </a:rPr>
              <a:t>✓  </a:t>
            </a:r>
            <a:r>
              <a:rPr sz="1600" b="0">
                <a:solidFill>
                  <a:srgbClr val="2C3E50"/>
                </a:solidFill>
                <a:latin typeface="Calibri"/>
              </a:rPr>
              <a:t>Der Bot hat alles, was er braucht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3: testen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„Was ist heute mein Fokus?"</a:t>
            </a:r>
          </a:p>
          <a:p>
            <a:pPr>
              <a:spcAft>
                <a:spcPts val="1000"/>
              </a:spcAft>
            </a:pPr>
            <a:r>
              <a:rPr sz="1600" b="1">
                <a:solidFill>
                  <a:srgbClr val="12828C"/>
                </a:solidFill>
                <a:latin typeface="Calibri"/>
              </a:rPr>
              <a:t>✓  </a:t>
            </a:r>
            <a:r>
              <a:rPr sz="1600" b="0">
                <a:solidFill>
                  <a:srgbClr val="2C3E50"/>
                </a:solidFill>
                <a:latin typeface="Calibri"/>
              </a:rPr>
              <a:t>→ Tagesfokus + 3 Aufgaben + Wochenblick</a:t>
            </a:r>
          </a:p>
          <a:p>
            <a:pPr>
              <a:spcAft>
                <a:spcPts val="1000"/>
              </a:spcAft>
            </a:pPr>
            <a:r>
              <a:rPr sz="1600" b="1">
                <a:solidFill>
                  <a:srgbClr val="12828C"/>
                </a:solidFill>
                <a:latin typeface="Calibri"/>
              </a:rPr>
              <a:t>✓  </a:t>
            </a:r>
            <a:r>
              <a:rPr sz="1600" b="0">
                <a:solidFill>
                  <a:srgbClr val="2C3E50"/>
                </a:solidFill>
                <a:latin typeface="Calibri"/>
              </a:rPr>
              <a:t>Wie geil ist das denn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So nutzt du ihn jeden Morgen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Cowork auf → Bot fragen → loslegen</a:t>
            </a:r>
          </a:p>
          <a:p>
            <a:pPr>
              <a:spcAft>
                <a:spcPts val="1000"/>
              </a:spcAft>
            </a:pPr>
            <a:r>
              <a:rPr sz="1600" b="1">
                <a:solidFill>
                  <a:srgbClr val="12828C"/>
                </a:solidFill>
                <a:latin typeface="Calibri"/>
              </a:rPr>
              <a:t>✓  </a:t>
            </a:r>
            <a:r>
              <a:rPr sz="1600" b="0">
                <a:solidFill>
                  <a:srgbClr val="2C3E50"/>
                </a:solidFill>
                <a:latin typeface="Calibri"/>
              </a:rPr>
              <a:t>30 Sekunden statt 10 Minuten Notion</a:t>
            </a:r>
          </a:p>
          <a:p>
            <a:pPr>
              <a:spcAft>
                <a:spcPts val="1000"/>
              </a:spcAft>
            </a:pPr>
            <a:r>
              <a:rPr sz="1600" b="1">
                <a:solidFill>
                  <a:srgbClr val="12828C"/>
                </a:solidFill>
                <a:latin typeface="Calibri"/>
              </a:rPr>
              <a:t>✓  </a:t>
            </a:r>
            <a:r>
              <a:rPr sz="1600" b="0">
                <a:solidFill>
                  <a:srgbClr val="2C3E50"/>
                </a:solidFill>
                <a:latin typeface="Calibri"/>
              </a:rPr>
              <a:t>1× pro Woche neue Woche reinwerfen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2: der automatische Telegram-Bot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Server läuft 24/7 → pusht um 6:30</a:t>
            </a:r>
          </a:p>
          <a:p>
            <a:pPr>
              <a:spcAft>
                <a:spcPts val="1000"/>
              </a:spcAft>
            </a:pPr>
            <a:r>
              <a:rPr sz="1600" b="1">
                <a:solidFill>
                  <a:srgbClr val="12828C"/>
                </a:solidFill>
                <a:latin typeface="Calibri"/>
              </a:rPr>
              <a:t>✓  </a:t>
            </a:r>
            <a:r>
              <a:rPr sz="1600" b="0">
                <a:solidFill>
                  <a:srgbClr val="2C3E50"/>
                </a:solidFill>
                <a:latin typeface="Calibri"/>
              </a:rPr>
              <a:t>Brauchst: Telegram-Bot + Hosting + etwas Code</a:t>
            </a:r>
          </a:p>
          <a:p>
            <a:pPr>
              <a:spcAft>
                <a:spcPts val="1000"/>
              </a:spcAft>
            </a:pPr>
            <a:r>
              <a:rPr sz="1600" b="1">
                <a:solidFill>
                  <a:srgbClr val="12828C"/>
                </a:solidFill>
                <a:latin typeface="Calibri"/>
              </a:rPr>
              <a:t>✓  </a:t>
            </a:r>
            <a:r>
              <a:rPr sz="1600" b="0">
                <a:solidFill>
                  <a:srgbClr val="2C3E50"/>
                </a:solidFill>
                <a:latin typeface="Calibri"/>
              </a:rPr>
              <a:t>Läuft auch wenn der Laptop zu ist</a:t>
            </a:r>
          </a:p>
          <a:p>
            <a:pPr>
              <a:spcAft>
                <a:spcPts val="1000"/>
              </a:spcAft>
            </a:pPr>
            <a:r>
              <a:rPr sz="1600" b="1">
                <a:solidFill>
                  <a:srgbClr val="12828C"/>
                </a:solidFill>
                <a:latin typeface="Calibri"/>
              </a:rPr>
              <a:t>✓  </a:t>
            </a:r>
            <a:r>
              <a:rPr sz="1600" b="0">
                <a:solidFill>
                  <a:srgbClr val="2C3E50"/>
                </a:solidFill>
                <a:latin typeface="Calibri"/>
              </a:rPr>
              <a:t>Gleicher Prompt wie eben — du schreibst NICHTS neu</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2: Kosten + Claude Code führt dich durch</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Hosting ~5 CHF/Mt + ggf. KI-Kosten</a:t>
            </a:r>
          </a:p>
          <a:p>
            <a:pPr>
              <a:spcAft>
                <a:spcPts val="1000"/>
              </a:spcAft>
            </a:pPr>
            <a:r>
              <a:rPr sz="1600" b="1">
                <a:solidFill>
                  <a:srgbClr val="12828C"/>
                </a:solidFill>
                <a:latin typeface="Calibri"/>
              </a:rPr>
              <a:t>✓  </a:t>
            </a:r>
            <a:r>
              <a:rPr sz="1600" b="0">
                <a:solidFill>
                  <a:srgbClr val="2C3E50"/>
                </a:solidFill>
                <a:latin typeface="Calibri"/>
              </a:rPr>
              <a:t>Claude Code schreibt den Code für dich</a:t>
            </a:r>
          </a:p>
          <a:p>
            <a:pPr>
              <a:spcAft>
                <a:spcPts val="1000"/>
              </a:spcAft>
            </a:pPr>
            <a:r>
              <a:rPr sz="1600" b="1">
                <a:solidFill>
                  <a:srgbClr val="12828C"/>
                </a:solidFill>
                <a:latin typeface="Calibri"/>
              </a:rPr>
              <a:t>✓  </a:t>
            </a:r>
            <a:r>
              <a:rPr sz="1600" b="0">
                <a:solidFill>
                  <a:srgbClr val="2C3E50"/>
                </a:solidFill>
                <a:latin typeface="Calibri"/>
              </a:rPr>
              <a:t>KEIN Muss — Stufe 1 trägt weit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Cockpit-Bot bauen + 3 Tage testen</a:t>
            </a:r>
          </a:p>
          <a:p>
            <a:pPr>
              <a:spcAft>
                <a:spcPts val="1000"/>
              </a:spcAft>
            </a:pPr>
            <a:r>
              <a:rPr sz="1600" b="1">
                <a:solidFill>
                  <a:srgbClr val="12828C"/>
                </a:solidFill>
                <a:latin typeface="Calibri"/>
              </a:rPr>
              <a:t>✓  </a:t>
            </a:r>
            <a:r>
              <a:rPr sz="1600" b="0">
                <a:solidFill>
                  <a:srgbClr val="2C3E50"/>
                </a:solidFill>
                <a:latin typeface="Calibri"/>
              </a:rPr>
              <a:t>Nächste Lektion: 4.5 MASTERY — Haushalts-Helfer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