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dieser Lektion klären wir, womit du überhaupt arbeitest, und ich halt das ganz einfach. Ich zeig dir drei Stufen, und das Schöne ist: auf jeder nimmst du was mit, auch wenn du nie irgendwas installierst. Du musst nur wissen, auf welcher du starten willst.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Erste, was du wissen musst: das normale Gratis-Chatfenster, wo du was reintippst und morgen ist alles weg, das reicht fürs Business auf Dauer nicht. Es ist zu statisch und vergisst dich jedes Mal. Du willst was, das dein Wissen behält und in dein Notion schaut, und dafür zeig ich dir die drei Stufen.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Stufe null ist nur dein Notion, ganz ohne Bot. Stufe eins ist Claude Cowork, ein Bot ohne Code. Stufe zwei ist Claude Code, der automatische Profi-Bot. Du fängst da an, wo du dich wohlfühlst, und kannst jederzeit eine Stufe höher. Niemand muss bis Stufe zwei, ganz im Gegenteil.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Stufe null heisst: du hast deine Liste in Notion, mit ein paar fertigen Ansichten, und machst sie einfach auf. Du siehst, welche Termine kommen und was an welchem Tag dran ist. Kein Bot, kein Abo, gar nichts. Allein dass das Zeug aus deinem Kopf raus und an einem Ort ist, ist schon die halbe Miete.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Stufe eins ist mein Liebling für die meisten von euch: Claude Cowork. Das ist eine App auf deinem Computer mit Knöpfen, kein Terminal, kein Programmieren. Du verbindest einmal dein Notion, fügst meine fertige Bot-Vorlage ein, und ab dann fragst du „was ist heute dran" und kriegst deine Antwort aus deinem echten Notion. So einfach ist das.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zum Wort Connector, weil's wichtig ist: stell dir das wie einen Stecker vor. Notion liefert den Stecker, und in Cowork klickst du ihn einmal ein, loggst dich bei Notion ein und sagst, welche Seiten Claude sehen darf. Ab dann reden die zwei miteinander. Genau das kann der nackte Gratis-Chat nicht, deshalb brauchst du Cowork oder Claude Code dafür.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Stufe zwei ist Claude Code, damit baust du einen Bot, der von selbst läuft und dir morgens aufs Handy schreibt, auch wenn dein Laptop zu ist. So läuft meiner. Das ist die Profi-Stufe, braucht etwas mehr und ist ausdrücklich kein Muss. Ich zeig's dir in 4.4 als Ausblick, aber die allermeisten bleiben glücklich auf Stufe eins.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Zum Geld, ganz ehrlich: Stufe null ist gratis. Für Cowork brauchst du ein Claude-Pro-Abo, etwa zwanzig bis dreiundzwanzig Franken im Monat, das ist weniger als ein Mittagessen auswärts und nimmt dir Stunden ab. Nur die Profi-Stufe kostet später noch ein bisschen Hosting obendrauf, aber dazu kommen wir in 4.4.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Rat aus Erfahrung: fang nicht mit fünf Sachen gleichzeitig an. Wähl eine Stufe, bau damit deine zwei Helfer aus dieser Säule, gewöhn dich dran, und erst wenn das sitzt, schaust du dir die nächste an. Sonst verzettelst du dich, und das ist genau das Hamsterrad, aus dem wir dich rausholen.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entscheidest du jetzt, auf welcher Stufe du startest, und legst, falls nötig, deinen Zugang an, damit du in 4.4 sofort bauen kannst. In der nächsten Lektion schreiben wir deinen Business-Brief, das Herzstück, das jeder deiner Helfer braucht.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4 — DU DELEGIERST DEN ADMINKRAM</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Womit du arbeitest</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Die 3 Stufen — Cowork ist dein Freund</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nackte Chat reicht nicht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Gratis-Chat vergisst dich jedes Mal</a:t>
            </a:r>
          </a:p>
          <a:p>
            <a:pPr>
              <a:spcAft>
                <a:spcPts val="1000"/>
              </a:spcAft>
            </a:pPr>
            <a:r>
              <a:rPr sz="1600" b="1">
                <a:solidFill>
                  <a:srgbClr val="12828C"/>
                </a:solidFill>
                <a:latin typeface="Calibri"/>
              </a:rPr>
              <a:t>✓  </a:t>
            </a:r>
            <a:r>
              <a:rPr sz="1600" b="0">
                <a:solidFill>
                  <a:srgbClr val="2C3E50"/>
                </a:solidFill>
                <a:latin typeface="Calibri"/>
              </a:rPr>
              <a:t>Zu statisch fürs Business</a:t>
            </a:r>
          </a:p>
          <a:p>
            <a:pPr>
              <a:spcAft>
                <a:spcPts val="1000"/>
              </a:spcAft>
            </a:pPr>
            <a:r>
              <a:rPr sz="1600" b="1">
                <a:solidFill>
                  <a:srgbClr val="12828C"/>
                </a:solidFill>
                <a:latin typeface="Calibri"/>
              </a:rPr>
              <a:t>✓  </a:t>
            </a:r>
            <a:r>
              <a:rPr sz="1600" b="0">
                <a:solidFill>
                  <a:srgbClr val="2C3E50"/>
                </a:solidFill>
                <a:latin typeface="Calibri"/>
              </a:rPr>
              <a:t>Du willst was, das dein Wissen behält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3 Stufen auf einen Blick</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Stufe 0 — nur Notion (kein Bot)</a:t>
            </a:r>
          </a:p>
          <a:p>
            <a:pPr>
              <a:spcAft>
                <a:spcPts val="1000"/>
              </a:spcAft>
            </a:pPr>
            <a:r>
              <a:rPr sz="1600" b="1">
                <a:solidFill>
                  <a:srgbClr val="12828C"/>
                </a:solidFill>
                <a:latin typeface="Calibri"/>
              </a:rPr>
              <a:t>✓  </a:t>
            </a:r>
            <a:r>
              <a:rPr sz="1600" b="0">
                <a:solidFill>
                  <a:srgbClr val="2C3E50"/>
                </a:solidFill>
                <a:latin typeface="Calibri"/>
              </a:rPr>
              <a:t>🟡 Stufe 1 — Claude Cowork (kein Code)</a:t>
            </a:r>
          </a:p>
          <a:p>
            <a:pPr>
              <a:spcAft>
                <a:spcPts val="1000"/>
              </a:spcAft>
            </a:pPr>
            <a:r>
              <a:rPr sz="1600" b="1">
                <a:solidFill>
                  <a:srgbClr val="12828C"/>
                </a:solidFill>
                <a:latin typeface="Calibri"/>
              </a:rPr>
              <a:t>✓  </a:t>
            </a:r>
            <a:r>
              <a:rPr sz="1600" b="0">
                <a:solidFill>
                  <a:srgbClr val="2C3E50"/>
                </a:solidFill>
                <a:latin typeface="Calibri"/>
              </a:rPr>
              <a:t>🔵 Stufe 2 — Claude Code (automatisch)</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0: Notion allein ist schon ein Win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Liste + fertige Ansichten öffnen</a:t>
            </a:r>
          </a:p>
          <a:p>
            <a:pPr>
              <a:spcAft>
                <a:spcPts val="1000"/>
              </a:spcAft>
            </a:pPr>
            <a:r>
              <a:rPr sz="1600" b="1">
                <a:solidFill>
                  <a:srgbClr val="12828C"/>
                </a:solidFill>
                <a:latin typeface="Calibri"/>
              </a:rPr>
              <a:t>✓  </a:t>
            </a:r>
            <a:r>
              <a:rPr sz="1600" b="0">
                <a:solidFill>
                  <a:srgbClr val="2C3E50"/>
                </a:solidFill>
                <a:latin typeface="Calibri"/>
              </a:rPr>
              <a:t>Du siehst Termine + was am Tag dran ist</a:t>
            </a:r>
          </a:p>
          <a:p>
            <a:pPr>
              <a:spcAft>
                <a:spcPts val="1000"/>
              </a:spcAft>
            </a:pPr>
            <a:r>
              <a:rPr sz="1600" b="1">
                <a:solidFill>
                  <a:srgbClr val="12828C"/>
                </a:solidFill>
                <a:latin typeface="Calibri"/>
              </a:rPr>
              <a:t>✓  </a:t>
            </a:r>
            <a:r>
              <a:rPr sz="1600" b="0">
                <a:solidFill>
                  <a:srgbClr val="2C3E50"/>
                </a:solidFill>
                <a:latin typeface="Calibri"/>
              </a:rPr>
              <a:t>Kein Bot, kein Abo — Kopf ist frei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1: Claude Cowork — dein Bot ohne Code</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Desktop-App mit Knöpfen, kein Terminal</a:t>
            </a:r>
          </a:p>
          <a:p>
            <a:pPr>
              <a:spcAft>
                <a:spcPts val="1000"/>
              </a:spcAft>
            </a:pPr>
            <a:r>
              <a:rPr sz="1600" b="1">
                <a:solidFill>
                  <a:srgbClr val="12828C"/>
                </a:solidFill>
                <a:latin typeface="Calibri"/>
              </a:rPr>
              <a:t>✓  </a:t>
            </a:r>
            <a:r>
              <a:rPr sz="1600" b="0">
                <a:solidFill>
                  <a:srgbClr val="2C3E50"/>
                </a:solidFill>
                <a:latin typeface="Calibri"/>
              </a:rPr>
              <a:t>Notion verbinden + Vorlage einfügen</a:t>
            </a:r>
          </a:p>
          <a:p>
            <a:pPr>
              <a:spcAft>
                <a:spcPts val="1000"/>
              </a:spcAft>
            </a:pPr>
            <a:r>
              <a:rPr sz="1600" b="1">
                <a:solidFill>
                  <a:srgbClr val="12828C"/>
                </a:solidFill>
                <a:latin typeface="Calibri"/>
              </a:rPr>
              <a:t>✓  </a:t>
            </a:r>
            <a:r>
              <a:rPr sz="1600" b="0">
                <a:solidFill>
                  <a:srgbClr val="2C3E50"/>
                </a:solidFill>
                <a:latin typeface="Calibri"/>
              </a:rPr>
              <a:t>Fragen: „was ist heute dran?"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ist ein „Connector"?</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Der Stecker zwischen Claude und Notion</a:t>
            </a:r>
          </a:p>
          <a:p>
            <a:pPr>
              <a:spcAft>
                <a:spcPts val="1000"/>
              </a:spcAft>
            </a:pPr>
            <a:r>
              <a:rPr sz="1600" b="1">
                <a:solidFill>
                  <a:srgbClr val="12828C"/>
                </a:solidFill>
                <a:latin typeface="Calibri"/>
              </a:rPr>
              <a:t>✓  </a:t>
            </a:r>
            <a:r>
              <a:rPr sz="1600" b="0">
                <a:solidFill>
                  <a:srgbClr val="2C3E50"/>
                </a:solidFill>
                <a:latin typeface="Calibri"/>
              </a:rPr>
              <a:t>Einmal einstecken (Notion-Login)</a:t>
            </a:r>
          </a:p>
          <a:p>
            <a:pPr>
              <a:spcAft>
                <a:spcPts val="1000"/>
              </a:spcAft>
            </a:pPr>
            <a:r>
              <a:rPr sz="1600" b="1">
                <a:solidFill>
                  <a:srgbClr val="12828C"/>
                </a:solidFill>
                <a:latin typeface="Calibri"/>
              </a:rPr>
              <a:t>✓  </a:t>
            </a:r>
            <a:r>
              <a:rPr sz="1600" b="0">
                <a:solidFill>
                  <a:srgbClr val="2C3E50"/>
                </a:solidFill>
                <a:latin typeface="Calibri"/>
              </a:rPr>
              <a:t>Du gibst frei, was er sehen darf</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Stufe 2: Claude Code (Ausblick)</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Bot läuft von selbst, aufs Handy</a:t>
            </a:r>
          </a:p>
          <a:p>
            <a:pPr>
              <a:spcAft>
                <a:spcPts val="1000"/>
              </a:spcAft>
            </a:pPr>
            <a:r>
              <a:rPr sz="1600" b="1">
                <a:solidFill>
                  <a:srgbClr val="12828C"/>
                </a:solidFill>
                <a:latin typeface="Calibri"/>
              </a:rPr>
              <a:t>✓  </a:t>
            </a:r>
            <a:r>
              <a:rPr sz="1600" b="0">
                <a:solidFill>
                  <a:srgbClr val="2C3E50"/>
                </a:solidFill>
                <a:latin typeface="Calibri"/>
              </a:rPr>
              <a:t>Auch wenn der Laptop zu ist</a:t>
            </a:r>
          </a:p>
          <a:p>
            <a:pPr>
              <a:spcAft>
                <a:spcPts val="1000"/>
              </a:spcAft>
            </a:pPr>
            <a:r>
              <a:rPr sz="1600" b="1">
                <a:solidFill>
                  <a:srgbClr val="12828C"/>
                </a:solidFill>
                <a:latin typeface="Calibri"/>
              </a:rPr>
              <a:t>✓  </a:t>
            </a:r>
            <a:r>
              <a:rPr sz="1600" b="0">
                <a:solidFill>
                  <a:srgbClr val="2C3E50"/>
                </a:solidFill>
                <a:latin typeface="Calibri"/>
              </a:rPr>
              <a:t>Profi-Stufe, kein Muss</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Was kostet das?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Stufe 0: gratis</a:t>
            </a:r>
          </a:p>
          <a:p>
            <a:pPr>
              <a:spcAft>
                <a:spcPts val="1000"/>
              </a:spcAft>
            </a:pPr>
            <a:r>
              <a:rPr sz="1600" b="1">
                <a:solidFill>
                  <a:srgbClr val="12828C"/>
                </a:solidFill>
                <a:latin typeface="Calibri"/>
              </a:rPr>
              <a:t>✓  </a:t>
            </a:r>
            <a:r>
              <a:rPr sz="1600" b="0">
                <a:solidFill>
                  <a:srgbClr val="2C3E50"/>
                </a:solidFill>
                <a:latin typeface="Calibri"/>
              </a:rPr>
              <a:t>Stufe 1 Cowork: ~20-23 CHF/Monat (Claude Pro)</a:t>
            </a:r>
          </a:p>
          <a:p>
            <a:pPr>
              <a:spcAft>
                <a:spcPts val="1000"/>
              </a:spcAft>
            </a:pPr>
            <a:r>
              <a:rPr sz="1600" b="1">
                <a:solidFill>
                  <a:srgbClr val="12828C"/>
                </a:solidFill>
                <a:latin typeface="Calibri"/>
              </a:rPr>
              <a:t>✓  </a:t>
            </a:r>
            <a:r>
              <a:rPr sz="1600" b="0">
                <a:solidFill>
                  <a:srgbClr val="2C3E50"/>
                </a:solidFill>
                <a:latin typeface="Calibri"/>
              </a:rPr>
              <a:t>Stufe 2: + Hosting ~5 CHF/Monat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Eins nach dem anderen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Nicht 5 Sachen gleichzeitig</a:t>
            </a:r>
          </a:p>
          <a:p>
            <a:pPr>
              <a:spcAft>
                <a:spcPts val="1000"/>
              </a:spcAft>
            </a:pPr>
            <a:r>
              <a:rPr sz="1600" b="1">
                <a:solidFill>
                  <a:srgbClr val="12828C"/>
                </a:solidFill>
                <a:latin typeface="Calibri"/>
              </a:rPr>
              <a:t>✓  </a:t>
            </a:r>
            <a:r>
              <a:rPr sz="1600" b="0">
                <a:solidFill>
                  <a:srgbClr val="2C3E50"/>
                </a:solidFill>
                <a:latin typeface="Calibri"/>
              </a:rPr>
              <a:t>Eine Stufe, zwei Bots, dann weiterschauen</a:t>
            </a:r>
          </a:p>
          <a:p>
            <a:pPr>
              <a:spcAft>
                <a:spcPts val="1000"/>
              </a:spcAft>
            </a:pPr>
            <a:r>
              <a:rPr sz="1600" b="1">
                <a:solidFill>
                  <a:srgbClr val="12828C"/>
                </a:solidFill>
                <a:latin typeface="Calibri"/>
              </a:rPr>
              <a:t>✓  </a:t>
            </a:r>
            <a:r>
              <a:rPr sz="1600" b="0">
                <a:solidFill>
                  <a:srgbClr val="2C3E50"/>
                </a:solidFill>
                <a:latin typeface="Calibri"/>
              </a:rPr>
              <a:t>Sonst verzettelst du dich</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Wähle deine Stufe + leg den Zugang an</a:t>
            </a:r>
          </a:p>
          <a:p>
            <a:pPr>
              <a:spcAft>
                <a:spcPts val="1000"/>
              </a:spcAft>
            </a:pPr>
            <a:r>
              <a:rPr sz="1600" b="1">
                <a:solidFill>
                  <a:srgbClr val="12828C"/>
                </a:solidFill>
                <a:latin typeface="Calibri"/>
              </a:rPr>
              <a:t>✓  </a:t>
            </a:r>
            <a:r>
              <a:rPr sz="1600" b="0">
                <a:solidFill>
                  <a:srgbClr val="2C3E50"/>
                </a:solidFill>
                <a:latin typeface="Calibri"/>
              </a:rPr>
              <a:t>Nächste Lektion: 4.3 — dein Business-Brief</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4 · Lektion 4.2</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