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Lst>
  <p:sldSz cx="9144000" cy="51435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Willkommen in Säule 4, dem Teil, auf den ich mich am meisten freue, weil hier deine KI-Mitarbeiter entstehen. Aber bevor wir irgendwas bauen, müssen wir über die eine Sache reden, die fast jede Mama falsch macht, wenn sie mit KI startet.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Hand aufs Herz, vielleicht hast du es selbst schon gedacht: ich hab ChatGPT mal aufgemacht, irgendwas gefragt, und das Ergebnis war so allgemein und unbrauchbar, dass ich es wieder zugemacht hab. Das kenn ich, und ich verspreche dir, es liegt fast nie an der KI.</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Der grösste Irrtum ist, dass KI ein Zauberkasten ist, wo du auf einen Knopf drückst und dein halbes Business kommt fertig raus. So funktioniert das nicht, und wer das erwartet, ist enttäuscht. Die Wahrheit ist viel beruhigender, weil sie bedeutet, dass DU am Steuer bleibst.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Stell dir KI lieber als Praktikantin vor. Sie ist superschnell, sie wird nie müde, und sie beschwert sich nie. Aber sie weiss am ersten Tag absolut nichts über dich, dein Business und deine Kundinnen. Und genau wie eine echte Praktikantin liefert sie nur dann was Brauchbares, wenn du sie vernünftig einarbeitest.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Daraus folgt die wichtigste KI-Regel überhaupt: Müll rein, Müll raus. Wenn du vage fragst, kriegst du Vages zurück, und wenn du genau sagst was du brauchst und wer du bist, kriegst du was Brauchbares. Dein Ergebnis ist immer nur so gut wie dein Auftrag, und das ist eine gute Nachricht, weil du den Auftrag in der Hand hast.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Ich sag dir mal ganz ehrlich, warum bei mir so viele KI-Helfer laufen: nicht weil ich programmieren kann oder ein Tech-Genie bin, ich bin Mama von vier Kindern und hab mir das alles selbst beigebracht. Es funktioniert, weil ich gelernt hab, gute Aufträge zu geben. Das kannst du genauso lernen, und genau das machen wir in dieser Säule.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Ein guter KI-Auftrag hat immer drei Zutaten. Erstens Kontext, also wer bist du und für wen arbeitest du. Zweitens eine klare Aufgabe, nicht „mach mir Content", sondern „schreib mir drei Story-Ideen zum Thema X für Mamas im Network". Und drittens ein Beispiel, damit sie deinen Stil trifft. Diese drei Dinge bauen wir in den nächsten Lektionen Stück für Stück auf.</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Und das ist unser Fahrplan: wir bauen zwei KI-Mitarbeiter, die im Grunde Zwillinge sind. Den Cockpit-Bot, der morgens in dein Notion-Business schaut, und den Haushalts-Helfer, der genauso deine Haushalts-Liste im Kopf behält. Einer fürs Business, einer fürs Zuhause, weil der Adminkram an beiden Orten an dir zerrt.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 Arbeitsblatt schreibst du kurz auf, wo dich KI bisher genervt hat, denn am Ende der Säule schaust du nochmal drauf und siehst den Unterschied. In der nächsten Lektion klären wir kurz, womit du überhaupt arbeitest, damit du nicht in der Auswahl hängenbleibst. Bis gleich.</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6858000" y="3840480"/>
            <a:ext cx="3200400" cy="3200400"/>
          </a:xfrm>
          <a:prstGeom prst="ellipse">
            <a:avLst/>
          </a:prstGeom>
          <a:solidFill>
            <a:srgbClr val="DC82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48640"/>
            <a:ext cx="8046720" cy="365760"/>
          </a:xfrm>
          <a:prstGeom prst="rect">
            <a:avLst/>
          </a:prstGeom>
          <a:noFill/>
        </p:spPr>
        <p:txBody>
          <a:bodyPr wrap="square">
            <a:spAutoFit/>
          </a:bodyPr>
          <a:lstStyle/>
          <a:p>
            <a:r>
              <a:rPr sz="1100" b="1">
                <a:solidFill>
                  <a:srgbClr val="DC822E"/>
                </a:solidFill>
                <a:latin typeface="Calibri"/>
              </a:rPr>
              <a:t>SÄULE 4 — DU DELEGIERST DEN ADMINKRAM</a:t>
            </a:r>
          </a:p>
        </p:txBody>
      </p:sp>
      <p:sp>
        <p:nvSpPr>
          <p:cNvPr id="4" name="Rectangle 3"/>
          <p:cNvSpPr/>
          <p:nvPr/>
        </p:nvSpPr>
        <p:spPr>
          <a:xfrm>
            <a:off x="548640" y="960120"/>
            <a:ext cx="548640" cy="45720"/>
          </a:xfrm>
          <a:prstGeom prst="rect">
            <a:avLst/>
          </a:prstGeom>
          <a:solidFill>
            <a:srgbClr val="DC82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234440"/>
            <a:ext cx="7863840" cy="1554480"/>
          </a:xfrm>
          <a:prstGeom prst="rect">
            <a:avLst/>
          </a:prstGeom>
          <a:noFill/>
        </p:spPr>
        <p:txBody>
          <a:bodyPr wrap="square">
            <a:spAutoFit/>
          </a:bodyPr>
          <a:lstStyle/>
          <a:p>
            <a:r>
              <a:rPr sz="4400" b="1">
                <a:solidFill>
                  <a:srgbClr val="1A3A4A"/>
                </a:solidFill>
                <a:latin typeface="Georgia"/>
              </a:rPr>
              <a:t>KI-Mythos vs. Realität</a:t>
            </a:r>
          </a:p>
        </p:txBody>
      </p:sp>
      <p:sp>
        <p:nvSpPr>
          <p:cNvPr id="6" name="TextBox 5"/>
          <p:cNvSpPr txBox="1"/>
          <p:nvPr/>
        </p:nvSpPr>
        <p:spPr>
          <a:xfrm>
            <a:off x="548640" y="2880360"/>
            <a:ext cx="7680960" cy="1280160"/>
          </a:xfrm>
          <a:prstGeom prst="rect">
            <a:avLst/>
          </a:prstGeom>
          <a:noFill/>
        </p:spPr>
        <p:txBody>
          <a:bodyPr wrap="square">
            <a:spAutoFit/>
          </a:bodyPr>
          <a:lstStyle/>
          <a:p>
            <a:r>
              <a:rPr sz="1800" b="0">
                <a:solidFill>
                  <a:srgbClr val="2C3E50"/>
                </a:solidFill>
                <a:latin typeface="Georgia"/>
              </a:rPr>
              <a:t>Input ist alles</a:t>
            </a:r>
          </a:p>
        </p:txBody>
      </p:sp>
      <p:sp>
        <p:nvSpPr>
          <p:cNvPr id="7" name="TextBox 6"/>
          <p:cNvSpPr txBox="1"/>
          <p:nvPr/>
        </p:nvSpPr>
        <p:spPr>
          <a:xfrm>
            <a:off x="548640" y="4572000"/>
            <a:ext cx="3657600" cy="365760"/>
          </a:xfrm>
          <a:prstGeom prst="rect">
            <a:avLst/>
          </a:prstGeom>
          <a:noFill/>
        </p:spPr>
        <p:txBody>
          <a:bodyPr wrap="square">
            <a:spAutoFit/>
          </a:bodyPr>
          <a:lstStyle/>
          <a:p>
            <a:r>
              <a:rPr sz="1200" b="1">
                <a:solidFill>
                  <a:srgbClr val="12828C"/>
                </a:solidFill>
                <a:latin typeface="Calibri"/>
              </a:rPr>
              <a:t>Patricia Ulmann</a:t>
            </a:r>
          </a:p>
        </p:txBody>
      </p:sp>
      <p:sp>
        <p:nvSpPr>
          <p:cNvPr id="8" name="TextBox 7"/>
          <p:cNvSpPr txBox="1"/>
          <p:nvPr/>
        </p:nvSpPr>
        <p:spPr>
          <a:xfrm>
            <a:off x="4937760" y="4572000"/>
            <a:ext cx="3657600" cy="365760"/>
          </a:xfrm>
          <a:prstGeom prst="rect">
            <a:avLst/>
          </a:prstGeom>
          <a:noFill/>
        </p:spPr>
        <p:txBody>
          <a:bodyPr wrap="square">
            <a:spAutoFit/>
          </a:bodyPr>
          <a:lstStyle/>
          <a:p>
            <a:pPr algn="r"/>
            <a:r>
              <a:rPr sz="1100" b="0">
                <a:solidFill>
                  <a:srgbClr val="7A8A95"/>
                </a:solidFill>
                <a:latin typeface="Calibri"/>
              </a:rPr>
              <a:t>mumlifebalance.ch</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57200"/>
            <a:ext cx="8046720" cy="914400"/>
          </a:xfrm>
          <a:prstGeom prst="rect">
            <a:avLst/>
          </a:prstGeom>
          <a:noFill/>
        </p:spPr>
        <p:txBody>
          <a:bodyPr wrap="square">
            <a:spAutoFit/>
          </a:bodyPr>
          <a:lstStyle/>
          <a:p>
            <a:r>
              <a:rPr sz="3000" b="1">
                <a:solidFill>
                  <a:srgbClr val="1A3A4A"/>
                </a:solidFill>
                <a:latin typeface="Georgia"/>
              </a:rPr>
              <a:t>„KI bringt mir nichts"</a:t>
            </a:r>
          </a:p>
        </p:txBody>
      </p:sp>
      <p:sp>
        <p:nvSpPr>
          <p:cNvPr id="3" name="TextBox 2"/>
          <p:cNvSpPr txBox="1"/>
          <p:nvPr/>
        </p:nvSpPr>
        <p:spPr>
          <a:xfrm>
            <a:off x="548640" y="1417320"/>
            <a:ext cx="8046720" cy="3154680"/>
          </a:xfrm>
          <a:prstGeom prst="rect">
            <a:avLst/>
          </a:prstGeom>
          <a:noFill/>
        </p:spPr>
        <p:txBody>
          <a:bodyPr wrap="square">
            <a:spAutoFit/>
          </a:bodyPr>
          <a:lstStyle/>
          <a:p>
            <a:pPr>
              <a:spcAft>
                <a:spcPts val="1000"/>
              </a:spcAft>
            </a:pPr>
            <a:r>
              <a:rPr sz="1600" b="1">
                <a:solidFill>
                  <a:srgbClr val="12828C"/>
                </a:solidFill>
                <a:latin typeface="Calibri"/>
              </a:rPr>
              <a:t>▸  </a:t>
            </a:r>
            <a:r>
              <a:rPr sz="1600" b="0">
                <a:solidFill>
                  <a:srgbClr val="2C3E50"/>
                </a:solidFill>
                <a:latin typeface="Calibri"/>
              </a:rPr>
              <a:t>Aufgemacht, gefragt, unbrauchbar — wieder zu</a:t>
            </a:r>
          </a:p>
          <a:p>
            <a:pPr>
              <a:spcAft>
                <a:spcPts val="1000"/>
              </a:spcAft>
            </a:pPr>
            <a:r>
              <a:rPr sz="1600" b="1">
                <a:solidFill>
                  <a:srgbClr val="12828C"/>
                </a:solidFill>
                <a:latin typeface="Calibri"/>
              </a:rPr>
              <a:t>▸  </a:t>
            </a:r>
            <a:r>
              <a:rPr sz="1600" b="0">
                <a:solidFill>
                  <a:srgbClr val="2C3E50"/>
                </a:solidFill>
                <a:latin typeface="Calibri"/>
              </a:rPr>
              <a:t>Das kennen viele</a:t>
            </a:r>
          </a:p>
          <a:p>
            <a:pPr>
              <a:spcAft>
                <a:spcPts val="1000"/>
              </a:spcAft>
            </a:pPr>
            <a:r>
              <a:rPr sz="1600" b="1">
                <a:solidFill>
                  <a:srgbClr val="12828C"/>
                </a:solidFill>
                <a:latin typeface="Calibri"/>
              </a:rPr>
              <a:t>▸  </a:t>
            </a:r>
            <a:r>
              <a:rPr sz="1600" b="0">
                <a:solidFill>
                  <a:srgbClr val="2C3E50"/>
                </a:solidFill>
                <a:latin typeface="Calibri"/>
              </a:rPr>
              <a:t>Es liegt fast nie an der KI</a:t>
            </a:r>
          </a:p>
        </p:txBody>
      </p:sp>
      <p:sp>
        <p:nvSpPr>
          <p:cNvPr id="4" name="TextBox 3"/>
          <p:cNvSpPr txBox="1"/>
          <p:nvPr/>
        </p:nvSpPr>
        <p:spPr>
          <a:xfrm>
            <a:off x="457200" y="4754880"/>
            <a:ext cx="5486400" cy="274320"/>
          </a:xfrm>
          <a:prstGeom prst="rect">
            <a:avLst/>
          </a:prstGeom>
          <a:noFill/>
        </p:spPr>
        <p:txBody>
          <a:bodyPr wrap="square">
            <a:spAutoFit/>
          </a:bodyPr>
          <a:lstStyle/>
          <a:p>
            <a:r>
              <a:rPr sz="900" b="0">
                <a:solidFill>
                  <a:srgbClr val="7A8A95"/>
                </a:solidFill>
                <a:latin typeface="Calibri"/>
              </a:rPr>
              <a:t>Mama-CEO · Säule 4 · Lektion 4.1</a:t>
            </a:r>
          </a:p>
        </p:txBody>
      </p:sp>
      <p:sp>
        <p:nvSpPr>
          <p:cNvPr id="5" name="TextBox 4"/>
          <p:cNvSpPr txBox="1"/>
          <p:nvPr/>
        </p:nvSpPr>
        <p:spPr>
          <a:xfrm>
            <a:off x="6400800" y="4754880"/>
            <a:ext cx="2286000" cy="274320"/>
          </a:xfrm>
          <a:prstGeom prst="rect">
            <a:avLst/>
          </a:prstGeom>
          <a:noFill/>
        </p:spPr>
        <p:txBody>
          <a:bodyPr wrap="square">
            <a:spAutoFit/>
          </a:bodyPr>
          <a:lstStyle/>
          <a:p>
            <a:pPr algn="r"/>
            <a:r>
              <a:rPr sz="900" b="0">
                <a:solidFill>
                  <a:srgbClr val="7A8A95"/>
                </a:solidFill>
                <a:latin typeface="Calibri"/>
              </a:rPr>
              <a:t>Mum Life Balance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57200"/>
            <a:ext cx="8046720" cy="914400"/>
          </a:xfrm>
          <a:prstGeom prst="rect">
            <a:avLst/>
          </a:prstGeom>
          <a:noFill/>
        </p:spPr>
        <p:txBody>
          <a:bodyPr wrap="square">
            <a:spAutoFit/>
          </a:bodyPr>
          <a:lstStyle/>
          <a:p>
            <a:r>
              <a:rPr sz="3000" b="1">
                <a:solidFill>
                  <a:srgbClr val="1A3A4A"/>
                </a:solidFill>
                <a:latin typeface="Georgia"/>
              </a:rPr>
              <a:t>Der Mythos: KI als Zauberkasten</a:t>
            </a:r>
          </a:p>
        </p:txBody>
      </p:sp>
      <p:sp>
        <p:nvSpPr>
          <p:cNvPr id="3" name="TextBox 2"/>
          <p:cNvSpPr txBox="1"/>
          <p:nvPr/>
        </p:nvSpPr>
        <p:spPr>
          <a:xfrm>
            <a:off x="548640" y="1417320"/>
            <a:ext cx="8046720" cy="3154680"/>
          </a:xfrm>
          <a:prstGeom prst="rect">
            <a:avLst/>
          </a:prstGeom>
          <a:noFill/>
        </p:spPr>
        <p:txBody>
          <a:bodyPr wrap="square">
            <a:spAutoFit/>
          </a:bodyPr>
          <a:lstStyle/>
          <a:p>
            <a:pPr>
              <a:spcAft>
                <a:spcPts val="1000"/>
              </a:spcAft>
            </a:pPr>
            <a:r>
              <a:rPr sz="1600" b="1">
                <a:solidFill>
                  <a:srgbClr val="12828C"/>
                </a:solidFill>
                <a:latin typeface="Calibri"/>
              </a:rPr>
              <a:t>▸  </a:t>
            </a:r>
            <a:r>
              <a:rPr sz="1600" b="0">
                <a:solidFill>
                  <a:srgbClr val="2C3E50"/>
                </a:solidFill>
                <a:latin typeface="Calibri"/>
              </a:rPr>
              <a:t>❌ Knopf drücken → fertiges Business</a:t>
            </a:r>
          </a:p>
          <a:p>
            <a:pPr>
              <a:spcAft>
                <a:spcPts val="1000"/>
              </a:spcAft>
            </a:pPr>
            <a:r>
              <a:rPr sz="1600" b="1">
                <a:solidFill>
                  <a:srgbClr val="12828C"/>
                </a:solidFill>
                <a:latin typeface="Calibri"/>
              </a:rPr>
              <a:t>▸  </a:t>
            </a:r>
            <a:r>
              <a:rPr sz="1600" b="0">
                <a:solidFill>
                  <a:srgbClr val="2C3E50"/>
                </a:solidFill>
                <a:latin typeface="Calibri"/>
              </a:rPr>
              <a:t>So funktioniert das nicht</a:t>
            </a:r>
          </a:p>
          <a:p>
            <a:pPr>
              <a:spcAft>
                <a:spcPts val="1000"/>
              </a:spcAft>
            </a:pPr>
            <a:r>
              <a:rPr sz="1600" b="1">
                <a:solidFill>
                  <a:srgbClr val="12828C"/>
                </a:solidFill>
                <a:latin typeface="Calibri"/>
              </a:rPr>
              <a:t>▸  </a:t>
            </a:r>
            <a:r>
              <a:rPr sz="1600" b="0">
                <a:solidFill>
                  <a:srgbClr val="2C3E50"/>
                </a:solidFill>
                <a:latin typeface="Calibri"/>
              </a:rPr>
              <a:t>Die Wahrheit: DU bleibst am Steuer</a:t>
            </a:r>
          </a:p>
        </p:txBody>
      </p:sp>
      <p:sp>
        <p:nvSpPr>
          <p:cNvPr id="4" name="TextBox 3"/>
          <p:cNvSpPr txBox="1"/>
          <p:nvPr/>
        </p:nvSpPr>
        <p:spPr>
          <a:xfrm>
            <a:off x="457200" y="4754880"/>
            <a:ext cx="5486400" cy="274320"/>
          </a:xfrm>
          <a:prstGeom prst="rect">
            <a:avLst/>
          </a:prstGeom>
          <a:noFill/>
        </p:spPr>
        <p:txBody>
          <a:bodyPr wrap="square">
            <a:spAutoFit/>
          </a:bodyPr>
          <a:lstStyle/>
          <a:p>
            <a:r>
              <a:rPr sz="900" b="0">
                <a:solidFill>
                  <a:srgbClr val="7A8A95"/>
                </a:solidFill>
                <a:latin typeface="Calibri"/>
              </a:rPr>
              <a:t>Mama-CEO · Säule 4 · Lektion 4.1</a:t>
            </a:r>
          </a:p>
        </p:txBody>
      </p:sp>
      <p:sp>
        <p:nvSpPr>
          <p:cNvPr id="5" name="TextBox 4"/>
          <p:cNvSpPr txBox="1"/>
          <p:nvPr/>
        </p:nvSpPr>
        <p:spPr>
          <a:xfrm>
            <a:off x="6400800" y="4754880"/>
            <a:ext cx="2286000" cy="274320"/>
          </a:xfrm>
          <a:prstGeom prst="rect">
            <a:avLst/>
          </a:prstGeom>
          <a:noFill/>
        </p:spPr>
        <p:txBody>
          <a:bodyPr wrap="square">
            <a:spAutoFit/>
          </a:bodyPr>
          <a:lstStyle/>
          <a:p>
            <a:pPr algn="r"/>
            <a:r>
              <a:rPr sz="900" b="0">
                <a:solidFill>
                  <a:srgbClr val="7A8A95"/>
                </a:solidFill>
                <a:latin typeface="Calibri"/>
              </a:rPr>
              <a:t>Mum Life Balance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57200"/>
            <a:ext cx="8046720" cy="914400"/>
          </a:xfrm>
          <a:prstGeom prst="rect">
            <a:avLst/>
          </a:prstGeom>
          <a:noFill/>
        </p:spPr>
        <p:txBody>
          <a:bodyPr wrap="square">
            <a:spAutoFit/>
          </a:bodyPr>
          <a:lstStyle/>
          <a:p>
            <a:r>
              <a:rPr sz="3000" b="1">
                <a:solidFill>
                  <a:srgbClr val="1A3A4A"/>
                </a:solidFill>
                <a:latin typeface="Georgia"/>
              </a:rPr>
              <a:t>KI ist eine Praktikantin</a:t>
            </a:r>
          </a:p>
        </p:txBody>
      </p:sp>
      <p:sp>
        <p:nvSpPr>
          <p:cNvPr id="3" name="TextBox 2"/>
          <p:cNvSpPr txBox="1"/>
          <p:nvPr/>
        </p:nvSpPr>
        <p:spPr>
          <a:xfrm>
            <a:off x="548640" y="1417320"/>
            <a:ext cx="8046720" cy="3154680"/>
          </a:xfrm>
          <a:prstGeom prst="rect">
            <a:avLst/>
          </a:prstGeom>
          <a:noFill/>
        </p:spPr>
        <p:txBody>
          <a:bodyPr wrap="square">
            <a:spAutoFit/>
          </a:bodyPr>
          <a:lstStyle/>
          <a:p>
            <a:pPr>
              <a:spcAft>
                <a:spcPts val="1000"/>
              </a:spcAft>
            </a:pPr>
            <a:r>
              <a:rPr sz="1600" b="1">
                <a:solidFill>
                  <a:srgbClr val="12828C"/>
                </a:solidFill>
                <a:latin typeface="Calibri"/>
              </a:rPr>
              <a:t>▸  </a:t>
            </a:r>
            <a:r>
              <a:rPr sz="1600" b="0">
                <a:solidFill>
                  <a:srgbClr val="2C3E50"/>
                </a:solidFill>
                <a:latin typeface="Calibri"/>
              </a:rPr>
              <a:t>Schnell, fleissig, nie müde</a:t>
            </a:r>
          </a:p>
          <a:p>
            <a:pPr>
              <a:spcAft>
                <a:spcPts val="1000"/>
              </a:spcAft>
            </a:pPr>
            <a:r>
              <a:rPr sz="1600" b="1">
                <a:solidFill>
                  <a:srgbClr val="12828C"/>
                </a:solidFill>
                <a:latin typeface="Calibri"/>
              </a:rPr>
              <a:t>▸  </a:t>
            </a:r>
            <a:r>
              <a:rPr sz="1600" b="0">
                <a:solidFill>
                  <a:srgbClr val="2C3E50"/>
                </a:solidFill>
                <a:latin typeface="Calibri"/>
              </a:rPr>
              <a:t>Weiss am ersten Tag nichts über dich</a:t>
            </a:r>
          </a:p>
          <a:p>
            <a:pPr>
              <a:spcAft>
                <a:spcPts val="1000"/>
              </a:spcAft>
            </a:pPr>
            <a:r>
              <a:rPr sz="1600" b="1">
                <a:solidFill>
                  <a:srgbClr val="12828C"/>
                </a:solidFill>
                <a:latin typeface="Calibri"/>
              </a:rPr>
              <a:t>▸  </a:t>
            </a:r>
            <a:r>
              <a:rPr sz="1600" b="0">
                <a:solidFill>
                  <a:srgbClr val="2C3E50"/>
                </a:solidFill>
                <a:latin typeface="Calibri"/>
              </a:rPr>
              <a:t>Nur gut mit Einarbeitung</a:t>
            </a:r>
          </a:p>
        </p:txBody>
      </p:sp>
      <p:sp>
        <p:nvSpPr>
          <p:cNvPr id="4" name="TextBox 3"/>
          <p:cNvSpPr txBox="1"/>
          <p:nvPr/>
        </p:nvSpPr>
        <p:spPr>
          <a:xfrm>
            <a:off x="457200" y="4754880"/>
            <a:ext cx="5486400" cy="274320"/>
          </a:xfrm>
          <a:prstGeom prst="rect">
            <a:avLst/>
          </a:prstGeom>
          <a:noFill/>
        </p:spPr>
        <p:txBody>
          <a:bodyPr wrap="square">
            <a:spAutoFit/>
          </a:bodyPr>
          <a:lstStyle/>
          <a:p>
            <a:r>
              <a:rPr sz="900" b="0">
                <a:solidFill>
                  <a:srgbClr val="7A8A95"/>
                </a:solidFill>
                <a:latin typeface="Calibri"/>
              </a:rPr>
              <a:t>Mama-CEO · Säule 4 · Lektion 4.1</a:t>
            </a:r>
          </a:p>
        </p:txBody>
      </p:sp>
      <p:sp>
        <p:nvSpPr>
          <p:cNvPr id="5" name="TextBox 4"/>
          <p:cNvSpPr txBox="1"/>
          <p:nvPr/>
        </p:nvSpPr>
        <p:spPr>
          <a:xfrm>
            <a:off x="6400800" y="4754880"/>
            <a:ext cx="2286000" cy="274320"/>
          </a:xfrm>
          <a:prstGeom prst="rect">
            <a:avLst/>
          </a:prstGeom>
          <a:noFill/>
        </p:spPr>
        <p:txBody>
          <a:bodyPr wrap="square">
            <a:spAutoFit/>
          </a:bodyPr>
          <a:lstStyle/>
          <a:p>
            <a:pPr algn="r"/>
            <a:r>
              <a:rPr sz="900" b="0">
                <a:solidFill>
                  <a:srgbClr val="7A8A95"/>
                </a:solidFill>
                <a:latin typeface="Calibri"/>
              </a:rPr>
              <a:t>Mum Life Balance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57200"/>
            <a:ext cx="8046720" cy="914400"/>
          </a:xfrm>
          <a:prstGeom prst="rect">
            <a:avLst/>
          </a:prstGeom>
          <a:noFill/>
        </p:spPr>
        <p:txBody>
          <a:bodyPr wrap="square">
            <a:spAutoFit/>
          </a:bodyPr>
          <a:lstStyle/>
          <a:p>
            <a:r>
              <a:rPr sz="3000" b="1">
                <a:solidFill>
                  <a:srgbClr val="1A3A4A"/>
                </a:solidFill>
                <a:latin typeface="Georgia"/>
              </a:rPr>
              <a:t>Müll rein, Müll raus</a:t>
            </a:r>
          </a:p>
        </p:txBody>
      </p:sp>
      <p:sp>
        <p:nvSpPr>
          <p:cNvPr id="3" name="TextBox 2"/>
          <p:cNvSpPr txBox="1"/>
          <p:nvPr/>
        </p:nvSpPr>
        <p:spPr>
          <a:xfrm>
            <a:off x="548640" y="1417320"/>
            <a:ext cx="8046720" cy="3154680"/>
          </a:xfrm>
          <a:prstGeom prst="rect">
            <a:avLst/>
          </a:prstGeom>
          <a:noFill/>
        </p:spPr>
        <p:txBody>
          <a:bodyPr wrap="square">
            <a:spAutoFit/>
          </a:bodyPr>
          <a:lstStyle/>
          <a:p>
            <a:pPr>
              <a:spcAft>
                <a:spcPts val="1000"/>
              </a:spcAft>
            </a:pPr>
            <a:r>
              <a:rPr sz="1600" b="1">
                <a:solidFill>
                  <a:srgbClr val="12828C"/>
                </a:solidFill>
                <a:latin typeface="Calibri"/>
              </a:rPr>
              <a:t>▸  </a:t>
            </a:r>
            <a:r>
              <a:rPr sz="1600" b="0">
                <a:solidFill>
                  <a:srgbClr val="2C3E50"/>
                </a:solidFill>
                <a:latin typeface="Calibri"/>
              </a:rPr>
              <a:t>Vage Frage → vage Antwort</a:t>
            </a:r>
          </a:p>
          <a:p>
            <a:pPr>
              <a:spcAft>
                <a:spcPts val="1000"/>
              </a:spcAft>
            </a:pPr>
            <a:r>
              <a:rPr sz="1600" b="1">
                <a:solidFill>
                  <a:srgbClr val="12828C"/>
                </a:solidFill>
                <a:latin typeface="Calibri"/>
              </a:rPr>
              <a:t>▸  </a:t>
            </a:r>
            <a:r>
              <a:rPr sz="1600" b="0">
                <a:solidFill>
                  <a:srgbClr val="2C3E50"/>
                </a:solidFill>
                <a:latin typeface="Calibri"/>
              </a:rPr>
              <a:t>Klarer Auftrag + wer du bist → brauchbar</a:t>
            </a:r>
          </a:p>
          <a:p>
            <a:pPr>
              <a:spcAft>
                <a:spcPts val="1000"/>
              </a:spcAft>
            </a:pPr>
            <a:r>
              <a:rPr sz="1600" b="1">
                <a:solidFill>
                  <a:srgbClr val="12828C"/>
                </a:solidFill>
                <a:latin typeface="Calibri"/>
              </a:rPr>
              <a:t>▸  </a:t>
            </a:r>
            <a:r>
              <a:rPr sz="1600" b="0">
                <a:solidFill>
                  <a:srgbClr val="2C3E50"/>
                </a:solidFill>
                <a:latin typeface="Calibri"/>
              </a:rPr>
              <a:t>Dein Ergebnis = so gut wie dein Auftrag</a:t>
            </a:r>
          </a:p>
        </p:txBody>
      </p:sp>
      <p:sp>
        <p:nvSpPr>
          <p:cNvPr id="4" name="TextBox 3"/>
          <p:cNvSpPr txBox="1"/>
          <p:nvPr/>
        </p:nvSpPr>
        <p:spPr>
          <a:xfrm>
            <a:off x="457200" y="4754880"/>
            <a:ext cx="5486400" cy="274320"/>
          </a:xfrm>
          <a:prstGeom prst="rect">
            <a:avLst/>
          </a:prstGeom>
          <a:noFill/>
        </p:spPr>
        <p:txBody>
          <a:bodyPr wrap="square">
            <a:spAutoFit/>
          </a:bodyPr>
          <a:lstStyle/>
          <a:p>
            <a:r>
              <a:rPr sz="900" b="0">
                <a:solidFill>
                  <a:srgbClr val="7A8A95"/>
                </a:solidFill>
                <a:latin typeface="Calibri"/>
              </a:rPr>
              <a:t>Mama-CEO · Säule 4 · Lektion 4.1</a:t>
            </a:r>
          </a:p>
        </p:txBody>
      </p:sp>
      <p:sp>
        <p:nvSpPr>
          <p:cNvPr id="5" name="TextBox 4"/>
          <p:cNvSpPr txBox="1"/>
          <p:nvPr/>
        </p:nvSpPr>
        <p:spPr>
          <a:xfrm>
            <a:off x="6400800" y="4754880"/>
            <a:ext cx="2286000" cy="274320"/>
          </a:xfrm>
          <a:prstGeom prst="rect">
            <a:avLst/>
          </a:prstGeom>
          <a:noFill/>
        </p:spPr>
        <p:txBody>
          <a:bodyPr wrap="square">
            <a:spAutoFit/>
          </a:bodyPr>
          <a:lstStyle/>
          <a:p>
            <a:pPr algn="r"/>
            <a:r>
              <a:rPr sz="900" b="0">
                <a:solidFill>
                  <a:srgbClr val="7A8A95"/>
                </a:solidFill>
                <a:latin typeface="Calibri"/>
              </a:rPr>
              <a:t>Mum Life Balance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57200"/>
            <a:ext cx="8046720" cy="914400"/>
          </a:xfrm>
          <a:prstGeom prst="rect">
            <a:avLst/>
          </a:prstGeom>
          <a:noFill/>
        </p:spPr>
        <p:txBody>
          <a:bodyPr wrap="square">
            <a:spAutoFit/>
          </a:bodyPr>
          <a:lstStyle/>
          <a:p>
            <a:r>
              <a:rPr sz="3000" b="1">
                <a:solidFill>
                  <a:srgbClr val="1A3A4A"/>
                </a:solidFill>
                <a:latin typeface="Georgia"/>
              </a:rPr>
              <a:t>Warum meine Helfer funktionieren</a:t>
            </a:r>
          </a:p>
        </p:txBody>
      </p:sp>
      <p:sp>
        <p:nvSpPr>
          <p:cNvPr id="3" name="TextBox 2"/>
          <p:cNvSpPr txBox="1"/>
          <p:nvPr/>
        </p:nvSpPr>
        <p:spPr>
          <a:xfrm>
            <a:off x="548640" y="1417320"/>
            <a:ext cx="8046720" cy="3154680"/>
          </a:xfrm>
          <a:prstGeom prst="rect">
            <a:avLst/>
          </a:prstGeom>
          <a:noFill/>
        </p:spPr>
        <p:txBody>
          <a:bodyPr wrap="square">
            <a:spAutoFit/>
          </a:bodyPr>
          <a:lstStyle/>
          <a:p>
            <a:pPr>
              <a:spcAft>
                <a:spcPts val="1000"/>
              </a:spcAft>
            </a:pPr>
            <a:r>
              <a:rPr sz="1600" b="1">
                <a:solidFill>
                  <a:srgbClr val="12828C"/>
                </a:solidFill>
                <a:latin typeface="Calibri"/>
              </a:rPr>
              <a:t>▸  </a:t>
            </a:r>
            <a:r>
              <a:rPr sz="1600" b="0">
                <a:solidFill>
                  <a:srgbClr val="2C3E50"/>
                </a:solidFill>
                <a:latin typeface="Calibri"/>
              </a:rPr>
              <a:t>Kein Tech-Studium — Mama von vier</a:t>
            </a:r>
          </a:p>
          <a:p>
            <a:pPr>
              <a:spcAft>
                <a:spcPts val="1000"/>
              </a:spcAft>
            </a:pPr>
            <a:r>
              <a:rPr sz="1600" b="1">
                <a:solidFill>
                  <a:srgbClr val="12828C"/>
                </a:solidFill>
                <a:latin typeface="Calibri"/>
              </a:rPr>
              <a:t>▸  </a:t>
            </a:r>
            <a:r>
              <a:rPr sz="1600" b="0">
                <a:solidFill>
                  <a:srgbClr val="2C3E50"/>
                </a:solidFill>
                <a:latin typeface="Calibri"/>
              </a:rPr>
              <a:t>Alles selbst beigebracht</a:t>
            </a:r>
          </a:p>
          <a:p>
            <a:pPr>
              <a:spcAft>
                <a:spcPts val="1000"/>
              </a:spcAft>
            </a:pPr>
            <a:r>
              <a:rPr sz="1600" b="1">
                <a:solidFill>
                  <a:srgbClr val="12828C"/>
                </a:solidFill>
                <a:latin typeface="Calibri"/>
              </a:rPr>
              <a:t>▸  </a:t>
            </a:r>
            <a:r>
              <a:rPr sz="1600" b="0">
                <a:solidFill>
                  <a:srgbClr val="2C3E50"/>
                </a:solidFill>
                <a:latin typeface="Calibri"/>
              </a:rPr>
              <a:t>Es liegt an guten Aufträgen — lernbar</a:t>
            </a:r>
          </a:p>
        </p:txBody>
      </p:sp>
      <p:sp>
        <p:nvSpPr>
          <p:cNvPr id="4" name="TextBox 3"/>
          <p:cNvSpPr txBox="1"/>
          <p:nvPr/>
        </p:nvSpPr>
        <p:spPr>
          <a:xfrm>
            <a:off x="457200" y="4754880"/>
            <a:ext cx="5486400" cy="274320"/>
          </a:xfrm>
          <a:prstGeom prst="rect">
            <a:avLst/>
          </a:prstGeom>
          <a:noFill/>
        </p:spPr>
        <p:txBody>
          <a:bodyPr wrap="square">
            <a:spAutoFit/>
          </a:bodyPr>
          <a:lstStyle/>
          <a:p>
            <a:r>
              <a:rPr sz="900" b="0">
                <a:solidFill>
                  <a:srgbClr val="7A8A95"/>
                </a:solidFill>
                <a:latin typeface="Calibri"/>
              </a:rPr>
              <a:t>Mama-CEO · Säule 4 · Lektion 4.1</a:t>
            </a:r>
          </a:p>
        </p:txBody>
      </p:sp>
      <p:sp>
        <p:nvSpPr>
          <p:cNvPr id="5" name="TextBox 4"/>
          <p:cNvSpPr txBox="1"/>
          <p:nvPr/>
        </p:nvSpPr>
        <p:spPr>
          <a:xfrm>
            <a:off x="6400800" y="4754880"/>
            <a:ext cx="2286000" cy="274320"/>
          </a:xfrm>
          <a:prstGeom prst="rect">
            <a:avLst/>
          </a:prstGeom>
          <a:noFill/>
        </p:spPr>
        <p:txBody>
          <a:bodyPr wrap="square">
            <a:spAutoFit/>
          </a:bodyPr>
          <a:lstStyle/>
          <a:p>
            <a:pPr algn="r"/>
            <a:r>
              <a:rPr sz="900" b="0">
                <a:solidFill>
                  <a:srgbClr val="7A8A95"/>
                </a:solidFill>
                <a:latin typeface="Calibri"/>
              </a:rPr>
              <a:t>Mum Life Balance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57200"/>
            <a:ext cx="8046720" cy="914400"/>
          </a:xfrm>
          <a:prstGeom prst="rect">
            <a:avLst/>
          </a:prstGeom>
          <a:noFill/>
        </p:spPr>
        <p:txBody>
          <a:bodyPr wrap="square">
            <a:spAutoFit/>
          </a:bodyPr>
          <a:lstStyle/>
          <a:p>
            <a:r>
              <a:rPr sz="3000" b="1">
                <a:solidFill>
                  <a:srgbClr val="1A3A4A"/>
                </a:solidFill>
                <a:latin typeface="Georgia"/>
              </a:rPr>
              <a:t>3 Dinge für jeden guten Auftrag</a:t>
            </a:r>
          </a:p>
        </p:txBody>
      </p:sp>
      <p:sp>
        <p:nvSpPr>
          <p:cNvPr id="3" name="TextBox 2"/>
          <p:cNvSpPr txBox="1"/>
          <p:nvPr/>
        </p:nvSpPr>
        <p:spPr>
          <a:xfrm>
            <a:off x="548640" y="1417320"/>
            <a:ext cx="8046720" cy="3154680"/>
          </a:xfrm>
          <a:prstGeom prst="rect">
            <a:avLst/>
          </a:prstGeom>
          <a:noFill/>
        </p:spPr>
        <p:txBody>
          <a:bodyPr wrap="square">
            <a:spAutoFit/>
          </a:bodyPr>
          <a:lstStyle/>
          <a:p>
            <a:pPr>
              <a:spcAft>
                <a:spcPts val="1000"/>
              </a:spcAft>
            </a:pPr>
            <a:r>
              <a:rPr sz="1600" b="1">
                <a:solidFill>
                  <a:srgbClr val="12828C"/>
                </a:solidFill>
                <a:latin typeface="Calibri"/>
              </a:rPr>
              <a:t>▸  </a:t>
            </a:r>
            <a:r>
              <a:rPr sz="1600" b="0">
                <a:solidFill>
                  <a:srgbClr val="2C3E50"/>
                </a:solidFill>
                <a:latin typeface="Calibri"/>
              </a:rPr>
              <a:t>1. Kontext — wer bin ich</a:t>
            </a:r>
          </a:p>
          <a:p>
            <a:pPr>
              <a:spcAft>
                <a:spcPts val="1000"/>
              </a:spcAft>
            </a:pPr>
            <a:r>
              <a:rPr sz="1600" b="1">
                <a:solidFill>
                  <a:srgbClr val="12828C"/>
                </a:solidFill>
                <a:latin typeface="Calibri"/>
              </a:rPr>
              <a:t>▸  </a:t>
            </a:r>
            <a:r>
              <a:rPr sz="1600" b="0">
                <a:solidFill>
                  <a:srgbClr val="2C3E50"/>
                </a:solidFill>
                <a:latin typeface="Calibri"/>
              </a:rPr>
              <a:t>2. Klare Aufgabe — was genau</a:t>
            </a:r>
          </a:p>
          <a:p>
            <a:pPr>
              <a:spcAft>
                <a:spcPts val="1000"/>
              </a:spcAft>
            </a:pPr>
            <a:r>
              <a:rPr sz="1600" b="1">
                <a:solidFill>
                  <a:srgbClr val="12828C"/>
                </a:solidFill>
                <a:latin typeface="Calibri"/>
              </a:rPr>
              <a:t>▸  </a:t>
            </a:r>
            <a:r>
              <a:rPr sz="1600" b="0">
                <a:solidFill>
                  <a:srgbClr val="2C3E50"/>
                </a:solidFill>
                <a:latin typeface="Calibri"/>
              </a:rPr>
              <a:t>3. Beispiel — wie soll's aussehen</a:t>
            </a:r>
          </a:p>
        </p:txBody>
      </p:sp>
      <p:sp>
        <p:nvSpPr>
          <p:cNvPr id="4" name="TextBox 3"/>
          <p:cNvSpPr txBox="1"/>
          <p:nvPr/>
        </p:nvSpPr>
        <p:spPr>
          <a:xfrm>
            <a:off x="457200" y="4754880"/>
            <a:ext cx="5486400" cy="274320"/>
          </a:xfrm>
          <a:prstGeom prst="rect">
            <a:avLst/>
          </a:prstGeom>
          <a:noFill/>
        </p:spPr>
        <p:txBody>
          <a:bodyPr wrap="square">
            <a:spAutoFit/>
          </a:bodyPr>
          <a:lstStyle/>
          <a:p>
            <a:r>
              <a:rPr sz="900" b="0">
                <a:solidFill>
                  <a:srgbClr val="7A8A95"/>
                </a:solidFill>
                <a:latin typeface="Calibri"/>
              </a:rPr>
              <a:t>Mama-CEO · Säule 4 · Lektion 4.1</a:t>
            </a:r>
          </a:p>
        </p:txBody>
      </p:sp>
      <p:sp>
        <p:nvSpPr>
          <p:cNvPr id="5" name="TextBox 4"/>
          <p:cNvSpPr txBox="1"/>
          <p:nvPr/>
        </p:nvSpPr>
        <p:spPr>
          <a:xfrm>
            <a:off x="6400800" y="4754880"/>
            <a:ext cx="2286000" cy="274320"/>
          </a:xfrm>
          <a:prstGeom prst="rect">
            <a:avLst/>
          </a:prstGeom>
          <a:noFill/>
        </p:spPr>
        <p:txBody>
          <a:bodyPr wrap="square">
            <a:spAutoFit/>
          </a:bodyPr>
          <a:lstStyle/>
          <a:p>
            <a:pPr algn="r"/>
            <a:r>
              <a:rPr sz="900" b="0">
                <a:solidFill>
                  <a:srgbClr val="7A8A95"/>
                </a:solidFill>
                <a:latin typeface="Calibri"/>
              </a:rPr>
              <a:t>Mum Life Balance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57200"/>
            <a:ext cx="8046720" cy="914400"/>
          </a:xfrm>
          <a:prstGeom prst="rect">
            <a:avLst/>
          </a:prstGeom>
          <a:noFill/>
        </p:spPr>
        <p:txBody>
          <a:bodyPr wrap="square">
            <a:spAutoFit/>
          </a:bodyPr>
          <a:lstStyle/>
          <a:p>
            <a:r>
              <a:rPr sz="3000" b="1">
                <a:solidFill>
                  <a:srgbClr val="1A3A4A"/>
                </a:solidFill>
                <a:latin typeface="Georgia"/>
              </a:rPr>
              <a:t>Der Fahrplan für Säule 4</a:t>
            </a:r>
          </a:p>
        </p:txBody>
      </p:sp>
      <p:sp>
        <p:nvSpPr>
          <p:cNvPr id="3" name="TextBox 2"/>
          <p:cNvSpPr txBox="1"/>
          <p:nvPr/>
        </p:nvSpPr>
        <p:spPr>
          <a:xfrm>
            <a:off x="548640" y="1417320"/>
            <a:ext cx="8046720" cy="3154680"/>
          </a:xfrm>
          <a:prstGeom prst="rect">
            <a:avLst/>
          </a:prstGeom>
          <a:noFill/>
        </p:spPr>
        <p:txBody>
          <a:bodyPr wrap="square">
            <a:spAutoFit/>
          </a:bodyPr>
          <a:lstStyle/>
          <a:p>
            <a:pPr>
              <a:spcAft>
                <a:spcPts val="1000"/>
              </a:spcAft>
            </a:pPr>
            <a:r>
              <a:rPr sz="1600" b="1">
                <a:solidFill>
                  <a:srgbClr val="12828C"/>
                </a:solidFill>
                <a:latin typeface="Calibri"/>
              </a:rPr>
              <a:t>▸  </a:t>
            </a:r>
            <a:r>
              <a:rPr sz="1600" b="0">
                <a:solidFill>
                  <a:srgbClr val="2C3E50"/>
                </a:solidFill>
                <a:latin typeface="Calibri"/>
              </a:rPr>
              <a:t>🌅 Cockpit-Bot — Business-Morgenbriefing</a:t>
            </a:r>
          </a:p>
          <a:p>
            <a:pPr>
              <a:spcAft>
                <a:spcPts val="1000"/>
              </a:spcAft>
            </a:pPr>
            <a:r>
              <a:rPr sz="1600" b="1">
                <a:solidFill>
                  <a:srgbClr val="12828C"/>
                </a:solidFill>
                <a:latin typeface="Calibri"/>
              </a:rPr>
              <a:t>▸  </a:t>
            </a:r>
            <a:r>
              <a:rPr sz="1600" b="0">
                <a:solidFill>
                  <a:srgbClr val="2C3E50"/>
                </a:solidFill>
                <a:latin typeface="Calibri"/>
              </a:rPr>
              <a:t>🏠 Haushalts-Helfer — Mental Load zu Hause</a:t>
            </a:r>
          </a:p>
          <a:p>
            <a:pPr>
              <a:spcAft>
                <a:spcPts val="1000"/>
              </a:spcAft>
            </a:pPr>
            <a:r>
              <a:rPr sz="1600" b="1">
                <a:solidFill>
                  <a:srgbClr val="12828C"/>
                </a:solidFill>
                <a:latin typeface="Calibri"/>
              </a:rPr>
              <a:t>▸  </a:t>
            </a:r>
            <a:r>
              <a:rPr sz="1600" b="0">
                <a:solidFill>
                  <a:srgbClr val="2C3E50"/>
                </a:solidFill>
                <a:latin typeface="Calibri"/>
              </a:rPr>
              <a:t>Zwillinge: gleiche Mechanik</a:t>
            </a:r>
          </a:p>
        </p:txBody>
      </p:sp>
      <p:sp>
        <p:nvSpPr>
          <p:cNvPr id="4" name="TextBox 3"/>
          <p:cNvSpPr txBox="1"/>
          <p:nvPr/>
        </p:nvSpPr>
        <p:spPr>
          <a:xfrm>
            <a:off x="457200" y="4754880"/>
            <a:ext cx="5486400" cy="274320"/>
          </a:xfrm>
          <a:prstGeom prst="rect">
            <a:avLst/>
          </a:prstGeom>
          <a:noFill/>
        </p:spPr>
        <p:txBody>
          <a:bodyPr wrap="square">
            <a:spAutoFit/>
          </a:bodyPr>
          <a:lstStyle/>
          <a:p>
            <a:r>
              <a:rPr sz="900" b="0">
                <a:solidFill>
                  <a:srgbClr val="7A8A95"/>
                </a:solidFill>
                <a:latin typeface="Calibri"/>
              </a:rPr>
              <a:t>Mama-CEO · Säule 4 · Lektion 4.1</a:t>
            </a:r>
          </a:p>
        </p:txBody>
      </p:sp>
      <p:sp>
        <p:nvSpPr>
          <p:cNvPr id="5" name="TextBox 4"/>
          <p:cNvSpPr txBox="1"/>
          <p:nvPr/>
        </p:nvSpPr>
        <p:spPr>
          <a:xfrm>
            <a:off x="6400800" y="4754880"/>
            <a:ext cx="2286000" cy="274320"/>
          </a:xfrm>
          <a:prstGeom prst="rect">
            <a:avLst/>
          </a:prstGeom>
          <a:noFill/>
        </p:spPr>
        <p:txBody>
          <a:bodyPr wrap="square">
            <a:spAutoFit/>
          </a:bodyPr>
          <a:lstStyle/>
          <a:p>
            <a:pPr algn="r"/>
            <a:r>
              <a:rPr sz="900" b="0">
                <a:solidFill>
                  <a:srgbClr val="7A8A95"/>
                </a:solidFill>
                <a:latin typeface="Calibri"/>
              </a:rPr>
              <a:t>Mum Life Balance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57200"/>
            <a:ext cx="8046720" cy="914400"/>
          </a:xfrm>
          <a:prstGeom prst="rect">
            <a:avLst/>
          </a:prstGeom>
          <a:noFill/>
        </p:spPr>
        <p:txBody>
          <a:bodyPr wrap="square">
            <a:spAutoFit/>
          </a:bodyPr>
          <a:lstStyle/>
          <a:p>
            <a:r>
              <a:rPr sz="3000" b="1">
                <a:solidFill>
                  <a:srgbClr val="1A3A4A"/>
                </a:solidFill>
                <a:latin typeface="Georgia"/>
              </a:rPr>
              <a:t>Arbeitsblatt + nächste Lektion</a:t>
            </a:r>
          </a:p>
        </p:txBody>
      </p:sp>
      <p:sp>
        <p:nvSpPr>
          <p:cNvPr id="3" name="TextBox 2"/>
          <p:cNvSpPr txBox="1"/>
          <p:nvPr/>
        </p:nvSpPr>
        <p:spPr>
          <a:xfrm>
            <a:off x="548640" y="1417320"/>
            <a:ext cx="8046720" cy="3154680"/>
          </a:xfrm>
          <a:prstGeom prst="rect">
            <a:avLst/>
          </a:prstGeom>
          <a:noFill/>
        </p:spPr>
        <p:txBody>
          <a:bodyPr wrap="square">
            <a:spAutoFit/>
          </a:bodyPr>
          <a:lstStyle/>
          <a:p>
            <a:pPr>
              <a:spcAft>
                <a:spcPts val="1000"/>
              </a:spcAft>
            </a:pPr>
            <a:r>
              <a:rPr sz="1600" b="1">
                <a:solidFill>
                  <a:srgbClr val="12828C"/>
                </a:solidFill>
                <a:latin typeface="Calibri"/>
              </a:rPr>
              <a:t>▸  </a:t>
            </a:r>
            <a:r>
              <a:rPr sz="1600" b="0">
                <a:solidFill>
                  <a:srgbClr val="2C3E50"/>
                </a:solidFill>
                <a:latin typeface="Calibri"/>
              </a:rPr>
              <a:t>📋 Notier deinen letzten frustrierenden KI-Versuch</a:t>
            </a:r>
          </a:p>
          <a:p>
            <a:pPr>
              <a:spcAft>
                <a:spcPts val="1000"/>
              </a:spcAft>
            </a:pPr>
            <a:r>
              <a:rPr sz="1600" b="1">
                <a:solidFill>
                  <a:srgbClr val="12828C"/>
                </a:solidFill>
                <a:latin typeface="Calibri"/>
              </a:rPr>
              <a:t>▸  </a:t>
            </a:r>
            <a:r>
              <a:rPr sz="1600" b="0">
                <a:solidFill>
                  <a:srgbClr val="2C3E50"/>
                </a:solidFill>
                <a:latin typeface="Calibri"/>
              </a:rPr>
              <a:t>Nächste Lektion: 4.2 — womit du arbeitest</a:t>
            </a:r>
          </a:p>
        </p:txBody>
      </p:sp>
      <p:sp>
        <p:nvSpPr>
          <p:cNvPr id="4" name="TextBox 3"/>
          <p:cNvSpPr txBox="1"/>
          <p:nvPr/>
        </p:nvSpPr>
        <p:spPr>
          <a:xfrm>
            <a:off x="457200" y="4754880"/>
            <a:ext cx="5486400" cy="274320"/>
          </a:xfrm>
          <a:prstGeom prst="rect">
            <a:avLst/>
          </a:prstGeom>
          <a:noFill/>
        </p:spPr>
        <p:txBody>
          <a:bodyPr wrap="square">
            <a:spAutoFit/>
          </a:bodyPr>
          <a:lstStyle/>
          <a:p>
            <a:r>
              <a:rPr sz="900" b="0">
                <a:solidFill>
                  <a:srgbClr val="7A8A95"/>
                </a:solidFill>
                <a:latin typeface="Calibri"/>
              </a:rPr>
              <a:t>Mama-CEO · Säule 4 · Lektion 4.1</a:t>
            </a:r>
          </a:p>
        </p:txBody>
      </p:sp>
      <p:sp>
        <p:nvSpPr>
          <p:cNvPr id="5" name="TextBox 4"/>
          <p:cNvSpPr txBox="1"/>
          <p:nvPr/>
        </p:nvSpPr>
        <p:spPr>
          <a:xfrm>
            <a:off x="6400800" y="4754880"/>
            <a:ext cx="2286000" cy="274320"/>
          </a:xfrm>
          <a:prstGeom prst="rect">
            <a:avLst/>
          </a:prstGeom>
          <a:noFill/>
        </p:spPr>
        <p:txBody>
          <a:bodyPr wrap="square">
            <a:spAutoFit/>
          </a:bodyPr>
          <a:lstStyle/>
          <a:p>
            <a:pPr algn="r"/>
            <a:r>
              <a:rPr sz="900" b="0">
                <a:solidFill>
                  <a:srgbClr val="7A8A95"/>
                </a:solidFill>
                <a:latin typeface="Calibri"/>
              </a:rPr>
              <a:t>Mum Life Balance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