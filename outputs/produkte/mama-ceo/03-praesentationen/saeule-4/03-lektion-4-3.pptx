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bauen wir das Herzstück deiner ganzen KI-Arbeit, und das ist nicht ein Bot, sondern ein kurzes Dokument, das alle deine Bots klüger macht. Ich nenne es den Business-Brief, und wenn der einmal steht, wird alles andere leicht.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Stell dir vor, du holst dir zwei Praktikantinnen ins Haus. Du würdest doch nicht jeder einzeln und jeden Tag neu erklären, wer du bist und was du machst. Genau deshalb schreibst du dein Wissen einmal auf, und jede neue KI kriegt dasselbe Dokument. Du briefst einmal, nicht zehnmal.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Ohne diesen Brief klingt jede KI gleich, nämlich nach allgemeinem Internet-Einheitsbrei, und das spüren deine Leserinnen sofort. Mit dem Brief klingt sie wie du, mit deiner Sprache, deinen Themen, deiner Haltung. Das ist der Unterschied zwischen nutzlos und meine beste Mitarbeiterin.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Dein Business-Brief hat sechs Bausteine. Erstens: wer bin ich. Zweitens: wer ist meine Kundin. Drittens: was biete ich an, also deine Produkte. Viertens: über welche Themen rede ich. Fünftens: wie klinge ich, deine Stimme. Und sechstens, ganz wichtig: was soll der Bot NICHT tun, deine Tabus. Diese sechs füllst du gleich im Arbeitsblatt aus.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ersten drei Bausteine kennst du eigentlich schon aus den letzten Säulen. Wer du bist, deine Kundin so konkret wie möglich, nicht alle Frauen, und dein Angebot, das du in Säule 3 als Gratis-, Mini- und grosses Produkt schon sortiert hast. Du schreibst hier nur zusammen, was du längst weisst.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zweiten drei geben dem Bot deinen Charakter. Deine Überthemen aus der Jahres-Strategie, deine Stimme, also redest du eher locker oder seriös, per du oder per Sie, und deine Tabus, zum Beispiel keine übertriebenen Versprechen, keine Fremdwörter, was auch immer dir wichtig ist. Damit hat die KI Leitplanken.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beste Trick für deine Stimme ist erstaunlich einfach: häng zwei, drei deiner echten Texte an den Brief, eine Caption, eine Nachricht, irgendwas das nach dir klingt. Die KI liest das und ahmt deinen Ton nach. Du musst deine Stimme nicht beschreiben können, du musst sie nur zeigen.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Ich zeig dir jetzt meinen eigenen Business-Brief, damit du ein Gefühl kriegst. Du siehst, das ist nichts Hochgestochenes, sondern in normalen Worten: wer ich bin, für wen ich da bin, wie ich rede und was bei mir nie vorkommt. Genau so grob und ehrlich darf deiner auch sein.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Arbeitsblatt schreibst du jetzt deinen Business-Brief, Baustein für Baustein, und du legst ihn als Notiz ab, wo du ihn immer findest. Den brauchst du in der nächsten Lektion sofort, denn da bauen wir deinen ersten echten Bot, den Cockpit-Bot. Bis gleich.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858000" y="3840480"/>
            <a:ext cx="3200400" cy="3200400"/>
          </a:xfrm>
          <a:prstGeom prst="ellipse">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8046720" cy="365760"/>
          </a:xfrm>
          <a:prstGeom prst="rect">
            <a:avLst/>
          </a:prstGeom>
          <a:noFill/>
        </p:spPr>
        <p:txBody>
          <a:bodyPr wrap="square">
            <a:spAutoFit/>
          </a:bodyPr>
          <a:lstStyle/>
          <a:p>
            <a:r>
              <a:rPr sz="1100" b="1">
                <a:solidFill>
                  <a:srgbClr val="DC822E"/>
                </a:solidFill>
                <a:latin typeface="Calibri"/>
              </a:rPr>
              <a:t>SÄULE 4 — DU DELEGIERST DEN ADMINKRAM</a:t>
            </a:r>
          </a:p>
        </p:txBody>
      </p:sp>
      <p:sp>
        <p:nvSpPr>
          <p:cNvPr id="4" name="Rectangle 3"/>
          <p:cNvSpPr/>
          <p:nvPr/>
        </p:nvSpPr>
        <p:spPr>
          <a:xfrm>
            <a:off x="548640" y="960120"/>
            <a:ext cx="548640" cy="45720"/>
          </a:xfrm>
          <a:prstGeom prst="rect">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863840" cy="1554480"/>
          </a:xfrm>
          <a:prstGeom prst="rect">
            <a:avLst/>
          </a:prstGeom>
          <a:noFill/>
        </p:spPr>
        <p:txBody>
          <a:bodyPr wrap="square">
            <a:spAutoFit/>
          </a:bodyPr>
          <a:lstStyle/>
          <a:p>
            <a:r>
              <a:rPr sz="4400" b="1">
                <a:solidFill>
                  <a:srgbClr val="1A3A4A"/>
                </a:solidFill>
                <a:latin typeface="Georgia"/>
              </a:rPr>
              <a:t>Dein Business-Brief</a:t>
            </a:r>
          </a:p>
        </p:txBody>
      </p:sp>
      <p:sp>
        <p:nvSpPr>
          <p:cNvPr id="6" name="TextBox 5"/>
          <p:cNvSpPr txBox="1"/>
          <p:nvPr/>
        </p:nvSpPr>
        <p:spPr>
          <a:xfrm>
            <a:off x="548640" y="2880360"/>
            <a:ext cx="7680960" cy="1280160"/>
          </a:xfrm>
          <a:prstGeom prst="rect">
            <a:avLst/>
          </a:prstGeom>
          <a:noFill/>
        </p:spPr>
        <p:txBody>
          <a:bodyPr wrap="square">
            <a:spAutoFit/>
          </a:bodyPr>
          <a:lstStyle/>
          <a:p>
            <a:r>
              <a:rPr sz="1800" b="0">
                <a:solidFill>
                  <a:srgbClr val="2C3E50"/>
                </a:solidFill>
                <a:latin typeface="Georgia"/>
              </a:rPr>
              <a:t>Das Wissen, das jeder Bot braucht</a:t>
            </a:r>
          </a:p>
        </p:txBody>
      </p:sp>
      <p:sp>
        <p:nvSpPr>
          <p:cNvPr id="7" name="TextBox 6"/>
          <p:cNvSpPr txBox="1"/>
          <p:nvPr/>
        </p:nvSpPr>
        <p:spPr>
          <a:xfrm>
            <a:off x="548640" y="4572000"/>
            <a:ext cx="3657600" cy="365760"/>
          </a:xfrm>
          <a:prstGeom prst="rect">
            <a:avLst/>
          </a:prstGeom>
          <a:noFill/>
        </p:spPr>
        <p:txBody>
          <a:bodyPr wrap="square">
            <a:spAutoFit/>
          </a:bodyPr>
          <a:lstStyle/>
          <a:p>
            <a:r>
              <a:rPr sz="1200" b="1">
                <a:solidFill>
                  <a:srgbClr val="12828C"/>
                </a:solidFill>
                <a:latin typeface="Calibri"/>
              </a:rPr>
              <a:t>Patricia Ulmann</a:t>
            </a:r>
          </a:p>
        </p:txBody>
      </p:sp>
      <p:sp>
        <p:nvSpPr>
          <p:cNvPr id="8" name="TextBox 7"/>
          <p:cNvSpPr txBox="1"/>
          <p:nvPr/>
        </p:nvSpPr>
        <p:spPr>
          <a:xfrm>
            <a:off x="4937760" y="4572000"/>
            <a:ext cx="3657600" cy="365760"/>
          </a:xfrm>
          <a:prstGeom prst="rect">
            <a:avLst/>
          </a:prstGeom>
          <a:noFill/>
        </p:spPr>
        <p:txBody>
          <a:bodyPr wrap="square">
            <a:spAutoFit/>
          </a:bodyPr>
          <a:lstStyle/>
          <a:p>
            <a:pPr algn="r"/>
            <a:r>
              <a:rPr sz="1100" b="0">
                <a:solidFill>
                  <a:srgbClr val="7A8A95"/>
                </a:solidFill>
                <a:latin typeface="Calibri"/>
              </a:rPr>
              <a:t>mumlifebalance.ch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Warum jeder Bot dasselbe Wissen braucht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Nicht jeder Helfer einzeln erklären</a:t>
            </a:r>
          </a:p>
          <a:p>
            <a:pPr>
              <a:spcAft>
                <a:spcPts val="1000"/>
              </a:spcAft>
            </a:pPr>
            <a:r>
              <a:rPr sz="1600" b="1">
                <a:solidFill>
                  <a:srgbClr val="12828C"/>
                </a:solidFill>
                <a:latin typeface="Calibri"/>
              </a:rPr>
              <a:t>▸  </a:t>
            </a:r>
            <a:r>
              <a:rPr sz="1600" b="0">
                <a:solidFill>
                  <a:srgbClr val="2C3E50"/>
                </a:solidFill>
                <a:latin typeface="Calibri"/>
              </a:rPr>
              <a:t>Einmal aufschreiben → jede KI kriegt es</a:t>
            </a:r>
          </a:p>
          <a:p>
            <a:pPr>
              <a:spcAft>
                <a:spcPts val="1000"/>
              </a:spcAft>
            </a:pPr>
            <a:r>
              <a:rPr sz="1600" b="1">
                <a:solidFill>
                  <a:srgbClr val="12828C"/>
                </a:solidFill>
                <a:latin typeface="Calibri"/>
              </a:rPr>
              <a:t>▸  </a:t>
            </a:r>
            <a:r>
              <a:rPr sz="1600" b="0">
                <a:solidFill>
                  <a:srgbClr val="2C3E50"/>
                </a:solidFill>
                <a:latin typeface="Calibri"/>
              </a:rPr>
              <a:t>Du briefst einmal, nicht zehnmal</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4.3</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Ohne Brief: Einheitsbrei</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Ohne Brief klingt jede KI gleich</a:t>
            </a:r>
          </a:p>
          <a:p>
            <a:pPr>
              <a:spcAft>
                <a:spcPts val="1000"/>
              </a:spcAft>
            </a:pPr>
            <a:r>
              <a:rPr sz="1600" b="1">
                <a:solidFill>
                  <a:srgbClr val="12828C"/>
                </a:solidFill>
                <a:latin typeface="Calibri"/>
              </a:rPr>
              <a:t>▸  </a:t>
            </a:r>
            <a:r>
              <a:rPr sz="1600" b="0">
                <a:solidFill>
                  <a:srgbClr val="2C3E50"/>
                </a:solidFill>
                <a:latin typeface="Calibri"/>
              </a:rPr>
              <a:t>Mit Brief klingt sie wie DU</a:t>
            </a:r>
          </a:p>
          <a:p>
            <a:pPr>
              <a:spcAft>
                <a:spcPts val="1000"/>
              </a:spcAft>
            </a:pPr>
            <a:r>
              <a:rPr sz="1600" b="1">
                <a:solidFill>
                  <a:srgbClr val="12828C"/>
                </a:solidFill>
                <a:latin typeface="Calibri"/>
              </a:rPr>
              <a:t>▸  </a:t>
            </a:r>
            <a:r>
              <a:rPr sz="1600" b="0">
                <a:solidFill>
                  <a:srgbClr val="2C3E50"/>
                </a:solidFill>
                <a:latin typeface="Calibri"/>
              </a:rPr>
              <a:t>Unterschied: nutzlos vs. beste Mitarbeiterin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4.3</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Die 6 Bausteine</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1 Wer bin ich · 2 Wer ist meine Kundin</a:t>
            </a:r>
          </a:p>
          <a:p>
            <a:pPr>
              <a:spcAft>
                <a:spcPts val="1000"/>
              </a:spcAft>
            </a:pPr>
            <a:r>
              <a:rPr sz="1600" b="1">
                <a:solidFill>
                  <a:srgbClr val="12828C"/>
                </a:solidFill>
                <a:latin typeface="Calibri"/>
              </a:rPr>
              <a:t>▸  </a:t>
            </a:r>
            <a:r>
              <a:rPr sz="1600" b="0">
                <a:solidFill>
                  <a:srgbClr val="2C3E50"/>
                </a:solidFill>
                <a:latin typeface="Calibri"/>
              </a:rPr>
              <a:t>3 Was biete ich an · 4 Meine Themen</a:t>
            </a:r>
          </a:p>
          <a:p>
            <a:pPr>
              <a:spcAft>
                <a:spcPts val="1000"/>
              </a:spcAft>
            </a:pPr>
            <a:r>
              <a:rPr sz="1600" b="1">
                <a:solidFill>
                  <a:srgbClr val="12828C"/>
                </a:solidFill>
                <a:latin typeface="Calibri"/>
              </a:rPr>
              <a:t>▸  </a:t>
            </a:r>
            <a:r>
              <a:rPr sz="1600" b="0">
                <a:solidFill>
                  <a:srgbClr val="2C3E50"/>
                </a:solidFill>
                <a:latin typeface="Calibri"/>
              </a:rPr>
              <a:t>5 Meine Stimme · 6 Was der Bot NIE tut</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4.3</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Baustein 1-3: dein Fundament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Wer bin ich (Mama, Network, Thema)</a:t>
            </a:r>
          </a:p>
          <a:p>
            <a:pPr>
              <a:spcAft>
                <a:spcPts val="1000"/>
              </a:spcAft>
            </a:pPr>
            <a:r>
              <a:rPr sz="1600" b="1">
                <a:solidFill>
                  <a:srgbClr val="12828C"/>
                </a:solidFill>
                <a:latin typeface="Calibri"/>
              </a:rPr>
              <a:t>▸  </a:t>
            </a:r>
            <a:r>
              <a:rPr sz="1600" b="0">
                <a:solidFill>
                  <a:srgbClr val="2C3E50"/>
                </a:solidFill>
                <a:latin typeface="Calibri"/>
              </a:rPr>
              <a:t>Kundin — konkret, nicht „alle"</a:t>
            </a:r>
          </a:p>
          <a:p>
            <a:pPr>
              <a:spcAft>
                <a:spcPts val="1000"/>
              </a:spcAft>
            </a:pPr>
            <a:r>
              <a:rPr sz="1600" b="1">
                <a:solidFill>
                  <a:srgbClr val="12828C"/>
                </a:solidFill>
                <a:latin typeface="Calibri"/>
              </a:rPr>
              <a:t>▸  </a:t>
            </a:r>
            <a:r>
              <a:rPr sz="1600" b="0">
                <a:solidFill>
                  <a:srgbClr val="2C3E50"/>
                </a:solidFill>
                <a:latin typeface="Calibri"/>
              </a:rPr>
              <a:t>Angebot: Gratis / Mini / Gross (aus Säule 3)</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4.3</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Baustein 4-6: dein Charakter</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Themen — Überthemen aus der Jahres-Strategie</a:t>
            </a:r>
          </a:p>
          <a:p>
            <a:pPr>
              <a:spcAft>
                <a:spcPts val="1000"/>
              </a:spcAft>
            </a:pPr>
            <a:r>
              <a:rPr sz="1600" b="1">
                <a:solidFill>
                  <a:srgbClr val="12828C"/>
                </a:solidFill>
                <a:latin typeface="Calibri"/>
              </a:rPr>
              <a:t>▸  </a:t>
            </a:r>
            <a:r>
              <a:rPr sz="1600" b="0">
                <a:solidFill>
                  <a:srgbClr val="2C3E50"/>
                </a:solidFill>
                <a:latin typeface="Calibri"/>
              </a:rPr>
              <a:t>Stimme — locker/seriös, du/Sie</a:t>
            </a:r>
          </a:p>
          <a:p>
            <a:pPr>
              <a:spcAft>
                <a:spcPts val="1000"/>
              </a:spcAft>
            </a:pPr>
            <a:r>
              <a:rPr sz="1600" b="1">
                <a:solidFill>
                  <a:srgbClr val="12828C"/>
                </a:solidFill>
                <a:latin typeface="Calibri"/>
              </a:rPr>
              <a:t>▸  </a:t>
            </a:r>
            <a:r>
              <a:rPr sz="1600" b="0">
                <a:solidFill>
                  <a:srgbClr val="2C3E50"/>
                </a:solidFill>
                <a:latin typeface="Calibri"/>
              </a:rPr>
              <a:t>Tabus — was nie vorkommt</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4.3</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Stimme einfangen: gib Beispiele</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Häng 2-3 echte Texte an</a:t>
            </a:r>
          </a:p>
          <a:p>
            <a:pPr>
              <a:spcAft>
                <a:spcPts val="1000"/>
              </a:spcAft>
            </a:pPr>
            <a:r>
              <a:rPr sz="1600" b="1">
                <a:solidFill>
                  <a:srgbClr val="12828C"/>
                </a:solidFill>
                <a:latin typeface="Calibri"/>
              </a:rPr>
              <a:t>▸  </a:t>
            </a:r>
            <a:r>
              <a:rPr sz="1600" b="0">
                <a:solidFill>
                  <a:srgbClr val="2C3E50"/>
                </a:solidFill>
                <a:latin typeface="Calibri"/>
              </a:rPr>
              <a:t>Caption, Nachricht — irgendwas nach dir</a:t>
            </a:r>
          </a:p>
          <a:p>
            <a:pPr>
              <a:spcAft>
                <a:spcPts val="1000"/>
              </a:spcAft>
            </a:pPr>
            <a:r>
              <a:rPr sz="1600" b="1">
                <a:solidFill>
                  <a:srgbClr val="12828C"/>
                </a:solidFill>
                <a:latin typeface="Calibri"/>
              </a:rPr>
              <a:t>▸  </a:t>
            </a:r>
            <a:r>
              <a:rPr sz="1600" b="0">
                <a:solidFill>
                  <a:srgbClr val="2C3E50"/>
                </a:solidFill>
                <a:latin typeface="Calibri"/>
              </a:rPr>
              <a:t>Die KI ahmt deinen Ton nach</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4.3</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Mein Business-Brief als Beispiel</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Nichts Hochgestochenes</a:t>
            </a:r>
          </a:p>
          <a:p>
            <a:pPr>
              <a:spcAft>
                <a:spcPts val="1000"/>
              </a:spcAft>
            </a:pPr>
            <a:r>
              <a:rPr sz="1600" b="1">
                <a:solidFill>
                  <a:srgbClr val="12828C"/>
                </a:solidFill>
                <a:latin typeface="Calibri"/>
              </a:rPr>
              <a:t>▸  </a:t>
            </a:r>
            <a:r>
              <a:rPr sz="1600" b="0">
                <a:solidFill>
                  <a:srgbClr val="2C3E50"/>
                </a:solidFill>
                <a:latin typeface="Calibri"/>
              </a:rPr>
              <a:t>Normale Worte: wer, für wen, wie, was nie</a:t>
            </a:r>
          </a:p>
          <a:p>
            <a:pPr>
              <a:spcAft>
                <a:spcPts val="1000"/>
              </a:spcAft>
            </a:pPr>
            <a:r>
              <a:rPr sz="1600" b="1">
                <a:solidFill>
                  <a:srgbClr val="12828C"/>
                </a:solidFill>
                <a:latin typeface="Calibri"/>
              </a:rPr>
              <a:t>▸  </a:t>
            </a:r>
            <a:r>
              <a:rPr sz="1600" b="0">
                <a:solidFill>
                  <a:srgbClr val="2C3E50"/>
                </a:solidFill>
                <a:latin typeface="Calibri"/>
              </a:rPr>
              <a:t>Grob und ehrlich reicht</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4.3</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Arbeitsblatt + nächste Lektion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 Schreib deinen Business-Brief (6 Bausteine)</a:t>
            </a:r>
          </a:p>
          <a:p>
            <a:pPr>
              <a:spcAft>
                <a:spcPts val="1000"/>
              </a:spcAft>
            </a:pPr>
            <a:r>
              <a:rPr sz="1600" b="1">
                <a:solidFill>
                  <a:srgbClr val="12828C"/>
                </a:solidFill>
                <a:latin typeface="Calibri"/>
              </a:rPr>
              <a:t>▸  </a:t>
            </a:r>
            <a:r>
              <a:rPr sz="1600" b="0">
                <a:solidFill>
                  <a:srgbClr val="2C3E50"/>
                </a:solidFill>
                <a:latin typeface="Calibri"/>
              </a:rPr>
              <a:t>Nächste Lektion: 4.4 — Cockpit-Bot bauen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4.3</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