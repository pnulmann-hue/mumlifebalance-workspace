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Willkommen zur MASTERY von Säule 4, und die ist mir besonders wichtig, weil sie zeigt, dass Mama-CEO nicht am Schreibtisch aufhört. Wir bauen jetzt den Zwilling deines Cockpit-Bots, nur diesmal für dein Zuhause, nämlich deinen Haushalts-Helfer.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Mal ganz ehrlich: was wir Mamas im Kopf mit uns rumtragen, ist riesig. Wann muss die Wäsche, wer hat wann Zahnarzt, wann muss ich die Frühlingskleider raussuchen, das Geburtstagsgeschenk, der Elternabend. Das Schlimme ist, dass dieser Mental Load unsichtbar in deinem Kopf liegt und dich auch abends nicht loslässt. Genau den holen wir jetzt raus.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Schöne ist: du kannst schon alles, was du dafür brauchst. Der Haushalts-Helfer funktioniert genau wie dein Cockpit-Bot, er liest eine Liste und sagt dir morgens, was dran ist. Der Cockpit-Bot macht das fürs Business, der Haushalts-Helfer fürs Zuhause. Zwei Zwillinge, einmal Arbeit, einmal Familie.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sieht das dann aus: du fragst morgens „was ist heute zu Hause dran", und er sagt dir zum Beispiel: Montag, heute Wäsche machen, das Kind hat um zwei Zahnarzt, und das andere muss früher los, weil Waldtag. Alles, was sonst in deinem Kopf herumschwirrt, kommt jetzt einmal am Morgen klar auf den Tisch.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jetzt zahlt sich Säule 2 aus. Erinnerst du dich an dein Hütchen-Inventar, deinen grossen Brain Dump, wo alles rausgekommen ist, was du mit dir rumträgst? Genau das ist die Quelle. Diese ganzen muss-ich-noch-Sachen bringen wir jetzt in eine Liste, aus der dein Bot dich erinnert.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Deine Haushalts-Sachen sind von zwei Sorten, plus die Termine. Es gibt das Wiederkehrende, das immer am gleichen Tag dran ist, zum Beispiel Staubsaugen montags. Es gibt das Datierte, das einmal an einem bestimmten Tag kommt, zum Beispiel Frühlingskleider raussuchen am letzten Freitag im März. Und es gibt die Familien-Termine wie Zahnarzt oder Waldtag. Alle drei kommen in deine Liste.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wo lebt diese Liste? In Notion, genau dort, wo schon dein Business-Brain liegt. Du legst dir eine eigene Haushalts-Liste an, mit Feldern für den Rhythmus, also montags oder monatlich, und für feste Daten. So wie dein Business in Notion ein Zuhause hat, kriegt jetzt auch dein Haushalt eins, und beide Bots schauen da rein.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jetzt bauen wir live, und du baust mit, pausier wo du musst. Schritt eins: ich öffne meine Haushalts-Liste in Notion und trage ein paar Sachen aus meinem Brain Dump ein. Wäsche, Rhythmus wöchentlich. Bäder putzen, mittwochs. Kleider wechseln, festes Datum Ende März. Du füllst deine eigene Liste mit dem, was bei dir ansteht.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Schritt zwei: ich nehme die fertige Haushalts-Helfer-Vorlage, die du als Bonus hast, und setze sie in Cowork ein. Mein Notion ist von Lektion 4.4 schon verbunden, also liest er die Haushalts-Liste direkt. Das ist exakt dieselbe Mechanik wie beim Cockpit-Bot, nur eine andere Liste und eine andere Vorlage.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Schritt drei, der schöne: ich frag ihn „was ist heute zu Hause dran", und schau, er gibt mir meine Haushalts-Sachen für heute plus die Termine der Kinder. Wie geil ist das denn, das musste ich vorher alles selbst im Kopf haben, und jetzt sagt's mir mein Helfer.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Alltag fragst du morgens beide kurz: den Cockpit-Bot, was im Business dran ist, und den Haushalts-Helfer, was zu Hause dran ist. In zwei Minuten hast du deinen ganzen Tag klar vor dir, Business und Familie, ohne dass irgendwas nur noch in deinem Kopf liegt. Das ist für mich gelebter Mama-CEO.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ganz kurz, weil's die gleiche Logik ist wie beim Cockpit-Bot: auch deinen Haushalts-Helfer kannst du später als automatischen Telegram-Bot bauen, der dir morgens von selbst schreibt. Das braucht wieder etwas Technik und Hosting, ist also Stufe zwei und kein Muss. Für den Anfang reicht es völlig, dass du ihn fragst.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weil das was-koch-ich-heute auch so ein Klassiker ist, hab ich dir noch einen Extra-Bonus dazugepackt: eine Vorlage für einen Kochassistenten. Der läuft nach genau demselben Prinzip, du gibst ihm deine Familie als Kontext, und er macht dir Wochenpläne, Spontan-Ideen und Einkaufslisten. Bau ihn dir, wann immer du Lust hast.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Arbeitsblatt bringst du jetzt deine Brain-Dump-Sachen in deine Haushalts-Liste und baust deinen Haushalts-Helfer mit der Vorlage. In der letzten Lektion von Säule 4 ziehen wir dann die Linie: was macht die KI, und was bleibt immer deins. Bis gleich.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Oval 1"/>
          <p:cNvSpPr/>
          <p:nvPr/>
        </p:nvSpPr>
        <p:spPr>
          <a:xfrm>
            <a:off x="6858000" y="3840480"/>
            <a:ext cx="3200400" cy="3200400"/>
          </a:xfrm>
          <a:prstGeom prst="ellipse">
            <a:avLst/>
          </a:prstGeom>
          <a:solidFill>
            <a:srgbClr val="DC8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8046720" cy="365760"/>
          </a:xfrm>
          <a:prstGeom prst="rect">
            <a:avLst/>
          </a:prstGeom>
          <a:noFill/>
        </p:spPr>
        <p:txBody>
          <a:bodyPr wrap="square">
            <a:spAutoFit/>
          </a:bodyPr>
          <a:lstStyle/>
          <a:p>
            <a:r>
              <a:rPr sz="1100" b="1">
                <a:solidFill>
                  <a:srgbClr val="DC822E"/>
                </a:solidFill>
                <a:latin typeface="Calibri"/>
              </a:rPr>
              <a:t>SÄULE 4 — DU DELEGIERST DEN ADMINKRAM</a:t>
            </a:r>
          </a:p>
        </p:txBody>
      </p:sp>
      <p:sp>
        <p:nvSpPr>
          <p:cNvPr id="4" name="Rectangle 3"/>
          <p:cNvSpPr/>
          <p:nvPr/>
        </p:nvSpPr>
        <p:spPr>
          <a:xfrm>
            <a:off x="548640" y="960120"/>
            <a:ext cx="548640" cy="45720"/>
          </a:xfrm>
          <a:prstGeom prst="rect">
            <a:avLst/>
          </a:prstGeom>
          <a:solidFill>
            <a:srgbClr val="DC8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7863840" cy="1554480"/>
          </a:xfrm>
          <a:prstGeom prst="rect">
            <a:avLst/>
          </a:prstGeom>
          <a:noFill/>
        </p:spPr>
        <p:txBody>
          <a:bodyPr wrap="square">
            <a:spAutoFit/>
          </a:bodyPr>
          <a:lstStyle/>
          <a:p>
            <a:r>
              <a:rPr sz="4400" b="1">
                <a:solidFill>
                  <a:srgbClr val="1A3A4A"/>
                </a:solidFill>
                <a:latin typeface="Georgia"/>
              </a:rPr>
              <a:t>MASTERY · Dein Haushalts-Helfer-Bot</a:t>
            </a:r>
          </a:p>
        </p:txBody>
      </p:sp>
      <p:sp>
        <p:nvSpPr>
          <p:cNvPr id="6" name="TextBox 5"/>
          <p:cNvSpPr txBox="1"/>
          <p:nvPr/>
        </p:nvSpPr>
        <p:spPr>
          <a:xfrm>
            <a:off x="548640" y="2880360"/>
            <a:ext cx="7680960" cy="1280160"/>
          </a:xfrm>
          <a:prstGeom prst="rect">
            <a:avLst/>
          </a:prstGeom>
          <a:noFill/>
        </p:spPr>
        <p:txBody>
          <a:bodyPr wrap="square">
            <a:spAutoFit/>
          </a:bodyPr>
          <a:lstStyle/>
          <a:p>
            <a:r>
              <a:rPr sz="1800" b="0">
                <a:solidFill>
                  <a:srgbClr val="2C3E50"/>
                </a:solidFill>
                <a:latin typeface="Georgia"/>
              </a:rPr>
              <a:t>Der Mental Load raus aus deinem Kopf</a:t>
            </a:r>
          </a:p>
        </p:txBody>
      </p:sp>
      <p:sp>
        <p:nvSpPr>
          <p:cNvPr id="7" name="TextBox 6"/>
          <p:cNvSpPr txBox="1"/>
          <p:nvPr/>
        </p:nvSpPr>
        <p:spPr>
          <a:xfrm>
            <a:off x="548640" y="4572000"/>
            <a:ext cx="3657600" cy="365760"/>
          </a:xfrm>
          <a:prstGeom prst="rect">
            <a:avLst/>
          </a:prstGeom>
          <a:noFill/>
        </p:spPr>
        <p:txBody>
          <a:bodyPr wrap="square">
            <a:spAutoFit/>
          </a:bodyPr>
          <a:lstStyle/>
          <a:p>
            <a:r>
              <a:rPr sz="1200" b="1">
                <a:solidFill>
                  <a:srgbClr val="12828C"/>
                </a:solidFill>
                <a:latin typeface="Calibri"/>
              </a:rPr>
              <a:t>Patricia Ulmann</a:t>
            </a:r>
          </a:p>
        </p:txBody>
      </p:sp>
      <p:sp>
        <p:nvSpPr>
          <p:cNvPr id="8" name="TextBox 7"/>
          <p:cNvSpPr txBox="1"/>
          <p:nvPr/>
        </p:nvSpPr>
        <p:spPr>
          <a:xfrm>
            <a:off x="4937760" y="4572000"/>
            <a:ext cx="3657600" cy="365760"/>
          </a:xfrm>
          <a:prstGeom prst="rect">
            <a:avLst/>
          </a:prstGeom>
          <a:noFill/>
        </p:spPr>
        <p:txBody>
          <a:bodyPr wrap="square">
            <a:spAutoFit/>
          </a:bodyPr>
          <a:lstStyle/>
          <a:p>
            <a:pPr algn="r"/>
            <a:r>
              <a:rPr sz="1100" b="0">
                <a:solidFill>
                  <a:srgbClr val="7A8A95"/>
                </a:solidFill>
                <a:latin typeface="Calibri"/>
              </a:rPr>
              <a:t>mumlifebalance.ch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Der unsichtbare Mental Load</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Wäsche, Zahnarzt, Geschenk, Kleider, Elternabend</a:t>
            </a:r>
          </a:p>
          <a:p>
            <a:pPr>
              <a:spcAft>
                <a:spcPts val="1000"/>
              </a:spcAft>
            </a:pPr>
            <a:r>
              <a:rPr sz="1600" b="1">
                <a:solidFill>
                  <a:srgbClr val="12828C"/>
                </a:solidFill>
                <a:latin typeface="Calibri"/>
              </a:rPr>
              <a:t>✓  </a:t>
            </a:r>
            <a:r>
              <a:rPr sz="1600" b="0">
                <a:solidFill>
                  <a:srgbClr val="2C3E50"/>
                </a:solidFill>
                <a:latin typeface="Calibri"/>
              </a:rPr>
              <a:t>Liegt unsichtbar im Kopf</a:t>
            </a:r>
          </a:p>
          <a:p>
            <a:pPr>
              <a:spcAft>
                <a:spcPts val="1000"/>
              </a:spcAft>
            </a:pPr>
            <a:r>
              <a:rPr sz="1600" b="1">
                <a:solidFill>
                  <a:srgbClr val="12828C"/>
                </a:solidFill>
                <a:latin typeface="Calibri"/>
              </a:rPr>
              <a:t>✓  </a:t>
            </a:r>
            <a:r>
              <a:rPr sz="1600" b="0">
                <a:solidFill>
                  <a:srgbClr val="2C3E50"/>
                </a:solidFill>
                <a:latin typeface="Calibri"/>
              </a:rPr>
              <a:t>Lässt dich auch abends nicht los</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4.5</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Der Zwilling des Cockpit-Bots</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Gleiche Mechanik wie der Cockpit-Bot</a:t>
            </a:r>
          </a:p>
          <a:p>
            <a:pPr>
              <a:spcAft>
                <a:spcPts val="1000"/>
              </a:spcAft>
            </a:pPr>
            <a:r>
              <a:rPr sz="1600" b="1">
                <a:solidFill>
                  <a:srgbClr val="12828C"/>
                </a:solidFill>
                <a:latin typeface="Calibri"/>
              </a:rPr>
              <a:t>✓  </a:t>
            </a:r>
            <a:r>
              <a:rPr sz="1600" b="0">
                <a:solidFill>
                  <a:srgbClr val="2C3E50"/>
                </a:solidFill>
                <a:latin typeface="Calibri"/>
              </a:rPr>
              <a:t>Liest eine Liste → sagt was dran ist</a:t>
            </a:r>
          </a:p>
          <a:p>
            <a:pPr>
              <a:spcAft>
                <a:spcPts val="1000"/>
              </a:spcAft>
            </a:pPr>
            <a:r>
              <a:rPr sz="1600" b="1">
                <a:solidFill>
                  <a:srgbClr val="12828C"/>
                </a:solidFill>
                <a:latin typeface="Calibri"/>
              </a:rPr>
              <a:t>✓  </a:t>
            </a:r>
            <a:r>
              <a:rPr sz="1600" b="0">
                <a:solidFill>
                  <a:srgbClr val="2C3E50"/>
                </a:solidFill>
                <a:latin typeface="Calibri"/>
              </a:rPr>
              <a:t>Cockpit = Business, Haushalt = Zuhause</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4.5</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Was er für dich tut</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„Montag — heute: Wäsche machen</a:t>
            </a:r>
          </a:p>
          <a:p>
            <a:pPr>
              <a:spcAft>
                <a:spcPts val="1000"/>
              </a:spcAft>
            </a:pPr>
            <a:r>
              <a:rPr sz="1600" b="1">
                <a:solidFill>
                  <a:srgbClr val="12828C"/>
                </a:solidFill>
                <a:latin typeface="Calibri"/>
              </a:rPr>
              <a:t>✓  </a:t>
            </a:r>
            <a:r>
              <a:rPr sz="1600" b="0">
                <a:solidFill>
                  <a:srgbClr val="2C3E50"/>
                </a:solidFill>
                <a:latin typeface="Calibri"/>
              </a:rPr>
              <a:t>Kind hat Zahnarzt 14 Uhr</a:t>
            </a:r>
          </a:p>
          <a:p>
            <a:pPr>
              <a:spcAft>
                <a:spcPts val="1000"/>
              </a:spcAft>
            </a:pPr>
            <a:r>
              <a:rPr sz="1600" b="1">
                <a:solidFill>
                  <a:srgbClr val="12828C"/>
                </a:solidFill>
                <a:latin typeface="Calibri"/>
              </a:rPr>
              <a:t>✓  </a:t>
            </a:r>
            <a:r>
              <a:rPr sz="1600" b="0">
                <a:solidFill>
                  <a:srgbClr val="2C3E50"/>
                </a:solidFill>
                <a:latin typeface="Calibri"/>
              </a:rPr>
              <a:t>Kind muss früher in die Schule (Wald)"</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4.5</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Die Quelle: dein Brain Dump aus Säule 2</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Hütchen-Inventar = die Quelle</a:t>
            </a:r>
          </a:p>
          <a:p>
            <a:pPr>
              <a:spcAft>
                <a:spcPts val="1000"/>
              </a:spcAft>
            </a:pPr>
            <a:r>
              <a:rPr sz="1600" b="1">
                <a:solidFill>
                  <a:srgbClr val="12828C"/>
                </a:solidFill>
                <a:latin typeface="Calibri"/>
              </a:rPr>
              <a:t>✓  </a:t>
            </a:r>
            <a:r>
              <a:rPr sz="1600" b="0">
                <a:solidFill>
                  <a:srgbClr val="2C3E50"/>
                </a:solidFill>
                <a:latin typeface="Calibri"/>
              </a:rPr>
              <a:t>Alle „muss ich noch"-Sachen</a:t>
            </a:r>
          </a:p>
          <a:p>
            <a:pPr>
              <a:spcAft>
                <a:spcPts val="1000"/>
              </a:spcAft>
            </a:pPr>
            <a:r>
              <a:rPr sz="1600" b="1">
                <a:solidFill>
                  <a:srgbClr val="12828C"/>
                </a:solidFill>
                <a:latin typeface="Calibri"/>
              </a:rPr>
              <a:t>✓  </a:t>
            </a:r>
            <a:r>
              <a:rPr sz="1600" b="0">
                <a:solidFill>
                  <a:srgbClr val="2C3E50"/>
                </a:solidFill>
                <a:latin typeface="Calibri"/>
              </a:rPr>
              <a:t>→ in eine Liste</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4.5</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Zwei Sorten Aufgaben + Termine</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 wiederkehrend (Staubsaugen montags)</a:t>
            </a:r>
          </a:p>
          <a:p>
            <a:pPr>
              <a:spcAft>
                <a:spcPts val="1000"/>
              </a:spcAft>
            </a:pPr>
            <a:r>
              <a:rPr sz="1600" b="1">
                <a:solidFill>
                  <a:srgbClr val="12828C"/>
                </a:solidFill>
                <a:latin typeface="Calibri"/>
              </a:rPr>
              <a:t>✓  </a:t>
            </a:r>
            <a:r>
              <a:rPr sz="1600" b="0">
                <a:solidFill>
                  <a:srgbClr val="2C3E50"/>
                </a:solidFill>
                <a:latin typeface="Calibri"/>
              </a:rPr>
              <a:t>📅 datiert (Kleider raus letzter Fr im März)</a:t>
            </a:r>
          </a:p>
          <a:p>
            <a:pPr>
              <a:spcAft>
                <a:spcPts val="1000"/>
              </a:spcAft>
            </a:pPr>
            <a:r>
              <a:rPr sz="1600" b="1">
                <a:solidFill>
                  <a:srgbClr val="12828C"/>
                </a:solidFill>
                <a:latin typeface="Calibri"/>
              </a:rPr>
              <a:t>✓  </a:t>
            </a:r>
            <a:r>
              <a:rPr sz="1600" b="0">
                <a:solidFill>
                  <a:srgbClr val="2C3E50"/>
                </a:solidFill>
                <a:latin typeface="Calibri"/>
              </a:rPr>
              <a:t>👨‍👩‍👧 Familien-Termine (Zahnarzt, Waldtag)</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4.5</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Wo die Liste lebt: Notion</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Eigene Haushalts-Liste in Notion</a:t>
            </a:r>
          </a:p>
          <a:p>
            <a:pPr>
              <a:spcAft>
                <a:spcPts val="1000"/>
              </a:spcAft>
            </a:pPr>
            <a:r>
              <a:rPr sz="1600" b="1">
                <a:solidFill>
                  <a:srgbClr val="12828C"/>
                </a:solidFill>
                <a:latin typeface="Calibri"/>
              </a:rPr>
              <a:t>✓  </a:t>
            </a:r>
            <a:r>
              <a:rPr sz="1600" b="0">
                <a:solidFill>
                  <a:srgbClr val="2C3E50"/>
                </a:solidFill>
                <a:latin typeface="Calibri"/>
              </a:rPr>
              <a:t>Felder: Rhythmus, Wochentag, festes Datum</a:t>
            </a:r>
          </a:p>
          <a:p>
            <a:pPr>
              <a:spcAft>
                <a:spcPts val="1000"/>
              </a:spcAft>
            </a:pPr>
            <a:r>
              <a:rPr sz="1600" b="1">
                <a:solidFill>
                  <a:srgbClr val="12828C"/>
                </a:solidFill>
                <a:latin typeface="Calibri"/>
              </a:rPr>
              <a:t>✓  </a:t>
            </a:r>
            <a:r>
              <a:rPr sz="1600" b="0">
                <a:solidFill>
                  <a:srgbClr val="2C3E50"/>
                </a:solidFill>
                <a:latin typeface="Calibri"/>
              </a:rPr>
              <a:t>Beide Bots schauen da rein</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4.5</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Live-Demo 1: Haushalts-Liste füllen</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Notion-Haushalts-Liste öffnen</a:t>
            </a:r>
          </a:p>
          <a:p>
            <a:pPr>
              <a:spcAft>
                <a:spcPts val="1000"/>
              </a:spcAft>
            </a:pPr>
            <a:r>
              <a:rPr sz="1600" b="1">
                <a:solidFill>
                  <a:srgbClr val="12828C"/>
                </a:solidFill>
                <a:latin typeface="Calibri"/>
              </a:rPr>
              <a:t>✓  </a:t>
            </a:r>
            <a:r>
              <a:rPr sz="1600" b="0">
                <a:solidFill>
                  <a:srgbClr val="2C3E50"/>
                </a:solidFill>
                <a:latin typeface="Calibri"/>
              </a:rPr>
              <a:t>Sachen aus dem Brain Dump eintragen</a:t>
            </a:r>
          </a:p>
          <a:p>
            <a:pPr>
              <a:spcAft>
                <a:spcPts val="1000"/>
              </a:spcAft>
            </a:pPr>
            <a:r>
              <a:rPr sz="1600" b="1">
                <a:solidFill>
                  <a:srgbClr val="12828C"/>
                </a:solidFill>
                <a:latin typeface="Calibri"/>
              </a:rPr>
              <a:t>✓  </a:t>
            </a:r>
            <a:r>
              <a:rPr sz="1600" b="0">
                <a:solidFill>
                  <a:srgbClr val="2C3E50"/>
                </a:solidFill>
                <a:latin typeface="Calibri"/>
              </a:rPr>
              <a:t>Rhythmus + festes Datum dazu</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4.5</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Live-Demo 2: Bot bauen (in Cowork)</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Haushalts-Helfer-Vorlage in Cowork einfügen</a:t>
            </a:r>
          </a:p>
          <a:p>
            <a:pPr>
              <a:spcAft>
                <a:spcPts val="1000"/>
              </a:spcAft>
            </a:pPr>
            <a:r>
              <a:rPr sz="1600" b="1">
                <a:solidFill>
                  <a:srgbClr val="12828C"/>
                </a:solidFill>
                <a:latin typeface="Calibri"/>
              </a:rPr>
              <a:t>✓  </a:t>
            </a:r>
            <a:r>
              <a:rPr sz="1600" b="0">
                <a:solidFill>
                  <a:srgbClr val="2C3E50"/>
                </a:solidFill>
                <a:latin typeface="Calibri"/>
              </a:rPr>
              <a:t>Notion ist schon verbunden (aus 4.4)</a:t>
            </a:r>
          </a:p>
          <a:p>
            <a:pPr>
              <a:spcAft>
                <a:spcPts val="1000"/>
              </a:spcAft>
            </a:pPr>
            <a:r>
              <a:rPr sz="1600" b="1">
                <a:solidFill>
                  <a:srgbClr val="12828C"/>
                </a:solidFill>
                <a:latin typeface="Calibri"/>
              </a:rPr>
              <a:t>✓  </a:t>
            </a:r>
            <a:r>
              <a:rPr sz="1600" b="0">
                <a:solidFill>
                  <a:srgbClr val="2C3E50"/>
                </a:solidFill>
                <a:latin typeface="Calibri"/>
              </a:rPr>
              <a:t>Gleiche Mechanik, andere Liste</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4.5</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Live-Demo 3: testen</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„Was ist heute zu Hause dran?"</a:t>
            </a:r>
          </a:p>
          <a:p>
            <a:pPr>
              <a:spcAft>
                <a:spcPts val="1000"/>
              </a:spcAft>
            </a:pPr>
            <a:r>
              <a:rPr sz="1600" b="1">
                <a:solidFill>
                  <a:srgbClr val="12828C"/>
                </a:solidFill>
                <a:latin typeface="Calibri"/>
              </a:rPr>
              <a:t>✓  </a:t>
            </a:r>
            <a:r>
              <a:rPr sz="1600" b="0">
                <a:solidFill>
                  <a:srgbClr val="2C3E50"/>
                </a:solidFill>
                <a:latin typeface="Calibri"/>
              </a:rPr>
              <a:t>→ Haushalt + Termine der Kinder</a:t>
            </a:r>
          </a:p>
          <a:p>
            <a:pPr>
              <a:spcAft>
                <a:spcPts val="1000"/>
              </a:spcAft>
            </a:pPr>
            <a:r>
              <a:rPr sz="1600" b="1">
                <a:solidFill>
                  <a:srgbClr val="12828C"/>
                </a:solidFill>
                <a:latin typeface="Calibri"/>
              </a:rPr>
              <a:t>✓  </a:t>
            </a:r>
            <a:r>
              <a:rPr sz="1600" b="0">
                <a:solidFill>
                  <a:srgbClr val="2C3E50"/>
                </a:solidFill>
                <a:latin typeface="Calibri"/>
              </a:rPr>
              <a:t>Vorher im Kopf, jetzt sagt's der Helfer</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4.5</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So nutzt du beide Bots morgens</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Cockpit: was im Business dran ist</a:t>
            </a:r>
          </a:p>
          <a:p>
            <a:pPr>
              <a:spcAft>
                <a:spcPts val="1000"/>
              </a:spcAft>
            </a:pPr>
            <a:r>
              <a:rPr sz="1600" b="1">
                <a:solidFill>
                  <a:srgbClr val="12828C"/>
                </a:solidFill>
                <a:latin typeface="Calibri"/>
              </a:rPr>
              <a:t>✓  </a:t>
            </a:r>
            <a:r>
              <a:rPr sz="1600" b="0">
                <a:solidFill>
                  <a:srgbClr val="2C3E50"/>
                </a:solidFill>
                <a:latin typeface="Calibri"/>
              </a:rPr>
              <a:t>Haushalts-Helfer: was zu Hause dran ist</a:t>
            </a:r>
          </a:p>
          <a:p>
            <a:pPr>
              <a:spcAft>
                <a:spcPts val="1000"/>
              </a:spcAft>
            </a:pPr>
            <a:r>
              <a:rPr sz="1600" b="1">
                <a:solidFill>
                  <a:srgbClr val="12828C"/>
                </a:solidFill>
                <a:latin typeface="Calibri"/>
              </a:rPr>
              <a:t>✓  </a:t>
            </a:r>
            <a:r>
              <a:rPr sz="1600" b="0">
                <a:solidFill>
                  <a:srgbClr val="2C3E50"/>
                </a:solidFill>
                <a:latin typeface="Calibri"/>
              </a:rPr>
              <a:t>Ganzer Tag in 2 Minuten klar</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4.5</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Stufe 2: auch hier automatisch möglich</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Wie beim Cockpit: Telegram-Push</a:t>
            </a:r>
          </a:p>
          <a:p>
            <a:pPr>
              <a:spcAft>
                <a:spcPts val="1000"/>
              </a:spcAft>
            </a:pPr>
            <a:r>
              <a:rPr sz="1600" b="1">
                <a:solidFill>
                  <a:srgbClr val="12828C"/>
                </a:solidFill>
                <a:latin typeface="Calibri"/>
              </a:rPr>
              <a:t>✓  </a:t>
            </a:r>
            <a:r>
              <a:rPr sz="1600" b="0">
                <a:solidFill>
                  <a:srgbClr val="2C3E50"/>
                </a:solidFill>
                <a:latin typeface="Calibri"/>
              </a:rPr>
              <a:t>Via Claude Code + Hosting</a:t>
            </a:r>
          </a:p>
          <a:p>
            <a:pPr>
              <a:spcAft>
                <a:spcPts val="1000"/>
              </a:spcAft>
            </a:pPr>
            <a:r>
              <a:rPr sz="1600" b="1">
                <a:solidFill>
                  <a:srgbClr val="12828C"/>
                </a:solidFill>
                <a:latin typeface="Calibri"/>
              </a:rPr>
              <a:t>✓  </a:t>
            </a:r>
            <a:r>
              <a:rPr sz="1600" b="0">
                <a:solidFill>
                  <a:srgbClr val="2C3E50"/>
                </a:solidFill>
                <a:latin typeface="Calibri"/>
              </a:rPr>
              <a:t>Kein Muss — fragen reicht</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4.5</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Extra-Bonus: dein Kochassistent</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 Wochenplan · Spontan-Koch · Einkaufsliste</a:t>
            </a:r>
          </a:p>
          <a:p>
            <a:pPr>
              <a:spcAft>
                <a:spcPts val="1000"/>
              </a:spcAft>
            </a:pPr>
            <a:r>
              <a:rPr sz="1600" b="1">
                <a:solidFill>
                  <a:srgbClr val="12828C"/>
                </a:solidFill>
                <a:latin typeface="Calibri"/>
              </a:rPr>
              <a:t>✓  </a:t>
            </a:r>
            <a:r>
              <a:rPr sz="1600" b="0">
                <a:solidFill>
                  <a:srgbClr val="2C3E50"/>
                </a:solidFill>
                <a:latin typeface="Calibri"/>
              </a:rPr>
              <a:t>Gleiche Mechanik, Familie als Kontext</a:t>
            </a:r>
          </a:p>
          <a:p>
            <a:pPr>
              <a:spcAft>
                <a:spcPts val="1000"/>
              </a:spcAft>
            </a:pPr>
            <a:r>
              <a:rPr sz="1600" b="1">
                <a:solidFill>
                  <a:srgbClr val="12828C"/>
                </a:solidFill>
                <a:latin typeface="Calibri"/>
              </a:rPr>
              <a:t>✓  </a:t>
            </a:r>
            <a:r>
              <a:rPr sz="1600" b="0">
                <a:solidFill>
                  <a:srgbClr val="2C3E50"/>
                </a:solidFill>
                <a:latin typeface="Calibri"/>
              </a:rPr>
              <a:t>Vorlage liegt bei</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4.5</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Arbeitsblatt + nächste Lektion</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 Haushalts-Liste + Helfer bauen + testen</a:t>
            </a:r>
          </a:p>
          <a:p>
            <a:pPr>
              <a:spcAft>
                <a:spcPts val="1000"/>
              </a:spcAft>
            </a:pPr>
            <a:r>
              <a:rPr sz="1600" b="1">
                <a:solidFill>
                  <a:srgbClr val="12828C"/>
                </a:solidFill>
                <a:latin typeface="Calibri"/>
              </a:rPr>
              <a:t>✓  </a:t>
            </a:r>
            <a:r>
              <a:rPr sz="1600" b="0">
                <a:solidFill>
                  <a:srgbClr val="2C3E50"/>
                </a:solidFill>
                <a:latin typeface="Calibri"/>
              </a:rPr>
              <a:t>Nächste Lektion: 4.6 — Mensch vs. KI</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4.5</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