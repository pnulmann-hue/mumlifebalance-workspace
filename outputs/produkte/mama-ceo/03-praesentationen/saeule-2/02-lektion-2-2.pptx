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1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„In dieser Lektion bekommst du das EINE Mantra das alles trägt — 100 Prozent Selbstverantwortung. Und wir gehen tiefer als „nimm dich zusammen". Wir schauen uns die alte Identität an die dich sabotiert, und du wählst eine neue. Klingt gross, ist aber genau das was es braucht — Wochenplan-Apps nützen nichts wenn du innerlich weiterhin glaubst dass du keine CEO sein DARFST."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Sachen kommen. Erstens — die typischen „Wenn nur..."-Warte-Fallen, eine davon erkennst du wieder. Zweitens — und das ist neu — wir gucken welche Glaubenssätze dich sabotieren. In drei Bereichen die für uns Mamas extrem stark sind: Mama-Sein, Erfolg, und Vereinbarkeit. Drittens wählst du am Ende eine neue Identität. Konkret, in deinen Worten."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Warte-Fallen. Erstens „wenn nur Zeit" — wenn die Kinder grösser sind, die Ferien vorbei, die Phase ruhiger. Zweitens „wenn nur Geld" — wenn ich eine echte VA hätte, das Tool kaufen könnte, der Mann mehr verdient. Drittens „wenn nur Wissen" — wenn ich erst diesen Kurs fertig habe, wenn ich KI besser kann, wenn ich mir sicher bin. Erkennst du dich? Wahrscheinlich in mehreren. Aber bevor wir das Mantra anwenden, müssen wir verstehen WAS DARUNTER liegt."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„Niemand wird kommen und dich retten. Keine bessere Phase kommt, kein Geldsegen, kein perfekter Kurs. Das klingt brutal, ist aber das Freieste was du hören kannst — weil es dich aus dem Warten raus holt. Aber das Mantra allein reicht nicht. Hinter dem Warten liegt etwas Tieferes: eine Identität. Eine Identität die NICHT glaubt dass sie CEO sein darf. Da gehen wir jetzt rein."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„Bevor wir Verhalten ändern, müssen wir den Layer drunter anschauen. Das ist das Modell: Aus deinen Werten entstehen Glaubenssätze, aus den Glaubenssätzen entstehen Geschichten die du dir erzählst, daraus dein Verhalten. Wenn du zum Beispiel den Wert „Familie" hast und gleichzeitig glaubst „Erfolgreiche Mütter vernachlässigen ihre Kinder" — dann wirst du dich JEDES MAL selbst sabotieren wenn dein Business läuft. Egal wie gute Apps du hast. Drum schauen wir uns gleich die drei Bereiche an in denen Mamas die heftigsten Glaubenssätze haben."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„Hier sind sie — die drei Bereiche in denen wir Mamas die heftigsten Glaubenssätze tragen. Mama-Sein: „Eine gute Mama ist immer da, Mama-Sein heisst Verzicht, wenn ich mich kümmere leide ich." Erfolg: „Erfolg ist für andere, wenn ich erfolgreich werde verändert sich was, ich darf nicht zu sichtbar sein." Vereinbarkeit: „Familie ODER Karriere, beides geht nicht, ich kann nichts richtig machen." Wenn auch nur EIN Glaubenssatz davon in dir aktiv ist, wirst du dich an deinem eigenen Erfolg vorbeischrauben. Im Arbeitsblatt schaust du gleich welcher bei dir am stärksten 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konkrete Identitäts-Wechsel die ich bei meinen Mentees am häufigsten sehe. Alte Identität: „Ich bin die Macherin". Neue: „Ich bin die Entscheiderin". Alte: „Ich muss alles selbst können". Neue: „Ich darf führen, nicht selbst tun". Alte: „Ich darf erst wenn die Kids gross sind". Neue: „Ich darf jetzt. Die Kinder profitieren von einer Mama die ihr Ding macht." Alte: „Erfolg ist gefährlich, da verändert sich was". Neue: „Erfolg ist Vorbild für meine Kinder — vor allem für meine Töchter und Söhne." Welche Identität ist deine? Schreib das im Arbeitsblatt auf — nicht meine Wörter, deine."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„Damit das nicht abstrakt bleibt — mein eigener Identitäts-Shift im Mai 2025. Mein alter Glaubenssatz war „Ich bin Mama von vier, Business ist nur möglich wenn es im Hintergrund läuft, leise, nebenher". Der Wendepunkt war eine ganz konkrete Frage die ich mir gestellt habe — darf ich eigentlich sichtbar sein? Antwort, die ich entschieden habe: ja. Identität neu — „Ich bin Mompreneurin. Auch um 9 Uhr am Vormittag, auch öffentlich, auch laut wenn nötig." Und das Verhalten folgte automatisch: Webinar geplant, Sales-Page gebaut, Kurs verkauft. Niemand hat mich gerettet — ich habe mich neu definiert. Und das ist der wichtigste Satz in dieser Lektion: Identität entscheidet wer du sein darfst. Verhalten folgt — nie andersherum."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Takeaways. Niemand wird kommen, das ist befreiend. Warte-Fallen sind ein Symptom — die Wurzel ist die Identität. Bei uns Mamas in drei Bereichen besonders heftig: Mama-Sein, Erfolg, Vereinbarkeit. Und der wichtigste Mind-Shift: erst neue Identität wählen, dann folgt Verhalten automatisch. Nicht andersherum."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„Bevor du zur 1.3 gehst — Arbeitsblatt öffnen. Drei Sachen: welche „Wenn nur..."-Falle ist deine, welcher Glaubenssatz aus den drei Bereichen sabotiert dich am stärksten, und welche NEUE Identität wählst du. Schreib die neue Identität als „Ich bin..."-Satz auf. Nicht „Ich werde", nicht „Ich will" — „Ich bin". Pin den Satz an deinen Bildschirm. In Lektion 1.3 schauen wir dann welche fünf Aufgaben überhaupt zu dieser neuen Identität gehören."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a:effectLst/>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txBody>
          <a:bodyPr/>
          <a:lstStyle/>
          <a:p>
            <a:endParaRPr lang="de-CH"/>
          </a:p>
        </p:txBody>
      </p:sp>
      <p:sp>
        <p:nvSpPr>
          <p:cNvPr id="3" name="Text 1"/>
          <p:cNvSpPr/>
          <p:nvPr/>
        </p:nvSpPr>
        <p:spPr>
          <a:xfrm>
            <a:off x="548640" y="548640"/>
            <a:ext cx="8046720" cy="36576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MODUL 1 · MINDSET-RESET FÜR MAMA-CEO</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txBody>
          <a:bodyPr/>
          <a:lstStyle/>
          <a:p>
            <a:endParaRPr lang="de-CH"/>
          </a:p>
        </p:txBody>
      </p:sp>
      <p:sp>
        <p:nvSpPr>
          <p:cNvPr id="5" name="Text 3"/>
          <p:cNvSpPr/>
          <p:nvPr/>
        </p:nvSpPr>
        <p:spPr>
          <a:xfrm>
            <a:off x="548640" y="1280160"/>
            <a:ext cx="8046720" cy="1371600"/>
          </a:xfrm>
          <a:prstGeom prst="rect">
            <a:avLst/>
          </a:prstGeom>
          <a:noFill/>
          <a:ln/>
        </p:spPr>
        <p:txBody>
          <a:bodyPr wrap="square" lIns="0" tIns="0" rIns="0" bIns="0" rtlCol="0" anchor="t"/>
          <a:lstStyle/>
          <a:p>
            <a:pPr marL="0" indent="0">
              <a:buNone/>
            </a:pPr>
            <a:r>
              <a:rPr lang="en-US" sz="4800" b="1" dirty="0">
                <a:solidFill>
                  <a:srgbClr val="1A3A4A"/>
                </a:solidFill>
                <a:latin typeface="Georgia" pitchFamily="34" charset="0"/>
                <a:ea typeface="Georgia" pitchFamily="34" charset="-122"/>
                <a:cs typeface="Georgia" pitchFamily="34" charset="-120"/>
              </a:rPr>
              <a:t>Das EINE Mantra</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marL="0" indent="0">
              <a:buNone/>
            </a:pPr>
            <a:r>
              <a:rPr lang="en-US" sz="1800" i="1" dirty="0">
                <a:solidFill>
                  <a:srgbClr val="2C3E50"/>
                </a:solidFill>
                <a:latin typeface="Georgia" pitchFamily="34" charset="0"/>
                <a:ea typeface="Georgia" pitchFamily="34" charset="-122"/>
                <a:cs typeface="Georgia" pitchFamily="34" charset="-120"/>
              </a:rPr>
              <a:t>100 % Selbstverantwortung —</a:t>
            </a:r>
            <a:endParaRPr lang="en-US" sz="1800" dirty="0"/>
          </a:p>
          <a:p>
            <a:pPr marL="0" indent="0">
              <a:buNone/>
            </a:pPr>
            <a:r>
              <a:rPr lang="en-US" sz="1800" i="1" dirty="0">
                <a:solidFill>
                  <a:srgbClr val="2C3E50"/>
                </a:solidFill>
                <a:latin typeface="Georgia" pitchFamily="34" charset="0"/>
                <a:ea typeface="Georgia" pitchFamily="34" charset="-122"/>
                <a:cs typeface="Georgia" pitchFamily="34" charset="-120"/>
              </a:rPr>
              <a:t>und der Identitäts-Shift dahinter.</a:t>
            </a:r>
            <a:endParaRPr lang="en-US" sz="1800" dirty="0"/>
          </a:p>
          <a:p>
            <a:pPr marL="0" indent="0">
              <a:buNone/>
            </a:pPr>
            <a:r>
              <a:rPr lang="en-US" sz="1800" i="1" dirty="0">
                <a:solidFill>
                  <a:srgbClr val="2C3E50"/>
                </a:solidFill>
                <a:latin typeface="Georgia" pitchFamily="34" charset="0"/>
                <a:ea typeface="Georgia" pitchFamily="34" charset="-122"/>
                <a:cs typeface="Georgia" pitchFamily="34" charset="-120"/>
              </a:rPr>
              <a:t>Am Ende wählst du wer du sein darfst.</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marL="0" indent="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marL="0" indent="0" algn="r">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3657600" cy="274320"/>
          </a:xfrm>
          <a:prstGeom prst="rect">
            <a:avLst/>
          </a:prstGeom>
          <a:noFill/>
          <a:ln/>
        </p:spPr>
        <p:txBody>
          <a:bodyPr wrap="square" rtlCol="0" anchor="ctr"/>
          <a:lstStyle/>
          <a:p>
            <a:pPr marL="0" indent="0">
              <a:buNone/>
            </a:pPr>
            <a:r>
              <a:rPr lang="en-US" sz="1000" b="1" kern="0" spc="400" dirty="0">
                <a:solidFill>
                  <a:srgbClr val="DC822E"/>
                </a:solidFill>
                <a:latin typeface="Calibri" pitchFamily="34" charset="0"/>
                <a:ea typeface="Calibri" pitchFamily="34" charset="-122"/>
                <a:cs typeface="Calibri" pitchFamily="34" charset="-120"/>
              </a:rPr>
              <a:t>LEKTION 1.2</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marL="0" indent="0">
              <a:buNone/>
            </a:pPr>
            <a:r>
              <a:rPr lang="en-US" sz="3200" b="1" dirty="0">
                <a:solidFill>
                  <a:srgbClr val="1A3A4A"/>
                </a:solidFill>
                <a:latin typeface="Georgia" pitchFamily="34" charset="0"/>
                <a:ea typeface="Georgia" pitchFamily="34" charset="-122"/>
                <a:cs typeface="Georgia" pitchFamily="34" charset="-120"/>
              </a:rPr>
              <a:t>Was du in den nächsten Minuten lernst</a:t>
            </a:r>
            <a:endParaRPr lang="en-US" sz="3200" dirty="0"/>
          </a:p>
        </p:txBody>
      </p:sp>
      <p:sp>
        <p:nvSpPr>
          <p:cNvPr id="4" name="Shape 2"/>
          <p:cNvSpPr/>
          <p:nvPr/>
        </p:nvSpPr>
        <p:spPr>
          <a:xfrm>
            <a:off x="548640" y="1828800"/>
            <a:ext cx="731520" cy="36576"/>
          </a:xfrm>
          <a:prstGeom prst="rect">
            <a:avLst/>
          </a:prstGeom>
          <a:solidFill>
            <a:srgbClr val="DC822E"/>
          </a:solidFill>
          <a:ln w="12700">
            <a:solidFill>
              <a:srgbClr val="DC822E">
                <a:alpha val="0"/>
              </a:srgbClr>
            </a:solidFill>
            <a:prstDash val="solid"/>
          </a:ln>
        </p:spPr>
        <p:txBody>
          <a:bodyPr/>
          <a:lstStyle/>
          <a:p>
            <a:endParaRPr lang="de-CH"/>
          </a:p>
        </p:txBody>
      </p:sp>
      <p:sp>
        <p:nvSpPr>
          <p:cNvPr id="5" name="Shape 3"/>
          <p:cNvSpPr/>
          <p:nvPr/>
        </p:nvSpPr>
        <p:spPr>
          <a:xfrm>
            <a:off x="548640" y="2377440"/>
            <a:ext cx="457200" cy="457200"/>
          </a:xfrm>
          <a:prstGeom prst="ellipse">
            <a:avLst/>
          </a:prstGeom>
          <a:solidFill>
            <a:srgbClr val="12828C"/>
          </a:solidFill>
          <a:ln w="12700">
            <a:solidFill>
              <a:srgbClr val="12828C">
                <a:alpha val="0"/>
              </a:srgbClr>
            </a:solidFill>
            <a:prstDash val="solid"/>
          </a:ln>
        </p:spPr>
        <p:txBody>
          <a:bodyPr/>
          <a:lstStyle/>
          <a:p>
            <a:endParaRPr lang="de-CH"/>
          </a:p>
        </p:txBody>
      </p:sp>
      <p:sp>
        <p:nvSpPr>
          <p:cNvPr id="6" name="Text 4"/>
          <p:cNvSpPr/>
          <p:nvPr/>
        </p:nvSpPr>
        <p:spPr>
          <a:xfrm>
            <a:off x="548640" y="2377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88720" y="2377440"/>
            <a:ext cx="7315200" cy="457200"/>
          </a:xfrm>
          <a:prstGeom prst="rect">
            <a:avLst/>
          </a:prstGeom>
          <a:noFill/>
          <a:ln/>
        </p:spPr>
        <p:txBody>
          <a:bodyPr wrap="square" lIns="0" tIns="0" rIns="0" bIns="0" rtlCol="0" anchor="ctr"/>
          <a:lstStyle/>
          <a:p>
            <a:pPr marL="0" indent="0">
              <a:buNone/>
            </a:pPr>
            <a:r>
              <a:rPr lang="en-US" sz="1800" dirty="0">
                <a:solidFill>
                  <a:srgbClr val="2C3E50"/>
                </a:solidFill>
                <a:latin typeface="Calibri" pitchFamily="34" charset="0"/>
                <a:ea typeface="Calibri" pitchFamily="34" charset="-122"/>
                <a:cs typeface="Calibri" pitchFamily="34" charset="-120"/>
              </a:rPr>
              <a:t>Die 3 typischen „Wenn nur..."-Warte-Fallen (eine davon ist deine)</a:t>
            </a:r>
            <a:endParaRPr lang="en-US" sz="1800" dirty="0"/>
          </a:p>
        </p:txBody>
      </p:sp>
      <p:sp>
        <p:nvSpPr>
          <p:cNvPr id="8" name="Shape 6"/>
          <p:cNvSpPr/>
          <p:nvPr/>
        </p:nvSpPr>
        <p:spPr>
          <a:xfrm>
            <a:off x="548640" y="3108960"/>
            <a:ext cx="457200" cy="457200"/>
          </a:xfrm>
          <a:prstGeom prst="ellipse">
            <a:avLst/>
          </a:prstGeom>
          <a:solidFill>
            <a:srgbClr val="12828C"/>
          </a:solidFill>
          <a:ln w="12700">
            <a:solidFill>
              <a:srgbClr val="12828C">
                <a:alpha val="0"/>
              </a:srgbClr>
            </a:solidFill>
            <a:prstDash val="solid"/>
          </a:ln>
        </p:spPr>
        <p:txBody>
          <a:bodyPr/>
          <a:lstStyle/>
          <a:p>
            <a:endParaRPr lang="de-CH"/>
          </a:p>
        </p:txBody>
      </p:sp>
      <p:sp>
        <p:nvSpPr>
          <p:cNvPr id="9" name="Text 7"/>
          <p:cNvSpPr/>
          <p:nvPr/>
        </p:nvSpPr>
        <p:spPr>
          <a:xfrm>
            <a:off x="54864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1188720" y="3108960"/>
            <a:ext cx="7315200" cy="457200"/>
          </a:xfrm>
          <a:prstGeom prst="rect">
            <a:avLst/>
          </a:prstGeom>
          <a:noFill/>
          <a:ln/>
        </p:spPr>
        <p:txBody>
          <a:bodyPr wrap="square" lIns="0" tIns="0" rIns="0" bIns="0" rtlCol="0" anchor="ctr"/>
          <a:lstStyle/>
          <a:p>
            <a:pPr marL="0" indent="0">
              <a:buNone/>
            </a:pPr>
            <a:r>
              <a:rPr lang="en-US" sz="1800" dirty="0">
                <a:solidFill>
                  <a:srgbClr val="2C3E50"/>
                </a:solidFill>
                <a:latin typeface="Calibri" pitchFamily="34" charset="0"/>
                <a:ea typeface="Calibri" pitchFamily="34" charset="-122"/>
                <a:cs typeface="Calibri" pitchFamily="34" charset="-120"/>
              </a:rPr>
              <a:t>Welcher Glaubenssatz dich aktuell sabotiert (3 Bereiche)</a:t>
            </a:r>
            <a:endParaRPr lang="en-US" sz="1800" dirty="0"/>
          </a:p>
        </p:txBody>
      </p:sp>
      <p:sp>
        <p:nvSpPr>
          <p:cNvPr id="11" name="Shape 9"/>
          <p:cNvSpPr/>
          <p:nvPr/>
        </p:nvSpPr>
        <p:spPr>
          <a:xfrm>
            <a:off x="548640" y="3840480"/>
            <a:ext cx="457200" cy="457200"/>
          </a:xfrm>
          <a:prstGeom prst="ellipse">
            <a:avLst/>
          </a:prstGeom>
          <a:solidFill>
            <a:srgbClr val="12828C"/>
          </a:solidFill>
          <a:ln w="12700">
            <a:solidFill>
              <a:srgbClr val="12828C">
                <a:alpha val="0"/>
              </a:srgbClr>
            </a:solidFill>
            <a:prstDash val="solid"/>
          </a:ln>
        </p:spPr>
        <p:txBody>
          <a:bodyPr/>
          <a:lstStyle/>
          <a:p>
            <a:endParaRPr lang="de-CH"/>
          </a:p>
        </p:txBody>
      </p:sp>
      <p:sp>
        <p:nvSpPr>
          <p:cNvPr id="12" name="Text 10"/>
          <p:cNvSpPr/>
          <p:nvPr/>
        </p:nvSpPr>
        <p:spPr>
          <a:xfrm>
            <a:off x="548640" y="3840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1188720" y="3840480"/>
            <a:ext cx="7315200" cy="457200"/>
          </a:xfrm>
          <a:prstGeom prst="rect">
            <a:avLst/>
          </a:prstGeom>
          <a:noFill/>
          <a:ln/>
        </p:spPr>
        <p:txBody>
          <a:bodyPr wrap="square" lIns="0" tIns="0" rIns="0" bIns="0" rtlCol="0" anchor="ctr"/>
          <a:lstStyle/>
          <a:p>
            <a:pPr marL="0" indent="0">
              <a:buNone/>
            </a:pPr>
            <a:r>
              <a:rPr lang="en-US" sz="1800" dirty="0">
                <a:solidFill>
                  <a:srgbClr val="2C3E50"/>
                </a:solidFill>
                <a:latin typeface="Calibri" pitchFamily="34" charset="0"/>
                <a:ea typeface="Calibri" pitchFamily="34" charset="-122"/>
                <a:cs typeface="Calibri" pitchFamily="34" charset="-120"/>
              </a:rPr>
              <a:t>Welche neue Identität du wählst — als Mama-CEO</a:t>
            </a:r>
            <a:endParaRPr lang="en-US" sz="1800" dirty="0"/>
          </a:p>
        </p:txBody>
      </p:sp>
      <p:sp>
        <p:nvSpPr>
          <p:cNvPr id="14" name="Text 12"/>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15" name="Text 13"/>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marL="0" indent="0">
              <a:buNone/>
            </a:pPr>
            <a:r>
              <a:rPr lang="en-US" sz="2800" b="1" dirty="0">
                <a:solidFill>
                  <a:srgbClr val="1A3A4A"/>
                </a:solidFill>
                <a:latin typeface="Georgia" pitchFamily="34" charset="0"/>
                <a:ea typeface="Georgia" pitchFamily="34" charset="-122"/>
                <a:cs typeface="Georgia" pitchFamily="34" charset="-120"/>
              </a:rPr>
              <a:t>Die 3 typischen „Wenn nur..."-Warte-Fallen</a:t>
            </a:r>
            <a:endParaRPr lang="en-US" sz="2800" dirty="0"/>
          </a:p>
        </p:txBody>
      </p:sp>
      <p:sp>
        <p:nvSpPr>
          <p:cNvPr id="3" name="Shape 1"/>
          <p:cNvSpPr/>
          <p:nvPr/>
        </p:nvSpPr>
        <p:spPr>
          <a:xfrm>
            <a:off x="548640" y="2103120"/>
            <a:ext cx="2651760" cy="2377440"/>
          </a:xfrm>
          <a:prstGeom prst="rect">
            <a:avLst/>
          </a:prstGeom>
          <a:solidFill>
            <a:srgbClr val="F1ECDD"/>
          </a:solidFill>
          <a:ln w="12700">
            <a:solidFill>
              <a:srgbClr val="F1ECDD">
                <a:alpha val="0"/>
              </a:srgbClr>
            </a:solidFill>
            <a:prstDash val="solid"/>
          </a:ln>
        </p:spPr>
        <p:txBody>
          <a:bodyPr/>
          <a:lstStyle/>
          <a:p>
            <a:endParaRPr lang="de-CH"/>
          </a:p>
        </p:txBody>
      </p:sp>
      <p:sp>
        <p:nvSpPr>
          <p:cNvPr id="4" name="Shape 2"/>
          <p:cNvSpPr/>
          <p:nvPr/>
        </p:nvSpPr>
        <p:spPr>
          <a:xfrm>
            <a:off x="548640" y="2103120"/>
            <a:ext cx="73152" cy="2377440"/>
          </a:xfrm>
          <a:prstGeom prst="rect">
            <a:avLst/>
          </a:prstGeom>
          <a:solidFill>
            <a:srgbClr val="12828C"/>
          </a:solidFill>
          <a:ln w="12700">
            <a:solidFill>
              <a:srgbClr val="12828C">
                <a:alpha val="0"/>
              </a:srgbClr>
            </a:solidFill>
            <a:prstDash val="solid"/>
          </a:ln>
        </p:spPr>
        <p:txBody>
          <a:bodyPr/>
          <a:lstStyle/>
          <a:p>
            <a:endParaRPr lang="de-CH"/>
          </a:p>
        </p:txBody>
      </p:sp>
      <p:sp>
        <p:nvSpPr>
          <p:cNvPr id="5" name="Text 3"/>
          <p:cNvSpPr/>
          <p:nvPr/>
        </p:nvSpPr>
        <p:spPr>
          <a:xfrm>
            <a:off x="822960" y="2331720"/>
            <a:ext cx="2286000" cy="548640"/>
          </a:xfrm>
          <a:prstGeom prst="rect">
            <a:avLst/>
          </a:prstGeom>
          <a:noFill/>
          <a:ln/>
        </p:spPr>
        <p:txBody>
          <a:bodyPr wrap="square" lIns="0" tIns="0" rIns="0" bIns="0" rtlCol="0" anchor="t"/>
          <a:lstStyle/>
          <a:p>
            <a:pPr marL="0" indent="0">
              <a:buNone/>
            </a:pPr>
            <a:r>
              <a:rPr lang="en-US" sz="2200" b="1" dirty="0">
                <a:solidFill>
                  <a:srgbClr val="1A3A4A"/>
                </a:solidFill>
                <a:latin typeface="Georgia" pitchFamily="34" charset="0"/>
                <a:ea typeface="Georgia" pitchFamily="34" charset="-122"/>
                <a:cs typeface="Georgia" pitchFamily="34" charset="-120"/>
              </a:rPr>
              <a:t>Wenn nur Zeit</a:t>
            </a:r>
            <a:endParaRPr lang="en-US" sz="2200" dirty="0"/>
          </a:p>
        </p:txBody>
      </p:sp>
      <p:sp>
        <p:nvSpPr>
          <p:cNvPr id="6" name="Text 4"/>
          <p:cNvSpPr/>
          <p:nvPr/>
        </p:nvSpPr>
        <p:spPr>
          <a:xfrm>
            <a:off x="822960" y="2971800"/>
            <a:ext cx="2286000" cy="1371600"/>
          </a:xfrm>
          <a:prstGeom prst="rect">
            <a:avLst/>
          </a:prstGeom>
          <a:noFill/>
          <a:ln/>
        </p:spPr>
        <p:txBody>
          <a:bodyPr wrap="square" lIns="0" tIns="0" rIns="0" bIns="0" rtlCol="0" anchor="t"/>
          <a:lstStyle/>
          <a:p>
            <a:pPr marL="0" indent="0">
              <a:buNone/>
            </a:pPr>
            <a:r>
              <a:rPr lang="en-US" sz="1500" dirty="0">
                <a:solidFill>
                  <a:srgbClr val="2C3E50"/>
                </a:solidFill>
                <a:latin typeface="Calibri" pitchFamily="34" charset="0"/>
                <a:ea typeface="Calibri" pitchFamily="34" charset="-122"/>
                <a:cs typeface="Calibri" pitchFamily="34" charset="-120"/>
              </a:rPr>
              <a:t>„Wenn die Kinder mal grösser sind."</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die Ferien vorbei sind."</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die Phase ruhiger ist."</a:t>
            </a:r>
            <a:endParaRPr lang="en-US" sz="1500" dirty="0"/>
          </a:p>
        </p:txBody>
      </p:sp>
      <p:sp>
        <p:nvSpPr>
          <p:cNvPr id="7" name="Shape 5"/>
          <p:cNvSpPr/>
          <p:nvPr/>
        </p:nvSpPr>
        <p:spPr>
          <a:xfrm>
            <a:off x="3337560" y="2103120"/>
            <a:ext cx="2651760" cy="2377440"/>
          </a:xfrm>
          <a:prstGeom prst="rect">
            <a:avLst/>
          </a:prstGeom>
          <a:solidFill>
            <a:srgbClr val="F1ECDD"/>
          </a:solidFill>
          <a:ln w="12700">
            <a:solidFill>
              <a:srgbClr val="F1ECDD">
                <a:alpha val="0"/>
              </a:srgbClr>
            </a:solidFill>
            <a:prstDash val="solid"/>
          </a:ln>
        </p:spPr>
        <p:txBody>
          <a:bodyPr/>
          <a:lstStyle/>
          <a:p>
            <a:endParaRPr lang="de-CH"/>
          </a:p>
        </p:txBody>
      </p:sp>
      <p:sp>
        <p:nvSpPr>
          <p:cNvPr id="8" name="Shape 6"/>
          <p:cNvSpPr/>
          <p:nvPr/>
        </p:nvSpPr>
        <p:spPr>
          <a:xfrm>
            <a:off x="3337560" y="2103120"/>
            <a:ext cx="73152" cy="2377440"/>
          </a:xfrm>
          <a:prstGeom prst="rect">
            <a:avLst/>
          </a:prstGeom>
          <a:solidFill>
            <a:srgbClr val="12828C"/>
          </a:solidFill>
          <a:ln w="12700">
            <a:solidFill>
              <a:srgbClr val="12828C">
                <a:alpha val="0"/>
              </a:srgbClr>
            </a:solidFill>
            <a:prstDash val="solid"/>
          </a:ln>
        </p:spPr>
        <p:txBody>
          <a:bodyPr/>
          <a:lstStyle/>
          <a:p>
            <a:endParaRPr lang="de-CH"/>
          </a:p>
        </p:txBody>
      </p:sp>
      <p:sp>
        <p:nvSpPr>
          <p:cNvPr id="9" name="Text 7"/>
          <p:cNvSpPr/>
          <p:nvPr/>
        </p:nvSpPr>
        <p:spPr>
          <a:xfrm>
            <a:off x="3611880" y="2331720"/>
            <a:ext cx="2286000" cy="548640"/>
          </a:xfrm>
          <a:prstGeom prst="rect">
            <a:avLst/>
          </a:prstGeom>
          <a:noFill/>
          <a:ln/>
        </p:spPr>
        <p:txBody>
          <a:bodyPr wrap="square" lIns="0" tIns="0" rIns="0" bIns="0" rtlCol="0" anchor="t"/>
          <a:lstStyle/>
          <a:p>
            <a:pPr marL="0" indent="0">
              <a:buNone/>
            </a:pPr>
            <a:r>
              <a:rPr lang="en-US" sz="2200" b="1" dirty="0">
                <a:solidFill>
                  <a:srgbClr val="1A3A4A"/>
                </a:solidFill>
                <a:latin typeface="Georgia" pitchFamily="34" charset="0"/>
                <a:ea typeface="Georgia" pitchFamily="34" charset="-122"/>
                <a:cs typeface="Georgia" pitchFamily="34" charset="-120"/>
              </a:rPr>
              <a:t>Wenn nur Geld</a:t>
            </a:r>
            <a:endParaRPr lang="en-US" sz="2200" dirty="0"/>
          </a:p>
        </p:txBody>
      </p:sp>
      <p:sp>
        <p:nvSpPr>
          <p:cNvPr id="10" name="Text 8"/>
          <p:cNvSpPr/>
          <p:nvPr/>
        </p:nvSpPr>
        <p:spPr>
          <a:xfrm>
            <a:off x="3611880" y="2971800"/>
            <a:ext cx="2286000" cy="1371600"/>
          </a:xfrm>
          <a:prstGeom prst="rect">
            <a:avLst/>
          </a:prstGeom>
          <a:noFill/>
          <a:ln/>
        </p:spPr>
        <p:txBody>
          <a:bodyPr wrap="square" lIns="0" tIns="0" rIns="0" bIns="0" rtlCol="0" anchor="t"/>
          <a:lstStyle/>
          <a:p>
            <a:pPr marL="0" indent="0">
              <a:buNone/>
            </a:pPr>
            <a:r>
              <a:rPr lang="en-US" sz="1500" dirty="0">
                <a:solidFill>
                  <a:srgbClr val="2C3E50"/>
                </a:solidFill>
                <a:latin typeface="Calibri" pitchFamily="34" charset="0"/>
                <a:ea typeface="Calibri" pitchFamily="34" charset="-122"/>
                <a:cs typeface="Calibri" pitchFamily="34" charset="-120"/>
              </a:rPr>
              <a:t>„Wenn ich erst eine VA hätte."</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ich das Tool kaufen könnte."</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der Mann mehr verdient."</a:t>
            </a:r>
            <a:endParaRPr lang="en-US" sz="1500" dirty="0"/>
          </a:p>
        </p:txBody>
      </p:sp>
      <p:sp>
        <p:nvSpPr>
          <p:cNvPr id="11" name="Shape 9"/>
          <p:cNvSpPr/>
          <p:nvPr/>
        </p:nvSpPr>
        <p:spPr>
          <a:xfrm>
            <a:off x="6126480" y="2103120"/>
            <a:ext cx="2651760" cy="2377440"/>
          </a:xfrm>
          <a:prstGeom prst="rect">
            <a:avLst/>
          </a:prstGeom>
          <a:solidFill>
            <a:srgbClr val="F1ECDD"/>
          </a:solidFill>
          <a:ln w="12700">
            <a:solidFill>
              <a:srgbClr val="F1ECDD">
                <a:alpha val="0"/>
              </a:srgbClr>
            </a:solidFill>
            <a:prstDash val="solid"/>
          </a:ln>
        </p:spPr>
        <p:txBody>
          <a:bodyPr/>
          <a:lstStyle/>
          <a:p>
            <a:endParaRPr lang="de-CH"/>
          </a:p>
        </p:txBody>
      </p:sp>
      <p:sp>
        <p:nvSpPr>
          <p:cNvPr id="12" name="Shape 10"/>
          <p:cNvSpPr/>
          <p:nvPr/>
        </p:nvSpPr>
        <p:spPr>
          <a:xfrm>
            <a:off x="6126480" y="2103120"/>
            <a:ext cx="73152" cy="2377440"/>
          </a:xfrm>
          <a:prstGeom prst="rect">
            <a:avLst/>
          </a:prstGeom>
          <a:solidFill>
            <a:srgbClr val="12828C"/>
          </a:solidFill>
          <a:ln w="12700">
            <a:solidFill>
              <a:srgbClr val="12828C">
                <a:alpha val="0"/>
              </a:srgbClr>
            </a:solidFill>
            <a:prstDash val="solid"/>
          </a:ln>
        </p:spPr>
        <p:txBody>
          <a:bodyPr/>
          <a:lstStyle/>
          <a:p>
            <a:endParaRPr lang="de-CH"/>
          </a:p>
        </p:txBody>
      </p:sp>
      <p:sp>
        <p:nvSpPr>
          <p:cNvPr id="13" name="Text 11"/>
          <p:cNvSpPr/>
          <p:nvPr/>
        </p:nvSpPr>
        <p:spPr>
          <a:xfrm>
            <a:off x="6400800" y="2331720"/>
            <a:ext cx="2286000" cy="548640"/>
          </a:xfrm>
          <a:prstGeom prst="rect">
            <a:avLst/>
          </a:prstGeom>
          <a:noFill/>
          <a:ln/>
        </p:spPr>
        <p:txBody>
          <a:bodyPr wrap="square" lIns="0" tIns="0" rIns="0" bIns="0" rtlCol="0" anchor="t"/>
          <a:lstStyle/>
          <a:p>
            <a:pPr marL="0" indent="0">
              <a:buNone/>
            </a:pPr>
            <a:r>
              <a:rPr lang="en-US" sz="2200" b="1" dirty="0">
                <a:solidFill>
                  <a:srgbClr val="1A3A4A"/>
                </a:solidFill>
                <a:latin typeface="Georgia" pitchFamily="34" charset="0"/>
                <a:ea typeface="Georgia" pitchFamily="34" charset="-122"/>
                <a:cs typeface="Georgia" pitchFamily="34" charset="-120"/>
              </a:rPr>
              <a:t>Wenn nur Wissen</a:t>
            </a:r>
            <a:endParaRPr lang="en-US" sz="2200" dirty="0"/>
          </a:p>
        </p:txBody>
      </p:sp>
      <p:sp>
        <p:nvSpPr>
          <p:cNvPr id="14" name="Text 12"/>
          <p:cNvSpPr/>
          <p:nvPr/>
        </p:nvSpPr>
        <p:spPr>
          <a:xfrm>
            <a:off x="6400800" y="2971800"/>
            <a:ext cx="2286000" cy="1371600"/>
          </a:xfrm>
          <a:prstGeom prst="rect">
            <a:avLst/>
          </a:prstGeom>
          <a:noFill/>
          <a:ln/>
        </p:spPr>
        <p:txBody>
          <a:bodyPr wrap="square" lIns="0" tIns="0" rIns="0" bIns="0" rtlCol="0" anchor="t"/>
          <a:lstStyle/>
          <a:p>
            <a:pPr marL="0" indent="0">
              <a:buNone/>
            </a:pPr>
            <a:r>
              <a:rPr lang="en-US" sz="1500" dirty="0">
                <a:solidFill>
                  <a:srgbClr val="2C3E50"/>
                </a:solidFill>
                <a:latin typeface="Calibri" pitchFamily="34" charset="0"/>
                <a:ea typeface="Calibri" pitchFamily="34" charset="-122"/>
                <a:cs typeface="Calibri" pitchFamily="34" charset="-120"/>
              </a:rPr>
              <a:t>„Wenn ich erst diesen Kurs fertig habe."</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ich KI besser kann."</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ich mir sicher bin."</a:t>
            </a:r>
            <a:endParaRPr lang="en-US" sz="1500" dirty="0"/>
          </a:p>
        </p:txBody>
      </p:sp>
      <p:sp>
        <p:nvSpPr>
          <p:cNvPr id="15" name="Text 13"/>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16" name="Text 14"/>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828C"/>
        </a:solidFill>
        <a:effectLst/>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marL="0" indent="0" algn="ctr">
              <a:buNone/>
            </a:pPr>
            <a:r>
              <a:rPr lang="en-US" sz="1100" b="1" kern="0" spc="400" dirty="0">
                <a:solidFill>
                  <a:srgbClr val="DC822E"/>
                </a:solidFill>
                <a:latin typeface="Calibri" pitchFamily="34" charset="0"/>
                <a:ea typeface="Calibri" pitchFamily="34" charset="-122"/>
                <a:cs typeface="Calibri" pitchFamily="34" charset="-120"/>
              </a:rPr>
              <a:t>DAS MANTRA</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txBody>
          <a:bodyPr/>
          <a:lstStyle/>
          <a:p>
            <a:endParaRPr lang="de-CH"/>
          </a:p>
        </p:txBody>
      </p:sp>
      <p:sp>
        <p:nvSpPr>
          <p:cNvPr id="4" name="Text 2"/>
          <p:cNvSpPr/>
          <p:nvPr/>
        </p:nvSpPr>
        <p:spPr>
          <a:xfrm>
            <a:off x="548640" y="2011680"/>
            <a:ext cx="8046720" cy="2286000"/>
          </a:xfrm>
          <a:prstGeom prst="rect">
            <a:avLst/>
          </a:prstGeom>
          <a:noFill/>
          <a:ln/>
        </p:spPr>
        <p:txBody>
          <a:bodyPr wrap="square" lIns="0" tIns="0" rIns="0" bIns="0" rtlCol="0" anchor="ctr"/>
          <a:lstStyle/>
          <a:p>
            <a:pPr marL="0" indent="0" algn="ctr">
              <a:buNone/>
            </a:pPr>
            <a:r>
              <a:rPr lang="en-US" sz="3600" b="1" dirty="0">
                <a:solidFill>
                  <a:srgbClr val="F1ECDD"/>
                </a:solidFill>
                <a:latin typeface="Georgia" pitchFamily="34" charset="0"/>
                <a:ea typeface="Georgia" pitchFamily="34" charset="-122"/>
                <a:cs typeface="Georgia" pitchFamily="34" charset="-120"/>
              </a:rPr>
              <a:t>Niemand wird kommen und dich retten.</a:t>
            </a:r>
            <a:endParaRPr lang="en-US" sz="3600" dirty="0"/>
          </a:p>
          <a:p>
            <a:pPr marL="0" indent="0" algn="ctr">
              <a:buNone/>
            </a:pPr>
            <a:r>
              <a:rPr lang="en-US" sz="3600" b="1" dirty="0">
                <a:solidFill>
                  <a:srgbClr val="F1ECDD"/>
                </a:solidFill>
                <a:latin typeface="Georgia" pitchFamily="34" charset="0"/>
                <a:ea typeface="Georgia" pitchFamily="34" charset="-122"/>
                <a:cs typeface="Georgia" pitchFamily="34" charset="-120"/>
              </a:rPr>
              <a:t>Das ist nicht hart.</a:t>
            </a:r>
            <a:endParaRPr lang="en-US" sz="3600" dirty="0"/>
          </a:p>
          <a:p>
            <a:pPr marL="0" indent="0" algn="ctr">
              <a:buNone/>
            </a:pPr>
            <a:r>
              <a:rPr lang="en-US" sz="3600" b="1" dirty="0">
                <a:solidFill>
                  <a:srgbClr val="F1ECDD"/>
                </a:solidFill>
                <a:latin typeface="Georgia" pitchFamily="34" charset="0"/>
                <a:ea typeface="Georgia" pitchFamily="34" charset="-122"/>
                <a:cs typeface="Georgia" pitchFamily="34" charset="-120"/>
              </a:rPr>
              <a:t>Das ist befreiend.</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F1ECDD"/>
                </a:solidFill>
                <a:latin typeface="Calibri" pitchFamily="34" charset="0"/>
                <a:ea typeface="Calibri" pitchFamily="34" charset="-122"/>
                <a:cs typeface="Calibri" pitchFamily="34" charset="-120"/>
              </a:rPr>
              <a:t>Mama-CEO · Modul 1 · Lektion 1.2</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48640"/>
            <a:ext cx="8046720" cy="731520"/>
          </a:xfrm>
          <a:prstGeom prst="rect">
            <a:avLst/>
          </a:prstGeom>
          <a:noFill/>
          <a:ln/>
        </p:spPr>
        <p:txBody>
          <a:bodyPr wrap="square" lIns="0" tIns="0" rIns="0" bIns="0" rtlCol="0" anchor="t"/>
          <a:lstStyle/>
          <a:p>
            <a:pPr marL="0" indent="0">
              <a:buNone/>
            </a:pPr>
            <a:r>
              <a:rPr lang="en-US" sz="3200" b="1" dirty="0">
                <a:solidFill>
                  <a:srgbClr val="1A3A4A"/>
                </a:solidFill>
                <a:latin typeface="Georgia" pitchFamily="34" charset="0"/>
                <a:ea typeface="Georgia" pitchFamily="34" charset="-122"/>
                <a:cs typeface="Georgia" pitchFamily="34" charset="-120"/>
              </a:rPr>
              <a:t>Warum „nimm dich zusammen" nicht funktioniert</a:t>
            </a:r>
            <a:endParaRPr lang="en-US" sz="3200" dirty="0"/>
          </a:p>
        </p:txBody>
      </p:sp>
      <p:sp>
        <p:nvSpPr>
          <p:cNvPr id="3" name="Shape 1"/>
          <p:cNvSpPr/>
          <p:nvPr/>
        </p:nvSpPr>
        <p:spPr>
          <a:xfrm>
            <a:off x="822960" y="1737360"/>
            <a:ext cx="548640" cy="548640"/>
          </a:xfrm>
          <a:prstGeom prst="ellipse">
            <a:avLst/>
          </a:prstGeom>
          <a:solidFill>
            <a:srgbClr val="DC822E"/>
          </a:solidFill>
          <a:ln w="12700">
            <a:solidFill>
              <a:srgbClr val="DC822E">
                <a:alpha val="0"/>
              </a:srgbClr>
            </a:solidFill>
            <a:prstDash val="solid"/>
          </a:ln>
        </p:spPr>
        <p:txBody>
          <a:bodyPr/>
          <a:lstStyle/>
          <a:p>
            <a:endParaRPr lang="de-CH"/>
          </a:p>
        </p:txBody>
      </p:sp>
      <p:sp>
        <p:nvSpPr>
          <p:cNvPr id="4" name="Text 2"/>
          <p:cNvSpPr/>
          <p:nvPr/>
        </p:nvSpPr>
        <p:spPr>
          <a:xfrm>
            <a:off x="822960" y="17373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Shape 3"/>
          <p:cNvSpPr/>
          <p:nvPr/>
        </p:nvSpPr>
        <p:spPr>
          <a:xfrm>
            <a:off x="548640" y="2468880"/>
            <a:ext cx="2606040" cy="2011680"/>
          </a:xfrm>
          <a:prstGeom prst="rect">
            <a:avLst/>
          </a:prstGeom>
          <a:solidFill>
            <a:srgbClr val="F1ECDD"/>
          </a:solidFill>
          <a:ln w="12700">
            <a:solidFill>
              <a:srgbClr val="F1ECDD">
                <a:alpha val="0"/>
              </a:srgbClr>
            </a:solidFill>
            <a:prstDash val="solid"/>
          </a:ln>
        </p:spPr>
        <p:txBody>
          <a:bodyPr/>
          <a:lstStyle/>
          <a:p>
            <a:endParaRPr lang="de-CH"/>
          </a:p>
        </p:txBody>
      </p:sp>
      <p:sp>
        <p:nvSpPr>
          <p:cNvPr id="6" name="Text 4"/>
          <p:cNvSpPr/>
          <p:nvPr/>
        </p:nvSpPr>
        <p:spPr>
          <a:xfrm>
            <a:off x="777240" y="2651760"/>
            <a:ext cx="2148840" cy="548640"/>
          </a:xfrm>
          <a:prstGeom prst="rect">
            <a:avLst/>
          </a:prstGeom>
          <a:noFill/>
          <a:ln/>
        </p:spPr>
        <p:txBody>
          <a:bodyPr wrap="square" lIns="0" tIns="0" rIns="0" bIns="0" rtlCol="0" anchor="t"/>
          <a:lstStyle/>
          <a:p>
            <a:pPr marL="0" indent="0">
              <a:buNone/>
            </a:pPr>
            <a:r>
              <a:rPr lang="en-US" sz="2000" b="1" dirty="0">
                <a:solidFill>
                  <a:srgbClr val="0D6168"/>
                </a:solidFill>
                <a:latin typeface="Georgia" pitchFamily="34" charset="0"/>
                <a:ea typeface="Georgia" pitchFamily="34" charset="-122"/>
                <a:cs typeface="Georgia" pitchFamily="34" charset="-120"/>
              </a:rPr>
              <a:t>Werte</a:t>
            </a:r>
            <a:endParaRPr lang="en-US" sz="2000" dirty="0"/>
          </a:p>
        </p:txBody>
      </p:sp>
      <p:sp>
        <p:nvSpPr>
          <p:cNvPr id="7" name="Text 5"/>
          <p:cNvSpPr/>
          <p:nvPr/>
        </p:nvSpPr>
        <p:spPr>
          <a:xfrm>
            <a:off x="777240" y="3246120"/>
            <a:ext cx="2148840" cy="118872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Was ist dir wirklich wichtig?</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Freiheit · Familie · Geld · Wirkung?</a:t>
            </a:r>
            <a:endParaRPr lang="en-US" sz="1400" dirty="0"/>
          </a:p>
        </p:txBody>
      </p:sp>
      <p:sp>
        <p:nvSpPr>
          <p:cNvPr id="8" name="Shape 6"/>
          <p:cNvSpPr/>
          <p:nvPr/>
        </p:nvSpPr>
        <p:spPr>
          <a:xfrm>
            <a:off x="3611880" y="1737360"/>
            <a:ext cx="548640" cy="548640"/>
          </a:xfrm>
          <a:prstGeom prst="ellipse">
            <a:avLst/>
          </a:prstGeom>
          <a:solidFill>
            <a:srgbClr val="DC822E"/>
          </a:solidFill>
          <a:ln w="12700">
            <a:solidFill>
              <a:srgbClr val="DC822E">
                <a:alpha val="0"/>
              </a:srgbClr>
            </a:solidFill>
            <a:prstDash val="solid"/>
          </a:ln>
        </p:spPr>
        <p:txBody>
          <a:bodyPr/>
          <a:lstStyle/>
          <a:p>
            <a:endParaRPr lang="de-CH"/>
          </a:p>
        </p:txBody>
      </p:sp>
      <p:sp>
        <p:nvSpPr>
          <p:cNvPr id="9" name="Text 7"/>
          <p:cNvSpPr/>
          <p:nvPr/>
        </p:nvSpPr>
        <p:spPr>
          <a:xfrm>
            <a:off x="3611880" y="17373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Shape 8"/>
          <p:cNvSpPr/>
          <p:nvPr/>
        </p:nvSpPr>
        <p:spPr>
          <a:xfrm>
            <a:off x="3337560" y="2468880"/>
            <a:ext cx="2606040" cy="2011680"/>
          </a:xfrm>
          <a:prstGeom prst="rect">
            <a:avLst/>
          </a:prstGeom>
          <a:solidFill>
            <a:srgbClr val="F1ECDD"/>
          </a:solidFill>
          <a:ln w="12700">
            <a:solidFill>
              <a:srgbClr val="F1ECDD">
                <a:alpha val="0"/>
              </a:srgbClr>
            </a:solidFill>
            <a:prstDash val="solid"/>
          </a:ln>
        </p:spPr>
        <p:txBody>
          <a:bodyPr/>
          <a:lstStyle/>
          <a:p>
            <a:endParaRPr lang="de-CH"/>
          </a:p>
        </p:txBody>
      </p:sp>
      <p:sp>
        <p:nvSpPr>
          <p:cNvPr id="11" name="Text 9"/>
          <p:cNvSpPr/>
          <p:nvPr/>
        </p:nvSpPr>
        <p:spPr>
          <a:xfrm>
            <a:off x="3566160" y="2651760"/>
            <a:ext cx="2148840" cy="548640"/>
          </a:xfrm>
          <a:prstGeom prst="rect">
            <a:avLst/>
          </a:prstGeom>
          <a:noFill/>
          <a:ln/>
        </p:spPr>
        <p:txBody>
          <a:bodyPr wrap="square" lIns="0" tIns="0" rIns="0" bIns="0" rtlCol="0" anchor="t"/>
          <a:lstStyle/>
          <a:p>
            <a:pPr marL="0" indent="0">
              <a:buNone/>
            </a:pPr>
            <a:r>
              <a:rPr lang="en-US" sz="2000" b="1" dirty="0">
                <a:solidFill>
                  <a:srgbClr val="0D6168"/>
                </a:solidFill>
                <a:latin typeface="Georgia" pitchFamily="34" charset="0"/>
                <a:ea typeface="Georgia" pitchFamily="34" charset="-122"/>
                <a:cs typeface="Georgia" pitchFamily="34" charset="-120"/>
              </a:rPr>
              <a:t>Glaubenssätze</a:t>
            </a:r>
            <a:endParaRPr lang="en-US" sz="2000" dirty="0"/>
          </a:p>
        </p:txBody>
      </p:sp>
      <p:sp>
        <p:nvSpPr>
          <p:cNvPr id="12" name="Text 10"/>
          <p:cNvSpPr/>
          <p:nvPr/>
        </p:nvSpPr>
        <p:spPr>
          <a:xfrm>
            <a:off x="3566160" y="3246120"/>
            <a:ext cx="2148840" cy="118872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Was glaubst du über dich?</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„Ich darf Erfolg" vs.</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„Erfolg ist nur für andere"</a:t>
            </a:r>
            <a:endParaRPr lang="en-US" sz="1400" dirty="0"/>
          </a:p>
        </p:txBody>
      </p:sp>
      <p:sp>
        <p:nvSpPr>
          <p:cNvPr id="13" name="Shape 11"/>
          <p:cNvSpPr/>
          <p:nvPr/>
        </p:nvSpPr>
        <p:spPr>
          <a:xfrm>
            <a:off x="6400800" y="1737360"/>
            <a:ext cx="548640" cy="548640"/>
          </a:xfrm>
          <a:prstGeom prst="ellipse">
            <a:avLst/>
          </a:prstGeom>
          <a:solidFill>
            <a:srgbClr val="DC822E"/>
          </a:solidFill>
          <a:ln w="12700">
            <a:solidFill>
              <a:srgbClr val="DC822E">
                <a:alpha val="0"/>
              </a:srgbClr>
            </a:solidFill>
            <a:prstDash val="solid"/>
          </a:ln>
        </p:spPr>
        <p:txBody>
          <a:bodyPr/>
          <a:lstStyle/>
          <a:p>
            <a:endParaRPr lang="de-CH"/>
          </a:p>
        </p:txBody>
      </p:sp>
      <p:sp>
        <p:nvSpPr>
          <p:cNvPr id="14" name="Text 12"/>
          <p:cNvSpPr/>
          <p:nvPr/>
        </p:nvSpPr>
        <p:spPr>
          <a:xfrm>
            <a:off x="6400800" y="17373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5" name="Shape 13"/>
          <p:cNvSpPr/>
          <p:nvPr/>
        </p:nvSpPr>
        <p:spPr>
          <a:xfrm>
            <a:off x="6126480" y="2468880"/>
            <a:ext cx="2606040" cy="2011680"/>
          </a:xfrm>
          <a:prstGeom prst="rect">
            <a:avLst/>
          </a:prstGeom>
          <a:solidFill>
            <a:srgbClr val="F1ECDD"/>
          </a:solidFill>
          <a:ln w="12700">
            <a:solidFill>
              <a:srgbClr val="F1ECDD">
                <a:alpha val="0"/>
              </a:srgbClr>
            </a:solidFill>
            <a:prstDash val="solid"/>
          </a:ln>
        </p:spPr>
        <p:txBody>
          <a:bodyPr/>
          <a:lstStyle/>
          <a:p>
            <a:endParaRPr lang="de-CH"/>
          </a:p>
        </p:txBody>
      </p:sp>
      <p:sp>
        <p:nvSpPr>
          <p:cNvPr id="16" name="Text 14"/>
          <p:cNvSpPr/>
          <p:nvPr/>
        </p:nvSpPr>
        <p:spPr>
          <a:xfrm>
            <a:off x="6355080" y="2651760"/>
            <a:ext cx="2148840" cy="548640"/>
          </a:xfrm>
          <a:prstGeom prst="rect">
            <a:avLst/>
          </a:prstGeom>
          <a:noFill/>
          <a:ln/>
        </p:spPr>
        <p:txBody>
          <a:bodyPr wrap="square" lIns="0" tIns="0" rIns="0" bIns="0" rtlCol="0" anchor="t"/>
          <a:lstStyle/>
          <a:p>
            <a:pPr marL="0" indent="0">
              <a:buNone/>
            </a:pPr>
            <a:r>
              <a:rPr lang="en-US" sz="2000" b="1" dirty="0">
                <a:solidFill>
                  <a:srgbClr val="0D6168"/>
                </a:solidFill>
                <a:latin typeface="Georgia" pitchFamily="34" charset="0"/>
                <a:ea typeface="Georgia" pitchFamily="34" charset="-122"/>
                <a:cs typeface="Georgia" pitchFamily="34" charset="-120"/>
              </a:rPr>
              <a:t>Verhalten</a:t>
            </a:r>
            <a:endParaRPr lang="en-US" sz="2000" dirty="0"/>
          </a:p>
        </p:txBody>
      </p:sp>
      <p:sp>
        <p:nvSpPr>
          <p:cNvPr id="17" name="Text 15"/>
          <p:cNvSpPr/>
          <p:nvPr/>
        </p:nvSpPr>
        <p:spPr>
          <a:xfrm>
            <a:off x="6355080" y="3246120"/>
            <a:ext cx="2148840" cy="118872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Was du tust folgt aus Glaubenssätzen.</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Kein Glaubenssatz-Shift =</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kein nachhaltiges Verhalten.</a:t>
            </a:r>
            <a:endParaRPr lang="en-US" sz="1400" dirty="0"/>
          </a:p>
        </p:txBody>
      </p:sp>
      <p:sp>
        <p:nvSpPr>
          <p:cNvPr id="18" name="Text 16"/>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19" name="Text 17"/>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marL="0" indent="0">
              <a:buNone/>
            </a:pPr>
            <a:r>
              <a:rPr lang="en-US" sz="2800" b="1" dirty="0">
                <a:solidFill>
                  <a:srgbClr val="1A3A4A"/>
                </a:solidFill>
                <a:latin typeface="Georgia" pitchFamily="34" charset="0"/>
                <a:ea typeface="Georgia" pitchFamily="34" charset="-122"/>
                <a:cs typeface="Georgia" pitchFamily="34" charset="-120"/>
              </a:rPr>
              <a:t>Die 3 Glaubenssatz-Bereiche bei Mamas</a:t>
            </a:r>
            <a:endParaRPr lang="en-US" sz="2800" dirty="0"/>
          </a:p>
        </p:txBody>
      </p:sp>
      <p:sp>
        <p:nvSpPr>
          <p:cNvPr id="3" name="Shape 1"/>
          <p:cNvSpPr/>
          <p:nvPr/>
        </p:nvSpPr>
        <p:spPr>
          <a:xfrm>
            <a:off x="548640" y="2103120"/>
            <a:ext cx="2651760" cy="2377440"/>
          </a:xfrm>
          <a:prstGeom prst="rect">
            <a:avLst/>
          </a:prstGeom>
          <a:solidFill>
            <a:srgbClr val="F1ECDD"/>
          </a:solidFill>
          <a:ln w="12700">
            <a:solidFill>
              <a:srgbClr val="F1ECDD">
                <a:alpha val="0"/>
              </a:srgbClr>
            </a:solidFill>
            <a:prstDash val="solid"/>
          </a:ln>
        </p:spPr>
        <p:txBody>
          <a:bodyPr/>
          <a:lstStyle/>
          <a:p>
            <a:endParaRPr lang="de-CH"/>
          </a:p>
        </p:txBody>
      </p:sp>
      <p:sp>
        <p:nvSpPr>
          <p:cNvPr id="4" name="Shape 2"/>
          <p:cNvSpPr/>
          <p:nvPr/>
        </p:nvSpPr>
        <p:spPr>
          <a:xfrm>
            <a:off x="548640" y="2103120"/>
            <a:ext cx="73152" cy="2377440"/>
          </a:xfrm>
          <a:prstGeom prst="rect">
            <a:avLst/>
          </a:prstGeom>
          <a:solidFill>
            <a:srgbClr val="12828C"/>
          </a:solidFill>
          <a:ln w="12700">
            <a:solidFill>
              <a:srgbClr val="12828C">
                <a:alpha val="0"/>
              </a:srgbClr>
            </a:solidFill>
            <a:prstDash val="solid"/>
          </a:ln>
        </p:spPr>
        <p:txBody>
          <a:bodyPr/>
          <a:lstStyle/>
          <a:p>
            <a:endParaRPr lang="de-CH"/>
          </a:p>
        </p:txBody>
      </p:sp>
      <p:sp>
        <p:nvSpPr>
          <p:cNvPr id="5" name="Text 3"/>
          <p:cNvSpPr/>
          <p:nvPr/>
        </p:nvSpPr>
        <p:spPr>
          <a:xfrm>
            <a:off x="822960" y="2331720"/>
            <a:ext cx="2286000" cy="548640"/>
          </a:xfrm>
          <a:prstGeom prst="rect">
            <a:avLst/>
          </a:prstGeom>
          <a:noFill/>
          <a:ln/>
        </p:spPr>
        <p:txBody>
          <a:bodyPr wrap="square" lIns="0" tIns="0" rIns="0" bIns="0" rtlCol="0" anchor="t"/>
          <a:lstStyle/>
          <a:p>
            <a:pPr marL="0" indent="0">
              <a:buNone/>
            </a:pPr>
            <a:r>
              <a:rPr lang="en-US" sz="2200" b="1" dirty="0">
                <a:solidFill>
                  <a:srgbClr val="1A3A4A"/>
                </a:solidFill>
                <a:latin typeface="Georgia" pitchFamily="34" charset="0"/>
                <a:ea typeface="Georgia" pitchFamily="34" charset="-122"/>
                <a:cs typeface="Georgia" pitchFamily="34" charset="-120"/>
              </a:rPr>
              <a:t>MAMA-SEIN</a:t>
            </a:r>
            <a:endParaRPr lang="en-US" sz="2200" dirty="0"/>
          </a:p>
        </p:txBody>
      </p:sp>
      <p:sp>
        <p:nvSpPr>
          <p:cNvPr id="6" name="Text 4"/>
          <p:cNvSpPr/>
          <p:nvPr/>
        </p:nvSpPr>
        <p:spPr>
          <a:xfrm>
            <a:off x="822960" y="2971800"/>
            <a:ext cx="2286000" cy="1371600"/>
          </a:xfrm>
          <a:prstGeom prst="rect">
            <a:avLst/>
          </a:prstGeom>
          <a:noFill/>
          <a:ln/>
        </p:spPr>
        <p:txBody>
          <a:bodyPr wrap="square" lIns="0" tIns="0" rIns="0" bIns="0" rtlCol="0" anchor="t"/>
          <a:lstStyle/>
          <a:p>
            <a:pPr marL="0" indent="0">
              <a:buNone/>
            </a:pPr>
            <a:r>
              <a:rPr lang="en-US" sz="1500" dirty="0">
                <a:solidFill>
                  <a:srgbClr val="2C3E50"/>
                </a:solidFill>
                <a:latin typeface="Calibri" pitchFamily="34" charset="0"/>
                <a:ea typeface="Calibri" pitchFamily="34" charset="-122"/>
                <a:cs typeface="Calibri" pitchFamily="34" charset="-120"/>
              </a:rPr>
              <a:t>„Eine gute Mama ist immer da."</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„Mama-Sein heisst Verzicht."</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ich mich kümmere, leide ich."</a:t>
            </a:r>
            <a:endParaRPr lang="en-US" sz="1500" dirty="0"/>
          </a:p>
        </p:txBody>
      </p:sp>
      <p:sp>
        <p:nvSpPr>
          <p:cNvPr id="7" name="Shape 5"/>
          <p:cNvSpPr/>
          <p:nvPr/>
        </p:nvSpPr>
        <p:spPr>
          <a:xfrm>
            <a:off x="3337560" y="2103120"/>
            <a:ext cx="2651760" cy="2377440"/>
          </a:xfrm>
          <a:prstGeom prst="rect">
            <a:avLst/>
          </a:prstGeom>
          <a:solidFill>
            <a:srgbClr val="F1ECDD"/>
          </a:solidFill>
          <a:ln w="12700">
            <a:solidFill>
              <a:srgbClr val="F1ECDD">
                <a:alpha val="0"/>
              </a:srgbClr>
            </a:solidFill>
            <a:prstDash val="solid"/>
          </a:ln>
        </p:spPr>
        <p:txBody>
          <a:bodyPr/>
          <a:lstStyle/>
          <a:p>
            <a:endParaRPr lang="de-CH"/>
          </a:p>
        </p:txBody>
      </p:sp>
      <p:sp>
        <p:nvSpPr>
          <p:cNvPr id="8" name="Shape 6"/>
          <p:cNvSpPr/>
          <p:nvPr/>
        </p:nvSpPr>
        <p:spPr>
          <a:xfrm>
            <a:off x="3337560" y="2103120"/>
            <a:ext cx="73152" cy="2377440"/>
          </a:xfrm>
          <a:prstGeom prst="rect">
            <a:avLst/>
          </a:prstGeom>
          <a:solidFill>
            <a:srgbClr val="12828C"/>
          </a:solidFill>
          <a:ln w="12700">
            <a:solidFill>
              <a:srgbClr val="12828C">
                <a:alpha val="0"/>
              </a:srgbClr>
            </a:solidFill>
            <a:prstDash val="solid"/>
          </a:ln>
        </p:spPr>
        <p:txBody>
          <a:bodyPr/>
          <a:lstStyle/>
          <a:p>
            <a:endParaRPr lang="de-CH"/>
          </a:p>
        </p:txBody>
      </p:sp>
      <p:sp>
        <p:nvSpPr>
          <p:cNvPr id="9" name="Text 7"/>
          <p:cNvSpPr/>
          <p:nvPr/>
        </p:nvSpPr>
        <p:spPr>
          <a:xfrm>
            <a:off x="3611880" y="2331720"/>
            <a:ext cx="2286000" cy="548640"/>
          </a:xfrm>
          <a:prstGeom prst="rect">
            <a:avLst/>
          </a:prstGeom>
          <a:noFill/>
          <a:ln/>
        </p:spPr>
        <p:txBody>
          <a:bodyPr wrap="square" lIns="0" tIns="0" rIns="0" bIns="0" rtlCol="0" anchor="t"/>
          <a:lstStyle/>
          <a:p>
            <a:pPr marL="0" indent="0">
              <a:buNone/>
            </a:pPr>
            <a:r>
              <a:rPr lang="en-US" sz="2200" b="1" dirty="0">
                <a:solidFill>
                  <a:srgbClr val="1A3A4A"/>
                </a:solidFill>
                <a:latin typeface="Georgia" pitchFamily="34" charset="0"/>
                <a:ea typeface="Georgia" pitchFamily="34" charset="-122"/>
                <a:cs typeface="Georgia" pitchFamily="34" charset="-120"/>
              </a:rPr>
              <a:t>ERFOLG</a:t>
            </a:r>
            <a:endParaRPr lang="en-US" sz="2200" dirty="0"/>
          </a:p>
        </p:txBody>
      </p:sp>
      <p:sp>
        <p:nvSpPr>
          <p:cNvPr id="10" name="Text 8"/>
          <p:cNvSpPr/>
          <p:nvPr/>
        </p:nvSpPr>
        <p:spPr>
          <a:xfrm>
            <a:off x="3611880" y="2971800"/>
            <a:ext cx="2286000" cy="1371600"/>
          </a:xfrm>
          <a:prstGeom prst="rect">
            <a:avLst/>
          </a:prstGeom>
          <a:noFill/>
          <a:ln/>
        </p:spPr>
        <p:txBody>
          <a:bodyPr wrap="square" lIns="0" tIns="0" rIns="0" bIns="0" rtlCol="0" anchor="t"/>
          <a:lstStyle/>
          <a:p>
            <a:pPr marL="0" indent="0">
              <a:buNone/>
            </a:pPr>
            <a:r>
              <a:rPr lang="en-US" sz="1500" dirty="0">
                <a:solidFill>
                  <a:srgbClr val="2C3E50"/>
                </a:solidFill>
                <a:latin typeface="Calibri" pitchFamily="34" charset="0"/>
                <a:ea typeface="Calibri" pitchFamily="34" charset="-122"/>
                <a:cs typeface="Calibri" pitchFamily="34" charset="-120"/>
              </a:rPr>
              <a:t>„Erfolg ist für andere, nicht für mich."</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„Wenn ich erfolgreich werde, verändert sich was."</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„Ich darf nicht zu sichtbar sein."</a:t>
            </a:r>
            <a:endParaRPr lang="en-US" sz="1500" dirty="0"/>
          </a:p>
        </p:txBody>
      </p:sp>
      <p:sp>
        <p:nvSpPr>
          <p:cNvPr id="11" name="Shape 9"/>
          <p:cNvSpPr/>
          <p:nvPr/>
        </p:nvSpPr>
        <p:spPr>
          <a:xfrm>
            <a:off x="6126480" y="2103120"/>
            <a:ext cx="2651760" cy="2377440"/>
          </a:xfrm>
          <a:prstGeom prst="rect">
            <a:avLst/>
          </a:prstGeom>
          <a:solidFill>
            <a:srgbClr val="F1ECDD"/>
          </a:solidFill>
          <a:ln w="12700">
            <a:solidFill>
              <a:srgbClr val="F1ECDD">
                <a:alpha val="0"/>
              </a:srgbClr>
            </a:solidFill>
            <a:prstDash val="solid"/>
          </a:ln>
        </p:spPr>
        <p:txBody>
          <a:bodyPr/>
          <a:lstStyle/>
          <a:p>
            <a:endParaRPr lang="de-CH"/>
          </a:p>
        </p:txBody>
      </p:sp>
      <p:sp>
        <p:nvSpPr>
          <p:cNvPr id="12" name="Shape 10"/>
          <p:cNvSpPr/>
          <p:nvPr/>
        </p:nvSpPr>
        <p:spPr>
          <a:xfrm>
            <a:off x="6126480" y="2103120"/>
            <a:ext cx="73152" cy="2377440"/>
          </a:xfrm>
          <a:prstGeom prst="rect">
            <a:avLst/>
          </a:prstGeom>
          <a:solidFill>
            <a:srgbClr val="12828C"/>
          </a:solidFill>
          <a:ln w="12700">
            <a:solidFill>
              <a:srgbClr val="12828C">
                <a:alpha val="0"/>
              </a:srgbClr>
            </a:solidFill>
            <a:prstDash val="solid"/>
          </a:ln>
        </p:spPr>
        <p:txBody>
          <a:bodyPr/>
          <a:lstStyle/>
          <a:p>
            <a:endParaRPr lang="de-CH"/>
          </a:p>
        </p:txBody>
      </p:sp>
      <p:sp>
        <p:nvSpPr>
          <p:cNvPr id="13" name="Text 11"/>
          <p:cNvSpPr/>
          <p:nvPr/>
        </p:nvSpPr>
        <p:spPr>
          <a:xfrm>
            <a:off x="6400800" y="2331720"/>
            <a:ext cx="2286000" cy="548640"/>
          </a:xfrm>
          <a:prstGeom prst="rect">
            <a:avLst/>
          </a:prstGeom>
          <a:noFill/>
          <a:ln/>
        </p:spPr>
        <p:txBody>
          <a:bodyPr wrap="square" lIns="0" tIns="0" rIns="0" bIns="0" rtlCol="0" anchor="t"/>
          <a:lstStyle/>
          <a:p>
            <a:pPr marL="0" indent="0">
              <a:buNone/>
            </a:pPr>
            <a:r>
              <a:rPr lang="en-US" b="1" dirty="0">
                <a:solidFill>
                  <a:srgbClr val="1A3A4A"/>
                </a:solidFill>
                <a:latin typeface="Georgia" pitchFamily="34" charset="0"/>
                <a:ea typeface="Georgia" pitchFamily="34" charset="-122"/>
                <a:cs typeface="Georgia" pitchFamily="34" charset="-120"/>
              </a:rPr>
              <a:t>VEREINBARKEIT</a:t>
            </a:r>
            <a:endParaRPr lang="en-US" sz="2200" dirty="0"/>
          </a:p>
        </p:txBody>
      </p:sp>
      <p:sp>
        <p:nvSpPr>
          <p:cNvPr id="14" name="Text 12"/>
          <p:cNvSpPr/>
          <p:nvPr/>
        </p:nvSpPr>
        <p:spPr>
          <a:xfrm>
            <a:off x="6400800" y="2971800"/>
            <a:ext cx="2286000" cy="1371600"/>
          </a:xfrm>
          <a:prstGeom prst="rect">
            <a:avLst/>
          </a:prstGeom>
          <a:noFill/>
          <a:ln/>
        </p:spPr>
        <p:txBody>
          <a:bodyPr wrap="square" lIns="0" tIns="0" rIns="0" bIns="0" rtlCol="0" anchor="t"/>
          <a:lstStyle/>
          <a:p>
            <a:pPr marL="0" indent="0">
              <a:buNone/>
            </a:pPr>
            <a:r>
              <a:rPr lang="en-US" sz="1500" dirty="0">
                <a:solidFill>
                  <a:srgbClr val="2C3E50"/>
                </a:solidFill>
                <a:latin typeface="Calibri" pitchFamily="34" charset="0"/>
                <a:ea typeface="Calibri" pitchFamily="34" charset="-122"/>
                <a:cs typeface="Calibri" pitchFamily="34" charset="-120"/>
              </a:rPr>
              <a:t>„Familie ODER Karriere — beides geht nicht."</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„Ich kann nichts richtig machen."</a:t>
            </a:r>
            <a:endParaRPr lang="en-US" sz="1500" dirty="0"/>
          </a:p>
          <a:p>
            <a:pPr marL="0" indent="0">
              <a:buNone/>
            </a:pPr>
            <a:r>
              <a:rPr lang="en-US" sz="1500" dirty="0">
                <a:solidFill>
                  <a:srgbClr val="2C3E50"/>
                </a:solidFill>
                <a:latin typeface="Calibri" pitchFamily="34" charset="0"/>
                <a:ea typeface="Calibri" pitchFamily="34" charset="-122"/>
                <a:cs typeface="Calibri" pitchFamily="34" charset="-120"/>
              </a:rPr>
              <a:t>„Wer Business will, vernachlässigt Kinder."</a:t>
            </a:r>
            <a:endParaRPr lang="en-US" sz="1500" dirty="0"/>
          </a:p>
        </p:txBody>
      </p:sp>
      <p:sp>
        <p:nvSpPr>
          <p:cNvPr id="15" name="Text 13"/>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16" name="Text 14"/>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marL="0" indent="0">
              <a:buNone/>
            </a:pPr>
            <a:r>
              <a:rPr lang="en-US" sz="2600" b="1" dirty="0">
                <a:solidFill>
                  <a:srgbClr val="1A3A4A"/>
                </a:solidFill>
                <a:latin typeface="Georgia" pitchFamily="34" charset="0"/>
                <a:ea typeface="Georgia" pitchFamily="34" charset="-122"/>
                <a:cs typeface="Georgia" pitchFamily="34" charset="-120"/>
              </a:rPr>
              <a:t>Alte vs. Neue Identität — als Mama-CEO</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2266700944"/>
              </p:ext>
            </p:extLst>
          </p:nvPr>
        </p:nvGraphicFramePr>
        <p:xfrm>
          <a:off x="548640" y="1554480"/>
          <a:ext cx="8046720" cy="2834640"/>
        </p:xfrm>
        <a:graphic>
          <a:graphicData uri="http://schemas.openxmlformats.org/drawingml/2006/table">
            <a:tbl>
              <a:tblPr/>
              <a:tblGrid>
                <a:gridCol w="32004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457200">
                <a:tc>
                  <a:txBody>
                    <a:bodyPr/>
                    <a:lstStyle/>
                    <a:p>
                      <a:pPr marL="0" indent="0">
                        <a:buNone/>
                      </a:pPr>
                      <a:r>
                        <a:rPr lang="en-US" sz="1100" b="1" kern="0" spc="300" dirty="0">
                          <a:solidFill>
                            <a:srgbClr val="7A8A95"/>
                          </a:solidFill>
                          <a:latin typeface="Calibri" pitchFamily="34" charset="0"/>
                          <a:ea typeface="Calibri" pitchFamily="34" charset="-122"/>
                          <a:cs typeface="Calibri" pitchFamily="34" charset="-120"/>
                        </a:rPr>
                        <a:t>ALTE IDENTITÄT</a:t>
                      </a:r>
                      <a:endParaRPr lang="en-US" sz="11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100" b="1" kern="0" spc="300" dirty="0">
                          <a:solidFill>
                            <a:srgbClr val="DC822E"/>
                          </a:solidFill>
                          <a:latin typeface="Calibri" pitchFamily="34" charset="0"/>
                          <a:ea typeface="Calibri" pitchFamily="34" charset="-122"/>
                          <a:cs typeface="Calibri" pitchFamily="34" charset="-120"/>
                        </a:rPr>
                        <a:t>NEUE IDENTITÄT</a:t>
                      </a:r>
                      <a:endParaRPr lang="en-US" sz="11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94360">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„Ich bin die Macherin."</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marL="0" indent="0">
                        <a:buNone/>
                      </a:pPr>
                      <a:r>
                        <a:rPr lang="en-US" sz="1500" b="1" dirty="0">
                          <a:solidFill>
                            <a:srgbClr val="1A3A4A"/>
                          </a:solidFill>
                          <a:latin typeface="Calibri" pitchFamily="34" charset="0"/>
                          <a:ea typeface="Calibri" pitchFamily="34" charset="-122"/>
                          <a:cs typeface="Calibri" pitchFamily="34" charset="-120"/>
                        </a:rPr>
                        <a:t>„Ich bin die Entscheiderin."</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extLst>
                  <a:ext uri="{0D108BD9-81ED-4DB2-BD59-A6C34878D82A}">
                    <a16:rowId xmlns:a16="http://schemas.microsoft.com/office/drawing/2014/main" val="10001"/>
                  </a:ext>
                </a:extLst>
              </a:tr>
              <a:tr h="594360">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„Ich muss alles selbst können."</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b="1" dirty="0">
                          <a:solidFill>
                            <a:srgbClr val="1A3A4A"/>
                          </a:solidFill>
                          <a:latin typeface="Calibri" pitchFamily="34" charset="0"/>
                          <a:ea typeface="Calibri" pitchFamily="34" charset="-122"/>
                          <a:cs typeface="Calibri" pitchFamily="34" charset="-120"/>
                        </a:rPr>
                        <a:t>„Ich darf führen, nicht selbst tun."</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„Ich darf erst wenn die Kids gross sind."</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marL="0" indent="0">
                        <a:buNone/>
                      </a:pPr>
                      <a:r>
                        <a:rPr lang="en-US" sz="1500" b="1" dirty="0">
                          <a:solidFill>
                            <a:srgbClr val="1A3A4A"/>
                          </a:solidFill>
                          <a:latin typeface="Calibri" pitchFamily="34" charset="0"/>
                          <a:ea typeface="Calibri" pitchFamily="34" charset="-122"/>
                          <a:cs typeface="Calibri" pitchFamily="34" charset="-120"/>
                        </a:rPr>
                        <a:t>„Ich darf jetzt. Die Kinder profitieren davon."</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extLst>
                  <a:ext uri="{0D108BD9-81ED-4DB2-BD59-A6C34878D82A}">
                    <a16:rowId xmlns:a16="http://schemas.microsoft.com/office/drawing/2014/main" val="10003"/>
                  </a:ext>
                </a:extLst>
              </a:tr>
              <a:tr h="594360">
                <a:tc>
                  <a:txBody>
                    <a:bodyPr/>
                    <a:lstStyle/>
                    <a:p>
                      <a:pPr marL="0" indent="0">
                        <a:buNone/>
                      </a:pPr>
                      <a:r>
                        <a:rPr lang="en-US" sz="1500" dirty="0">
                          <a:solidFill>
                            <a:srgbClr val="2C3E50"/>
                          </a:solidFill>
                          <a:latin typeface="Calibri" pitchFamily="34" charset="0"/>
                          <a:ea typeface="Calibri" pitchFamily="34" charset="-122"/>
                          <a:cs typeface="Calibri" pitchFamily="34" charset="-120"/>
                        </a:rPr>
                        <a:t>„Erfolg ist gefährlich."</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b="1" dirty="0">
                          <a:solidFill>
                            <a:srgbClr val="1A3A4A"/>
                          </a:solidFill>
                          <a:latin typeface="Calibri" pitchFamily="34" charset="0"/>
                          <a:ea typeface="Calibri" pitchFamily="34" charset="-122"/>
                          <a:cs typeface="Calibri" pitchFamily="34" charset="-120"/>
                        </a:rPr>
                        <a:t>„Erfolg ist Vorbild für meine Kinder."</a:t>
                      </a:r>
                      <a:endParaRPr lang="en-US" sz="1500" dirty="0">
                        <a:latin typeface="Calibri" charset="0"/>
                        <a:ea typeface="Calibri" charset="0"/>
                        <a:cs typeface="Calibri" charset="0"/>
                      </a:endParaRPr>
                    </a:p>
                  </a:txBody>
                  <a:tcP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5" name="Text 2"/>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000" b="1" kern="0" spc="400" dirty="0">
                <a:solidFill>
                  <a:srgbClr val="DC822E"/>
                </a:solidFill>
                <a:latin typeface="Calibri" pitchFamily="34" charset="0"/>
                <a:ea typeface="Calibri" pitchFamily="34" charset="-122"/>
                <a:cs typeface="Calibri" pitchFamily="34" charset="-120"/>
              </a:rPr>
              <a:t>MEIN EIGENER IDENTITÄTS-SHIFT</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marL="0" indent="0">
              <a:buNone/>
            </a:pPr>
            <a:r>
              <a:rPr lang="en-US" sz="2800" b="1" dirty="0">
                <a:solidFill>
                  <a:srgbClr val="1A3A4A"/>
                </a:solidFill>
                <a:latin typeface="Georgia" pitchFamily="34" charset="0"/>
                <a:ea typeface="Georgia" pitchFamily="34" charset="-122"/>
                <a:cs typeface="Georgia" pitchFamily="34" charset="-120"/>
              </a:rPr>
              <a:t>Mai 2025 — als ich aufgehört habe Mama zu sein die nebenher ein Business hat</a:t>
            </a:r>
            <a:endParaRPr lang="en-US" sz="2800" dirty="0"/>
          </a:p>
        </p:txBody>
      </p:sp>
      <p:sp>
        <p:nvSpPr>
          <p:cNvPr id="4" name="Text 2"/>
          <p:cNvSpPr/>
          <p:nvPr/>
        </p:nvSpPr>
        <p:spPr>
          <a:xfrm>
            <a:off x="548640" y="1920240"/>
            <a:ext cx="51206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Glaubenssatz alt: „Ich bin Mama von 4 — Business </a:t>
            </a:r>
            <a:r>
              <a:rPr lang="en-US" sz="1600" dirty="0" err="1">
                <a:solidFill>
                  <a:srgbClr val="2C3E50"/>
                </a:solidFill>
                <a:latin typeface="Calibri" pitchFamily="34" charset="0"/>
                <a:ea typeface="Calibri" pitchFamily="34" charset="-122"/>
                <a:cs typeface="Calibri" pitchFamily="34" charset="-120"/>
              </a:rPr>
              <a:t>geht</a:t>
            </a:r>
            <a:r>
              <a:rPr lang="en-US" sz="1600" dirty="0">
                <a:solidFill>
                  <a:srgbClr val="2C3E50"/>
                </a:solidFill>
                <a:latin typeface="Calibri" pitchFamily="34" charset="0"/>
                <a:ea typeface="Calibri" pitchFamily="34" charset="-122"/>
                <a:cs typeface="Calibri" pitchFamily="34" charset="-120"/>
              </a:rPr>
              <a:t> </a:t>
            </a:r>
            <a:r>
              <a:rPr lang="en-US" sz="1600" dirty="0" err="1">
                <a:solidFill>
                  <a:srgbClr val="2C3E50"/>
                </a:solidFill>
                <a:latin typeface="Calibri" pitchFamily="34" charset="0"/>
                <a:ea typeface="Calibri" pitchFamily="34" charset="-122"/>
                <a:cs typeface="Calibri" pitchFamily="34" charset="-120"/>
              </a:rPr>
              <a:t>nur</a:t>
            </a:r>
            <a:r>
              <a:rPr lang="en-US" sz="1600" dirty="0">
                <a:solidFill>
                  <a:srgbClr val="2C3E50"/>
                </a:solidFill>
                <a:latin typeface="Calibri" pitchFamily="34" charset="0"/>
                <a:ea typeface="Calibri" pitchFamily="34" charset="-122"/>
                <a:cs typeface="Calibri" pitchFamily="34" charset="-120"/>
              </a:rPr>
              <a:t>, </a:t>
            </a:r>
            <a:r>
              <a:rPr lang="en-US" sz="1600" dirty="0" err="1">
                <a:solidFill>
                  <a:srgbClr val="2C3E50"/>
                </a:solidFill>
                <a:latin typeface="Calibri" pitchFamily="34" charset="0"/>
                <a:ea typeface="Calibri" pitchFamily="34" charset="-122"/>
                <a:cs typeface="Calibri" pitchFamily="34" charset="-120"/>
              </a:rPr>
              <a:t>wenn</a:t>
            </a:r>
            <a:r>
              <a:rPr lang="en-US" sz="1600" dirty="0">
                <a:solidFill>
                  <a:srgbClr val="2C3E50"/>
                </a:solidFill>
                <a:latin typeface="Calibri" pitchFamily="34" charset="0"/>
                <a:ea typeface="Calibri" pitchFamily="34" charset="-122"/>
                <a:cs typeface="Calibri" pitchFamily="34" charset="-120"/>
              </a:rPr>
              <a:t> die Kids nicht da </a:t>
            </a:r>
            <a:r>
              <a:rPr lang="en-US" sz="1600" dirty="0" err="1">
                <a:solidFill>
                  <a:srgbClr val="2C3E50"/>
                </a:solidFill>
                <a:latin typeface="Calibri" pitchFamily="34" charset="0"/>
                <a:ea typeface="Calibri" pitchFamily="34" charset="-122"/>
                <a:cs typeface="Calibri" pitchFamily="34" charset="-120"/>
              </a:rPr>
              <a:t>sind</a:t>
            </a:r>
            <a:r>
              <a:rPr lang="en-US" sz="1600" dirty="0">
                <a:solidFill>
                  <a:srgbClr val="2C3E50"/>
                </a:solidFill>
                <a:latin typeface="Calibri" pitchFamily="34" charset="0"/>
                <a:ea typeface="Calibri" pitchFamily="34" charset="-122"/>
                <a:cs typeface="Calibri" pitchFamily="34" charset="-120"/>
              </a:rPr>
              <a:t>"</a:t>
            </a:r>
            <a:endParaRPr lang="en-US" sz="1600" dirty="0"/>
          </a:p>
          <a:p>
            <a:pPr marL="342900" indent="-342900">
              <a:spcAft>
                <a:spcPts val="800"/>
              </a:spcAft>
              <a:buSzPct val="100000"/>
              <a:buChar char="●"/>
            </a:pPr>
            <a:r>
              <a:rPr lang="en-US" sz="1600" dirty="0" err="1">
                <a:solidFill>
                  <a:srgbClr val="2C3E50"/>
                </a:solidFill>
                <a:latin typeface="Calibri" pitchFamily="34" charset="0"/>
                <a:ea typeface="Calibri" pitchFamily="34" charset="-122"/>
                <a:cs typeface="Calibri" pitchFamily="34" charset="-120"/>
              </a:rPr>
              <a:t>Identität</a:t>
            </a:r>
            <a:r>
              <a:rPr lang="en-US" sz="1600" dirty="0">
                <a:solidFill>
                  <a:srgbClr val="2C3E50"/>
                </a:solidFill>
                <a:latin typeface="Calibri" pitchFamily="34" charset="0"/>
                <a:ea typeface="Calibri" pitchFamily="34" charset="-122"/>
                <a:cs typeface="Calibri" pitchFamily="34" charset="-120"/>
              </a:rPr>
              <a:t> neu: „Ich bin Mompreneurin. Auch um 9 Uhr am Vormittag."</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Verhalten folgte automatisch: Webinar geplant, Sales-Page gebaut, Kurs verkauft</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Niemand hat </a:t>
            </a:r>
            <a:r>
              <a:rPr lang="en-US" sz="1600" dirty="0" err="1">
                <a:solidFill>
                  <a:srgbClr val="2C3E50"/>
                </a:solidFill>
                <a:latin typeface="Calibri" pitchFamily="34" charset="0"/>
                <a:ea typeface="Calibri" pitchFamily="34" charset="-122"/>
                <a:cs typeface="Calibri" pitchFamily="34" charset="-120"/>
              </a:rPr>
              <a:t>mich</a:t>
            </a:r>
            <a:r>
              <a:rPr lang="en-US" sz="1600" dirty="0">
                <a:solidFill>
                  <a:srgbClr val="2C3E50"/>
                </a:solidFill>
                <a:latin typeface="Calibri" pitchFamily="34" charset="0"/>
                <a:ea typeface="Calibri" pitchFamily="34" charset="-122"/>
                <a:cs typeface="Calibri" pitchFamily="34" charset="-120"/>
              </a:rPr>
              <a:t> </a:t>
            </a:r>
            <a:r>
              <a:rPr lang="en-US" sz="1600" dirty="0" err="1">
                <a:solidFill>
                  <a:srgbClr val="2C3E50"/>
                </a:solidFill>
                <a:latin typeface="Calibri" pitchFamily="34" charset="0"/>
                <a:ea typeface="Calibri" pitchFamily="34" charset="-122"/>
                <a:cs typeface="Calibri" pitchFamily="34" charset="-120"/>
              </a:rPr>
              <a:t>eingeladen</a:t>
            </a:r>
            <a:r>
              <a:rPr lang="en-US" sz="1600" dirty="0">
                <a:solidFill>
                  <a:srgbClr val="2C3E50"/>
                </a:solidFill>
                <a:latin typeface="Calibri" pitchFamily="34" charset="0"/>
                <a:ea typeface="Calibri" pitchFamily="34" charset="-122"/>
                <a:cs typeface="Calibri" pitchFamily="34" charset="-120"/>
              </a:rPr>
              <a:t> — ich habe mich neu definiert</a:t>
            </a:r>
            <a:endParaRPr lang="en-US" sz="1600" dirty="0"/>
          </a:p>
        </p:txBody>
      </p:sp>
      <p:sp>
        <p:nvSpPr>
          <p:cNvPr id="5" name="Shape 3"/>
          <p:cNvSpPr/>
          <p:nvPr/>
        </p:nvSpPr>
        <p:spPr>
          <a:xfrm>
            <a:off x="5852160" y="1920240"/>
            <a:ext cx="2743200" cy="2286000"/>
          </a:xfrm>
          <a:prstGeom prst="rect">
            <a:avLst/>
          </a:prstGeom>
          <a:solidFill>
            <a:srgbClr val="F1ECDD"/>
          </a:solidFill>
          <a:ln w="12700">
            <a:solidFill>
              <a:srgbClr val="F1ECDD">
                <a:alpha val="0"/>
              </a:srgbClr>
            </a:solidFill>
            <a:prstDash val="solid"/>
          </a:ln>
        </p:spPr>
        <p:txBody>
          <a:bodyPr/>
          <a:lstStyle/>
          <a:p>
            <a:endParaRPr lang="de-CH"/>
          </a:p>
        </p:txBody>
      </p:sp>
      <p:sp>
        <p:nvSpPr>
          <p:cNvPr id="6" name="Shape 4"/>
          <p:cNvSpPr/>
          <p:nvPr/>
        </p:nvSpPr>
        <p:spPr>
          <a:xfrm>
            <a:off x="5852160" y="1920240"/>
            <a:ext cx="73152" cy="2286000"/>
          </a:xfrm>
          <a:prstGeom prst="rect">
            <a:avLst/>
          </a:prstGeom>
          <a:solidFill>
            <a:srgbClr val="DC822E"/>
          </a:solidFill>
          <a:ln w="12700">
            <a:solidFill>
              <a:srgbClr val="DC822E">
                <a:alpha val="0"/>
              </a:srgbClr>
            </a:solidFill>
            <a:prstDash val="solid"/>
          </a:ln>
        </p:spPr>
        <p:txBody>
          <a:bodyPr/>
          <a:lstStyle/>
          <a:p>
            <a:endParaRPr lang="de-CH"/>
          </a:p>
        </p:txBody>
      </p:sp>
      <p:sp>
        <p:nvSpPr>
          <p:cNvPr id="7" name="Text 5"/>
          <p:cNvSpPr/>
          <p:nvPr/>
        </p:nvSpPr>
        <p:spPr>
          <a:xfrm>
            <a:off x="6080760" y="2103120"/>
            <a:ext cx="2468880" cy="274320"/>
          </a:xfrm>
          <a:prstGeom prst="rect">
            <a:avLst/>
          </a:prstGeom>
          <a:noFill/>
          <a:ln/>
        </p:spPr>
        <p:txBody>
          <a:bodyPr wrap="square" rtlCol="0" anchor="ctr"/>
          <a:lstStyle/>
          <a:p>
            <a:pPr marL="0" indent="0">
              <a:buNone/>
            </a:pPr>
            <a:r>
              <a:rPr lang="en-US" sz="900" b="1" kern="0" spc="400" dirty="0">
                <a:solidFill>
                  <a:srgbClr val="DC822E"/>
                </a:solidFill>
                <a:latin typeface="Calibri" pitchFamily="34" charset="0"/>
                <a:ea typeface="Calibri" pitchFamily="34" charset="-122"/>
                <a:cs typeface="Calibri" pitchFamily="34" charset="-120"/>
              </a:rPr>
              <a:t>PATRICIA</a:t>
            </a:r>
            <a:endParaRPr lang="en-US" sz="900" dirty="0"/>
          </a:p>
        </p:txBody>
      </p:sp>
      <p:sp>
        <p:nvSpPr>
          <p:cNvPr id="8" name="Text 6"/>
          <p:cNvSpPr/>
          <p:nvPr/>
        </p:nvSpPr>
        <p:spPr>
          <a:xfrm>
            <a:off x="6080760" y="2468880"/>
            <a:ext cx="2468880" cy="1645920"/>
          </a:xfrm>
          <a:prstGeom prst="rect">
            <a:avLst/>
          </a:prstGeom>
          <a:noFill/>
          <a:ln/>
        </p:spPr>
        <p:txBody>
          <a:bodyPr wrap="square" lIns="0" tIns="0" rIns="0" bIns="0" rtlCol="0" anchor="t"/>
          <a:lstStyle/>
          <a:p>
            <a:pPr marL="0" indent="0">
              <a:buNone/>
            </a:pPr>
            <a:r>
              <a:rPr lang="en-US" sz="1400" i="1" dirty="0">
                <a:solidFill>
                  <a:srgbClr val="0D6168"/>
                </a:solidFill>
                <a:latin typeface="Georgia" pitchFamily="34" charset="0"/>
                <a:ea typeface="Georgia" pitchFamily="34" charset="-122"/>
                <a:cs typeface="Georgia" pitchFamily="34" charset="-120"/>
              </a:rPr>
              <a:t>„Identität entscheidet wer du sein darfst. Verhalten folgt."</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828C"/>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DAS NIMMST DU MIT</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200" b="1" dirty="0">
                <a:solidFill>
                  <a:srgbClr val="F1ECDD"/>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82880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5" name="Text 3"/>
          <p:cNvSpPr/>
          <p:nvPr/>
        </p:nvSpPr>
        <p:spPr>
          <a:xfrm>
            <a:off x="640080" y="182880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80136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Niemand wird kommen — das ist befreiend</a:t>
            </a:r>
            <a:endParaRPr lang="en-US" sz="1500" dirty="0"/>
          </a:p>
        </p:txBody>
      </p:sp>
      <p:sp>
        <p:nvSpPr>
          <p:cNvPr id="7" name="Shape 5"/>
          <p:cNvSpPr/>
          <p:nvPr/>
        </p:nvSpPr>
        <p:spPr>
          <a:xfrm>
            <a:off x="640080" y="246888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8" name="Text 6"/>
          <p:cNvSpPr/>
          <p:nvPr/>
        </p:nvSpPr>
        <p:spPr>
          <a:xfrm>
            <a:off x="640080" y="24688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34440" y="244144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Warte-Fallen sind Symptom, Identität ist die Wurzel</a:t>
            </a:r>
            <a:endParaRPr lang="en-US" sz="1500" dirty="0"/>
          </a:p>
        </p:txBody>
      </p:sp>
      <p:sp>
        <p:nvSpPr>
          <p:cNvPr id="10" name="Shape 8"/>
          <p:cNvSpPr/>
          <p:nvPr/>
        </p:nvSpPr>
        <p:spPr>
          <a:xfrm>
            <a:off x="640080" y="310896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11" name="Text 9"/>
          <p:cNvSpPr/>
          <p:nvPr/>
        </p:nvSpPr>
        <p:spPr>
          <a:xfrm>
            <a:off x="640080" y="310896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34440" y="308152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3 Glaubenssatz-Bereiche bei Mamas: Mama-Sein · Erfolg · Vereinbarkeit</a:t>
            </a:r>
            <a:endParaRPr lang="en-US" sz="1500" dirty="0"/>
          </a:p>
        </p:txBody>
      </p:sp>
      <p:sp>
        <p:nvSpPr>
          <p:cNvPr id="13" name="Shape 11"/>
          <p:cNvSpPr/>
          <p:nvPr/>
        </p:nvSpPr>
        <p:spPr>
          <a:xfrm>
            <a:off x="640080" y="374904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14" name="Text 12"/>
          <p:cNvSpPr/>
          <p:nvPr/>
        </p:nvSpPr>
        <p:spPr>
          <a:xfrm>
            <a:off x="640080" y="374904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34440" y="372160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Neue Identität wählen → Verhalten folgt automatisch</a:t>
            </a:r>
            <a:endParaRPr lang="en-US" sz="1500" dirty="0"/>
          </a:p>
        </p:txBody>
      </p:sp>
      <p:sp>
        <p:nvSpPr>
          <p:cNvPr id="16" name="Text 14"/>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F1ECDD"/>
                </a:solidFill>
                <a:latin typeface="Calibri" pitchFamily="34" charset="0"/>
                <a:ea typeface="Calibri" pitchFamily="34" charset="-122"/>
                <a:cs typeface="Calibri" pitchFamily="34" charset="-120"/>
              </a:rPr>
              <a:t>Mama-CEO · Modul 1 · Lektion 1.2</a:t>
            </a:r>
            <a:endParaRPr lang="en-US" sz="900" dirty="0"/>
          </a:p>
        </p:txBody>
      </p:sp>
      <p:sp>
        <p:nvSpPr>
          <p:cNvPr id="17" name="Text 15"/>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marL="0" indent="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txBody>
          <a:bodyPr/>
          <a:lstStyle/>
          <a:p>
            <a:endParaRPr lang="de-CH"/>
          </a:p>
        </p:txBody>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txBody>
          <a:bodyPr/>
          <a:lstStyle/>
          <a:p>
            <a:endParaRPr lang="de-CH"/>
          </a:p>
        </p:txBody>
      </p:sp>
      <p:sp>
        <p:nvSpPr>
          <p:cNvPr id="5" name="Text 3"/>
          <p:cNvSpPr/>
          <p:nvPr/>
        </p:nvSpPr>
        <p:spPr>
          <a:xfrm>
            <a:off x="777240" y="1920240"/>
            <a:ext cx="3657600" cy="274320"/>
          </a:xfrm>
          <a:prstGeom prst="rect">
            <a:avLst/>
          </a:prstGeom>
          <a:noFill/>
          <a:ln/>
        </p:spPr>
        <p:txBody>
          <a:bodyPr wrap="square" rtlCol="0" anchor="ctr"/>
          <a:lstStyle/>
          <a:p>
            <a:pPr marL="0" indent="0">
              <a:buNone/>
            </a:pPr>
            <a:r>
              <a:rPr lang="en-US" sz="1000" b="1" kern="0" spc="30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marL="0" indent="0">
              <a:buNone/>
            </a:pPr>
            <a:r>
              <a:rPr lang="en-US" sz="1800" b="1" dirty="0">
                <a:solidFill>
                  <a:srgbClr val="1A3A4A"/>
                </a:solidFill>
                <a:latin typeface="Georgia" pitchFamily="34" charset="0"/>
                <a:ea typeface="Georgia" pitchFamily="34" charset="-122"/>
                <a:cs typeface="Georgia" pitchFamily="34" charset="-120"/>
              </a:rPr>
              <a:t>Deine alte vs. neue Identität</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Welche „Wenn nur..."-Falle ist deine?</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Welcher Glaubenssatz (Mama · Erfolg · Vereinbarkeit) sabotiert dich am meisten?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Welche NEUE Identität wählst du — in einem Satz, in deinen Worten?</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txBody>
          <a:bodyPr/>
          <a:lstStyle/>
          <a:p>
            <a:endParaRPr lang="de-CH"/>
          </a:p>
        </p:txBody>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txBody>
          <a:bodyPr/>
          <a:lstStyle/>
          <a:p>
            <a:endParaRPr lang="de-CH"/>
          </a:p>
        </p:txBody>
      </p:sp>
      <p:sp>
        <p:nvSpPr>
          <p:cNvPr id="10" name="Text 8"/>
          <p:cNvSpPr/>
          <p:nvPr/>
        </p:nvSpPr>
        <p:spPr>
          <a:xfrm>
            <a:off x="4892040" y="1920240"/>
            <a:ext cx="3657600" cy="274320"/>
          </a:xfrm>
          <a:prstGeom prst="rect">
            <a:avLst/>
          </a:prstGeom>
          <a:noFill/>
          <a:ln/>
        </p:spPr>
        <p:txBody>
          <a:bodyPr wrap="square" rtlCol="0" anchor="ctr"/>
          <a:lstStyle/>
          <a:p>
            <a:pPr marL="0" indent="0">
              <a:buNone/>
            </a:pPr>
            <a:r>
              <a:rPr lang="en-US" sz="1000" b="1" kern="0" spc="30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marL="0" indent="0">
              <a:buNone/>
            </a:pPr>
            <a:r>
              <a:rPr lang="en-US" sz="1800" b="1" dirty="0">
                <a:solidFill>
                  <a:srgbClr val="1A3A4A"/>
                </a:solidFill>
                <a:latin typeface="Georgia" pitchFamily="34" charset="0"/>
                <a:ea typeface="Georgia" pitchFamily="34" charset="-122"/>
                <a:cs typeface="Georgia" pitchFamily="34" charset="-120"/>
              </a:rPr>
              <a:t>Lektion 1.3 — Die 5 Aufgaben</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Welche 5 Aufgaben darf NUR DU treffen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Was du fälschlich selbst machst (= delegieren)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Was du vernachlässigst (= priorisieren)</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1.2</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1673</Words>
  <Application>Microsoft Office PowerPoint</Application>
  <PresentationFormat>Bildschirmpräsentation (16:9)</PresentationFormat>
  <Paragraphs>138</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Calibri</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Modul 1 · Lektion 1.2 — Das EINE Mantra</dc:title>
  <dc:subject>PptxGenJS Presentation</dc:subject>
  <dc:creator>Patricia Ulmann · Mum Life Balance</dc:creator>
  <cp:lastModifiedBy>Patricia Ulmann</cp:lastModifiedBy>
  <cp:revision>2</cp:revision>
  <dcterms:created xsi:type="dcterms:W3CDTF">2026-05-21T20:18:30Z</dcterms:created>
  <dcterms:modified xsi:type="dcterms:W3CDTF">2026-05-22T06:20:37Z</dcterms:modified>
</cp:coreProperties>
</file>