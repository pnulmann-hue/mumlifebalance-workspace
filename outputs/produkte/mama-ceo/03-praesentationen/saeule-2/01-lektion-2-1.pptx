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
„Wir starten Säule 2 mit einer ehrlichen Diagnose. Nicht damit du dich schlecht fühlst — damit du verstehst was passiert. Du bist nicht faul. Du hast ein System-Problem."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Sprechnotiz:
„Vier Symptome. Wenn du dich in drei davon wiedererkennst, bist du im Hamsterrad. Das ist keine Schande — das ist die Realität von 80% der Mamas im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Sprechnotiz:
„Symptom eins: du arbeitest noch 60 bis 80 % in deinem alten Job. Das frisst deine Energie für das Business auf. Aber du kannst nicht kündigen — die Kinderbetreuung kostet mehr als dein Lohn. Klassische Falle."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Sprechnotiz:
„Symptom zwei: dein Partner sieht dein Business nicht als ernsthaftes Business. Es ist das ‚Instagram-Ding'. Das macht es noch schwerer Ressourcen zu fordern — Babysitter, Zeit, Verständnis."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Sprechnotiz:
„Symptom drei: du machst alles selbst. Posten, antworten, Strategie, Reels, Buchhaltung. Bis 22 Uhr. Und am Ende fragst du dich was du heute eigentlich ‚erreicht' hast — und kannst keine drei Sachen aufzählen."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Sprechnotiz:
„Symptom vier: das Geld reicht nicht — und du weisst nicht wieviel du hast. Du sagst der Familie: diesen Monat können wir nicht auswärts essen. Innerlich fragst du dich: oh shit, wie viel hab ich noch auf dem Konto."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Sprechnotiz:
„Hier ist der Schlüssel: beschäftigt ist nicht das gleiche wie wirksam. Du kannst 8 Stunden am Tag arbeiten und nichts bewegen. Oder 2 Stunden arbeiten und das richtige tun. Mama-CEO heisst: das Zweite. Nicht das Erste."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Sprechnotiz:
„Die wichtigste Sache jetzt: die Schuld lassen wir hier. Hier auf dieser Folie. Du bist nicht faul. Du bist nicht zu wenig diszipliniert. Du hast nur kein passendes System. Das bauen wir in den nächsten 8 Wochen."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Outro:
„Im Arbeitsblatt: Self-Check zu allen 4 Symptomen. Und ein Schuld-Loslass-Satz — den schreibst du wörtlich auf. ‚Ich lasse heute die Schuld los, dass…'. Wichtig dass das schwarz auf weiss steht. Jetzt wo wir die Lage ehrlich angeschaut haben, kommt in Lektion 2.2 das EINE Mantra das alles trägt. Bis dann."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1ECDD"/>
        </a:solidFill>
      </p:bgPr>
    </p:bg>
    <p:spTree>
      <p:nvGrpSpPr>
        <p:cNvPr id="1" name=""/>
        <p:cNvGrpSpPr/>
        <p:nvPr/>
      </p:nvGrpSpPr>
      <p:grpSpPr>
        <a:xfrm>
          <a:off x="0" y="0"/>
          <a:ext cx="0" cy="0"/>
          <a:chOff x="0" y="0"/>
          <a:chExt cx="0" cy="0"/>
        </a:xfrm>
      </p:grpSpPr>
      <p:sp>
        <p:nvSpPr>
          <p:cNvPr id="2" name="Shape 0"/>
          <p:cNvSpPr/>
          <p:nvPr/>
        </p:nvSpPr>
        <p:spPr>
          <a:xfrm>
            <a:off x="6858000" y="3840480"/>
            <a:ext cx="3200400" cy="3200400"/>
          </a:xfrm>
          <a:prstGeom prst="ellipse">
            <a:avLst/>
          </a:prstGeom>
          <a:solidFill>
            <a:srgbClr val="DC822E">
              <a:alpha val="25000"/>
            </a:srgbClr>
          </a:solidFill>
          <a:ln w="12700">
            <a:solidFill>
              <a:srgbClr val="DC822E">
                <a:alpha val="0"/>
              </a:srgbClr>
            </a:solidFill>
            <a:prstDash val="solid"/>
          </a:ln>
        </p:spPr>
      </p:sp>
      <p:sp>
        <p:nvSpPr>
          <p:cNvPr id="3" name="Text 1"/>
          <p:cNvSpPr/>
          <p:nvPr/>
        </p:nvSpPr>
        <p:spPr>
          <a:xfrm>
            <a:off x="548640" y="548640"/>
            <a:ext cx="8046720" cy="365760"/>
          </a:xfrm>
          <a:prstGeom prst="rect">
            <a:avLst/>
          </a:prstGeom>
          <a:noFill/>
          <a:ln/>
        </p:spPr>
        <p:txBody>
          <a:bodyPr wrap="square" rtlCol="0" anchor="ctr"/>
          <a:lstStyle/>
          <a:p>
            <a:pPr indent="0" marL="0">
              <a:buNone/>
            </a:pPr>
            <a:r>
              <a:rPr lang="en-US" sz="1100" b="1" spc="400" kern="0" dirty="0">
                <a:solidFill>
                  <a:srgbClr val="DC822E"/>
                </a:solidFill>
                <a:latin typeface="Calibri" pitchFamily="34" charset="0"/>
                <a:ea typeface="Calibri" pitchFamily="34" charset="-122"/>
                <a:cs typeface="Calibri" pitchFamily="34" charset="-120"/>
              </a:rPr>
              <a:t>MODUL 2 · SÄULE 2 — DU BRICHST AUS DEM HAMSTERRAD AUS</a:t>
            </a:r>
            <a:endParaRPr lang="en-US" sz="1100" dirty="0"/>
          </a:p>
        </p:txBody>
      </p:sp>
      <p:sp>
        <p:nvSpPr>
          <p:cNvPr id="4" name="Shape 2"/>
          <p:cNvSpPr/>
          <p:nvPr/>
        </p:nvSpPr>
        <p:spPr>
          <a:xfrm>
            <a:off x="548640" y="960120"/>
            <a:ext cx="548640" cy="36576"/>
          </a:xfrm>
          <a:prstGeom prst="rect">
            <a:avLst/>
          </a:prstGeom>
          <a:solidFill>
            <a:srgbClr val="DC822E"/>
          </a:solidFill>
          <a:ln w="12700">
            <a:solidFill>
              <a:srgbClr val="DC822E">
                <a:alpha val="0"/>
              </a:srgbClr>
            </a:solidFill>
            <a:prstDash val="solid"/>
          </a:ln>
        </p:spPr>
      </p:sp>
      <p:sp>
        <p:nvSpPr>
          <p:cNvPr id="5" name="Text 3"/>
          <p:cNvSpPr/>
          <p:nvPr/>
        </p:nvSpPr>
        <p:spPr>
          <a:xfrm>
            <a:off x="548640" y="1280160"/>
            <a:ext cx="8046720" cy="1371600"/>
          </a:xfrm>
          <a:prstGeom prst="rect">
            <a:avLst/>
          </a:prstGeom>
          <a:noFill/>
          <a:ln/>
        </p:spPr>
        <p:txBody>
          <a:bodyPr wrap="square" lIns="0" tIns="0" rIns="0" bIns="0" rtlCol="0" anchor="t"/>
          <a:lstStyle/>
          <a:p>
            <a:pPr indent="0" marL="0">
              <a:buNone/>
            </a:pPr>
            <a:r>
              <a:rPr lang="en-US" sz="4800" b="1" dirty="0">
                <a:solidFill>
                  <a:srgbClr val="1A3A4A"/>
                </a:solidFill>
                <a:latin typeface="Georgia" pitchFamily="34" charset="0"/>
                <a:ea typeface="Georgia" pitchFamily="34" charset="-122"/>
                <a:cs typeface="Georgia" pitchFamily="34" charset="-120"/>
              </a:rPr>
              <a:t>Hamsterrad-Diagnose</a:t>
            </a:r>
            <a:endParaRPr lang="en-US" sz="4800" dirty="0"/>
          </a:p>
        </p:txBody>
      </p:sp>
      <p:sp>
        <p:nvSpPr>
          <p:cNvPr id="6" name="Text 4"/>
          <p:cNvSpPr/>
          <p:nvPr/>
        </p:nvSpPr>
        <p:spPr>
          <a:xfrm>
            <a:off x="548640" y="2743200"/>
            <a:ext cx="8046720" cy="1371600"/>
          </a:xfrm>
          <a:prstGeom prst="rect">
            <a:avLst/>
          </a:prstGeom>
          <a:noFill/>
          <a:ln/>
        </p:spPr>
        <p:txBody>
          <a:bodyPr wrap="square" lIns="0" tIns="0" rIns="0" bIns="0" rtlCol="0" anchor="t"/>
          <a:lstStyle/>
          <a:p>
            <a:pPr indent="0" marL="0">
              <a:buNone/>
            </a:pPr>
            <a:r>
              <a:rPr lang="en-US" sz="1800" i="1" dirty="0">
                <a:solidFill>
                  <a:srgbClr val="2C3E50"/>
                </a:solidFill>
                <a:latin typeface="Georgia" pitchFamily="34" charset="0"/>
                <a:ea typeface="Georgia" pitchFamily="34" charset="-122"/>
                <a:cs typeface="Georgia" pitchFamily="34" charset="-120"/>
              </a:rPr>
              <a:t>Du bist nicht faul. Du hast ein System-Problem.</a:t>
            </a:r>
            <a:endParaRPr lang="en-US" sz="1800" dirty="0"/>
          </a:p>
          <a:p>
            <a:pPr indent="0" marL="0">
              <a:buNone/>
            </a:pPr>
            <a:r>
              <a:rPr lang="en-US" sz="1800" i="1" dirty="0">
                <a:solidFill>
                  <a:srgbClr val="2C3E50"/>
                </a:solidFill>
                <a:latin typeface="Georgia" pitchFamily="34" charset="0"/>
                <a:ea typeface="Georgia" pitchFamily="34" charset="-122"/>
                <a:cs typeface="Georgia" pitchFamily="34" charset="-120"/>
              </a:rPr>
              <a:t>Wir starten mit einer ehrlichen Diagnose —</a:t>
            </a:r>
            <a:endParaRPr lang="en-US" sz="1800" dirty="0"/>
          </a:p>
          <a:p>
            <a:pPr indent="0" marL="0">
              <a:buNone/>
            </a:pPr>
            <a:r>
              <a:rPr lang="en-US" sz="1800" i="1" dirty="0">
                <a:solidFill>
                  <a:srgbClr val="2C3E50"/>
                </a:solidFill>
                <a:latin typeface="Georgia" pitchFamily="34" charset="0"/>
                <a:ea typeface="Georgia" pitchFamily="34" charset="-122"/>
                <a:cs typeface="Georgia" pitchFamily="34" charset="-120"/>
              </a:rPr>
              <a:t>nicht damit du dich schlecht fühlst,</a:t>
            </a:r>
            <a:endParaRPr lang="en-US" sz="1800" dirty="0"/>
          </a:p>
          <a:p>
            <a:pPr indent="0" marL="0">
              <a:buNone/>
            </a:pPr>
            <a:r>
              <a:rPr lang="en-US" sz="1800" i="1" dirty="0">
                <a:solidFill>
                  <a:srgbClr val="2C3E50"/>
                </a:solidFill>
                <a:latin typeface="Georgia" pitchFamily="34" charset="0"/>
                <a:ea typeface="Georgia" pitchFamily="34" charset="-122"/>
                <a:cs typeface="Georgia" pitchFamily="34" charset="-120"/>
              </a:rPr>
              <a:t>sondern damit du verstehst was passiert.</a:t>
            </a:r>
            <a:endParaRPr lang="en-US" sz="1800" dirty="0"/>
          </a:p>
        </p:txBody>
      </p:sp>
      <p:sp>
        <p:nvSpPr>
          <p:cNvPr id="7" name="Text 5"/>
          <p:cNvSpPr/>
          <p:nvPr/>
        </p:nvSpPr>
        <p:spPr>
          <a:xfrm>
            <a:off x="548640" y="4572000"/>
            <a:ext cx="3657600" cy="365760"/>
          </a:xfrm>
          <a:prstGeom prst="rect">
            <a:avLst/>
          </a:prstGeom>
          <a:noFill/>
          <a:ln/>
        </p:spPr>
        <p:txBody>
          <a:bodyPr wrap="square" rtlCol="0" anchor="ctr"/>
          <a:lstStyle/>
          <a:p>
            <a:pPr indent="0" marL="0">
              <a:buNone/>
            </a:pPr>
            <a:r>
              <a:rPr lang="en-US" sz="1200" b="1" dirty="0">
                <a:solidFill>
                  <a:srgbClr val="12828C"/>
                </a:solidFill>
                <a:latin typeface="Calibri" pitchFamily="34" charset="0"/>
                <a:ea typeface="Calibri" pitchFamily="34" charset="-122"/>
                <a:cs typeface="Calibri" pitchFamily="34" charset="-120"/>
              </a:rPr>
              <a:t>Patricia Ulmann</a:t>
            </a:r>
            <a:endParaRPr lang="en-US" sz="1200" dirty="0"/>
          </a:p>
        </p:txBody>
      </p:sp>
      <p:sp>
        <p:nvSpPr>
          <p:cNvPr id="8" name="Text 6"/>
          <p:cNvSpPr/>
          <p:nvPr/>
        </p:nvSpPr>
        <p:spPr>
          <a:xfrm>
            <a:off x="4937760" y="4572000"/>
            <a:ext cx="3657600" cy="365760"/>
          </a:xfrm>
          <a:prstGeom prst="rect">
            <a:avLst/>
          </a:prstGeom>
          <a:noFill/>
          <a:ln/>
        </p:spPr>
        <p:txBody>
          <a:bodyPr wrap="square" rtlCol="0" anchor="ctr"/>
          <a:lstStyle/>
          <a:p>
            <a:pPr algn="r" indent="0" marL="0">
              <a:buNone/>
            </a:pPr>
            <a:r>
              <a:rPr lang="en-US" sz="1100" dirty="0">
                <a:solidFill>
                  <a:srgbClr val="7A8A95"/>
                </a:solidFill>
                <a:latin typeface="Calibri" pitchFamily="34" charset="0"/>
                <a:ea typeface="Calibri" pitchFamily="34" charset="-122"/>
                <a:cs typeface="Calibri" pitchFamily="34" charset="-120"/>
              </a:rPr>
              <a:t>mumlifebalance.ch</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8046720" cy="731520"/>
          </a:xfrm>
          <a:prstGeom prst="rect">
            <a:avLst/>
          </a:prstGeom>
          <a:noFill/>
          <a:ln/>
        </p:spPr>
        <p:txBody>
          <a:bodyPr wrap="square" lIns="0" tIns="0" rIns="0" bIns="0" rtlCol="0" anchor="t"/>
          <a:lstStyle/>
          <a:p>
            <a:pPr indent="0" marL="0">
              <a:buNone/>
            </a:pPr>
            <a:r>
              <a:rPr lang="en-US" sz="3200" b="1" dirty="0">
                <a:solidFill>
                  <a:srgbClr val="1A3A4A"/>
                </a:solidFill>
                <a:latin typeface="Georgia" pitchFamily="34" charset="0"/>
                <a:ea typeface="Georgia" pitchFamily="34" charset="-122"/>
                <a:cs typeface="Georgia" pitchFamily="34" charset="-120"/>
              </a:rPr>
              <a:t>Die 4 Hamsterrad-Symptome</a:t>
            </a:r>
            <a:endParaRPr lang="en-US" sz="3200" dirty="0"/>
          </a:p>
        </p:txBody>
      </p:sp>
      <p:sp>
        <p:nvSpPr>
          <p:cNvPr id="3" name="Text 1"/>
          <p:cNvSpPr/>
          <p:nvPr/>
        </p:nvSpPr>
        <p:spPr>
          <a:xfrm>
            <a:off x="548640" y="1143000"/>
            <a:ext cx="8046720" cy="365760"/>
          </a:xfrm>
          <a:prstGeom prst="rect">
            <a:avLst/>
          </a:prstGeom>
          <a:noFill/>
          <a:ln/>
        </p:spPr>
        <p:txBody>
          <a:bodyPr wrap="square" rtlCol="0" anchor="ctr"/>
          <a:lstStyle/>
          <a:p>
            <a:pPr indent="0" marL="0">
              <a:buNone/>
            </a:pPr>
            <a:r>
              <a:rPr lang="en-US" sz="1300" i="1" dirty="0">
                <a:solidFill>
                  <a:srgbClr val="7A8A95"/>
                </a:solidFill>
                <a:latin typeface="Calibri" pitchFamily="34" charset="0"/>
                <a:ea typeface="Calibri" pitchFamily="34" charset="-122"/>
                <a:cs typeface="Calibri" pitchFamily="34" charset="-120"/>
              </a:rPr>
              <a:t>Wenn du dich in 3 davon wiedererkennst — du bist im Hamsterrad</a:t>
            </a:r>
            <a:endParaRPr lang="en-US" sz="1300" dirty="0"/>
          </a:p>
        </p:txBody>
      </p:sp>
      <p:sp>
        <p:nvSpPr>
          <p:cNvPr id="4" name="Text 2"/>
          <p:cNvSpPr/>
          <p:nvPr/>
        </p:nvSpPr>
        <p:spPr>
          <a:xfrm>
            <a:off x="548640" y="1828800"/>
            <a:ext cx="914400" cy="502920"/>
          </a:xfrm>
          <a:prstGeom prst="rect">
            <a:avLst/>
          </a:prstGeom>
          <a:noFill/>
          <a:ln/>
        </p:spPr>
        <p:txBody>
          <a:bodyPr wrap="square" lIns="0" tIns="0" rIns="0" bIns="0" rtlCol="0" anchor="ctr"/>
          <a:lstStyle/>
          <a:p>
            <a:pPr indent="0" marL="0">
              <a:buNone/>
            </a:pPr>
            <a:r>
              <a:rPr lang="en-US" sz="3200" b="1" dirty="0">
                <a:solidFill>
                  <a:srgbClr val="DC822E"/>
                </a:solidFill>
                <a:latin typeface="Georgia" pitchFamily="34" charset="0"/>
                <a:ea typeface="Georgia" pitchFamily="34" charset="-122"/>
                <a:cs typeface="Georgia" pitchFamily="34" charset="-120"/>
              </a:rPr>
              <a:t>01</a:t>
            </a:r>
            <a:endParaRPr lang="en-US" sz="3200" dirty="0"/>
          </a:p>
        </p:txBody>
      </p:sp>
      <p:sp>
        <p:nvSpPr>
          <p:cNvPr id="5" name="Text 3"/>
          <p:cNvSpPr/>
          <p:nvPr/>
        </p:nvSpPr>
        <p:spPr>
          <a:xfrm>
            <a:off x="1554480" y="1828800"/>
            <a:ext cx="7040880" cy="502920"/>
          </a:xfrm>
          <a:prstGeom prst="rect">
            <a:avLst/>
          </a:prstGeom>
          <a:noFill/>
          <a:ln/>
        </p:spPr>
        <p:txBody>
          <a:bodyPr wrap="square" lIns="0" tIns="0" rIns="0" bIns="0" rtlCol="0" anchor="ctr"/>
          <a:lstStyle/>
          <a:p>
            <a:pPr indent="0" marL="0">
              <a:buNone/>
            </a:pPr>
            <a:r>
              <a:rPr lang="en-US" sz="1600" dirty="0">
                <a:solidFill>
                  <a:srgbClr val="2C3E50"/>
                </a:solidFill>
                <a:latin typeface="Calibri" pitchFamily="34" charset="0"/>
                <a:ea typeface="Calibri" pitchFamily="34" charset="-122"/>
                <a:cs typeface="Calibri" pitchFamily="34" charset="-120"/>
              </a:rPr>
              <a:t>Du arbeitest noch 60–80% in deinem alten Job</a:t>
            </a:r>
            <a:endParaRPr lang="en-US" sz="1600" dirty="0"/>
          </a:p>
        </p:txBody>
      </p:sp>
      <p:sp>
        <p:nvSpPr>
          <p:cNvPr id="6" name="Text 4"/>
          <p:cNvSpPr/>
          <p:nvPr/>
        </p:nvSpPr>
        <p:spPr>
          <a:xfrm>
            <a:off x="548640" y="2514600"/>
            <a:ext cx="914400" cy="502920"/>
          </a:xfrm>
          <a:prstGeom prst="rect">
            <a:avLst/>
          </a:prstGeom>
          <a:noFill/>
          <a:ln/>
        </p:spPr>
        <p:txBody>
          <a:bodyPr wrap="square" lIns="0" tIns="0" rIns="0" bIns="0" rtlCol="0" anchor="ctr"/>
          <a:lstStyle/>
          <a:p>
            <a:pPr indent="0" marL="0">
              <a:buNone/>
            </a:pPr>
            <a:r>
              <a:rPr lang="en-US" sz="3200" b="1" dirty="0">
                <a:solidFill>
                  <a:srgbClr val="DC822E"/>
                </a:solidFill>
                <a:latin typeface="Georgia" pitchFamily="34" charset="0"/>
                <a:ea typeface="Georgia" pitchFamily="34" charset="-122"/>
                <a:cs typeface="Georgia" pitchFamily="34" charset="-120"/>
              </a:rPr>
              <a:t>02</a:t>
            </a:r>
            <a:endParaRPr lang="en-US" sz="3200" dirty="0"/>
          </a:p>
        </p:txBody>
      </p:sp>
      <p:sp>
        <p:nvSpPr>
          <p:cNvPr id="7" name="Text 5"/>
          <p:cNvSpPr/>
          <p:nvPr/>
        </p:nvSpPr>
        <p:spPr>
          <a:xfrm>
            <a:off x="1554480" y="2514600"/>
            <a:ext cx="7040880" cy="502920"/>
          </a:xfrm>
          <a:prstGeom prst="rect">
            <a:avLst/>
          </a:prstGeom>
          <a:noFill/>
          <a:ln/>
        </p:spPr>
        <p:txBody>
          <a:bodyPr wrap="square" lIns="0" tIns="0" rIns="0" bIns="0" rtlCol="0" anchor="ctr"/>
          <a:lstStyle/>
          <a:p>
            <a:pPr indent="0" marL="0">
              <a:buNone/>
            </a:pPr>
            <a:r>
              <a:rPr lang="en-US" sz="1600" dirty="0">
                <a:solidFill>
                  <a:srgbClr val="2C3E50"/>
                </a:solidFill>
                <a:latin typeface="Calibri" pitchFamily="34" charset="0"/>
                <a:ea typeface="Calibri" pitchFamily="34" charset="-122"/>
                <a:cs typeface="Calibri" pitchFamily="34" charset="-120"/>
              </a:rPr>
              <a:t>Dein Mann sieht dein Business als Hobby</a:t>
            </a:r>
            <a:endParaRPr lang="en-US" sz="1600" dirty="0"/>
          </a:p>
        </p:txBody>
      </p:sp>
      <p:sp>
        <p:nvSpPr>
          <p:cNvPr id="8" name="Text 6"/>
          <p:cNvSpPr/>
          <p:nvPr/>
        </p:nvSpPr>
        <p:spPr>
          <a:xfrm>
            <a:off x="548640" y="3200400"/>
            <a:ext cx="914400" cy="502920"/>
          </a:xfrm>
          <a:prstGeom prst="rect">
            <a:avLst/>
          </a:prstGeom>
          <a:noFill/>
          <a:ln/>
        </p:spPr>
        <p:txBody>
          <a:bodyPr wrap="square" lIns="0" tIns="0" rIns="0" bIns="0" rtlCol="0" anchor="ctr"/>
          <a:lstStyle/>
          <a:p>
            <a:pPr indent="0" marL="0">
              <a:buNone/>
            </a:pPr>
            <a:r>
              <a:rPr lang="en-US" sz="3200" b="1" dirty="0">
                <a:solidFill>
                  <a:srgbClr val="DC822E"/>
                </a:solidFill>
                <a:latin typeface="Georgia" pitchFamily="34" charset="0"/>
                <a:ea typeface="Georgia" pitchFamily="34" charset="-122"/>
                <a:cs typeface="Georgia" pitchFamily="34" charset="-120"/>
              </a:rPr>
              <a:t>03</a:t>
            </a:r>
            <a:endParaRPr lang="en-US" sz="3200" dirty="0"/>
          </a:p>
        </p:txBody>
      </p:sp>
      <p:sp>
        <p:nvSpPr>
          <p:cNvPr id="9" name="Text 7"/>
          <p:cNvSpPr/>
          <p:nvPr/>
        </p:nvSpPr>
        <p:spPr>
          <a:xfrm>
            <a:off x="1554480" y="3200400"/>
            <a:ext cx="7040880" cy="502920"/>
          </a:xfrm>
          <a:prstGeom prst="rect">
            <a:avLst/>
          </a:prstGeom>
          <a:noFill/>
          <a:ln/>
        </p:spPr>
        <p:txBody>
          <a:bodyPr wrap="square" lIns="0" tIns="0" rIns="0" bIns="0" rtlCol="0" anchor="ctr"/>
          <a:lstStyle/>
          <a:p>
            <a:pPr indent="0" marL="0">
              <a:buNone/>
            </a:pPr>
            <a:r>
              <a:rPr lang="en-US" sz="1600" dirty="0">
                <a:solidFill>
                  <a:srgbClr val="2C3E50"/>
                </a:solidFill>
                <a:latin typeface="Calibri" pitchFamily="34" charset="0"/>
                <a:ea typeface="Calibri" pitchFamily="34" charset="-122"/>
                <a:cs typeface="Calibri" pitchFamily="34" charset="-120"/>
              </a:rPr>
              <a:t>Du machst alles selbst — bis 22 Uhr</a:t>
            </a:r>
            <a:endParaRPr lang="en-US" sz="1600" dirty="0"/>
          </a:p>
        </p:txBody>
      </p:sp>
      <p:sp>
        <p:nvSpPr>
          <p:cNvPr id="10" name="Text 8"/>
          <p:cNvSpPr/>
          <p:nvPr/>
        </p:nvSpPr>
        <p:spPr>
          <a:xfrm>
            <a:off x="548640" y="3886200"/>
            <a:ext cx="914400" cy="502920"/>
          </a:xfrm>
          <a:prstGeom prst="rect">
            <a:avLst/>
          </a:prstGeom>
          <a:noFill/>
          <a:ln/>
        </p:spPr>
        <p:txBody>
          <a:bodyPr wrap="square" lIns="0" tIns="0" rIns="0" bIns="0" rtlCol="0" anchor="ctr"/>
          <a:lstStyle/>
          <a:p>
            <a:pPr indent="0" marL="0">
              <a:buNone/>
            </a:pPr>
            <a:r>
              <a:rPr lang="en-US" sz="3200" b="1" dirty="0">
                <a:solidFill>
                  <a:srgbClr val="DC822E"/>
                </a:solidFill>
                <a:latin typeface="Georgia" pitchFamily="34" charset="0"/>
                <a:ea typeface="Georgia" pitchFamily="34" charset="-122"/>
                <a:cs typeface="Georgia" pitchFamily="34" charset="-120"/>
              </a:rPr>
              <a:t>04</a:t>
            </a:r>
            <a:endParaRPr lang="en-US" sz="3200" dirty="0"/>
          </a:p>
        </p:txBody>
      </p:sp>
      <p:sp>
        <p:nvSpPr>
          <p:cNvPr id="11" name="Text 9"/>
          <p:cNvSpPr/>
          <p:nvPr/>
        </p:nvSpPr>
        <p:spPr>
          <a:xfrm>
            <a:off x="1554480" y="3886200"/>
            <a:ext cx="7040880" cy="502920"/>
          </a:xfrm>
          <a:prstGeom prst="rect">
            <a:avLst/>
          </a:prstGeom>
          <a:noFill/>
          <a:ln/>
        </p:spPr>
        <p:txBody>
          <a:bodyPr wrap="square" lIns="0" tIns="0" rIns="0" bIns="0" rtlCol="0" anchor="ctr"/>
          <a:lstStyle/>
          <a:p>
            <a:pPr indent="0" marL="0">
              <a:buNone/>
            </a:pPr>
            <a:r>
              <a:rPr lang="en-US" sz="1600" dirty="0">
                <a:solidFill>
                  <a:srgbClr val="2C3E50"/>
                </a:solidFill>
                <a:latin typeface="Calibri" pitchFamily="34" charset="0"/>
                <a:ea typeface="Calibri" pitchFamily="34" charset="-122"/>
                <a:cs typeface="Calibri" pitchFamily="34" charset="-120"/>
              </a:rPr>
              <a:t>„Diesen Monat können wir nicht auswärts essen."</a:t>
            </a:r>
            <a:endParaRPr lang="en-US" sz="1600" dirty="0"/>
          </a:p>
        </p:txBody>
      </p:sp>
      <p:sp>
        <p:nvSpPr>
          <p:cNvPr id="12" name="Text 10"/>
          <p:cNvSpPr/>
          <p:nvPr/>
        </p:nvSpPr>
        <p:spPr>
          <a:xfrm>
            <a:off x="457200" y="4800600"/>
            <a:ext cx="5486400" cy="274320"/>
          </a:xfrm>
          <a:prstGeom prst="rect">
            <a:avLst/>
          </a:prstGeom>
          <a:noFill/>
          <a:ln/>
        </p:spPr>
        <p:txBody>
          <a:bodyPr wrap="square" rtlCol="0" anchor="ctr"/>
          <a:lstStyle/>
          <a:p>
            <a:pPr indent="0" marL="0">
              <a:buNone/>
            </a:pPr>
            <a:r>
              <a:rPr lang="en-US" sz="900" spc="200" kern="0" dirty="0">
                <a:solidFill>
                  <a:srgbClr val="7A8A95"/>
                </a:solidFill>
                <a:latin typeface="Calibri" pitchFamily="34" charset="0"/>
                <a:ea typeface="Calibri" pitchFamily="34" charset="-122"/>
                <a:cs typeface="Calibri" pitchFamily="34" charset="-120"/>
              </a:rPr>
              <a:t>Mama-CEO · Modul 1 · Lektion 2.1</a:t>
            </a:r>
            <a:endParaRPr lang="en-US" sz="900" dirty="0"/>
          </a:p>
        </p:txBody>
      </p:sp>
      <p:sp>
        <p:nvSpPr>
          <p:cNvPr id="13" name="Text 11"/>
          <p:cNvSpPr/>
          <p:nvPr/>
        </p:nvSpPr>
        <p:spPr>
          <a:xfrm>
            <a:off x="6400800" y="4800600"/>
            <a:ext cx="2286000" cy="274320"/>
          </a:xfrm>
          <a:prstGeom prst="rect">
            <a:avLst/>
          </a:prstGeom>
          <a:noFill/>
          <a:ln/>
        </p:spPr>
        <p:txBody>
          <a:bodyPr wrap="square" rtlCol="0" anchor="ctr"/>
          <a:lstStyle/>
          <a:p>
            <a:pPr algn="r" indent="0" marL="0">
              <a:buNone/>
            </a:pPr>
            <a:r>
              <a:rPr lang="en-US" sz="900" i="1" dirty="0">
                <a:solidFill>
                  <a:srgbClr val="7A8A95"/>
                </a:solidFill>
                <a:latin typeface="Calibri" pitchFamily="34" charset="0"/>
                <a:ea typeface="Calibri" pitchFamily="34" charset="-122"/>
                <a:cs typeface="Calibri" pitchFamily="34" charset="-120"/>
              </a:rPr>
              <a:t>Mum Life Balance</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828C"/>
        </a:solidFill>
      </p:bgPr>
    </p:bg>
    <p:spTree>
      <p:nvGrpSpPr>
        <p:cNvPr id="1" name=""/>
        <p:cNvGrpSpPr/>
        <p:nvPr/>
      </p:nvGrpSpPr>
      <p:grpSpPr>
        <a:xfrm>
          <a:off x="0" y="0"/>
          <a:ext cx="0" cy="0"/>
          <a:chOff x="0" y="0"/>
          <a:chExt cx="0" cy="0"/>
        </a:xfrm>
      </p:grpSpPr>
      <p:sp>
        <p:nvSpPr>
          <p:cNvPr id="2" name="Text 0"/>
          <p:cNvSpPr/>
          <p:nvPr/>
        </p:nvSpPr>
        <p:spPr>
          <a:xfrm>
            <a:off x="548640" y="1188720"/>
            <a:ext cx="8046720" cy="365760"/>
          </a:xfrm>
          <a:prstGeom prst="rect">
            <a:avLst/>
          </a:prstGeom>
          <a:noFill/>
          <a:ln/>
        </p:spPr>
        <p:txBody>
          <a:bodyPr wrap="square" rtlCol="0" anchor="ctr"/>
          <a:lstStyle/>
          <a:p>
            <a:pPr algn="ctr" indent="0" marL="0">
              <a:buNone/>
            </a:pPr>
            <a:r>
              <a:rPr lang="en-US" sz="1100" b="1" spc="400" kern="0" dirty="0">
                <a:solidFill>
                  <a:srgbClr val="DC822E"/>
                </a:solidFill>
                <a:latin typeface="Calibri" pitchFamily="34" charset="0"/>
                <a:ea typeface="Calibri" pitchFamily="34" charset="-122"/>
                <a:cs typeface="Calibri" pitchFamily="34" charset="-120"/>
              </a:rPr>
              <a:t>SYMPTOM 1</a:t>
            </a:r>
            <a:endParaRPr lang="en-US" sz="1100" dirty="0"/>
          </a:p>
        </p:txBody>
      </p:sp>
      <p:sp>
        <p:nvSpPr>
          <p:cNvPr id="3" name="Shape 1"/>
          <p:cNvSpPr/>
          <p:nvPr/>
        </p:nvSpPr>
        <p:spPr>
          <a:xfrm>
            <a:off x="4297680" y="1691640"/>
            <a:ext cx="548640" cy="36576"/>
          </a:xfrm>
          <a:prstGeom prst="rect">
            <a:avLst/>
          </a:prstGeom>
          <a:solidFill>
            <a:srgbClr val="DC822E"/>
          </a:solidFill>
          <a:ln w="12700">
            <a:solidFill>
              <a:srgbClr val="DC822E">
                <a:alpha val="0"/>
              </a:srgbClr>
            </a:solidFill>
            <a:prstDash val="solid"/>
          </a:ln>
        </p:spPr>
      </p:sp>
      <p:sp>
        <p:nvSpPr>
          <p:cNvPr id="4" name="Text 2"/>
          <p:cNvSpPr/>
          <p:nvPr/>
        </p:nvSpPr>
        <p:spPr>
          <a:xfrm>
            <a:off x="548640" y="2011680"/>
            <a:ext cx="8046720" cy="2286000"/>
          </a:xfrm>
          <a:prstGeom prst="rect">
            <a:avLst/>
          </a:prstGeom>
          <a:noFill/>
          <a:ln/>
        </p:spPr>
        <p:txBody>
          <a:bodyPr wrap="square" lIns="0" tIns="0" rIns="0" bIns="0" rtlCol="0" anchor="ctr"/>
          <a:lstStyle/>
          <a:p>
            <a:pPr algn="ctr" indent="0" marL="0">
              <a:buNone/>
            </a:pPr>
            <a:r>
              <a:rPr lang="en-US" sz="3600" b="1" dirty="0">
                <a:solidFill>
                  <a:srgbClr val="F1ECDD"/>
                </a:solidFill>
                <a:latin typeface="Georgia" pitchFamily="34" charset="0"/>
                <a:ea typeface="Georgia" pitchFamily="34" charset="-122"/>
                <a:cs typeface="Georgia" pitchFamily="34" charset="-120"/>
              </a:rPr>
              <a:t>„Diesen Monat können wir</a:t>
            </a:r>
            <a:endParaRPr lang="en-US" sz="3600" dirty="0"/>
          </a:p>
          <a:p>
            <a:pPr algn="ctr" indent="0" marL="0">
              <a:buNone/>
            </a:pPr>
            <a:r>
              <a:rPr lang="en-US" sz="3600" b="1" dirty="0">
                <a:solidFill>
                  <a:srgbClr val="F1ECDD"/>
                </a:solidFill>
                <a:latin typeface="Georgia" pitchFamily="34" charset="0"/>
                <a:ea typeface="Georgia" pitchFamily="34" charset="-122"/>
                <a:cs typeface="Georgia" pitchFamily="34" charset="-120"/>
              </a:rPr>
              <a:t>nicht auswärts essen."</a:t>
            </a:r>
            <a:endParaRPr lang="en-US" sz="3600" dirty="0"/>
          </a:p>
          <a:p>
            <a:pPr algn="ctr" indent="0" marL="0">
              <a:buNone/>
            </a:pPr>
            <a:r>
              <a:rPr lang="en-US" sz="3600" b="1" dirty="0">
                <a:solidFill>
                  <a:srgbClr val="F1ECDD"/>
                </a:solidFill>
                <a:latin typeface="Georgia" pitchFamily="34" charset="0"/>
                <a:ea typeface="Georgia" pitchFamily="34" charset="-122"/>
                <a:cs typeface="Georgia" pitchFamily="34" charset="-120"/>
              </a:rPr>
              <a:t>Du arbeitest noch 60–80% in deinem alten Job.</a:t>
            </a:r>
            <a:endParaRPr lang="en-US" sz="3600" dirty="0"/>
          </a:p>
        </p:txBody>
      </p:sp>
      <p:sp>
        <p:nvSpPr>
          <p:cNvPr id="5" name="Text 3"/>
          <p:cNvSpPr/>
          <p:nvPr/>
        </p:nvSpPr>
        <p:spPr>
          <a:xfrm>
            <a:off x="457200" y="4800600"/>
            <a:ext cx="5486400" cy="274320"/>
          </a:xfrm>
          <a:prstGeom prst="rect">
            <a:avLst/>
          </a:prstGeom>
          <a:noFill/>
          <a:ln/>
        </p:spPr>
        <p:txBody>
          <a:bodyPr wrap="square" rtlCol="0" anchor="ctr"/>
          <a:lstStyle/>
          <a:p>
            <a:pPr indent="0" marL="0">
              <a:buNone/>
            </a:pPr>
            <a:r>
              <a:rPr lang="en-US" sz="900" spc="200" kern="0" dirty="0">
                <a:solidFill>
                  <a:srgbClr val="F1ECDD"/>
                </a:solidFill>
                <a:latin typeface="Calibri" pitchFamily="34" charset="0"/>
                <a:ea typeface="Calibri" pitchFamily="34" charset="-122"/>
                <a:cs typeface="Calibri" pitchFamily="34" charset="-120"/>
              </a:rPr>
              <a:t>Mama-CEO · Modul 1 · Lektion 2.1</a:t>
            </a:r>
            <a:endParaRPr lang="en-US" sz="900" dirty="0"/>
          </a:p>
        </p:txBody>
      </p:sp>
      <p:sp>
        <p:nvSpPr>
          <p:cNvPr id="6" name="Text 4"/>
          <p:cNvSpPr/>
          <p:nvPr/>
        </p:nvSpPr>
        <p:spPr>
          <a:xfrm>
            <a:off x="6400800" y="4800600"/>
            <a:ext cx="2286000" cy="274320"/>
          </a:xfrm>
          <a:prstGeom prst="rect">
            <a:avLst/>
          </a:prstGeom>
          <a:noFill/>
          <a:ln/>
        </p:spPr>
        <p:txBody>
          <a:bodyPr wrap="square" rtlCol="0" anchor="ctr"/>
          <a:lstStyle/>
          <a:p>
            <a:pPr algn="r" indent="0" marL="0">
              <a:buNone/>
            </a:pPr>
            <a:r>
              <a:rPr lang="en-US" sz="900" i="1" dirty="0">
                <a:solidFill>
                  <a:srgbClr val="F1ECDD"/>
                </a:solidFill>
                <a:latin typeface="Calibri" pitchFamily="34" charset="0"/>
                <a:ea typeface="Calibri" pitchFamily="34" charset="-122"/>
                <a:cs typeface="Calibri" pitchFamily="34" charset="-120"/>
              </a:rPr>
              <a:t>Mum Life Balance</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2828C"/>
        </a:solidFill>
      </p:bgPr>
    </p:bg>
    <p:spTree>
      <p:nvGrpSpPr>
        <p:cNvPr id="1" name=""/>
        <p:cNvGrpSpPr/>
        <p:nvPr/>
      </p:nvGrpSpPr>
      <p:grpSpPr>
        <a:xfrm>
          <a:off x="0" y="0"/>
          <a:ext cx="0" cy="0"/>
          <a:chOff x="0" y="0"/>
          <a:chExt cx="0" cy="0"/>
        </a:xfrm>
      </p:grpSpPr>
      <p:sp>
        <p:nvSpPr>
          <p:cNvPr id="2" name="Text 0"/>
          <p:cNvSpPr/>
          <p:nvPr/>
        </p:nvSpPr>
        <p:spPr>
          <a:xfrm>
            <a:off x="548640" y="1188720"/>
            <a:ext cx="8046720" cy="365760"/>
          </a:xfrm>
          <a:prstGeom prst="rect">
            <a:avLst/>
          </a:prstGeom>
          <a:noFill/>
          <a:ln/>
        </p:spPr>
        <p:txBody>
          <a:bodyPr wrap="square" rtlCol="0" anchor="ctr"/>
          <a:lstStyle/>
          <a:p>
            <a:pPr algn="ctr" indent="0" marL="0">
              <a:buNone/>
            </a:pPr>
            <a:r>
              <a:rPr lang="en-US" sz="1100" b="1" spc="400" kern="0" dirty="0">
                <a:solidFill>
                  <a:srgbClr val="DC822E"/>
                </a:solidFill>
                <a:latin typeface="Calibri" pitchFamily="34" charset="0"/>
                <a:ea typeface="Calibri" pitchFamily="34" charset="-122"/>
                <a:cs typeface="Calibri" pitchFamily="34" charset="-120"/>
              </a:rPr>
              <a:t>SYMPTOM 2</a:t>
            </a:r>
            <a:endParaRPr lang="en-US" sz="1100" dirty="0"/>
          </a:p>
        </p:txBody>
      </p:sp>
      <p:sp>
        <p:nvSpPr>
          <p:cNvPr id="3" name="Shape 1"/>
          <p:cNvSpPr/>
          <p:nvPr/>
        </p:nvSpPr>
        <p:spPr>
          <a:xfrm>
            <a:off x="4297680" y="1691640"/>
            <a:ext cx="548640" cy="36576"/>
          </a:xfrm>
          <a:prstGeom prst="rect">
            <a:avLst/>
          </a:prstGeom>
          <a:solidFill>
            <a:srgbClr val="DC822E"/>
          </a:solidFill>
          <a:ln w="12700">
            <a:solidFill>
              <a:srgbClr val="DC822E">
                <a:alpha val="0"/>
              </a:srgbClr>
            </a:solidFill>
            <a:prstDash val="solid"/>
          </a:ln>
        </p:spPr>
      </p:sp>
      <p:sp>
        <p:nvSpPr>
          <p:cNvPr id="4" name="Text 2"/>
          <p:cNvSpPr/>
          <p:nvPr/>
        </p:nvSpPr>
        <p:spPr>
          <a:xfrm>
            <a:off x="548640" y="2011680"/>
            <a:ext cx="8046720" cy="2286000"/>
          </a:xfrm>
          <a:prstGeom prst="rect">
            <a:avLst/>
          </a:prstGeom>
          <a:noFill/>
          <a:ln/>
        </p:spPr>
        <p:txBody>
          <a:bodyPr wrap="square" lIns="0" tIns="0" rIns="0" bIns="0" rtlCol="0" anchor="ctr"/>
          <a:lstStyle/>
          <a:p>
            <a:pPr algn="ctr" indent="0" marL="0">
              <a:buNone/>
            </a:pPr>
            <a:r>
              <a:rPr lang="en-US" sz="3600" b="1" dirty="0">
                <a:solidFill>
                  <a:srgbClr val="F1ECDD"/>
                </a:solidFill>
                <a:latin typeface="Georgia" pitchFamily="34" charset="0"/>
                <a:ea typeface="Georgia" pitchFamily="34" charset="-122"/>
                <a:cs typeface="Georgia" pitchFamily="34" charset="-120"/>
              </a:rPr>
              <a:t>„Was machst du eigentlich</a:t>
            </a:r>
            <a:endParaRPr lang="en-US" sz="3600" dirty="0"/>
          </a:p>
          <a:p>
            <a:pPr algn="ctr" indent="0" marL="0">
              <a:buNone/>
            </a:pPr>
            <a:r>
              <a:rPr lang="en-US" sz="3600" b="1" dirty="0">
                <a:solidFill>
                  <a:srgbClr val="F1ECDD"/>
                </a:solidFill>
                <a:latin typeface="Georgia" pitchFamily="34" charset="0"/>
                <a:ea typeface="Georgia" pitchFamily="34" charset="-122"/>
                <a:cs typeface="Georgia" pitchFamily="34" charset="-120"/>
              </a:rPr>
              <a:t>da am Handy?"</a:t>
            </a:r>
            <a:endParaRPr lang="en-US" sz="3600" dirty="0"/>
          </a:p>
          <a:p>
            <a:pPr algn="ctr" indent="0" marL="0">
              <a:buNone/>
            </a:pPr>
            <a:r>
              <a:rPr lang="en-US" sz="3600" b="1" dirty="0">
                <a:solidFill>
                  <a:srgbClr val="F1ECDD"/>
                </a:solidFill>
                <a:latin typeface="Georgia" pitchFamily="34" charset="0"/>
                <a:ea typeface="Georgia" pitchFamily="34" charset="-122"/>
                <a:cs typeface="Georgia" pitchFamily="34" charset="-120"/>
              </a:rPr>
              <a:t>Dein Partner sieht dein Business als ‚Instagram-Ding'.</a:t>
            </a:r>
            <a:endParaRPr lang="en-US" sz="3600" dirty="0"/>
          </a:p>
        </p:txBody>
      </p:sp>
      <p:sp>
        <p:nvSpPr>
          <p:cNvPr id="5" name="Text 3"/>
          <p:cNvSpPr/>
          <p:nvPr/>
        </p:nvSpPr>
        <p:spPr>
          <a:xfrm>
            <a:off x="457200" y="4800600"/>
            <a:ext cx="5486400" cy="274320"/>
          </a:xfrm>
          <a:prstGeom prst="rect">
            <a:avLst/>
          </a:prstGeom>
          <a:noFill/>
          <a:ln/>
        </p:spPr>
        <p:txBody>
          <a:bodyPr wrap="square" rtlCol="0" anchor="ctr"/>
          <a:lstStyle/>
          <a:p>
            <a:pPr indent="0" marL="0">
              <a:buNone/>
            </a:pPr>
            <a:r>
              <a:rPr lang="en-US" sz="900" spc="200" kern="0" dirty="0">
                <a:solidFill>
                  <a:srgbClr val="F1ECDD"/>
                </a:solidFill>
                <a:latin typeface="Calibri" pitchFamily="34" charset="0"/>
                <a:ea typeface="Calibri" pitchFamily="34" charset="-122"/>
                <a:cs typeface="Calibri" pitchFamily="34" charset="-120"/>
              </a:rPr>
              <a:t>Mama-CEO · Modul 1 · Lektion 2.1</a:t>
            </a:r>
            <a:endParaRPr lang="en-US" sz="900" dirty="0"/>
          </a:p>
        </p:txBody>
      </p:sp>
      <p:sp>
        <p:nvSpPr>
          <p:cNvPr id="6" name="Text 4"/>
          <p:cNvSpPr/>
          <p:nvPr/>
        </p:nvSpPr>
        <p:spPr>
          <a:xfrm>
            <a:off x="6400800" y="4800600"/>
            <a:ext cx="2286000" cy="274320"/>
          </a:xfrm>
          <a:prstGeom prst="rect">
            <a:avLst/>
          </a:prstGeom>
          <a:noFill/>
          <a:ln/>
        </p:spPr>
        <p:txBody>
          <a:bodyPr wrap="square" rtlCol="0" anchor="ctr"/>
          <a:lstStyle/>
          <a:p>
            <a:pPr algn="r" indent="0" marL="0">
              <a:buNone/>
            </a:pPr>
            <a:r>
              <a:rPr lang="en-US" sz="900" i="1" dirty="0">
                <a:solidFill>
                  <a:srgbClr val="F1ECDD"/>
                </a:solidFill>
                <a:latin typeface="Calibri" pitchFamily="34" charset="0"/>
                <a:ea typeface="Calibri" pitchFamily="34" charset="-122"/>
                <a:cs typeface="Calibri" pitchFamily="34" charset="-120"/>
              </a:rPr>
              <a:t>Mum Life Balance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2828C"/>
        </a:solidFill>
      </p:bgPr>
    </p:bg>
    <p:spTree>
      <p:nvGrpSpPr>
        <p:cNvPr id="1" name=""/>
        <p:cNvGrpSpPr/>
        <p:nvPr/>
      </p:nvGrpSpPr>
      <p:grpSpPr>
        <a:xfrm>
          <a:off x="0" y="0"/>
          <a:ext cx="0" cy="0"/>
          <a:chOff x="0" y="0"/>
          <a:chExt cx="0" cy="0"/>
        </a:xfrm>
      </p:grpSpPr>
      <p:sp>
        <p:nvSpPr>
          <p:cNvPr id="2" name="Text 0"/>
          <p:cNvSpPr/>
          <p:nvPr/>
        </p:nvSpPr>
        <p:spPr>
          <a:xfrm>
            <a:off x="548640" y="1188720"/>
            <a:ext cx="8046720" cy="365760"/>
          </a:xfrm>
          <a:prstGeom prst="rect">
            <a:avLst/>
          </a:prstGeom>
          <a:noFill/>
          <a:ln/>
        </p:spPr>
        <p:txBody>
          <a:bodyPr wrap="square" rtlCol="0" anchor="ctr"/>
          <a:lstStyle/>
          <a:p>
            <a:pPr algn="ctr" indent="0" marL="0">
              <a:buNone/>
            </a:pPr>
            <a:r>
              <a:rPr lang="en-US" sz="1100" b="1" spc="400" kern="0" dirty="0">
                <a:solidFill>
                  <a:srgbClr val="DC822E"/>
                </a:solidFill>
                <a:latin typeface="Calibri" pitchFamily="34" charset="0"/>
                <a:ea typeface="Calibri" pitchFamily="34" charset="-122"/>
                <a:cs typeface="Calibri" pitchFamily="34" charset="-120"/>
              </a:rPr>
              <a:t>SYMPTOM 3</a:t>
            </a:r>
            <a:endParaRPr lang="en-US" sz="1100" dirty="0"/>
          </a:p>
        </p:txBody>
      </p:sp>
      <p:sp>
        <p:nvSpPr>
          <p:cNvPr id="3" name="Shape 1"/>
          <p:cNvSpPr/>
          <p:nvPr/>
        </p:nvSpPr>
        <p:spPr>
          <a:xfrm>
            <a:off x="4297680" y="1691640"/>
            <a:ext cx="548640" cy="36576"/>
          </a:xfrm>
          <a:prstGeom prst="rect">
            <a:avLst/>
          </a:prstGeom>
          <a:solidFill>
            <a:srgbClr val="DC822E"/>
          </a:solidFill>
          <a:ln w="12700">
            <a:solidFill>
              <a:srgbClr val="DC822E">
                <a:alpha val="0"/>
              </a:srgbClr>
            </a:solidFill>
            <a:prstDash val="solid"/>
          </a:ln>
        </p:spPr>
      </p:sp>
      <p:sp>
        <p:nvSpPr>
          <p:cNvPr id="4" name="Text 2"/>
          <p:cNvSpPr/>
          <p:nvPr/>
        </p:nvSpPr>
        <p:spPr>
          <a:xfrm>
            <a:off x="548640" y="2011680"/>
            <a:ext cx="8046720" cy="2286000"/>
          </a:xfrm>
          <a:prstGeom prst="rect">
            <a:avLst/>
          </a:prstGeom>
          <a:noFill/>
          <a:ln/>
        </p:spPr>
        <p:txBody>
          <a:bodyPr wrap="square" lIns="0" tIns="0" rIns="0" bIns="0" rtlCol="0" anchor="ctr"/>
          <a:lstStyle/>
          <a:p>
            <a:pPr algn="ctr" indent="0" marL="0">
              <a:buNone/>
            </a:pPr>
            <a:r>
              <a:rPr lang="en-US" sz="3600" b="1" dirty="0">
                <a:solidFill>
                  <a:srgbClr val="F1ECDD"/>
                </a:solidFill>
                <a:latin typeface="Georgia" pitchFamily="34" charset="0"/>
                <a:ea typeface="Georgia" pitchFamily="34" charset="-122"/>
                <a:cs typeface="Georgia" pitchFamily="34" charset="-120"/>
              </a:rPr>
              <a:t>Du machst alles selbst.</a:t>
            </a:r>
            <a:endParaRPr lang="en-US" sz="3600" dirty="0"/>
          </a:p>
          <a:p>
            <a:pPr algn="ctr" indent="0" marL="0">
              <a:buNone/>
            </a:pPr>
            <a:r>
              <a:rPr lang="en-US" sz="3600" b="1" dirty="0">
                <a:solidFill>
                  <a:srgbClr val="F1ECDD"/>
                </a:solidFill>
                <a:latin typeface="Georgia" pitchFamily="34" charset="0"/>
                <a:ea typeface="Georgia" pitchFamily="34" charset="-122"/>
                <a:cs typeface="Georgia" pitchFamily="34" charset="-120"/>
              </a:rPr>
              <a:t>Posten · Antworten · Strategie · Reels · Buchhaltung.</a:t>
            </a:r>
            <a:endParaRPr lang="en-US" sz="3600" dirty="0"/>
          </a:p>
          <a:p>
            <a:pPr algn="ctr" indent="0" marL="0">
              <a:buNone/>
            </a:pPr>
            <a:r>
              <a:rPr lang="en-US" sz="3600" b="1" dirty="0">
                <a:solidFill>
                  <a:srgbClr val="F1ECDD"/>
                </a:solidFill>
                <a:latin typeface="Georgia" pitchFamily="34" charset="0"/>
                <a:ea typeface="Georgia" pitchFamily="34" charset="-122"/>
                <a:cs typeface="Georgia" pitchFamily="34" charset="-120"/>
              </a:rPr>
              <a:t>Bis 22 Uhr.</a:t>
            </a:r>
            <a:endParaRPr lang="en-US" sz="3600" dirty="0"/>
          </a:p>
          <a:p>
            <a:pPr algn="ctr" indent="0" marL="0">
              <a:buNone/>
            </a:pPr>
            <a:r>
              <a:rPr lang="en-US" sz="3600" b="1" dirty="0">
                <a:solidFill>
                  <a:srgbClr val="F1ECDD"/>
                </a:solidFill>
                <a:latin typeface="Georgia" pitchFamily="34" charset="0"/>
                <a:ea typeface="Georgia" pitchFamily="34" charset="-122"/>
                <a:cs typeface="Georgia" pitchFamily="34" charset="-120"/>
              </a:rPr>
              <a:t>Und am Abend weisst du nicht was du erreicht hast.</a:t>
            </a:r>
            <a:endParaRPr lang="en-US" sz="3600" dirty="0"/>
          </a:p>
        </p:txBody>
      </p:sp>
      <p:sp>
        <p:nvSpPr>
          <p:cNvPr id="5" name="Text 3"/>
          <p:cNvSpPr/>
          <p:nvPr/>
        </p:nvSpPr>
        <p:spPr>
          <a:xfrm>
            <a:off x="457200" y="4800600"/>
            <a:ext cx="5486400" cy="274320"/>
          </a:xfrm>
          <a:prstGeom prst="rect">
            <a:avLst/>
          </a:prstGeom>
          <a:noFill/>
          <a:ln/>
        </p:spPr>
        <p:txBody>
          <a:bodyPr wrap="square" rtlCol="0" anchor="ctr"/>
          <a:lstStyle/>
          <a:p>
            <a:pPr indent="0" marL="0">
              <a:buNone/>
            </a:pPr>
            <a:r>
              <a:rPr lang="en-US" sz="900" spc="200" kern="0" dirty="0">
                <a:solidFill>
                  <a:srgbClr val="F1ECDD"/>
                </a:solidFill>
                <a:latin typeface="Calibri" pitchFamily="34" charset="0"/>
                <a:ea typeface="Calibri" pitchFamily="34" charset="-122"/>
                <a:cs typeface="Calibri" pitchFamily="34" charset="-120"/>
              </a:rPr>
              <a:t>Mama-CEO · Modul 1 · Lektion 2.1</a:t>
            </a:r>
            <a:endParaRPr lang="en-US" sz="900" dirty="0"/>
          </a:p>
        </p:txBody>
      </p:sp>
      <p:sp>
        <p:nvSpPr>
          <p:cNvPr id="6" name="Text 4"/>
          <p:cNvSpPr/>
          <p:nvPr/>
        </p:nvSpPr>
        <p:spPr>
          <a:xfrm>
            <a:off x="6400800" y="4800600"/>
            <a:ext cx="2286000" cy="274320"/>
          </a:xfrm>
          <a:prstGeom prst="rect">
            <a:avLst/>
          </a:prstGeom>
          <a:noFill/>
          <a:ln/>
        </p:spPr>
        <p:txBody>
          <a:bodyPr wrap="square" rtlCol="0" anchor="ctr"/>
          <a:lstStyle/>
          <a:p>
            <a:pPr algn="r" indent="0" marL="0">
              <a:buNone/>
            </a:pPr>
            <a:r>
              <a:rPr lang="en-US" sz="900" i="1" dirty="0">
                <a:solidFill>
                  <a:srgbClr val="F1ECDD"/>
                </a:solidFill>
                <a:latin typeface="Calibri" pitchFamily="34" charset="0"/>
                <a:ea typeface="Calibri" pitchFamily="34" charset="-122"/>
                <a:cs typeface="Calibri" pitchFamily="34" charset="-120"/>
              </a:rPr>
              <a:t>Mum Life Balance</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2828C"/>
        </a:solidFill>
      </p:bgPr>
    </p:bg>
    <p:spTree>
      <p:nvGrpSpPr>
        <p:cNvPr id="1" name=""/>
        <p:cNvGrpSpPr/>
        <p:nvPr/>
      </p:nvGrpSpPr>
      <p:grpSpPr>
        <a:xfrm>
          <a:off x="0" y="0"/>
          <a:ext cx="0" cy="0"/>
          <a:chOff x="0" y="0"/>
          <a:chExt cx="0" cy="0"/>
        </a:xfrm>
      </p:grpSpPr>
      <p:sp>
        <p:nvSpPr>
          <p:cNvPr id="2" name="Text 0"/>
          <p:cNvSpPr/>
          <p:nvPr/>
        </p:nvSpPr>
        <p:spPr>
          <a:xfrm>
            <a:off x="548640" y="1188720"/>
            <a:ext cx="8046720" cy="365760"/>
          </a:xfrm>
          <a:prstGeom prst="rect">
            <a:avLst/>
          </a:prstGeom>
          <a:noFill/>
          <a:ln/>
        </p:spPr>
        <p:txBody>
          <a:bodyPr wrap="square" rtlCol="0" anchor="ctr"/>
          <a:lstStyle/>
          <a:p>
            <a:pPr algn="ctr" indent="0" marL="0">
              <a:buNone/>
            </a:pPr>
            <a:r>
              <a:rPr lang="en-US" sz="1100" b="1" spc="400" kern="0" dirty="0">
                <a:solidFill>
                  <a:srgbClr val="DC822E"/>
                </a:solidFill>
                <a:latin typeface="Calibri" pitchFamily="34" charset="0"/>
                <a:ea typeface="Calibri" pitchFamily="34" charset="-122"/>
                <a:cs typeface="Calibri" pitchFamily="34" charset="-120"/>
              </a:rPr>
              <a:t>SYMPTOM 4</a:t>
            </a:r>
            <a:endParaRPr lang="en-US" sz="1100" dirty="0"/>
          </a:p>
        </p:txBody>
      </p:sp>
      <p:sp>
        <p:nvSpPr>
          <p:cNvPr id="3" name="Shape 1"/>
          <p:cNvSpPr/>
          <p:nvPr/>
        </p:nvSpPr>
        <p:spPr>
          <a:xfrm>
            <a:off x="4297680" y="1691640"/>
            <a:ext cx="548640" cy="36576"/>
          </a:xfrm>
          <a:prstGeom prst="rect">
            <a:avLst/>
          </a:prstGeom>
          <a:solidFill>
            <a:srgbClr val="DC822E"/>
          </a:solidFill>
          <a:ln w="12700">
            <a:solidFill>
              <a:srgbClr val="DC822E">
                <a:alpha val="0"/>
              </a:srgbClr>
            </a:solidFill>
            <a:prstDash val="solid"/>
          </a:ln>
        </p:spPr>
      </p:sp>
      <p:sp>
        <p:nvSpPr>
          <p:cNvPr id="4" name="Text 2"/>
          <p:cNvSpPr/>
          <p:nvPr/>
        </p:nvSpPr>
        <p:spPr>
          <a:xfrm>
            <a:off x="548640" y="2011680"/>
            <a:ext cx="8046720" cy="2286000"/>
          </a:xfrm>
          <a:prstGeom prst="rect">
            <a:avLst/>
          </a:prstGeom>
          <a:noFill/>
          <a:ln/>
        </p:spPr>
        <p:txBody>
          <a:bodyPr wrap="square" lIns="0" tIns="0" rIns="0" bIns="0" rtlCol="0" anchor="ctr"/>
          <a:lstStyle/>
          <a:p>
            <a:pPr algn="ctr" indent="0" marL="0">
              <a:buNone/>
            </a:pPr>
            <a:r>
              <a:rPr lang="en-US" sz="3600" b="1" dirty="0">
                <a:solidFill>
                  <a:srgbClr val="F1ECDD"/>
                </a:solidFill>
                <a:latin typeface="Georgia" pitchFamily="34" charset="0"/>
                <a:ea typeface="Georgia" pitchFamily="34" charset="-122"/>
                <a:cs typeface="Georgia" pitchFamily="34" charset="-120"/>
              </a:rPr>
              <a:t>„Oh shit —</a:t>
            </a:r>
            <a:endParaRPr lang="en-US" sz="3600" dirty="0"/>
          </a:p>
          <a:p>
            <a:pPr algn="ctr" indent="0" marL="0">
              <a:buNone/>
            </a:pPr>
            <a:r>
              <a:rPr lang="en-US" sz="3600" b="1" dirty="0">
                <a:solidFill>
                  <a:srgbClr val="F1ECDD"/>
                </a:solidFill>
                <a:latin typeface="Georgia" pitchFamily="34" charset="0"/>
                <a:ea typeface="Georgia" pitchFamily="34" charset="-122"/>
                <a:cs typeface="Georgia" pitchFamily="34" charset="-120"/>
              </a:rPr>
              <a:t>wie viel hab ich noch auf dem Konto?"</a:t>
            </a:r>
            <a:endParaRPr lang="en-US" sz="3600" dirty="0"/>
          </a:p>
          <a:p>
            <a:pPr algn="ctr" indent="0" marL="0">
              <a:buNone/>
            </a:pPr>
            <a:r>
              <a:rPr lang="en-US" sz="3600" b="1" dirty="0">
                <a:solidFill>
                  <a:srgbClr val="F1ECDD"/>
                </a:solidFill>
                <a:latin typeface="Georgia" pitchFamily="34" charset="0"/>
                <a:ea typeface="Georgia" pitchFamily="34" charset="-122"/>
                <a:cs typeface="Georgia" pitchFamily="34" charset="-120"/>
              </a:rPr>
              <a:t>Das Geld reicht nicht.</a:t>
            </a:r>
            <a:endParaRPr lang="en-US" sz="3600" dirty="0"/>
          </a:p>
          <a:p>
            <a:pPr algn="ctr" indent="0" marL="0">
              <a:buNone/>
            </a:pPr>
            <a:r>
              <a:rPr lang="en-US" sz="3600" b="1" dirty="0">
                <a:solidFill>
                  <a:srgbClr val="F1ECDD"/>
                </a:solidFill>
                <a:latin typeface="Georgia" pitchFamily="34" charset="0"/>
                <a:ea typeface="Georgia" pitchFamily="34" charset="-122"/>
                <a:cs typeface="Georgia" pitchFamily="34" charset="-120"/>
              </a:rPr>
              <a:t>Du weisst nicht wieviel du hast.</a:t>
            </a:r>
            <a:endParaRPr lang="en-US" sz="3600" dirty="0"/>
          </a:p>
        </p:txBody>
      </p:sp>
      <p:sp>
        <p:nvSpPr>
          <p:cNvPr id="5" name="Text 3"/>
          <p:cNvSpPr/>
          <p:nvPr/>
        </p:nvSpPr>
        <p:spPr>
          <a:xfrm>
            <a:off x="457200" y="4800600"/>
            <a:ext cx="5486400" cy="274320"/>
          </a:xfrm>
          <a:prstGeom prst="rect">
            <a:avLst/>
          </a:prstGeom>
          <a:noFill/>
          <a:ln/>
        </p:spPr>
        <p:txBody>
          <a:bodyPr wrap="square" rtlCol="0" anchor="ctr"/>
          <a:lstStyle/>
          <a:p>
            <a:pPr indent="0" marL="0">
              <a:buNone/>
            </a:pPr>
            <a:r>
              <a:rPr lang="en-US" sz="900" spc="200" kern="0" dirty="0">
                <a:solidFill>
                  <a:srgbClr val="F1ECDD"/>
                </a:solidFill>
                <a:latin typeface="Calibri" pitchFamily="34" charset="0"/>
                <a:ea typeface="Calibri" pitchFamily="34" charset="-122"/>
                <a:cs typeface="Calibri" pitchFamily="34" charset="-120"/>
              </a:rPr>
              <a:t>Mama-CEO · Modul 1 · Lektion 2.1</a:t>
            </a:r>
            <a:endParaRPr lang="en-US" sz="900" dirty="0"/>
          </a:p>
        </p:txBody>
      </p:sp>
      <p:sp>
        <p:nvSpPr>
          <p:cNvPr id="6" name="Text 4"/>
          <p:cNvSpPr/>
          <p:nvPr/>
        </p:nvSpPr>
        <p:spPr>
          <a:xfrm>
            <a:off x="6400800" y="4800600"/>
            <a:ext cx="2286000" cy="274320"/>
          </a:xfrm>
          <a:prstGeom prst="rect">
            <a:avLst/>
          </a:prstGeom>
          <a:noFill/>
          <a:ln/>
        </p:spPr>
        <p:txBody>
          <a:bodyPr wrap="square" rtlCol="0" anchor="ctr"/>
          <a:lstStyle/>
          <a:p>
            <a:pPr algn="r" indent="0" marL="0">
              <a:buNone/>
            </a:pPr>
            <a:r>
              <a:rPr lang="en-US" sz="900" i="1" dirty="0">
                <a:solidFill>
                  <a:srgbClr val="F1ECDD"/>
                </a:solidFill>
                <a:latin typeface="Calibri" pitchFamily="34" charset="0"/>
                <a:ea typeface="Calibri" pitchFamily="34" charset="-122"/>
                <a:cs typeface="Calibri" pitchFamily="34" charset="-120"/>
              </a:rPr>
              <a:t>Mum Life Balance</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8046720" cy="1097280"/>
          </a:xfrm>
          <a:prstGeom prst="rect">
            <a:avLst/>
          </a:prstGeom>
          <a:noFill/>
          <a:ln/>
        </p:spPr>
        <p:txBody>
          <a:bodyPr wrap="square" lIns="0" tIns="0" rIns="0" bIns="0" rtlCol="0" anchor="t"/>
          <a:lstStyle/>
          <a:p>
            <a:pPr indent="0" marL="0">
              <a:buNone/>
            </a:pPr>
            <a:r>
              <a:rPr lang="en-US" sz="2600" b="1" dirty="0">
                <a:solidFill>
                  <a:srgbClr val="1A3A4A"/>
                </a:solidFill>
                <a:latin typeface="Georgia" pitchFamily="34" charset="0"/>
                <a:ea typeface="Georgia" pitchFamily="34" charset="-122"/>
                <a:cs typeface="Georgia" pitchFamily="34" charset="-120"/>
              </a:rPr>
              <a:t>Beschäftigt ≠ wirksam</a:t>
            </a:r>
            <a:endParaRPr lang="en-US" sz="2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920240"/>
          <a:ext cx="8046720" cy="914400"/>
        </p:xfrm>
        <a:graphic>
          <a:graphicData uri="http://schemas.openxmlformats.org/drawingml/2006/table">
            <a:tbl>
              <a:tblPr/>
              <a:tblGrid>
                <a:gridCol w="3200400"/>
                <a:gridCol w="4846320"/>
              </a:tblGrid>
              <a:tr h="457200">
                <a:tc>
                  <a:txBody>
                    <a:bodyPr/>
                    <a:lstStyle/>
                    <a:p>
                      <a:pPr indent="0" marL="0">
                        <a:buNone/>
                      </a:pPr>
                      <a:r>
                        <a:rPr lang="en-US" sz="1100" b="1" spc="300" kern="0" dirty="0">
                          <a:solidFill>
                            <a:srgbClr val="7A8A95"/>
                          </a:solidFill>
                          <a:latin typeface="Calibri" pitchFamily="34" charset="0"/>
                          <a:ea typeface="Calibri" pitchFamily="34" charset="-122"/>
                          <a:cs typeface="Calibri" pitchFamily="34" charset="-120"/>
                        </a:rPr>
                        <a:t>BESCHÄFTIGT</a:t>
                      </a:r>
                      <a:endParaRPr lang="en-US" sz="1100" dirty="0">
                        <a:latin typeface="Calibri" charset="0"/>
                        <a:ea typeface="Calibri" charset="0"/>
                        <a:cs typeface="Calibri" charset="0"/>
                      </a:endParaRPr>
                    </a:p>
                  </a:txBody>
                  <a:tcPr marL="91440" marR="91440" marT="45720" marB="4572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100" b="1" spc="300" kern="0" dirty="0">
                          <a:solidFill>
                            <a:srgbClr val="DC822E"/>
                          </a:solidFill>
                          <a:latin typeface="Calibri" pitchFamily="34" charset="0"/>
                          <a:ea typeface="Calibri" pitchFamily="34" charset="-122"/>
                          <a:cs typeface="Calibri" pitchFamily="34" charset="-120"/>
                        </a:rPr>
                        <a:t>WIRKSAM</a:t>
                      </a:r>
                      <a:endParaRPr lang="en-US" sz="1100" dirty="0">
                        <a:latin typeface="Calibri" charset="0"/>
                        <a:ea typeface="Calibri" charset="0"/>
                        <a:cs typeface="Calibri" charset="0"/>
                      </a:endParaRPr>
                    </a:p>
                  </a:txBody>
                  <a:tcPr marL="91440" marR="91440" marT="45720" marB="4572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FFFFFF"/>
                    </a:solidFill>
                  </a:tcPr>
                </a:tc>
              </a:tr>
              <a:tr h="594360">
                <a:tc>
                  <a:txBody>
                    <a:bodyPr/>
                    <a:lstStyle/>
                    <a:p>
                      <a:pPr indent="0" marL="0">
                        <a:buNone/>
                      </a:pPr>
                      <a:r>
                        <a:rPr lang="en-US" sz="1500" dirty="0">
                          <a:solidFill>
                            <a:srgbClr val="2C3E50"/>
                          </a:solidFill>
                          <a:latin typeface="Calibri" pitchFamily="34" charset="0"/>
                          <a:ea typeface="Calibri" pitchFamily="34" charset="-122"/>
                          <a:cs typeface="Calibri" pitchFamily="34" charset="-120"/>
                        </a:rPr>
                        <a:t>Viel posten</a:t>
                      </a:r>
                      <a:endParaRPr lang="en-US" sz="1500" dirty="0">
                        <a:latin typeface="Calibri" charset="0"/>
                        <a:ea typeface="Calibri" charset="0"/>
                        <a:cs typeface="Calibri" charset="0"/>
                      </a:endParaRPr>
                    </a:p>
                  </a:txBody>
                  <a:tcPr marL="91440" marR="91440" marT="45720" marB="4572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F1ECDD"/>
                    </a:solidFill>
                  </a:tcPr>
                </a:tc>
                <a:tc>
                  <a:txBody>
                    <a:bodyPr/>
                    <a:lstStyle/>
                    <a:p>
                      <a:pPr indent="0" marL="0">
                        <a:buNone/>
                      </a:pPr>
                      <a:r>
                        <a:rPr lang="en-US" sz="1500" b="1" dirty="0">
                          <a:solidFill>
                            <a:srgbClr val="1A3A4A"/>
                          </a:solidFill>
                          <a:latin typeface="Calibri" pitchFamily="34" charset="0"/>
                          <a:ea typeface="Calibri" pitchFamily="34" charset="-122"/>
                          <a:cs typeface="Calibri" pitchFamily="34" charset="-120"/>
                        </a:rPr>
                        <a:t>Richtig posten</a:t>
                      </a:r>
                      <a:endParaRPr lang="en-US" sz="1500" dirty="0">
                        <a:latin typeface="Calibri" charset="0"/>
                        <a:ea typeface="Calibri" charset="0"/>
                        <a:cs typeface="Calibri" charset="0"/>
                      </a:endParaRPr>
                    </a:p>
                  </a:txBody>
                  <a:tcPr marL="91440" marR="91440" marT="45720" marB="4572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F1ECDD"/>
                    </a:solidFill>
                  </a:tcPr>
                </a:tc>
              </a:tr>
              <a:tr h="594360">
                <a:tc>
                  <a:txBody>
                    <a:bodyPr/>
                    <a:lstStyle/>
                    <a:p>
                      <a:pPr indent="0" marL="0">
                        <a:buNone/>
                      </a:pPr>
                      <a:r>
                        <a:rPr lang="en-US" sz="1500" dirty="0">
                          <a:solidFill>
                            <a:srgbClr val="2C3E50"/>
                          </a:solidFill>
                          <a:latin typeface="Calibri" pitchFamily="34" charset="0"/>
                          <a:ea typeface="Calibri" pitchFamily="34" charset="-122"/>
                          <a:cs typeface="Calibri" pitchFamily="34" charset="-120"/>
                        </a:rPr>
                        <a:t>Viele DMs beantworten</a:t>
                      </a:r>
                      <a:endParaRPr lang="en-US" sz="1500" dirty="0">
                        <a:latin typeface="Calibri" charset="0"/>
                        <a:ea typeface="Calibri" charset="0"/>
                        <a:cs typeface="Calibri" charset="0"/>
                      </a:endParaRPr>
                    </a:p>
                  </a:txBody>
                  <a:tcPr marL="91440" marR="91440" marT="45720" marB="4572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500" b="1" dirty="0">
                          <a:solidFill>
                            <a:srgbClr val="1A3A4A"/>
                          </a:solidFill>
                          <a:latin typeface="Calibri" pitchFamily="34" charset="0"/>
                          <a:ea typeface="Calibri" pitchFamily="34" charset="-122"/>
                          <a:cs typeface="Calibri" pitchFamily="34" charset="-120"/>
                        </a:rPr>
                        <a:t>Die richtigen DMs vertiefen</a:t>
                      </a:r>
                      <a:endParaRPr lang="en-US" sz="1500" dirty="0">
                        <a:latin typeface="Calibri" charset="0"/>
                        <a:ea typeface="Calibri" charset="0"/>
                        <a:cs typeface="Calibri" charset="0"/>
                      </a:endParaRPr>
                    </a:p>
                  </a:txBody>
                  <a:tcPr marL="91440" marR="91440" marT="45720" marB="4572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FFFFFF"/>
                    </a:solidFill>
                  </a:tcPr>
                </a:tc>
              </a:tr>
              <a:tr h="594360">
                <a:tc>
                  <a:txBody>
                    <a:bodyPr/>
                    <a:lstStyle/>
                    <a:p>
                      <a:pPr indent="0" marL="0">
                        <a:buNone/>
                      </a:pPr>
                      <a:r>
                        <a:rPr lang="en-US" sz="1500" dirty="0">
                          <a:solidFill>
                            <a:srgbClr val="2C3E50"/>
                          </a:solidFill>
                          <a:latin typeface="Calibri" pitchFamily="34" charset="0"/>
                          <a:ea typeface="Calibri" pitchFamily="34" charset="-122"/>
                          <a:cs typeface="Calibri" pitchFamily="34" charset="-120"/>
                        </a:rPr>
                        <a:t>Viele Calls führen</a:t>
                      </a:r>
                      <a:endParaRPr lang="en-US" sz="1500" dirty="0">
                        <a:latin typeface="Calibri" charset="0"/>
                        <a:ea typeface="Calibri" charset="0"/>
                        <a:cs typeface="Calibri" charset="0"/>
                      </a:endParaRPr>
                    </a:p>
                  </a:txBody>
                  <a:tcPr marL="91440" marR="91440" marT="45720" marB="4572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F1ECDD"/>
                    </a:solidFill>
                  </a:tcPr>
                </a:tc>
                <a:tc>
                  <a:txBody>
                    <a:bodyPr/>
                    <a:lstStyle/>
                    <a:p>
                      <a:pPr indent="0" marL="0">
                        <a:buNone/>
                      </a:pPr>
                      <a:r>
                        <a:rPr lang="en-US" sz="1500" b="1" dirty="0">
                          <a:solidFill>
                            <a:srgbClr val="1A3A4A"/>
                          </a:solidFill>
                          <a:latin typeface="Calibri" pitchFamily="34" charset="0"/>
                          <a:ea typeface="Calibri" pitchFamily="34" charset="-122"/>
                          <a:cs typeface="Calibri" pitchFamily="34" charset="-120"/>
                        </a:rPr>
                        <a:t>Die richtigen Calls</a:t>
                      </a:r>
                      <a:endParaRPr lang="en-US" sz="1500" dirty="0">
                        <a:latin typeface="Calibri" charset="0"/>
                        <a:ea typeface="Calibri" charset="0"/>
                        <a:cs typeface="Calibri" charset="0"/>
                      </a:endParaRPr>
                    </a:p>
                  </a:txBody>
                  <a:tcPr marL="91440" marR="91440" marT="45720" marB="4572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F1ECDD"/>
                    </a:solidFill>
                  </a:tcPr>
                </a:tc>
              </a:tr>
              <a:tr h="594360">
                <a:tc>
                  <a:txBody>
                    <a:bodyPr/>
                    <a:lstStyle/>
                    <a:p>
                      <a:pPr indent="0" marL="0">
                        <a:buNone/>
                      </a:pPr>
                      <a:r>
                        <a:rPr lang="en-US" sz="1500" dirty="0">
                          <a:solidFill>
                            <a:srgbClr val="2C3E50"/>
                          </a:solidFill>
                          <a:latin typeface="Calibri" pitchFamily="34" charset="0"/>
                          <a:ea typeface="Calibri" pitchFamily="34" charset="-122"/>
                          <a:cs typeface="Calibri" pitchFamily="34" charset="-120"/>
                        </a:rPr>
                        <a:t>8 Stunden am Tag arbeiten</a:t>
                      </a:r>
                      <a:endParaRPr lang="en-US" sz="1500" dirty="0">
                        <a:latin typeface="Calibri" charset="0"/>
                        <a:ea typeface="Calibri" charset="0"/>
                        <a:cs typeface="Calibri" charset="0"/>
                      </a:endParaRPr>
                    </a:p>
                  </a:txBody>
                  <a:tcPr marL="91440" marR="91440" marT="45720" marB="4572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500" b="1" dirty="0">
                          <a:solidFill>
                            <a:srgbClr val="1A3A4A"/>
                          </a:solidFill>
                          <a:latin typeface="Calibri" pitchFamily="34" charset="0"/>
                          <a:ea typeface="Calibri" pitchFamily="34" charset="-122"/>
                          <a:cs typeface="Calibri" pitchFamily="34" charset="-120"/>
                        </a:rPr>
                        <a:t>2 Stunden das Richtige tun</a:t>
                      </a:r>
                      <a:endParaRPr lang="en-US" sz="1500" dirty="0">
                        <a:latin typeface="Calibri" charset="0"/>
                        <a:ea typeface="Calibri" charset="0"/>
                        <a:cs typeface="Calibri" charset="0"/>
                      </a:endParaRPr>
                    </a:p>
                  </a:txBody>
                  <a:tcPr marL="91440" marR="91440" marT="45720" marB="4572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FFFFFF"/>
                    </a:solidFill>
                  </a:tcPr>
                </a:tc>
              </a:tr>
            </a:tbl>
          </a:graphicData>
        </a:graphic>
      </p:graphicFrame>
      <p:sp>
        <p:nvSpPr>
          <p:cNvPr id="4" name="Text 1"/>
          <p:cNvSpPr/>
          <p:nvPr/>
        </p:nvSpPr>
        <p:spPr>
          <a:xfrm>
            <a:off x="457200" y="4800600"/>
            <a:ext cx="5486400" cy="274320"/>
          </a:xfrm>
          <a:prstGeom prst="rect">
            <a:avLst/>
          </a:prstGeom>
          <a:noFill/>
          <a:ln/>
        </p:spPr>
        <p:txBody>
          <a:bodyPr wrap="square" rtlCol="0" anchor="ctr"/>
          <a:lstStyle/>
          <a:p>
            <a:pPr indent="0" marL="0">
              <a:buNone/>
            </a:pPr>
            <a:r>
              <a:rPr lang="en-US" sz="900" spc="200" kern="0" dirty="0">
                <a:solidFill>
                  <a:srgbClr val="7A8A95"/>
                </a:solidFill>
                <a:latin typeface="Calibri" pitchFamily="34" charset="0"/>
                <a:ea typeface="Calibri" pitchFamily="34" charset="-122"/>
                <a:cs typeface="Calibri" pitchFamily="34" charset="-120"/>
              </a:rPr>
              <a:t>Mama-CEO · Modul 1 · Lektion 2.1</a:t>
            </a:r>
            <a:endParaRPr lang="en-US" sz="900" dirty="0"/>
          </a:p>
        </p:txBody>
      </p:sp>
      <p:sp>
        <p:nvSpPr>
          <p:cNvPr id="5" name="Text 2"/>
          <p:cNvSpPr/>
          <p:nvPr/>
        </p:nvSpPr>
        <p:spPr>
          <a:xfrm>
            <a:off x="6400800" y="4800600"/>
            <a:ext cx="2286000" cy="274320"/>
          </a:xfrm>
          <a:prstGeom prst="rect">
            <a:avLst/>
          </a:prstGeom>
          <a:noFill/>
          <a:ln/>
        </p:spPr>
        <p:txBody>
          <a:bodyPr wrap="square" rtlCol="0" anchor="ctr"/>
          <a:lstStyle/>
          <a:p>
            <a:pPr algn="r" indent="0" marL="0">
              <a:buNone/>
            </a:pPr>
            <a:r>
              <a:rPr lang="en-US" sz="900" i="1" dirty="0">
                <a:solidFill>
                  <a:srgbClr val="7A8A95"/>
                </a:solidFill>
                <a:latin typeface="Calibri" pitchFamily="34" charset="0"/>
                <a:ea typeface="Calibri" pitchFamily="34" charset="-122"/>
                <a:cs typeface="Calibri" pitchFamily="34" charset="-120"/>
              </a:rPr>
              <a:t>Mum Life Balance</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2828C"/>
        </a:solidFill>
      </p:bgPr>
    </p:bg>
    <p:spTree>
      <p:nvGrpSpPr>
        <p:cNvPr id="1" name=""/>
        <p:cNvGrpSpPr/>
        <p:nvPr/>
      </p:nvGrpSpPr>
      <p:grpSpPr>
        <a:xfrm>
          <a:off x="0" y="0"/>
          <a:ext cx="0" cy="0"/>
          <a:chOff x="0" y="0"/>
          <a:chExt cx="0" cy="0"/>
        </a:xfrm>
      </p:grpSpPr>
      <p:sp>
        <p:nvSpPr>
          <p:cNvPr id="2" name="Text 0"/>
          <p:cNvSpPr/>
          <p:nvPr/>
        </p:nvSpPr>
        <p:spPr>
          <a:xfrm>
            <a:off x="548640" y="1188720"/>
            <a:ext cx="8046720" cy="365760"/>
          </a:xfrm>
          <a:prstGeom prst="rect">
            <a:avLst/>
          </a:prstGeom>
          <a:noFill/>
          <a:ln/>
        </p:spPr>
        <p:txBody>
          <a:bodyPr wrap="square" rtlCol="0" anchor="ctr"/>
          <a:lstStyle/>
          <a:p>
            <a:pPr algn="ctr" indent="0" marL="0">
              <a:buNone/>
            </a:pPr>
            <a:r>
              <a:rPr lang="en-US" sz="1100" b="1" spc="400" kern="0" dirty="0">
                <a:solidFill>
                  <a:srgbClr val="DC822E"/>
                </a:solidFill>
                <a:latin typeface="Calibri" pitchFamily="34" charset="0"/>
                <a:ea typeface="Calibri" pitchFamily="34" charset="-122"/>
                <a:cs typeface="Calibri" pitchFamily="34" charset="-120"/>
              </a:rPr>
              <a:t>DAS LÄSSST DU HEUTE LIEGEN</a:t>
            </a:r>
            <a:endParaRPr lang="en-US" sz="1100" dirty="0"/>
          </a:p>
        </p:txBody>
      </p:sp>
      <p:sp>
        <p:nvSpPr>
          <p:cNvPr id="3" name="Shape 1"/>
          <p:cNvSpPr/>
          <p:nvPr/>
        </p:nvSpPr>
        <p:spPr>
          <a:xfrm>
            <a:off x="4297680" y="1691640"/>
            <a:ext cx="548640" cy="36576"/>
          </a:xfrm>
          <a:prstGeom prst="rect">
            <a:avLst/>
          </a:prstGeom>
          <a:solidFill>
            <a:srgbClr val="DC822E"/>
          </a:solidFill>
          <a:ln w="12700">
            <a:solidFill>
              <a:srgbClr val="DC822E">
                <a:alpha val="0"/>
              </a:srgbClr>
            </a:solidFill>
            <a:prstDash val="solid"/>
          </a:ln>
        </p:spPr>
      </p:sp>
      <p:sp>
        <p:nvSpPr>
          <p:cNvPr id="4" name="Text 2"/>
          <p:cNvSpPr/>
          <p:nvPr/>
        </p:nvSpPr>
        <p:spPr>
          <a:xfrm>
            <a:off x="548640" y="2011680"/>
            <a:ext cx="8046720" cy="2286000"/>
          </a:xfrm>
          <a:prstGeom prst="rect">
            <a:avLst/>
          </a:prstGeom>
          <a:noFill/>
          <a:ln/>
        </p:spPr>
        <p:txBody>
          <a:bodyPr wrap="square" lIns="0" tIns="0" rIns="0" bIns="0" rtlCol="0" anchor="ctr"/>
          <a:lstStyle/>
          <a:p>
            <a:pPr algn="ctr" indent="0" marL="0">
              <a:buNone/>
            </a:pPr>
            <a:r>
              <a:rPr lang="en-US" sz="3600" b="1" dirty="0">
                <a:solidFill>
                  <a:srgbClr val="F1ECDD"/>
                </a:solidFill>
                <a:latin typeface="Georgia" pitchFamily="34" charset="0"/>
                <a:ea typeface="Georgia" pitchFamily="34" charset="-122"/>
                <a:cs typeface="Georgia" pitchFamily="34" charset="-120"/>
              </a:rPr>
              <a:t>Du bist nicht faul.</a:t>
            </a:r>
            <a:endParaRPr lang="en-US" sz="3600" dirty="0"/>
          </a:p>
          <a:p>
            <a:pPr algn="ctr" indent="0" marL="0">
              <a:buNone/>
            </a:pPr>
            <a:r>
              <a:rPr lang="en-US" sz="3600" b="1" dirty="0">
                <a:solidFill>
                  <a:srgbClr val="F1ECDD"/>
                </a:solidFill>
                <a:latin typeface="Georgia" pitchFamily="34" charset="0"/>
                <a:ea typeface="Georgia" pitchFamily="34" charset="-122"/>
                <a:cs typeface="Georgia" pitchFamily="34" charset="-120"/>
              </a:rPr>
              <a:t>Du bist nicht zu wenig diszipliniert.</a:t>
            </a:r>
            <a:endParaRPr lang="en-US" sz="3600" dirty="0"/>
          </a:p>
          <a:p>
            <a:pPr algn="ctr" indent="0" marL="0">
              <a:buNone/>
            </a:pPr>
            <a:r>
              <a:rPr lang="en-US" sz="3600" b="1" dirty="0">
                <a:solidFill>
                  <a:srgbClr val="F1ECDD"/>
                </a:solidFill>
                <a:latin typeface="Georgia" pitchFamily="34" charset="0"/>
                <a:ea typeface="Georgia" pitchFamily="34" charset="-122"/>
                <a:cs typeface="Georgia" pitchFamily="34" charset="-120"/>
              </a:rPr>
              <a:t>Du hast nur kein passendes System.</a:t>
            </a:r>
            <a:endParaRPr lang="en-US" sz="3600" dirty="0"/>
          </a:p>
        </p:txBody>
      </p:sp>
      <p:sp>
        <p:nvSpPr>
          <p:cNvPr id="5" name="Text 3"/>
          <p:cNvSpPr/>
          <p:nvPr/>
        </p:nvSpPr>
        <p:spPr>
          <a:xfrm>
            <a:off x="457200" y="4800600"/>
            <a:ext cx="5486400" cy="274320"/>
          </a:xfrm>
          <a:prstGeom prst="rect">
            <a:avLst/>
          </a:prstGeom>
          <a:noFill/>
          <a:ln/>
        </p:spPr>
        <p:txBody>
          <a:bodyPr wrap="square" rtlCol="0" anchor="ctr"/>
          <a:lstStyle/>
          <a:p>
            <a:pPr indent="0" marL="0">
              <a:buNone/>
            </a:pPr>
            <a:r>
              <a:rPr lang="en-US" sz="900" spc="200" kern="0" dirty="0">
                <a:solidFill>
                  <a:srgbClr val="F1ECDD"/>
                </a:solidFill>
                <a:latin typeface="Calibri" pitchFamily="34" charset="0"/>
                <a:ea typeface="Calibri" pitchFamily="34" charset="-122"/>
                <a:cs typeface="Calibri" pitchFamily="34" charset="-120"/>
              </a:rPr>
              <a:t>Mama-CEO · Modul 1 · Lektion 2.1</a:t>
            </a:r>
            <a:endParaRPr lang="en-US" sz="900" dirty="0"/>
          </a:p>
        </p:txBody>
      </p:sp>
      <p:sp>
        <p:nvSpPr>
          <p:cNvPr id="6" name="Text 4"/>
          <p:cNvSpPr/>
          <p:nvPr/>
        </p:nvSpPr>
        <p:spPr>
          <a:xfrm>
            <a:off x="6400800" y="4800600"/>
            <a:ext cx="2286000" cy="274320"/>
          </a:xfrm>
          <a:prstGeom prst="rect">
            <a:avLst/>
          </a:prstGeom>
          <a:noFill/>
          <a:ln/>
        </p:spPr>
        <p:txBody>
          <a:bodyPr wrap="square" rtlCol="0" anchor="ctr"/>
          <a:lstStyle/>
          <a:p>
            <a:pPr algn="r" indent="0" marL="0">
              <a:buNone/>
            </a:pPr>
            <a:r>
              <a:rPr lang="en-US" sz="900" i="1" dirty="0">
                <a:solidFill>
                  <a:srgbClr val="F1ECDD"/>
                </a:solidFill>
                <a:latin typeface="Calibri" pitchFamily="34" charset="0"/>
                <a:ea typeface="Calibri" pitchFamily="34" charset="-122"/>
                <a:cs typeface="Calibri" pitchFamily="34" charset="-120"/>
              </a:rPr>
              <a:t>Mum Life Balance</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8046720" cy="822960"/>
          </a:xfrm>
          <a:prstGeom prst="rect">
            <a:avLst/>
          </a:prstGeom>
          <a:noFill/>
          <a:ln/>
        </p:spPr>
        <p:txBody>
          <a:bodyPr wrap="square" lIns="0" tIns="0" rIns="0" bIns="0" rtlCol="0" anchor="t"/>
          <a:lstStyle/>
          <a:p>
            <a:pPr indent="0" marL="0">
              <a:buNone/>
            </a:pPr>
            <a:r>
              <a:rPr lang="en-US" sz="3200" b="1" dirty="0">
                <a:solidFill>
                  <a:srgbClr val="1A3A4A"/>
                </a:solidFill>
                <a:latin typeface="Georgia" pitchFamily="34" charset="0"/>
                <a:ea typeface="Georgia" pitchFamily="34" charset="-122"/>
                <a:cs typeface="Georgia" pitchFamily="34" charset="-120"/>
              </a:rPr>
              <a:t>Dein nächster Schritt</a:t>
            </a:r>
            <a:endParaRPr lang="en-US" sz="3200" dirty="0"/>
          </a:p>
        </p:txBody>
      </p:sp>
      <p:sp>
        <p:nvSpPr>
          <p:cNvPr id="3" name="Shape 1"/>
          <p:cNvSpPr/>
          <p:nvPr/>
        </p:nvSpPr>
        <p:spPr>
          <a:xfrm>
            <a:off x="548640" y="1737360"/>
            <a:ext cx="3931920" cy="2743200"/>
          </a:xfrm>
          <a:prstGeom prst="rect">
            <a:avLst/>
          </a:prstGeom>
          <a:solidFill>
            <a:srgbClr val="F1ECDD"/>
          </a:solidFill>
          <a:ln w="12700">
            <a:solidFill>
              <a:srgbClr val="F1ECDD">
                <a:alpha val="0"/>
              </a:srgbClr>
            </a:solidFill>
            <a:prstDash val="solid"/>
          </a:ln>
        </p:spPr>
      </p:sp>
      <p:sp>
        <p:nvSpPr>
          <p:cNvPr id="4" name="Shape 2"/>
          <p:cNvSpPr/>
          <p:nvPr/>
        </p:nvSpPr>
        <p:spPr>
          <a:xfrm>
            <a:off x="548640" y="1737360"/>
            <a:ext cx="3931920" cy="73152"/>
          </a:xfrm>
          <a:prstGeom prst="rect">
            <a:avLst/>
          </a:prstGeom>
          <a:solidFill>
            <a:srgbClr val="12828C"/>
          </a:solidFill>
          <a:ln w="12700">
            <a:solidFill>
              <a:srgbClr val="12828C">
                <a:alpha val="0"/>
              </a:srgbClr>
            </a:solidFill>
            <a:prstDash val="solid"/>
          </a:ln>
        </p:spPr>
      </p:sp>
      <p:sp>
        <p:nvSpPr>
          <p:cNvPr id="5" name="Text 3"/>
          <p:cNvSpPr/>
          <p:nvPr/>
        </p:nvSpPr>
        <p:spPr>
          <a:xfrm>
            <a:off x="777240" y="1920240"/>
            <a:ext cx="3657600" cy="274320"/>
          </a:xfrm>
          <a:prstGeom prst="rect">
            <a:avLst/>
          </a:prstGeom>
          <a:noFill/>
          <a:ln/>
        </p:spPr>
        <p:txBody>
          <a:bodyPr wrap="square" rtlCol="0" anchor="ctr"/>
          <a:lstStyle/>
          <a:p>
            <a:pPr indent="0" marL="0">
              <a:buNone/>
            </a:pPr>
            <a:r>
              <a:rPr lang="en-US" sz="1000" b="1" spc="300" kern="0" dirty="0">
                <a:solidFill>
                  <a:srgbClr val="0D6168"/>
                </a:solidFill>
                <a:latin typeface="Calibri" pitchFamily="34" charset="0"/>
                <a:ea typeface="Calibri" pitchFamily="34" charset="-122"/>
                <a:cs typeface="Calibri" pitchFamily="34" charset="-120"/>
              </a:rPr>
              <a:t>📋  ARBEITSBLATT</a:t>
            </a:r>
            <a:endParaRPr lang="en-US" sz="1000" dirty="0"/>
          </a:p>
        </p:txBody>
      </p:sp>
      <p:sp>
        <p:nvSpPr>
          <p:cNvPr id="6" name="Text 4"/>
          <p:cNvSpPr/>
          <p:nvPr/>
        </p:nvSpPr>
        <p:spPr>
          <a:xfrm>
            <a:off x="777240" y="2240280"/>
            <a:ext cx="3657600" cy="457200"/>
          </a:xfrm>
          <a:prstGeom prst="rect">
            <a:avLst/>
          </a:prstGeom>
          <a:noFill/>
          <a:ln/>
        </p:spPr>
        <p:txBody>
          <a:bodyPr wrap="square" lIns="0" tIns="0" rIns="0" bIns="0" rtlCol="0" anchor="t"/>
          <a:lstStyle/>
          <a:p>
            <a:pPr indent="0" marL="0">
              <a:buNone/>
            </a:pPr>
            <a:r>
              <a:rPr lang="en-US" sz="1800" b="1" dirty="0">
                <a:solidFill>
                  <a:srgbClr val="1A3A4A"/>
                </a:solidFill>
                <a:latin typeface="Georgia" pitchFamily="34" charset="0"/>
                <a:ea typeface="Georgia" pitchFamily="34" charset="-122"/>
                <a:cs typeface="Georgia" pitchFamily="34" charset="-120"/>
              </a:rPr>
              <a:t>Hamsterrad-Self-Check</a:t>
            </a:r>
            <a:endParaRPr lang="en-US" sz="1800" dirty="0"/>
          </a:p>
        </p:txBody>
      </p:sp>
      <p:sp>
        <p:nvSpPr>
          <p:cNvPr id="7" name="Text 5"/>
          <p:cNvSpPr/>
          <p:nvPr/>
        </p:nvSpPr>
        <p:spPr>
          <a:xfrm>
            <a:off x="777240" y="2834640"/>
            <a:ext cx="3566160" cy="1554480"/>
          </a:xfrm>
          <a:prstGeom prst="rect">
            <a:avLst/>
          </a:prstGeom>
          <a:noFill/>
          <a:ln/>
        </p:spPr>
        <p:txBody>
          <a:bodyPr wrap="square" rtlCol="0" anchor="t"/>
          <a:lstStyle/>
          <a:p>
            <a:pPr marL="342900" indent="-342900">
              <a:spcAft>
                <a:spcPts val="600"/>
              </a:spcAft>
              <a:buSzPct val="100000"/>
              <a:buChar char="▸"/>
            </a:pPr>
            <a:r>
              <a:rPr lang="en-US" sz="1300" dirty="0">
                <a:solidFill>
                  <a:srgbClr val="2C3E50"/>
                </a:solidFill>
                <a:latin typeface="Calibri" pitchFamily="34" charset="0"/>
                <a:ea typeface="Calibri" pitchFamily="34" charset="-122"/>
                <a:cs typeface="Calibri" pitchFamily="34" charset="-120"/>
              </a:rPr>
              <a:t>Welche der 4 Symptome erkennst du bei dir? (✓-Liste)</a:t>
            </a:r>
            <a:endParaRPr lang="en-US" sz="1300" dirty="0"/>
          </a:p>
          <a:p>
            <a:pPr marL="342900" indent="-342900">
              <a:spcAft>
                <a:spcPts val="600"/>
              </a:spcAft>
              <a:buSzPct val="100000"/>
              <a:buChar char="▸"/>
            </a:pPr>
            <a:r>
              <a:rPr lang="en-US" sz="1300" dirty="0">
                <a:solidFill>
                  <a:srgbClr val="2C3E50"/>
                </a:solidFill>
                <a:latin typeface="Calibri" pitchFamily="34" charset="0"/>
                <a:ea typeface="Calibri" pitchFamily="34" charset="-122"/>
                <a:cs typeface="Calibri" pitchFamily="34" charset="-120"/>
              </a:rPr>
              <a:t>„Ich lasse heute die Schuld los, dass…" — wörtlich aufschreiben</a:t>
            </a:r>
            <a:endParaRPr lang="en-US" sz="1300" dirty="0"/>
          </a:p>
          <a:p>
            <a:pPr marL="342900" indent="-342900">
              <a:spcAft>
                <a:spcPts val="600"/>
              </a:spcAft>
              <a:buSzPct val="100000"/>
              <a:buChar char="▸"/>
            </a:pPr>
            <a:r>
              <a:rPr lang="en-US" sz="1300" dirty="0">
                <a:solidFill>
                  <a:srgbClr val="2C3E50"/>
                </a:solidFill>
                <a:latin typeface="Calibri" pitchFamily="34" charset="0"/>
                <a:ea typeface="Calibri" pitchFamily="34" charset="-122"/>
                <a:cs typeface="Calibri" pitchFamily="34" charset="-120"/>
              </a:rPr>
              <a:t>Was würde sich verändern wenn diese Schuld weg wäre?</a:t>
            </a:r>
            <a:endParaRPr lang="en-US" sz="1300" dirty="0"/>
          </a:p>
        </p:txBody>
      </p:sp>
      <p:sp>
        <p:nvSpPr>
          <p:cNvPr id="8" name="Shape 6"/>
          <p:cNvSpPr/>
          <p:nvPr/>
        </p:nvSpPr>
        <p:spPr>
          <a:xfrm>
            <a:off x="4663440" y="1737360"/>
            <a:ext cx="3931920" cy="2743200"/>
          </a:xfrm>
          <a:prstGeom prst="rect">
            <a:avLst/>
          </a:prstGeom>
          <a:solidFill>
            <a:srgbClr val="F1ECDD"/>
          </a:solidFill>
          <a:ln w="12700">
            <a:solidFill>
              <a:srgbClr val="F1ECDD">
                <a:alpha val="0"/>
              </a:srgbClr>
            </a:solidFill>
            <a:prstDash val="solid"/>
          </a:ln>
        </p:spPr>
      </p:sp>
      <p:sp>
        <p:nvSpPr>
          <p:cNvPr id="9" name="Shape 7"/>
          <p:cNvSpPr/>
          <p:nvPr/>
        </p:nvSpPr>
        <p:spPr>
          <a:xfrm>
            <a:off x="4663440" y="1737360"/>
            <a:ext cx="3931920" cy="73152"/>
          </a:xfrm>
          <a:prstGeom prst="rect">
            <a:avLst/>
          </a:prstGeom>
          <a:solidFill>
            <a:srgbClr val="DC822E"/>
          </a:solidFill>
          <a:ln w="12700">
            <a:solidFill>
              <a:srgbClr val="DC822E">
                <a:alpha val="0"/>
              </a:srgbClr>
            </a:solidFill>
            <a:prstDash val="solid"/>
          </a:ln>
        </p:spPr>
      </p:sp>
      <p:sp>
        <p:nvSpPr>
          <p:cNvPr id="10" name="Text 8"/>
          <p:cNvSpPr/>
          <p:nvPr/>
        </p:nvSpPr>
        <p:spPr>
          <a:xfrm>
            <a:off x="4892040" y="1920240"/>
            <a:ext cx="3657600" cy="274320"/>
          </a:xfrm>
          <a:prstGeom prst="rect">
            <a:avLst/>
          </a:prstGeom>
          <a:noFill/>
          <a:ln/>
        </p:spPr>
        <p:txBody>
          <a:bodyPr wrap="square" rtlCol="0" anchor="ctr"/>
          <a:lstStyle/>
          <a:p>
            <a:pPr indent="0" marL="0">
              <a:buNone/>
            </a:pPr>
            <a:r>
              <a:rPr lang="en-US" sz="1000" b="1" spc="300" kern="0" dirty="0">
                <a:solidFill>
                  <a:srgbClr val="DC822E"/>
                </a:solidFill>
                <a:latin typeface="Calibri" pitchFamily="34" charset="0"/>
                <a:ea typeface="Calibri" pitchFamily="34" charset="-122"/>
                <a:cs typeface="Calibri" pitchFamily="34" charset="-120"/>
              </a:rPr>
              <a:t>▶  ALS NÄCHSTES</a:t>
            </a:r>
            <a:endParaRPr lang="en-US" sz="1000" dirty="0"/>
          </a:p>
        </p:txBody>
      </p:sp>
      <p:sp>
        <p:nvSpPr>
          <p:cNvPr id="11" name="Text 9"/>
          <p:cNvSpPr/>
          <p:nvPr/>
        </p:nvSpPr>
        <p:spPr>
          <a:xfrm>
            <a:off x="4892040" y="2240280"/>
            <a:ext cx="3657600" cy="457200"/>
          </a:xfrm>
          <a:prstGeom prst="rect">
            <a:avLst/>
          </a:prstGeom>
          <a:noFill/>
          <a:ln/>
        </p:spPr>
        <p:txBody>
          <a:bodyPr wrap="square" lIns="0" tIns="0" rIns="0" bIns="0" rtlCol="0" anchor="t"/>
          <a:lstStyle/>
          <a:p>
            <a:pPr indent="0" marL="0">
              <a:buNone/>
            </a:pPr>
            <a:r>
              <a:rPr lang="en-US" sz="1800" b="1" dirty="0">
                <a:solidFill>
                  <a:srgbClr val="1A3A4A"/>
                </a:solidFill>
                <a:latin typeface="Georgia" pitchFamily="34" charset="0"/>
                <a:ea typeface="Georgia" pitchFamily="34" charset="-122"/>
                <a:cs typeface="Georgia" pitchFamily="34" charset="-120"/>
              </a:rPr>
              <a:t>Lektion 2.2 — Das EINE Mantra</a:t>
            </a:r>
            <a:endParaRPr lang="en-US" sz="1800" dirty="0"/>
          </a:p>
        </p:txBody>
      </p:sp>
      <p:sp>
        <p:nvSpPr>
          <p:cNvPr id="12" name="Text 10"/>
          <p:cNvSpPr/>
          <p:nvPr/>
        </p:nvSpPr>
        <p:spPr>
          <a:xfrm>
            <a:off x="4892040" y="2834640"/>
            <a:ext cx="3566160" cy="1554480"/>
          </a:xfrm>
          <a:prstGeom prst="rect">
            <a:avLst/>
          </a:prstGeom>
          <a:noFill/>
          <a:ln/>
        </p:spPr>
        <p:txBody>
          <a:bodyPr wrap="square" rtlCol="0" anchor="t"/>
          <a:lstStyle/>
          <a:p>
            <a:pPr marL="342900" indent="-342900">
              <a:spcAft>
                <a:spcPts val="600"/>
              </a:spcAft>
              <a:buSzPct val="100000"/>
              <a:buChar char="▸"/>
            </a:pPr>
            <a:r>
              <a:rPr lang="en-US" sz="1300" dirty="0">
                <a:solidFill>
                  <a:srgbClr val="2C3E50"/>
                </a:solidFill>
                <a:latin typeface="Calibri" pitchFamily="34" charset="0"/>
                <a:ea typeface="Calibri" pitchFamily="34" charset="-122"/>
                <a:cs typeface="Calibri" pitchFamily="34" charset="-120"/>
              </a:rPr>
              <a:t>100% Selbstverantwortung — niemand wird kommen</a:t>
            </a:r>
            <a:endParaRPr lang="en-US" sz="1300" dirty="0"/>
          </a:p>
          <a:p>
            <a:pPr marL="342900" indent="-342900">
              <a:spcAft>
                <a:spcPts val="600"/>
              </a:spcAft>
              <a:buSzPct val="100000"/>
              <a:buChar char="▸"/>
            </a:pPr>
            <a:r>
              <a:rPr lang="en-US" sz="1300" dirty="0">
                <a:solidFill>
                  <a:srgbClr val="2C3E50"/>
                </a:solidFill>
                <a:latin typeface="Calibri" pitchFamily="34" charset="0"/>
                <a:ea typeface="Calibri" pitchFamily="34" charset="-122"/>
                <a:cs typeface="Calibri" pitchFamily="34" charset="-120"/>
              </a:rPr>
              <a:t>Dein häufigster „Wenn nur…"-Satz</a:t>
            </a:r>
            <a:endParaRPr lang="en-US" sz="1300" dirty="0"/>
          </a:p>
          <a:p>
            <a:pPr marL="342900" indent="-342900">
              <a:spcAft>
                <a:spcPts val="600"/>
              </a:spcAft>
              <a:buSzPct val="100000"/>
              <a:buChar char="▸"/>
            </a:pPr>
            <a:r>
              <a:rPr lang="en-US" sz="1300" dirty="0">
                <a:solidFill>
                  <a:srgbClr val="2C3E50"/>
                </a:solidFill>
                <a:latin typeface="Calibri" pitchFamily="34" charset="0"/>
                <a:ea typeface="Calibri" pitchFamily="34" charset="-122"/>
                <a:cs typeface="Calibri" pitchFamily="34" charset="-120"/>
              </a:rPr>
              <a:t>Deine neue Identität als „Ich bin…"-Satz</a:t>
            </a:r>
            <a:endParaRPr lang="en-US" sz="1300" dirty="0"/>
          </a:p>
        </p:txBody>
      </p:sp>
      <p:sp>
        <p:nvSpPr>
          <p:cNvPr id="13" name="Text 11"/>
          <p:cNvSpPr/>
          <p:nvPr/>
        </p:nvSpPr>
        <p:spPr>
          <a:xfrm>
            <a:off x="457200" y="4800600"/>
            <a:ext cx="5486400" cy="274320"/>
          </a:xfrm>
          <a:prstGeom prst="rect">
            <a:avLst/>
          </a:prstGeom>
          <a:noFill/>
          <a:ln/>
        </p:spPr>
        <p:txBody>
          <a:bodyPr wrap="square" rtlCol="0" anchor="ctr"/>
          <a:lstStyle/>
          <a:p>
            <a:pPr indent="0" marL="0">
              <a:buNone/>
            </a:pPr>
            <a:r>
              <a:rPr lang="en-US" sz="900" spc="200" kern="0" dirty="0">
                <a:solidFill>
                  <a:srgbClr val="7A8A95"/>
                </a:solidFill>
                <a:latin typeface="Calibri" pitchFamily="34" charset="0"/>
                <a:ea typeface="Calibri" pitchFamily="34" charset="-122"/>
                <a:cs typeface="Calibri" pitchFamily="34" charset="-120"/>
              </a:rPr>
              <a:t>Mama-CEO · Modul 1 · Lektion 2.1</a:t>
            </a:r>
            <a:endParaRPr lang="en-US" sz="900" dirty="0"/>
          </a:p>
        </p:txBody>
      </p:sp>
      <p:sp>
        <p:nvSpPr>
          <p:cNvPr id="14" name="Text 12"/>
          <p:cNvSpPr/>
          <p:nvPr/>
        </p:nvSpPr>
        <p:spPr>
          <a:xfrm>
            <a:off x="6400800" y="4800600"/>
            <a:ext cx="2286000" cy="274320"/>
          </a:xfrm>
          <a:prstGeom prst="rect">
            <a:avLst/>
          </a:prstGeom>
          <a:noFill/>
          <a:ln/>
        </p:spPr>
        <p:txBody>
          <a:bodyPr wrap="square" rtlCol="0" anchor="ctr"/>
          <a:lstStyle/>
          <a:p>
            <a:pPr algn="r" indent="0" marL="0">
              <a:buNone/>
            </a:pPr>
            <a:r>
              <a:rPr lang="en-US" sz="900" i="1" dirty="0">
                <a:solidFill>
                  <a:srgbClr val="7A8A95"/>
                </a:solidFill>
                <a:latin typeface="Calibri" pitchFamily="34" charset="0"/>
                <a:ea typeface="Calibri" pitchFamily="34" charset="-122"/>
                <a:cs typeface="Calibri" pitchFamily="34" charset="-120"/>
              </a:rPr>
              <a:t>Mum Life Balance</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Mum Life Balance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Mama-CEO · Lektion 2.1 — Hamsterrad-Diagnose</dc:title>
  <dc:subject>PptxGenJS Presentation</dc:subject>
  <dc:creator>Patricia Ulmann · Mum Life Balance</dc:creator>
  <cp:lastModifiedBy>Patricia Ulmann · Mum Life Balance</cp:lastModifiedBy>
  <cp:revision>1</cp:revision>
  <dcterms:created xsi:type="dcterms:W3CDTF">2026-05-21T20:18:29Z</dcterms:created>
  <dcterms:modified xsi:type="dcterms:W3CDTF">2026-05-21T20:18:29Z</dcterms:modified>
</cp:coreProperties>
</file>