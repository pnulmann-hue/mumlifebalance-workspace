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41" d="100"/>
          <a:sy n="141" d="100"/>
        </p:scale>
        <p:origin x="138"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287866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
„Die letzte Lektion von Säule 2. Wir schauen jetzt die 5 häufigsten Blockaden an die ich bei jeder Mentee sehe — damit du gewappnet bist wenn sie kommen. Dein Sonntag-Reset aus Lektion 1.5 ist die Versicherung dagegen — den hast du schon installiert."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Sprechnotiz:
„Blockade eins: der Vergleich. Du siehst auf Instagram andere Mamas die scheinen abzuheben — und du fühlst dich zurückgeblieben. Realität: was du auf Insta siehst, ist die Highlight-Reel. Du vergleichst dein Backstage mit deren Bühne. Gegenmittel: 30 Tage Insta-Vergleich-Pause, plus dein Sonntag-Reset zeigt dir DEINE Fortschritte."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Sprechnotiz:
„Blockade zwei: das Loslass-Schuldgefühl. Du hast in Lektion 2.3 Rollen gestrichen, in 2.4 Aufgaben aufgehört — und jetzt kommt die Stimme: ‚aber wenn ich das nicht mehr mache, dann bricht alles zusammen'. Realität: nichts bricht zusammen. Nach 2 Wochen merkt's niemand mehr. Trau dich. Wir checken's beim Live-Call 1."</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Sprechnotiz:
„Blockade drei: dein Wochenrhythmus passt 1 Woche super, dann erodiert er. Ferien kommen, Kind wird krank, Mann ist auf Geschäftsreise. Realität: das ist normal. Das ist KEIN Versagen. Gegenmittel: das Sonntag-Reset — du baust den Rhythmus wöchentlich NEU. Nicht einmal für immer. Wöchentlich frisch. Den hast du in Lektion 1.5 schon installiert."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Sprechnotiz:
„Blockade vier: dein Partner zieht nicht mit. Er sieht das Business nicht ernst. Er macht die Familien-Beiträge nicht. Realität: 80% der Partner brauchen Beweise statt Worte. Gegenmittel: zeig ihm konkrete Resultate (erste Kundin, erstes 4-stellig). Plus: bitte um SPEZIFISCHE Hilfe (‚du machst ab Mi den Abend-Einkauf') statt allgemeines ‚mach mehr im Haushalt'."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Sprechnotiz:
„Blockade fünf: der Rückfall. Nach 4 Wochen Mama-CEO bist du plötzlich wieder im Macher-Modus. Machst alles selbst. Vergisst zu delegieren. Realität: das ist Default-Modus deines Gehirns. Gegenmittel: Sonntag-Reset prüft jede Woche ‚bin ich in CEO-Modus oder Macher-Modus' — wenn Macher, sofort Kurskorrektur."</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Sprechnotiz:
„Self-Reflection: welche der 5 Blockaden trifft DICH am wahrscheinlichsten? Oder triff dich schon im Programm? Markier sie im Arbeitsblatt. Bring diese Erkenntnis zum Live-Call 1."</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Sprechnotiz:
„Hier ist die zentrale Erkenntnis. Alle fünf Blockaden lösen sich mit dem Werkzeug das du in Lektion 1.5 schon installiert hast — dem Sonntag-Reset. Wenn du den Termin jede Woche machst, schützt er dich vor allen fünf. Wenn du ihn auslässt, kommen die Blockaden. So einfach. Falls du den Termin noch NICHT im Kalender hast — geh zurück zu Lektion 1.5 und mach das jetzt."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Sprechnotiz:
„Du hast jetzt Säule 2 abgeschlossen. Hütchen-Inventar gemacht. 4-Filter angewendet. Haushalt strukturiert. 5 Blockaden erkannt. Sonntag-Reset hast du in L1.5 schon im Kalender. Wenn du parallel auch Säule 1 abgeschlossen hast — dein Wochenrhythmus mit 4 Rollen — bist du bereit für Live-Call 1."</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Outro:
„Live-Call 1 ist Ende Woche 2. Bring dein Hütchen-Inventar (Lektion 2.3) und deinen Wochenrhythmus (Lektion 1.5) mit. 90 Minuten Hot-Seat — wir feilen gemeinsam. Danach startet Säule 3: aus deinem Brain Dump wird eine Notion-Struktur. Bis bald im Live-Call."</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1ECDD"/>
        </a:solidFill>
        <a:effectLst/>
      </p:bgPr>
    </p:bg>
    <p:spTree>
      <p:nvGrpSpPr>
        <p:cNvPr id="1" name=""/>
        <p:cNvGrpSpPr/>
        <p:nvPr/>
      </p:nvGrpSpPr>
      <p:grpSpPr>
        <a:xfrm>
          <a:off x="0" y="0"/>
          <a:ext cx="0" cy="0"/>
          <a:chOff x="0" y="0"/>
          <a:chExt cx="0" cy="0"/>
        </a:xfrm>
      </p:grpSpPr>
      <p:sp>
        <p:nvSpPr>
          <p:cNvPr id="2" name="Shape 0"/>
          <p:cNvSpPr/>
          <p:nvPr/>
        </p:nvSpPr>
        <p:spPr>
          <a:xfrm>
            <a:off x="6858000" y="3840480"/>
            <a:ext cx="3200400" cy="3200400"/>
          </a:xfrm>
          <a:prstGeom prst="ellipse">
            <a:avLst/>
          </a:prstGeom>
          <a:solidFill>
            <a:srgbClr val="DC822E">
              <a:alpha val="25000"/>
            </a:srgbClr>
          </a:solidFill>
          <a:ln w="12700">
            <a:solidFill>
              <a:srgbClr val="DC822E">
                <a:alpha val="0"/>
              </a:srgbClr>
            </a:solidFill>
            <a:prstDash val="solid"/>
          </a:ln>
        </p:spPr>
        <p:txBody>
          <a:bodyPr/>
          <a:lstStyle/>
          <a:p>
            <a:endParaRPr lang="de-CH"/>
          </a:p>
        </p:txBody>
      </p:sp>
      <p:sp>
        <p:nvSpPr>
          <p:cNvPr id="3" name="Text 1"/>
          <p:cNvSpPr/>
          <p:nvPr/>
        </p:nvSpPr>
        <p:spPr>
          <a:xfrm>
            <a:off x="548640" y="548640"/>
            <a:ext cx="8046720" cy="365760"/>
          </a:xfrm>
          <a:prstGeom prst="rect">
            <a:avLst/>
          </a:prstGeom>
          <a:noFill/>
          <a:ln/>
        </p:spPr>
        <p:txBody>
          <a:bodyPr wrap="square" rtlCol="0" anchor="ctr"/>
          <a:lstStyle/>
          <a:p>
            <a:pPr marL="0" indent="0">
              <a:buNone/>
            </a:pPr>
            <a:r>
              <a:rPr lang="en-US" sz="1100" b="1" kern="0" spc="400" dirty="0">
                <a:solidFill>
                  <a:srgbClr val="DC822E"/>
                </a:solidFill>
                <a:latin typeface="Calibri" pitchFamily="34" charset="0"/>
                <a:ea typeface="Calibri" pitchFamily="34" charset="-122"/>
                <a:cs typeface="Calibri" pitchFamily="34" charset="-120"/>
              </a:rPr>
              <a:t>MODUL 2 · SÄULE 2 — DU BRICHST AUS DEM HAMSTERRAD AUS</a:t>
            </a:r>
            <a:endParaRPr lang="en-US" sz="1100" dirty="0"/>
          </a:p>
        </p:txBody>
      </p:sp>
      <p:sp>
        <p:nvSpPr>
          <p:cNvPr id="4" name="Shape 2"/>
          <p:cNvSpPr/>
          <p:nvPr/>
        </p:nvSpPr>
        <p:spPr>
          <a:xfrm>
            <a:off x="548640" y="960120"/>
            <a:ext cx="548640" cy="36576"/>
          </a:xfrm>
          <a:prstGeom prst="rect">
            <a:avLst/>
          </a:prstGeom>
          <a:solidFill>
            <a:srgbClr val="DC822E"/>
          </a:solidFill>
          <a:ln w="12700">
            <a:solidFill>
              <a:srgbClr val="DC822E">
                <a:alpha val="0"/>
              </a:srgbClr>
            </a:solidFill>
            <a:prstDash val="solid"/>
          </a:ln>
        </p:spPr>
        <p:txBody>
          <a:bodyPr/>
          <a:lstStyle/>
          <a:p>
            <a:endParaRPr lang="de-CH"/>
          </a:p>
        </p:txBody>
      </p:sp>
      <p:sp>
        <p:nvSpPr>
          <p:cNvPr id="5" name="Text 3"/>
          <p:cNvSpPr/>
          <p:nvPr/>
        </p:nvSpPr>
        <p:spPr>
          <a:xfrm>
            <a:off x="548640" y="1280160"/>
            <a:ext cx="8046720" cy="1371600"/>
          </a:xfrm>
          <a:prstGeom prst="rect">
            <a:avLst/>
          </a:prstGeom>
          <a:noFill/>
          <a:ln/>
        </p:spPr>
        <p:txBody>
          <a:bodyPr wrap="square" lIns="0" tIns="0" rIns="0" bIns="0" rtlCol="0" anchor="t"/>
          <a:lstStyle/>
          <a:p>
            <a:pPr marL="0" indent="0">
              <a:buNone/>
            </a:pPr>
            <a:r>
              <a:rPr lang="en-US" sz="4800" b="1" dirty="0">
                <a:solidFill>
                  <a:srgbClr val="1A3A4A"/>
                </a:solidFill>
                <a:latin typeface="Georgia" pitchFamily="34" charset="0"/>
                <a:ea typeface="Georgia" pitchFamily="34" charset="-122"/>
                <a:cs typeface="Georgia" pitchFamily="34" charset="-120"/>
              </a:rPr>
              <a:t>5 Mama-CEO-Blockaden</a:t>
            </a:r>
            <a:endParaRPr lang="en-US" sz="4800" dirty="0"/>
          </a:p>
        </p:txBody>
      </p:sp>
      <p:sp>
        <p:nvSpPr>
          <p:cNvPr id="6" name="Text 4"/>
          <p:cNvSpPr/>
          <p:nvPr/>
        </p:nvSpPr>
        <p:spPr>
          <a:xfrm>
            <a:off x="548640" y="2743200"/>
            <a:ext cx="8046720" cy="1371600"/>
          </a:xfrm>
          <a:prstGeom prst="rect">
            <a:avLst/>
          </a:prstGeom>
          <a:noFill/>
          <a:ln/>
        </p:spPr>
        <p:txBody>
          <a:bodyPr wrap="square" lIns="0" tIns="0" rIns="0" bIns="0" rtlCol="0" anchor="t"/>
          <a:lstStyle/>
          <a:p>
            <a:pPr marL="0" indent="0">
              <a:buNone/>
            </a:pPr>
            <a:r>
              <a:rPr lang="en-US" sz="1800" i="1" dirty="0">
                <a:solidFill>
                  <a:srgbClr val="2C3E50"/>
                </a:solidFill>
                <a:latin typeface="Georgia" pitchFamily="34" charset="0"/>
                <a:ea typeface="Georgia" pitchFamily="34" charset="-122"/>
                <a:cs typeface="Georgia" pitchFamily="34" charset="-120"/>
              </a:rPr>
              <a:t>Die letzte Lektion von Säule 2.</a:t>
            </a:r>
            <a:endParaRPr lang="en-US" sz="1800" dirty="0"/>
          </a:p>
          <a:p>
            <a:pPr marL="0" indent="0">
              <a:buNone/>
            </a:pPr>
            <a:r>
              <a:rPr lang="en-US" sz="1800" i="1" dirty="0">
                <a:solidFill>
                  <a:srgbClr val="2C3E50"/>
                </a:solidFill>
                <a:latin typeface="Georgia" pitchFamily="34" charset="0"/>
                <a:ea typeface="Georgia" pitchFamily="34" charset="-122"/>
                <a:cs typeface="Georgia" pitchFamily="34" charset="-120"/>
              </a:rPr>
              <a:t>Die 5 typischen Blockaden die in den ersten 4 Wochen kommen —</a:t>
            </a:r>
            <a:endParaRPr lang="en-US" sz="1800" dirty="0"/>
          </a:p>
          <a:p>
            <a:pPr marL="0" indent="0">
              <a:buNone/>
            </a:pPr>
            <a:r>
              <a:rPr lang="en-US" sz="1800" i="1" dirty="0">
                <a:solidFill>
                  <a:srgbClr val="2C3E50"/>
                </a:solidFill>
                <a:latin typeface="Georgia" pitchFamily="34" charset="0"/>
                <a:ea typeface="Georgia" pitchFamily="34" charset="-122"/>
                <a:cs typeface="Georgia" pitchFamily="34" charset="-120"/>
              </a:rPr>
              <a:t>damit du gewappnet bist.</a:t>
            </a:r>
            <a:endParaRPr lang="en-US" sz="1800" dirty="0"/>
          </a:p>
        </p:txBody>
      </p:sp>
      <p:sp>
        <p:nvSpPr>
          <p:cNvPr id="7" name="Text 5"/>
          <p:cNvSpPr/>
          <p:nvPr/>
        </p:nvSpPr>
        <p:spPr>
          <a:xfrm>
            <a:off x="548640" y="4572000"/>
            <a:ext cx="3657600" cy="365760"/>
          </a:xfrm>
          <a:prstGeom prst="rect">
            <a:avLst/>
          </a:prstGeom>
          <a:noFill/>
          <a:ln/>
        </p:spPr>
        <p:txBody>
          <a:bodyPr wrap="square" rtlCol="0" anchor="ctr"/>
          <a:lstStyle/>
          <a:p>
            <a:pPr marL="0" indent="0">
              <a:buNone/>
            </a:pPr>
            <a:r>
              <a:rPr lang="en-US" sz="1200" b="1" dirty="0">
                <a:solidFill>
                  <a:srgbClr val="12828C"/>
                </a:solidFill>
                <a:latin typeface="Calibri" pitchFamily="34" charset="0"/>
                <a:ea typeface="Calibri" pitchFamily="34" charset="-122"/>
                <a:cs typeface="Calibri" pitchFamily="34" charset="-120"/>
              </a:rPr>
              <a:t>Patricia Ulmann</a:t>
            </a:r>
            <a:endParaRPr lang="en-US" sz="1200" dirty="0"/>
          </a:p>
        </p:txBody>
      </p:sp>
      <p:sp>
        <p:nvSpPr>
          <p:cNvPr id="8" name="Text 6"/>
          <p:cNvSpPr/>
          <p:nvPr/>
        </p:nvSpPr>
        <p:spPr>
          <a:xfrm>
            <a:off x="4937760" y="4572000"/>
            <a:ext cx="3657600" cy="365760"/>
          </a:xfrm>
          <a:prstGeom prst="rect">
            <a:avLst/>
          </a:prstGeom>
          <a:noFill/>
          <a:ln/>
        </p:spPr>
        <p:txBody>
          <a:bodyPr wrap="square" rtlCol="0" anchor="ctr"/>
          <a:lstStyle/>
          <a:p>
            <a:pPr marL="0" indent="0" algn="r">
              <a:buNone/>
            </a:pPr>
            <a:r>
              <a:rPr lang="en-US" sz="1100" dirty="0">
                <a:solidFill>
                  <a:srgbClr val="7A8A95"/>
                </a:solidFill>
                <a:latin typeface="Calibri" pitchFamily="34" charset="0"/>
                <a:ea typeface="Calibri" pitchFamily="34" charset="-122"/>
                <a:cs typeface="Calibri" pitchFamily="34" charset="-120"/>
              </a:rPr>
              <a:t>mumlifebalance.ch</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8046720" cy="274320"/>
          </a:xfrm>
          <a:prstGeom prst="rect">
            <a:avLst/>
          </a:prstGeom>
          <a:noFill/>
          <a:ln/>
        </p:spPr>
        <p:txBody>
          <a:bodyPr wrap="square" rtlCol="0" anchor="ctr"/>
          <a:lstStyle/>
          <a:p>
            <a:pPr marL="0" indent="0">
              <a:buNone/>
            </a:pPr>
            <a:r>
              <a:rPr lang="en-US" sz="1100" b="1" kern="0" spc="400" dirty="0">
                <a:solidFill>
                  <a:srgbClr val="DC822E"/>
                </a:solidFill>
                <a:latin typeface="Calibri" pitchFamily="34" charset="0"/>
                <a:ea typeface="Calibri" pitchFamily="34" charset="-122"/>
                <a:cs typeface="Calibri" pitchFamily="34" charset="-120"/>
              </a:rPr>
              <a:t>BLOCKADE 1</a:t>
            </a:r>
            <a:endParaRPr lang="en-US" sz="1100" dirty="0"/>
          </a:p>
        </p:txBody>
      </p:sp>
      <p:sp>
        <p:nvSpPr>
          <p:cNvPr id="3" name="Text 1"/>
          <p:cNvSpPr/>
          <p:nvPr/>
        </p:nvSpPr>
        <p:spPr>
          <a:xfrm>
            <a:off x="548640" y="822960"/>
            <a:ext cx="8046720" cy="731520"/>
          </a:xfrm>
          <a:prstGeom prst="rect">
            <a:avLst/>
          </a:prstGeom>
          <a:noFill/>
          <a:ln/>
        </p:spPr>
        <p:txBody>
          <a:bodyPr wrap="square" lIns="0" tIns="0" rIns="0" bIns="0" rtlCol="0" anchor="t"/>
          <a:lstStyle/>
          <a:p>
            <a:pPr marL="0" indent="0">
              <a:buNone/>
            </a:pPr>
            <a:r>
              <a:rPr lang="en-US" sz="3600" b="1" dirty="0">
                <a:solidFill>
                  <a:srgbClr val="1A3A4A"/>
                </a:solidFill>
                <a:latin typeface="Georgia" pitchFamily="34" charset="0"/>
                <a:ea typeface="Georgia" pitchFamily="34" charset="-122"/>
                <a:cs typeface="Georgia" pitchFamily="34" charset="-120"/>
              </a:rPr>
              <a:t>Vergleich</a:t>
            </a:r>
            <a:endParaRPr lang="en-US" sz="3600" dirty="0"/>
          </a:p>
        </p:txBody>
      </p:sp>
      <p:sp>
        <p:nvSpPr>
          <p:cNvPr id="4" name="Text 2"/>
          <p:cNvSpPr/>
          <p:nvPr/>
        </p:nvSpPr>
        <p:spPr>
          <a:xfrm>
            <a:off x="548640" y="1737360"/>
            <a:ext cx="8046720" cy="457200"/>
          </a:xfrm>
          <a:prstGeom prst="rect">
            <a:avLst/>
          </a:prstGeom>
          <a:noFill/>
          <a:ln/>
        </p:spPr>
        <p:txBody>
          <a:bodyPr wrap="square" lIns="0" tIns="0" rIns="0" bIns="0" rtlCol="0" anchor="t"/>
          <a:lstStyle/>
          <a:p>
            <a:pPr marL="0" indent="0">
              <a:buNone/>
            </a:pPr>
            <a:r>
              <a:rPr lang="en-US" sz="1800" i="1" dirty="0">
                <a:solidFill>
                  <a:srgbClr val="0D6168"/>
                </a:solidFill>
                <a:latin typeface="Georgia" pitchFamily="34" charset="0"/>
                <a:ea typeface="Georgia" pitchFamily="34" charset="-122"/>
                <a:cs typeface="Georgia" pitchFamily="34" charset="-120"/>
              </a:rPr>
              <a:t>„Alle anderen kommen weiter — nur ich nicht."</a:t>
            </a:r>
            <a:endParaRPr lang="en-US" sz="1800" dirty="0"/>
          </a:p>
        </p:txBody>
      </p:sp>
      <p:sp>
        <p:nvSpPr>
          <p:cNvPr id="5" name="Text 3"/>
          <p:cNvSpPr/>
          <p:nvPr/>
        </p:nvSpPr>
        <p:spPr>
          <a:xfrm>
            <a:off x="548640" y="2468880"/>
            <a:ext cx="8046720" cy="274320"/>
          </a:xfrm>
          <a:prstGeom prst="rect">
            <a:avLst/>
          </a:prstGeom>
          <a:noFill/>
          <a:ln/>
        </p:spPr>
        <p:txBody>
          <a:bodyPr wrap="square" rtlCol="0" anchor="ctr"/>
          <a:lstStyle/>
          <a:p>
            <a:pPr marL="0" indent="0">
              <a:buNone/>
            </a:pPr>
            <a:r>
              <a:rPr lang="en-US" sz="1100" b="1" kern="0" spc="400" dirty="0">
                <a:solidFill>
                  <a:srgbClr val="DC822E"/>
                </a:solidFill>
                <a:latin typeface="Calibri" pitchFamily="34" charset="0"/>
                <a:ea typeface="Calibri" pitchFamily="34" charset="-122"/>
                <a:cs typeface="Calibri" pitchFamily="34" charset="-120"/>
              </a:rPr>
              <a:t>REALITÄT</a:t>
            </a:r>
            <a:endParaRPr lang="en-US" sz="1100" dirty="0"/>
          </a:p>
        </p:txBody>
      </p:sp>
      <p:sp>
        <p:nvSpPr>
          <p:cNvPr id="6" name="Text 4"/>
          <p:cNvSpPr/>
          <p:nvPr/>
        </p:nvSpPr>
        <p:spPr>
          <a:xfrm>
            <a:off x="548640" y="2788920"/>
            <a:ext cx="8046720" cy="731520"/>
          </a:xfrm>
          <a:prstGeom prst="rect">
            <a:avLst/>
          </a:prstGeom>
          <a:noFill/>
          <a:ln/>
        </p:spPr>
        <p:txBody>
          <a:bodyPr wrap="square" lIns="0" tIns="0" rIns="0" bIns="0" rtlCol="0" anchor="t"/>
          <a:lstStyle/>
          <a:p>
            <a:pPr marL="0" indent="0">
              <a:buNone/>
            </a:pPr>
            <a:r>
              <a:rPr lang="en-US" sz="1400" dirty="0">
                <a:solidFill>
                  <a:srgbClr val="2C3E50"/>
                </a:solidFill>
                <a:latin typeface="Calibri" pitchFamily="34" charset="0"/>
                <a:ea typeface="Calibri" pitchFamily="34" charset="-122"/>
                <a:cs typeface="Calibri" pitchFamily="34" charset="-120"/>
              </a:rPr>
              <a:t>Was du auf Insta siehst, ist die Highlight-Reel.</a:t>
            </a:r>
            <a:endParaRPr lang="en-US" sz="1400" dirty="0"/>
          </a:p>
          <a:p>
            <a:pPr marL="0" indent="0">
              <a:buNone/>
            </a:pPr>
            <a:r>
              <a:rPr lang="en-US" sz="1400" dirty="0">
                <a:solidFill>
                  <a:srgbClr val="2C3E50"/>
                </a:solidFill>
                <a:latin typeface="Calibri" pitchFamily="34" charset="0"/>
                <a:ea typeface="Calibri" pitchFamily="34" charset="-122"/>
                <a:cs typeface="Calibri" pitchFamily="34" charset="-120"/>
              </a:rPr>
              <a:t>Du vergleichst dein Backstage mit deren Bühne.</a:t>
            </a:r>
            <a:endParaRPr lang="en-US" sz="1400" dirty="0"/>
          </a:p>
        </p:txBody>
      </p:sp>
      <p:sp>
        <p:nvSpPr>
          <p:cNvPr id="7" name="Text 5"/>
          <p:cNvSpPr/>
          <p:nvPr/>
        </p:nvSpPr>
        <p:spPr>
          <a:xfrm>
            <a:off x="548640" y="3657600"/>
            <a:ext cx="8046720" cy="274320"/>
          </a:xfrm>
          <a:prstGeom prst="rect">
            <a:avLst/>
          </a:prstGeom>
          <a:noFill/>
          <a:ln/>
        </p:spPr>
        <p:txBody>
          <a:bodyPr wrap="square" rtlCol="0" anchor="ctr"/>
          <a:lstStyle/>
          <a:p>
            <a:pPr marL="0" indent="0">
              <a:buNone/>
            </a:pPr>
            <a:r>
              <a:rPr lang="en-US" sz="1100" b="1" kern="0" spc="400" dirty="0">
                <a:solidFill>
                  <a:srgbClr val="DC822E"/>
                </a:solidFill>
                <a:latin typeface="Calibri" pitchFamily="34" charset="0"/>
                <a:ea typeface="Calibri" pitchFamily="34" charset="-122"/>
                <a:cs typeface="Calibri" pitchFamily="34" charset="-120"/>
              </a:rPr>
              <a:t>GEGENMITTEL</a:t>
            </a:r>
            <a:endParaRPr lang="en-US" sz="1100" dirty="0"/>
          </a:p>
        </p:txBody>
      </p:sp>
      <p:sp>
        <p:nvSpPr>
          <p:cNvPr id="8" name="Text 6"/>
          <p:cNvSpPr/>
          <p:nvPr/>
        </p:nvSpPr>
        <p:spPr>
          <a:xfrm>
            <a:off x="548640" y="3977640"/>
            <a:ext cx="8046720" cy="640080"/>
          </a:xfrm>
          <a:prstGeom prst="rect">
            <a:avLst/>
          </a:prstGeom>
          <a:noFill/>
          <a:ln/>
        </p:spPr>
        <p:txBody>
          <a:bodyPr wrap="square" lIns="0" tIns="0" rIns="0" bIns="0" rtlCol="0" anchor="t"/>
          <a:lstStyle/>
          <a:p>
            <a:pPr marL="0" indent="0">
              <a:buNone/>
            </a:pPr>
            <a:r>
              <a:rPr lang="en-US" sz="1400" b="1" dirty="0">
                <a:solidFill>
                  <a:srgbClr val="1A3A4A"/>
                </a:solidFill>
                <a:latin typeface="Calibri" pitchFamily="34" charset="0"/>
                <a:ea typeface="Calibri" pitchFamily="34" charset="-122"/>
                <a:cs typeface="Calibri" pitchFamily="34" charset="-120"/>
              </a:rPr>
              <a:t>30 Tage Insta-Vergleich-Pause + Sonntag-Reset zeigt DIR DEINE Fortschritte</a:t>
            </a:r>
            <a:endParaRPr lang="en-US" sz="1400" dirty="0"/>
          </a:p>
        </p:txBody>
      </p:sp>
      <p:sp>
        <p:nvSpPr>
          <p:cNvPr id="9" name="Text 7"/>
          <p:cNvSpPr/>
          <p:nvPr/>
        </p:nvSpPr>
        <p:spPr>
          <a:xfrm>
            <a:off x="457200" y="4800600"/>
            <a:ext cx="5486400" cy="274320"/>
          </a:xfrm>
          <a:prstGeom prst="rect">
            <a:avLst/>
          </a:prstGeom>
          <a:noFill/>
          <a:ln/>
        </p:spPr>
        <p:txBody>
          <a:bodyPr wrap="square" rtlCol="0" anchor="ctr"/>
          <a:lstStyle/>
          <a:p>
            <a:pPr marL="0" indent="0">
              <a:buNone/>
            </a:pPr>
            <a:r>
              <a:rPr lang="en-US" sz="900" kern="0" spc="200" dirty="0">
                <a:solidFill>
                  <a:srgbClr val="7A8A95"/>
                </a:solidFill>
                <a:latin typeface="Calibri" pitchFamily="34" charset="0"/>
                <a:ea typeface="Calibri" pitchFamily="34" charset="-122"/>
                <a:cs typeface="Calibri" pitchFamily="34" charset="-120"/>
              </a:rPr>
              <a:t>Mama-CEO · Modul 1 · Lektion 2.6</a:t>
            </a:r>
            <a:endParaRPr lang="en-US" sz="900" dirty="0"/>
          </a:p>
        </p:txBody>
      </p:sp>
      <p:sp>
        <p:nvSpPr>
          <p:cNvPr id="10" name="Text 8"/>
          <p:cNvSpPr/>
          <p:nvPr/>
        </p:nvSpPr>
        <p:spPr>
          <a:xfrm>
            <a:off x="6400800" y="4800600"/>
            <a:ext cx="2286000" cy="274320"/>
          </a:xfrm>
          <a:prstGeom prst="rect">
            <a:avLst/>
          </a:prstGeom>
          <a:noFill/>
          <a:ln/>
        </p:spPr>
        <p:txBody>
          <a:bodyPr wrap="square" rtlCol="0" anchor="ctr"/>
          <a:lstStyle/>
          <a:p>
            <a:pPr marL="0" indent="0" algn="r">
              <a:buNone/>
            </a:pPr>
            <a:r>
              <a:rPr lang="en-US" sz="900" i="1" dirty="0">
                <a:solidFill>
                  <a:srgbClr val="7A8A95"/>
                </a:solidFill>
                <a:latin typeface="Calibri" pitchFamily="34" charset="0"/>
                <a:ea typeface="Calibri" pitchFamily="34" charset="-122"/>
                <a:cs typeface="Calibri" pitchFamily="34" charset="-120"/>
              </a:rPr>
              <a:t>Mum Life Balance</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8046720" cy="274320"/>
          </a:xfrm>
          <a:prstGeom prst="rect">
            <a:avLst/>
          </a:prstGeom>
          <a:noFill/>
          <a:ln/>
        </p:spPr>
        <p:txBody>
          <a:bodyPr wrap="square" rtlCol="0" anchor="ctr"/>
          <a:lstStyle/>
          <a:p>
            <a:pPr marL="0" indent="0">
              <a:buNone/>
            </a:pPr>
            <a:r>
              <a:rPr lang="en-US" sz="1100" b="1" kern="0" spc="400" dirty="0">
                <a:solidFill>
                  <a:srgbClr val="DC822E"/>
                </a:solidFill>
                <a:latin typeface="Calibri" pitchFamily="34" charset="0"/>
                <a:ea typeface="Calibri" pitchFamily="34" charset="-122"/>
                <a:cs typeface="Calibri" pitchFamily="34" charset="-120"/>
              </a:rPr>
              <a:t>BLOCKADE 2</a:t>
            </a:r>
            <a:endParaRPr lang="en-US" sz="1100" dirty="0"/>
          </a:p>
        </p:txBody>
      </p:sp>
      <p:sp>
        <p:nvSpPr>
          <p:cNvPr id="3" name="Text 1"/>
          <p:cNvSpPr/>
          <p:nvPr/>
        </p:nvSpPr>
        <p:spPr>
          <a:xfrm>
            <a:off x="548640" y="822960"/>
            <a:ext cx="8046720" cy="731520"/>
          </a:xfrm>
          <a:prstGeom prst="rect">
            <a:avLst/>
          </a:prstGeom>
          <a:noFill/>
          <a:ln/>
        </p:spPr>
        <p:txBody>
          <a:bodyPr wrap="square" lIns="0" tIns="0" rIns="0" bIns="0" rtlCol="0" anchor="t"/>
          <a:lstStyle/>
          <a:p>
            <a:pPr marL="0" indent="0">
              <a:buNone/>
            </a:pPr>
            <a:r>
              <a:rPr lang="en-US" sz="3600" b="1" dirty="0">
                <a:solidFill>
                  <a:srgbClr val="1A3A4A"/>
                </a:solidFill>
                <a:latin typeface="Georgia" pitchFamily="34" charset="0"/>
                <a:ea typeface="Georgia" pitchFamily="34" charset="-122"/>
                <a:cs typeface="Georgia" pitchFamily="34" charset="-120"/>
              </a:rPr>
              <a:t>Loslass-Schuldgefühl</a:t>
            </a:r>
            <a:endParaRPr lang="en-US" sz="3600" dirty="0"/>
          </a:p>
        </p:txBody>
      </p:sp>
      <p:sp>
        <p:nvSpPr>
          <p:cNvPr id="4" name="Text 2"/>
          <p:cNvSpPr/>
          <p:nvPr/>
        </p:nvSpPr>
        <p:spPr>
          <a:xfrm>
            <a:off x="548640" y="1737360"/>
            <a:ext cx="8046720" cy="457200"/>
          </a:xfrm>
          <a:prstGeom prst="rect">
            <a:avLst/>
          </a:prstGeom>
          <a:noFill/>
          <a:ln/>
        </p:spPr>
        <p:txBody>
          <a:bodyPr wrap="square" lIns="0" tIns="0" rIns="0" bIns="0" rtlCol="0" anchor="t"/>
          <a:lstStyle/>
          <a:p>
            <a:pPr marL="0" indent="0">
              <a:buNone/>
            </a:pPr>
            <a:r>
              <a:rPr lang="en-US" sz="1800" i="1" dirty="0">
                <a:solidFill>
                  <a:srgbClr val="0D6168"/>
                </a:solidFill>
                <a:latin typeface="Georgia" pitchFamily="34" charset="0"/>
                <a:ea typeface="Georgia" pitchFamily="34" charset="-122"/>
                <a:cs typeface="Georgia" pitchFamily="34" charset="-120"/>
              </a:rPr>
              <a:t>„Aber wenn ich das nicht mehr mache, dann bricht alles zusammen."</a:t>
            </a:r>
            <a:endParaRPr lang="en-US" sz="1800" dirty="0"/>
          </a:p>
        </p:txBody>
      </p:sp>
      <p:sp>
        <p:nvSpPr>
          <p:cNvPr id="5" name="Text 3"/>
          <p:cNvSpPr/>
          <p:nvPr/>
        </p:nvSpPr>
        <p:spPr>
          <a:xfrm>
            <a:off x="548640" y="2468880"/>
            <a:ext cx="8046720" cy="274320"/>
          </a:xfrm>
          <a:prstGeom prst="rect">
            <a:avLst/>
          </a:prstGeom>
          <a:noFill/>
          <a:ln/>
        </p:spPr>
        <p:txBody>
          <a:bodyPr wrap="square" rtlCol="0" anchor="ctr"/>
          <a:lstStyle/>
          <a:p>
            <a:pPr marL="0" indent="0">
              <a:buNone/>
            </a:pPr>
            <a:r>
              <a:rPr lang="en-US" sz="1100" b="1" kern="0" spc="400" dirty="0">
                <a:solidFill>
                  <a:srgbClr val="DC822E"/>
                </a:solidFill>
                <a:latin typeface="Calibri" pitchFamily="34" charset="0"/>
                <a:ea typeface="Calibri" pitchFamily="34" charset="-122"/>
                <a:cs typeface="Calibri" pitchFamily="34" charset="-120"/>
              </a:rPr>
              <a:t>REALITÄT</a:t>
            </a:r>
            <a:endParaRPr lang="en-US" sz="1100" dirty="0"/>
          </a:p>
        </p:txBody>
      </p:sp>
      <p:sp>
        <p:nvSpPr>
          <p:cNvPr id="6" name="Text 4"/>
          <p:cNvSpPr/>
          <p:nvPr/>
        </p:nvSpPr>
        <p:spPr>
          <a:xfrm>
            <a:off x="548640" y="2788920"/>
            <a:ext cx="8046720" cy="731520"/>
          </a:xfrm>
          <a:prstGeom prst="rect">
            <a:avLst/>
          </a:prstGeom>
          <a:noFill/>
          <a:ln/>
        </p:spPr>
        <p:txBody>
          <a:bodyPr wrap="square" lIns="0" tIns="0" rIns="0" bIns="0" rtlCol="0" anchor="t"/>
          <a:lstStyle/>
          <a:p>
            <a:pPr marL="0" indent="0">
              <a:buNone/>
            </a:pPr>
            <a:r>
              <a:rPr lang="en-US" sz="1400" dirty="0">
                <a:solidFill>
                  <a:srgbClr val="2C3E50"/>
                </a:solidFill>
                <a:latin typeface="Calibri" pitchFamily="34" charset="0"/>
                <a:ea typeface="Calibri" pitchFamily="34" charset="-122"/>
                <a:cs typeface="Calibri" pitchFamily="34" charset="-120"/>
              </a:rPr>
              <a:t>Nichts bricht zusammen.</a:t>
            </a:r>
            <a:endParaRPr lang="en-US" sz="1400" dirty="0"/>
          </a:p>
          <a:p>
            <a:pPr marL="0" indent="0">
              <a:buNone/>
            </a:pPr>
            <a:r>
              <a:rPr lang="en-US" sz="1400" dirty="0">
                <a:solidFill>
                  <a:srgbClr val="2C3E50"/>
                </a:solidFill>
                <a:latin typeface="Calibri" pitchFamily="34" charset="0"/>
                <a:ea typeface="Calibri" pitchFamily="34" charset="-122"/>
                <a:cs typeface="Calibri" pitchFamily="34" charset="-120"/>
              </a:rPr>
              <a:t>Nach 2 Wochen merkt es niemand mehr.</a:t>
            </a:r>
            <a:endParaRPr lang="en-US" sz="1400" dirty="0"/>
          </a:p>
        </p:txBody>
      </p:sp>
      <p:sp>
        <p:nvSpPr>
          <p:cNvPr id="7" name="Text 5"/>
          <p:cNvSpPr/>
          <p:nvPr/>
        </p:nvSpPr>
        <p:spPr>
          <a:xfrm>
            <a:off x="548640" y="3657600"/>
            <a:ext cx="8046720" cy="274320"/>
          </a:xfrm>
          <a:prstGeom prst="rect">
            <a:avLst/>
          </a:prstGeom>
          <a:noFill/>
          <a:ln/>
        </p:spPr>
        <p:txBody>
          <a:bodyPr wrap="square" rtlCol="0" anchor="ctr"/>
          <a:lstStyle/>
          <a:p>
            <a:pPr marL="0" indent="0">
              <a:buNone/>
            </a:pPr>
            <a:r>
              <a:rPr lang="en-US" sz="1100" b="1" kern="0" spc="400" dirty="0">
                <a:solidFill>
                  <a:srgbClr val="DC822E"/>
                </a:solidFill>
                <a:latin typeface="Calibri" pitchFamily="34" charset="0"/>
                <a:ea typeface="Calibri" pitchFamily="34" charset="-122"/>
                <a:cs typeface="Calibri" pitchFamily="34" charset="-120"/>
              </a:rPr>
              <a:t>GEGENMITTEL</a:t>
            </a:r>
            <a:endParaRPr lang="en-US" sz="1100" dirty="0"/>
          </a:p>
        </p:txBody>
      </p:sp>
      <p:sp>
        <p:nvSpPr>
          <p:cNvPr id="8" name="Text 6"/>
          <p:cNvSpPr/>
          <p:nvPr/>
        </p:nvSpPr>
        <p:spPr>
          <a:xfrm>
            <a:off x="548640" y="3977640"/>
            <a:ext cx="8046720" cy="640080"/>
          </a:xfrm>
          <a:prstGeom prst="rect">
            <a:avLst/>
          </a:prstGeom>
          <a:noFill/>
          <a:ln/>
        </p:spPr>
        <p:txBody>
          <a:bodyPr wrap="square" lIns="0" tIns="0" rIns="0" bIns="0" rtlCol="0" anchor="t"/>
          <a:lstStyle/>
          <a:p>
            <a:pPr marL="0" indent="0">
              <a:buNone/>
            </a:pPr>
            <a:r>
              <a:rPr lang="en-US" sz="1400" b="1" dirty="0">
                <a:solidFill>
                  <a:srgbClr val="1A3A4A"/>
                </a:solidFill>
                <a:latin typeface="Calibri" pitchFamily="34" charset="0"/>
                <a:ea typeface="Calibri" pitchFamily="34" charset="-122"/>
                <a:cs typeface="Calibri" pitchFamily="34" charset="-120"/>
              </a:rPr>
              <a:t>Trau dich. Wir checken es beim Live-Call 1 gemeinsam.</a:t>
            </a:r>
            <a:endParaRPr lang="en-US" sz="1400" dirty="0"/>
          </a:p>
        </p:txBody>
      </p:sp>
      <p:sp>
        <p:nvSpPr>
          <p:cNvPr id="9" name="Text 7"/>
          <p:cNvSpPr/>
          <p:nvPr/>
        </p:nvSpPr>
        <p:spPr>
          <a:xfrm>
            <a:off x="457200" y="4800600"/>
            <a:ext cx="5486400" cy="274320"/>
          </a:xfrm>
          <a:prstGeom prst="rect">
            <a:avLst/>
          </a:prstGeom>
          <a:noFill/>
          <a:ln/>
        </p:spPr>
        <p:txBody>
          <a:bodyPr wrap="square" rtlCol="0" anchor="ctr"/>
          <a:lstStyle/>
          <a:p>
            <a:pPr marL="0" indent="0">
              <a:buNone/>
            </a:pPr>
            <a:r>
              <a:rPr lang="en-US" sz="900" kern="0" spc="200" dirty="0">
                <a:solidFill>
                  <a:srgbClr val="7A8A95"/>
                </a:solidFill>
                <a:latin typeface="Calibri" pitchFamily="34" charset="0"/>
                <a:ea typeface="Calibri" pitchFamily="34" charset="-122"/>
                <a:cs typeface="Calibri" pitchFamily="34" charset="-120"/>
              </a:rPr>
              <a:t>Mama-CEO · Modul 1 · Lektion 2.6</a:t>
            </a:r>
            <a:endParaRPr lang="en-US" sz="900" dirty="0"/>
          </a:p>
        </p:txBody>
      </p:sp>
      <p:sp>
        <p:nvSpPr>
          <p:cNvPr id="10" name="Text 8"/>
          <p:cNvSpPr/>
          <p:nvPr/>
        </p:nvSpPr>
        <p:spPr>
          <a:xfrm>
            <a:off x="6400800" y="4800600"/>
            <a:ext cx="2286000" cy="274320"/>
          </a:xfrm>
          <a:prstGeom prst="rect">
            <a:avLst/>
          </a:prstGeom>
          <a:noFill/>
          <a:ln/>
        </p:spPr>
        <p:txBody>
          <a:bodyPr wrap="square" rtlCol="0" anchor="ctr"/>
          <a:lstStyle/>
          <a:p>
            <a:pPr marL="0" indent="0" algn="r">
              <a:buNone/>
            </a:pPr>
            <a:r>
              <a:rPr lang="en-US" sz="900" i="1" dirty="0">
                <a:solidFill>
                  <a:srgbClr val="7A8A95"/>
                </a:solidFill>
                <a:latin typeface="Calibri" pitchFamily="34" charset="0"/>
                <a:ea typeface="Calibri" pitchFamily="34" charset="-122"/>
                <a:cs typeface="Calibri" pitchFamily="34" charset="-120"/>
              </a:rPr>
              <a:t>Mum Life Balance</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8046720" cy="274320"/>
          </a:xfrm>
          <a:prstGeom prst="rect">
            <a:avLst/>
          </a:prstGeom>
          <a:noFill/>
          <a:ln/>
        </p:spPr>
        <p:txBody>
          <a:bodyPr wrap="square" rtlCol="0" anchor="ctr"/>
          <a:lstStyle/>
          <a:p>
            <a:pPr marL="0" indent="0">
              <a:buNone/>
            </a:pPr>
            <a:r>
              <a:rPr lang="en-US" sz="1100" b="1" kern="0" spc="400" dirty="0">
                <a:solidFill>
                  <a:srgbClr val="DC822E"/>
                </a:solidFill>
                <a:latin typeface="Calibri" pitchFamily="34" charset="0"/>
                <a:ea typeface="Calibri" pitchFamily="34" charset="-122"/>
                <a:cs typeface="Calibri" pitchFamily="34" charset="-120"/>
              </a:rPr>
              <a:t>BLOCKADE 3</a:t>
            </a:r>
            <a:endParaRPr lang="en-US" sz="1100" dirty="0"/>
          </a:p>
        </p:txBody>
      </p:sp>
      <p:sp>
        <p:nvSpPr>
          <p:cNvPr id="3" name="Text 1"/>
          <p:cNvSpPr/>
          <p:nvPr/>
        </p:nvSpPr>
        <p:spPr>
          <a:xfrm>
            <a:off x="548640" y="822960"/>
            <a:ext cx="8046720" cy="731520"/>
          </a:xfrm>
          <a:prstGeom prst="rect">
            <a:avLst/>
          </a:prstGeom>
          <a:noFill/>
          <a:ln/>
        </p:spPr>
        <p:txBody>
          <a:bodyPr wrap="square" lIns="0" tIns="0" rIns="0" bIns="0" rtlCol="0" anchor="t"/>
          <a:lstStyle/>
          <a:p>
            <a:pPr marL="0" indent="0">
              <a:buNone/>
            </a:pPr>
            <a:r>
              <a:rPr lang="en-US" sz="3600" b="1" dirty="0">
                <a:solidFill>
                  <a:srgbClr val="1A3A4A"/>
                </a:solidFill>
                <a:latin typeface="Georgia" pitchFamily="34" charset="0"/>
                <a:ea typeface="Georgia" pitchFamily="34" charset="-122"/>
                <a:cs typeface="Georgia" pitchFamily="34" charset="-120"/>
              </a:rPr>
              <a:t>Rhythmus-Erosion</a:t>
            </a:r>
            <a:endParaRPr lang="en-US" sz="3600" dirty="0"/>
          </a:p>
        </p:txBody>
      </p:sp>
      <p:sp>
        <p:nvSpPr>
          <p:cNvPr id="4" name="Text 2"/>
          <p:cNvSpPr/>
          <p:nvPr/>
        </p:nvSpPr>
        <p:spPr>
          <a:xfrm>
            <a:off x="548640" y="1737360"/>
            <a:ext cx="8046720" cy="457200"/>
          </a:xfrm>
          <a:prstGeom prst="rect">
            <a:avLst/>
          </a:prstGeom>
          <a:noFill/>
          <a:ln/>
        </p:spPr>
        <p:txBody>
          <a:bodyPr wrap="square" lIns="0" tIns="0" rIns="0" bIns="0" rtlCol="0" anchor="t"/>
          <a:lstStyle/>
          <a:p>
            <a:pPr marL="0" indent="0">
              <a:buNone/>
            </a:pPr>
            <a:r>
              <a:rPr lang="en-US" sz="1800" i="1" dirty="0">
                <a:solidFill>
                  <a:srgbClr val="0D6168"/>
                </a:solidFill>
                <a:latin typeface="Georgia" pitchFamily="34" charset="0"/>
                <a:ea typeface="Georgia" pitchFamily="34" charset="-122"/>
                <a:cs typeface="Georgia" pitchFamily="34" charset="-120"/>
              </a:rPr>
              <a:t>„Der Wochenrhythmus passt eine Woche perfekt — dann nicht mehr."</a:t>
            </a:r>
            <a:endParaRPr lang="en-US" sz="1800" dirty="0"/>
          </a:p>
        </p:txBody>
      </p:sp>
      <p:sp>
        <p:nvSpPr>
          <p:cNvPr id="5" name="Text 3"/>
          <p:cNvSpPr/>
          <p:nvPr/>
        </p:nvSpPr>
        <p:spPr>
          <a:xfrm>
            <a:off x="548640" y="2468880"/>
            <a:ext cx="8046720" cy="274320"/>
          </a:xfrm>
          <a:prstGeom prst="rect">
            <a:avLst/>
          </a:prstGeom>
          <a:noFill/>
          <a:ln/>
        </p:spPr>
        <p:txBody>
          <a:bodyPr wrap="square" rtlCol="0" anchor="ctr"/>
          <a:lstStyle/>
          <a:p>
            <a:pPr marL="0" indent="0">
              <a:buNone/>
            </a:pPr>
            <a:r>
              <a:rPr lang="en-US" sz="1100" b="1" kern="0" spc="400" dirty="0">
                <a:solidFill>
                  <a:srgbClr val="DC822E"/>
                </a:solidFill>
                <a:latin typeface="Calibri" pitchFamily="34" charset="0"/>
                <a:ea typeface="Calibri" pitchFamily="34" charset="-122"/>
                <a:cs typeface="Calibri" pitchFamily="34" charset="-120"/>
              </a:rPr>
              <a:t>REALITÄT</a:t>
            </a:r>
            <a:endParaRPr lang="en-US" sz="1100" dirty="0"/>
          </a:p>
        </p:txBody>
      </p:sp>
      <p:sp>
        <p:nvSpPr>
          <p:cNvPr id="6" name="Text 4"/>
          <p:cNvSpPr/>
          <p:nvPr/>
        </p:nvSpPr>
        <p:spPr>
          <a:xfrm>
            <a:off x="548640" y="2788920"/>
            <a:ext cx="8046720" cy="731520"/>
          </a:xfrm>
          <a:prstGeom prst="rect">
            <a:avLst/>
          </a:prstGeom>
          <a:noFill/>
          <a:ln/>
        </p:spPr>
        <p:txBody>
          <a:bodyPr wrap="square" lIns="0" tIns="0" rIns="0" bIns="0" rtlCol="0" anchor="t"/>
          <a:lstStyle/>
          <a:p>
            <a:pPr marL="0" indent="0">
              <a:buNone/>
            </a:pPr>
            <a:r>
              <a:rPr lang="en-US" sz="1400" dirty="0">
                <a:solidFill>
                  <a:srgbClr val="2C3E50"/>
                </a:solidFill>
                <a:latin typeface="Calibri" pitchFamily="34" charset="0"/>
                <a:ea typeface="Calibri" pitchFamily="34" charset="-122"/>
                <a:cs typeface="Calibri" pitchFamily="34" charset="-120"/>
              </a:rPr>
              <a:t>Ferien · Kind krank · Mann auf Geschäftsreise.</a:t>
            </a:r>
            <a:endParaRPr lang="en-US" sz="1400" dirty="0"/>
          </a:p>
          <a:p>
            <a:pPr marL="0" indent="0">
              <a:buNone/>
            </a:pPr>
            <a:r>
              <a:rPr lang="en-US" sz="1400" dirty="0">
                <a:solidFill>
                  <a:srgbClr val="2C3E50"/>
                </a:solidFill>
                <a:latin typeface="Calibri" pitchFamily="34" charset="0"/>
                <a:ea typeface="Calibri" pitchFamily="34" charset="-122"/>
                <a:cs typeface="Calibri" pitchFamily="34" charset="-120"/>
              </a:rPr>
              <a:t>Das ist normal. Das ist KEIN Versagen.</a:t>
            </a:r>
            <a:endParaRPr lang="en-US" sz="1400" dirty="0"/>
          </a:p>
        </p:txBody>
      </p:sp>
      <p:sp>
        <p:nvSpPr>
          <p:cNvPr id="7" name="Text 5"/>
          <p:cNvSpPr/>
          <p:nvPr/>
        </p:nvSpPr>
        <p:spPr>
          <a:xfrm>
            <a:off x="548640" y="3657600"/>
            <a:ext cx="8046720" cy="274320"/>
          </a:xfrm>
          <a:prstGeom prst="rect">
            <a:avLst/>
          </a:prstGeom>
          <a:noFill/>
          <a:ln/>
        </p:spPr>
        <p:txBody>
          <a:bodyPr wrap="square" rtlCol="0" anchor="ctr"/>
          <a:lstStyle/>
          <a:p>
            <a:pPr marL="0" indent="0">
              <a:buNone/>
            </a:pPr>
            <a:r>
              <a:rPr lang="en-US" sz="1100" b="1" kern="0" spc="400" dirty="0">
                <a:solidFill>
                  <a:srgbClr val="DC822E"/>
                </a:solidFill>
                <a:latin typeface="Calibri" pitchFamily="34" charset="0"/>
                <a:ea typeface="Calibri" pitchFamily="34" charset="-122"/>
                <a:cs typeface="Calibri" pitchFamily="34" charset="-120"/>
              </a:rPr>
              <a:t>GEGENMITTEL</a:t>
            </a:r>
            <a:endParaRPr lang="en-US" sz="1100" dirty="0"/>
          </a:p>
        </p:txBody>
      </p:sp>
      <p:sp>
        <p:nvSpPr>
          <p:cNvPr id="8" name="Text 6"/>
          <p:cNvSpPr/>
          <p:nvPr/>
        </p:nvSpPr>
        <p:spPr>
          <a:xfrm>
            <a:off x="548640" y="3977640"/>
            <a:ext cx="8046720" cy="822960"/>
          </a:xfrm>
          <a:prstGeom prst="rect">
            <a:avLst/>
          </a:prstGeom>
          <a:noFill/>
          <a:ln/>
        </p:spPr>
        <p:txBody>
          <a:bodyPr wrap="square" lIns="0" tIns="0" rIns="0" bIns="0" rtlCol="0" anchor="t"/>
          <a:lstStyle/>
          <a:p>
            <a:pPr marL="0" indent="0">
              <a:buNone/>
            </a:pPr>
            <a:r>
              <a:rPr lang="en-US" sz="1400" b="1" dirty="0">
                <a:solidFill>
                  <a:srgbClr val="1A3A4A"/>
                </a:solidFill>
                <a:latin typeface="Calibri" pitchFamily="34" charset="0"/>
                <a:ea typeface="Calibri" pitchFamily="34" charset="-122"/>
                <a:cs typeface="Calibri" pitchFamily="34" charset="-120"/>
              </a:rPr>
              <a:t>Sonntag-Reset baut den Rhythmus wöchentlich NEU.</a:t>
            </a:r>
            <a:endParaRPr lang="en-US" sz="1400" dirty="0"/>
          </a:p>
          <a:p>
            <a:pPr marL="0" indent="0">
              <a:buNone/>
            </a:pPr>
            <a:r>
              <a:rPr lang="en-US" sz="1400" b="1" dirty="0">
                <a:solidFill>
                  <a:srgbClr val="1A3A4A"/>
                </a:solidFill>
                <a:latin typeface="Calibri" pitchFamily="34" charset="0"/>
                <a:ea typeface="Calibri" pitchFamily="34" charset="-122"/>
                <a:cs typeface="Calibri" pitchFamily="34" charset="-120"/>
              </a:rPr>
              <a:t>Nicht einmal für immer — wöchentlich frisch.</a:t>
            </a:r>
            <a:endParaRPr lang="en-US" sz="1400" dirty="0"/>
          </a:p>
        </p:txBody>
      </p:sp>
      <p:sp>
        <p:nvSpPr>
          <p:cNvPr id="9" name="Text 7"/>
          <p:cNvSpPr/>
          <p:nvPr/>
        </p:nvSpPr>
        <p:spPr>
          <a:xfrm>
            <a:off x="457200" y="4800600"/>
            <a:ext cx="5486400" cy="274320"/>
          </a:xfrm>
          <a:prstGeom prst="rect">
            <a:avLst/>
          </a:prstGeom>
          <a:noFill/>
          <a:ln/>
        </p:spPr>
        <p:txBody>
          <a:bodyPr wrap="square" rtlCol="0" anchor="ctr"/>
          <a:lstStyle/>
          <a:p>
            <a:pPr marL="0" indent="0">
              <a:buNone/>
            </a:pPr>
            <a:r>
              <a:rPr lang="en-US" sz="900" kern="0" spc="200" dirty="0">
                <a:solidFill>
                  <a:srgbClr val="7A8A95"/>
                </a:solidFill>
                <a:latin typeface="Calibri" pitchFamily="34" charset="0"/>
                <a:ea typeface="Calibri" pitchFamily="34" charset="-122"/>
                <a:cs typeface="Calibri" pitchFamily="34" charset="-120"/>
              </a:rPr>
              <a:t>Mama-CEO · Modul 1 · Lektion 2.6</a:t>
            </a:r>
            <a:endParaRPr lang="en-US" sz="900" dirty="0"/>
          </a:p>
        </p:txBody>
      </p:sp>
      <p:sp>
        <p:nvSpPr>
          <p:cNvPr id="10" name="Text 8"/>
          <p:cNvSpPr/>
          <p:nvPr/>
        </p:nvSpPr>
        <p:spPr>
          <a:xfrm>
            <a:off x="6400800" y="4800600"/>
            <a:ext cx="2286000" cy="274320"/>
          </a:xfrm>
          <a:prstGeom prst="rect">
            <a:avLst/>
          </a:prstGeom>
          <a:noFill/>
          <a:ln/>
        </p:spPr>
        <p:txBody>
          <a:bodyPr wrap="square" rtlCol="0" anchor="ctr"/>
          <a:lstStyle/>
          <a:p>
            <a:pPr marL="0" indent="0" algn="r">
              <a:buNone/>
            </a:pPr>
            <a:r>
              <a:rPr lang="en-US" sz="900" i="1" dirty="0">
                <a:solidFill>
                  <a:srgbClr val="7A8A95"/>
                </a:solidFill>
                <a:latin typeface="Calibri" pitchFamily="34" charset="0"/>
                <a:ea typeface="Calibri" pitchFamily="34" charset="-122"/>
                <a:cs typeface="Calibri" pitchFamily="34" charset="-120"/>
              </a:rPr>
              <a:t>Mum Life Balance</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8046720" cy="274320"/>
          </a:xfrm>
          <a:prstGeom prst="rect">
            <a:avLst/>
          </a:prstGeom>
          <a:noFill/>
          <a:ln/>
        </p:spPr>
        <p:txBody>
          <a:bodyPr wrap="square" rtlCol="0" anchor="ctr"/>
          <a:lstStyle/>
          <a:p>
            <a:pPr marL="0" indent="0">
              <a:buNone/>
            </a:pPr>
            <a:r>
              <a:rPr lang="en-US" sz="1100" b="1" kern="0" spc="400" dirty="0">
                <a:solidFill>
                  <a:srgbClr val="DC822E"/>
                </a:solidFill>
                <a:latin typeface="Calibri" pitchFamily="34" charset="0"/>
                <a:ea typeface="Calibri" pitchFamily="34" charset="-122"/>
                <a:cs typeface="Calibri" pitchFamily="34" charset="-120"/>
              </a:rPr>
              <a:t>BLOCKADE 4</a:t>
            </a:r>
            <a:endParaRPr lang="en-US" sz="1100" dirty="0"/>
          </a:p>
        </p:txBody>
      </p:sp>
      <p:sp>
        <p:nvSpPr>
          <p:cNvPr id="3" name="Text 1"/>
          <p:cNvSpPr/>
          <p:nvPr/>
        </p:nvSpPr>
        <p:spPr>
          <a:xfrm>
            <a:off x="548640" y="822960"/>
            <a:ext cx="8046720" cy="731520"/>
          </a:xfrm>
          <a:prstGeom prst="rect">
            <a:avLst/>
          </a:prstGeom>
          <a:noFill/>
          <a:ln/>
        </p:spPr>
        <p:txBody>
          <a:bodyPr wrap="square" lIns="0" tIns="0" rIns="0" bIns="0" rtlCol="0" anchor="t"/>
          <a:lstStyle/>
          <a:p>
            <a:pPr marL="0" indent="0">
              <a:buNone/>
            </a:pPr>
            <a:r>
              <a:rPr lang="en-US" sz="3600" b="1" dirty="0">
                <a:solidFill>
                  <a:srgbClr val="1A3A4A"/>
                </a:solidFill>
                <a:latin typeface="Georgia" pitchFamily="34" charset="0"/>
                <a:ea typeface="Georgia" pitchFamily="34" charset="-122"/>
                <a:cs typeface="Georgia" pitchFamily="34" charset="-120"/>
              </a:rPr>
              <a:t>Partner zieht nicht mit</a:t>
            </a:r>
            <a:endParaRPr lang="en-US" sz="3600" dirty="0"/>
          </a:p>
        </p:txBody>
      </p:sp>
      <p:sp>
        <p:nvSpPr>
          <p:cNvPr id="4" name="Text 2"/>
          <p:cNvSpPr/>
          <p:nvPr/>
        </p:nvSpPr>
        <p:spPr>
          <a:xfrm>
            <a:off x="548640" y="1737360"/>
            <a:ext cx="8046720" cy="457200"/>
          </a:xfrm>
          <a:prstGeom prst="rect">
            <a:avLst/>
          </a:prstGeom>
          <a:noFill/>
          <a:ln/>
        </p:spPr>
        <p:txBody>
          <a:bodyPr wrap="square" lIns="0" tIns="0" rIns="0" bIns="0" rtlCol="0" anchor="t"/>
          <a:lstStyle/>
          <a:p>
            <a:pPr marL="0" indent="0">
              <a:buNone/>
            </a:pPr>
            <a:r>
              <a:rPr lang="en-US" sz="1800" i="1" dirty="0">
                <a:solidFill>
                  <a:srgbClr val="0D6168"/>
                </a:solidFill>
                <a:latin typeface="Georgia" pitchFamily="34" charset="0"/>
                <a:ea typeface="Georgia" pitchFamily="34" charset="-122"/>
                <a:cs typeface="Georgia" pitchFamily="34" charset="-120"/>
              </a:rPr>
              <a:t>„Was machst du eigentlich da am Handy?" — wieder und wieder.</a:t>
            </a:r>
            <a:endParaRPr lang="en-US" sz="1800" dirty="0"/>
          </a:p>
        </p:txBody>
      </p:sp>
      <p:sp>
        <p:nvSpPr>
          <p:cNvPr id="5" name="Text 3"/>
          <p:cNvSpPr/>
          <p:nvPr/>
        </p:nvSpPr>
        <p:spPr>
          <a:xfrm>
            <a:off x="548640" y="2468880"/>
            <a:ext cx="8046720" cy="274320"/>
          </a:xfrm>
          <a:prstGeom prst="rect">
            <a:avLst/>
          </a:prstGeom>
          <a:noFill/>
          <a:ln/>
        </p:spPr>
        <p:txBody>
          <a:bodyPr wrap="square" rtlCol="0" anchor="ctr"/>
          <a:lstStyle/>
          <a:p>
            <a:pPr marL="0" indent="0">
              <a:buNone/>
            </a:pPr>
            <a:r>
              <a:rPr lang="en-US" sz="1100" b="1" kern="0" spc="400" dirty="0">
                <a:solidFill>
                  <a:srgbClr val="DC822E"/>
                </a:solidFill>
                <a:latin typeface="Calibri" pitchFamily="34" charset="0"/>
                <a:ea typeface="Calibri" pitchFamily="34" charset="-122"/>
                <a:cs typeface="Calibri" pitchFamily="34" charset="-120"/>
              </a:rPr>
              <a:t>REALITÄT</a:t>
            </a:r>
            <a:endParaRPr lang="en-US" sz="1100" dirty="0"/>
          </a:p>
        </p:txBody>
      </p:sp>
      <p:sp>
        <p:nvSpPr>
          <p:cNvPr id="6" name="Text 4"/>
          <p:cNvSpPr/>
          <p:nvPr/>
        </p:nvSpPr>
        <p:spPr>
          <a:xfrm>
            <a:off x="548640" y="2788920"/>
            <a:ext cx="8046720" cy="457200"/>
          </a:xfrm>
          <a:prstGeom prst="rect">
            <a:avLst/>
          </a:prstGeom>
          <a:noFill/>
          <a:ln/>
        </p:spPr>
        <p:txBody>
          <a:bodyPr wrap="square" lIns="0" tIns="0" rIns="0" bIns="0" rtlCol="0" anchor="t"/>
          <a:lstStyle/>
          <a:p>
            <a:pPr marL="0" indent="0">
              <a:buNone/>
            </a:pPr>
            <a:r>
              <a:rPr lang="en-US" sz="1400" dirty="0">
                <a:solidFill>
                  <a:srgbClr val="2C3E50"/>
                </a:solidFill>
                <a:latin typeface="Calibri" pitchFamily="34" charset="0"/>
                <a:ea typeface="Calibri" pitchFamily="34" charset="-122"/>
                <a:cs typeface="Calibri" pitchFamily="34" charset="-120"/>
              </a:rPr>
              <a:t>80% der Partner brauchen BEWEISE statt Worte.</a:t>
            </a:r>
            <a:endParaRPr lang="en-US" sz="1400" dirty="0"/>
          </a:p>
        </p:txBody>
      </p:sp>
      <p:sp>
        <p:nvSpPr>
          <p:cNvPr id="7" name="Text 5"/>
          <p:cNvSpPr/>
          <p:nvPr/>
        </p:nvSpPr>
        <p:spPr>
          <a:xfrm>
            <a:off x="548640" y="3474720"/>
            <a:ext cx="8046720" cy="274320"/>
          </a:xfrm>
          <a:prstGeom prst="rect">
            <a:avLst/>
          </a:prstGeom>
          <a:noFill/>
          <a:ln/>
        </p:spPr>
        <p:txBody>
          <a:bodyPr wrap="square" rtlCol="0" anchor="ctr"/>
          <a:lstStyle/>
          <a:p>
            <a:pPr marL="0" indent="0">
              <a:buNone/>
            </a:pPr>
            <a:r>
              <a:rPr lang="en-US" sz="1100" b="1" kern="0" spc="400" dirty="0">
                <a:solidFill>
                  <a:srgbClr val="DC822E"/>
                </a:solidFill>
                <a:latin typeface="Calibri" pitchFamily="34" charset="0"/>
                <a:ea typeface="Calibri" pitchFamily="34" charset="-122"/>
                <a:cs typeface="Calibri" pitchFamily="34" charset="-120"/>
              </a:rPr>
              <a:t>GEGENMITTEL</a:t>
            </a:r>
            <a:endParaRPr lang="en-US" sz="1100" dirty="0"/>
          </a:p>
        </p:txBody>
      </p:sp>
      <p:sp>
        <p:nvSpPr>
          <p:cNvPr id="8" name="Text 6"/>
          <p:cNvSpPr/>
          <p:nvPr/>
        </p:nvSpPr>
        <p:spPr>
          <a:xfrm>
            <a:off x="548640" y="3794760"/>
            <a:ext cx="8046720" cy="914400"/>
          </a:xfrm>
          <a:prstGeom prst="rect">
            <a:avLst/>
          </a:prstGeom>
          <a:noFill/>
          <a:ln/>
        </p:spPr>
        <p:txBody>
          <a:bodyPr wrap="square" lIns="0" tIns="0" rIns="0" bIns="0" rtlCol="0" anchor="t"/>
          <a:lstStyle/>
          <a:p>
            <a:pPr marL="0" indent="0">
              <a:buNone/>
            </a:pPr>
            <a:r>
              <a:rPr lang="en-US" sz="1400" b="1" dirty="0">
                <a:solidFill>
                  <a:srgbClr val="1A3A4A"/>
                </a:solidFill>
                <a:latin typeface="Calibri" pitchFamily="34" charset="0"/>
                <a:ea typeface="Calibri" pitchFamily="34" charset="-122"/>
                <a:cs typeface="Calibri" pitchFamily="34" charset="-120"/>
              </a:rPr>
              <a:t>Zeig konkrete Resultate (erste Kundin · 4-stellig).</a:t>
            </a:r>
            <a:endParaRPr lang="en-US" sz="1400" dirty="0"/>
          </a:p>
          <a:p>
            <a:pPr marL="0" indent="0">
              <a:buNone/>
            </a:pPr>
            <a:r>
              <a:rPr lang="en-US" sz="1400" b="1" dirty="0">
                <a:solidFill>
                  <a:srgbClr val="1A3A4A"/>
                </a:solidFill>
                <a:latin typeface="Calibri" pitchFamily="34" charset="0"/>
                <a:ea typeface="Calibri" pitchFamily="34" charset="-122"/>
                <a:cs typeface="Calibri" pitchFamily="34" charset="-120"/>
              </a:rPr>
              <a:t>Plus: SPEZIFISCHE Hilfe fordern („Mi+Fr kochst du") statt „mehr helfen".</a:t>
            </a:r>
            <a:endParaRPr lang="en-US" sz="1400" dirty="0"/>
          </a:p>
        </p:txBody>
      </p:sp>
      <p:sp>
        <p:nvSpPr>
          <p:cNvPr id="9" name="Text 7"/>
          <p:cNvSpPr/>
          <p:nvPr/>
        </p:nvSpPr>
        <p:spPr>
          <a:xfrm>
            <a:off x="457200" y="4800600"/>
            <a:ext cx="5486400" cy="274320"/>
          </a:xfrm>
          <a:prstGeom prst="rect">
            <a:avLst/>
          </a:prstGeom>
          <a:noFill/>
          <a:ln/>
        </p:spPr>
        <p:txBody>
          <a:bodyPr wrap="square" rtlCol="0" anchor="ctr"/>
          <a:lstStyle/>
          <a:p>
            <a:pPr marL="0" indent="0">
              <a:buNone/>
            </a:pPr>
            <a:r>
              <a:rPr lang="en-US" sz="900" kern="0" spc="200" dirty="0">
                <a:solidFill>
                  <a:srgbClr val="7A8A95"/>
                </a:solidFill>
                <a:latin typeface="Calibri" pitchFamily="34" charset="0"/>
                <a:ea typeface="Calibri" pitchFamily="34" charset="-122"/>
                <a:cs typeface="Calibri" pitchFamily="34" charset="-120"/>
              </a:rPr>
              <a:t>Mama-CEO · Modul 1 · Lektion 2.6</a:t>
            </a:r>
            <a:endParaRPr lang="en-US" sz="900" dirty="0"/>
          </a:p>
        </p:txBody>
      </p:sp>
      <p:sp>
        <p:nvSpPr>
          <p:cNvPr id="10" name="Text 8"/>
          <p:cNvSpPr/>
          <p:nvPr/>
        </p:nvSpPr>
        <p:spPr>
          <a:xfrm>
            <a:off x="6400800" y="4800600"/>
            <a:ext cx="2286000" cy="274320"/>
          </a:xfrm>
          <a:prstGeom prst="rect">
            <a:avLst/>
          </a:prstGeom>
          <a:noFill/>
          <a:ln/>
        </p:spPr>
        <p:txBody>
          <a:bodyPr wrap="square" rtlCol="0" anchor="ctr"/>
          <a:lstStyle/>
          <a:p>
            <a:pPr marL="0" indent="0" algn="r">
              <a:buNone/>
            </a:pPr>
            <a:r>
              <a:rPr lang="en-US" sz="900" i="1" dirty="0">
                <a:solidFill>
                  <a:srgbClr val="7A8A95"/>
                </a:solidFill>
                <a:latin typeface="Calibri" pitchFamily="34" charset="0"/>
                <a:ea typeface="Calibri" pitchFamily="34" charset="-122"/>
                <a:cs typeface="Calibri" pitchFamily="34" charset="-120"/>
              </a:rPr>
              <a:t>Mum Life Balance</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8046720" cy="274320"/>
          </a:xfrm>
          <a:prstGeom prst="rect">
            <a:avLst/>
          </a:prstGeom>
          <a:noFill/>
          <a:ln/>
        </p:spPr>
        <p:txBody>
          <a:bodyPr wrap="square" rtlCol="0" anchor="ctr"/>
          <a:lstStyle/>
          <a:p>
            <a:pPr marL="0" indent="0">
              <a:buNone/>
            </a:pPr>
            <a:r>
              <a:rPr lang="en-US" sz="1100" b="1" kern="0" spc="400" dirty="0">
                <a:solidFill>
                  <a:srgbClr val="DC822E"/>
                </a:solidFill>
                <a:latin typeface="Calibri" pitchFamily="34" charset="0"/>
                <a:ea typeface="Calibri" pitchFamily="34" charset="-122"/>
                <a:cs typeface="Calibri" pitchFamily="34" charset="-120"/>
              </a:rPr>
              <a:t>BLOCKADE 5</a:t>
            </a:r>
            <a:endParaRPr lang="en-US" sz="1100" dirty="0"/>
          </a:p>
        </p:txBody>
      </p:sp>
      <p:sp>
        <p:nvSpPr>
          <p:cNvPr id="3" name="Text 1"/>
          <p:cNvSpPr/>
          <p:nvPr/>
        </p:nvSpPr>
        <p:spPr>
          <a:xfrm>
            <a:off x="548640" y="822960"/>
            <a:ext cx="8046720" cy="731520"/>
          </a:xfrm>
          <a:prstGeom prst="rect">
            <a:avLst/>
          </a:prstGeom>
          <a:noFill/>
          <a:ln/>
        </p:spPr>
        <p:txBody>
          <a:bodyPr wrap="square" lIns="0" tIns="0" rIns="0" bIns="0" rtlCol="0" anchor="t"/>
          <a:lstStyle/>
          <a:p>
            <a:pPr marL="0" indent="0">
              <a:buNone/>
            </a:pPr>
            <a:r>
              <a:rPr lang="en-US" sz="3600" b="1" dirty="0">
                <a:solidFill>
                  <a:srgbClr val="1A3A4A"/>
                </a:solidFill>
                <a:latin typeface="Georgia" pitchFamily="34" charset="0"/>
                <a:ea typeface="Georgia" pitchFamily="34" charset="-122"/>
                <a:cs typeface="Georgia" pitchFamily="34" charset="-120"/>
              </a:rPr>
              <a:t>Rückfall in alte Muster</a:t>
            </a:r>
            <a:endParaRPr lang="en-US" sz="3600" dirty="0"/>
          </a:p>
        </p:txBody>
      </p:sp>
      <p:sp>
        <p:nvSpPr>
          <p:cNvPr id="4" name="Text 2"/>
          <p:cNvSpPr/>
          <p:nvPr/>
        </p:nvSpPr>
        <p:spPr>
          <a:xfrm>
            <a:off x="548640" y="1737360"/>
            <a:ext cx="8046720" cy="457200"/>
          </a:xfrm>
          <a:prstGeom prst="rect">
            <a:avLst/>
          </a:prstGeom>
          <a:noFill/>
          <a:ln/>
        </p:spPr>
        <p:txBody>
          <a:bodyPr wrap="square" lIns="0" tIns="0" rIns="0" bIns="0" rtlCol="0" anchor="t"/>
          <a:lstStyle/>
          <a:p>
            <a:pPr marL="0" indent="0">
              <a:buNone/>
            </a:pPr>
            <a:r>
              <a:rPr lang="en-US" sz="1800" i="1" dirty="0">
                <a:solidFill>
                  <a:srgbClr val="0D6168"/>
                </a:solidFill>
                <a:latin typeface="Georgia" pitchFamily="34" charset="0"/>
                <a:ea typeface="Georgia" pitchFamily="34" charset="-122"/>
                <a:cs typeface="Georgia" pitchFamily="34" charset="-120"/>
              </a:rPr>
              <a:t>„Nach 4 Wochen mache ich plötzlich wieder alles selbst."</a:t>
            </a:r>
            <a:endParaRPr lang="en-US" sz="1800" dirty="0"/>
          </a:p>
        </p:txBody>
      </p:sp>
      <p:sp>
        <p:nvSpPr>
          <p:cNvPr id="5" name="Text 3"/>
          <p:cNvSpPr/>
          <p:nvPr/>
        </p:nvSpPr>
        <p:spPr>
          <a:xfrm>
            <a:off x="548640" y="2468880"/>
            <a:ext cx="8046720" cy="274320"/>
          </a:xfrm>
          <a:prstGeom prst="rect">
            <a:avLst/>
          </a:prstGeom>
          <a:noFill/>
          <a:ln/>
        </p:spPr>
        <p:txBody>
          <a:bodyPr wrap="square" rtlCol="0" anchor="ctr"/>
          <a:lstStyle/>
          <a:p>
            <a:pPr marL="0" indent="0">
              <a:buNone/>
            </a:pPr>
            <a:r>
              <a:rPr lang="en-US" sz="1100" b="1" kern="0" spc="400" dirty="0">
                <a:solidFill>
                  <a:srgbClr val="DC822E"/>
                </a:solidFill>
                <a:latin typeface="Calibri" pitchFamily="34" charset="0"/>
                <a:ea typeface="Calibri" pitchFamily="34" charset="-122"/>
                <a:cs typeface="Calibri" pitchFamily="34" charset="-120"/>
              </a:rPr>
              <a:t>REALITÄT</a:t>
            </a:r>
            <a:endParaRPr lang="en-US" sz="1100" dirty="0"/>
          </a:p>
        </p:txBody>
      </p:sp>
      <p:sp>
        <p:nvSpPr>
          <p:cNvPr id="6" name="Text 4"/>
          <p:cNvSpPr/>
          <p:nvPr/>
        </p:nvSpPr>
        <p:spPr>
          <a:xfrm>
            <a:off x="548640" y="2788920"/>
            <a:ext cx="8046720" cy="457200"/>
          </a:xfrm>
          <a:prstGeom prst="rect">
            <a:avLst/>
          </a:prstGeom>
          <a:noFill/>
          <a:ln/>
        </p:spPr>
        <p:txBody>
          <a:bodyPr wrap="square" lIns="0" tIns="0" rIns="0" bIns="0" rtlCol="0" anchor="t"/>
          <a:lstStyle/>
          <a:p>
            <a:pPr marL="0" indent="0">
              <a:buNone/>
            </a:pPr>
            <a:r>
              <a:rPr lang="en-US" sz="1400" dirty="0">
                <a:solidFill>
                  <a:srgbClr val="2C3E50"/>
                </a:solidFill>
                <a:latin typeface="Calibri" pitchFamily="34" charset="0"/>
                <a:ea typeface="Calibri" pitchFamily="34" charset="-122"/>
                <a:cs typeface="Calibri" pitchFamily="34" charset="-120"/>
              </a:rPr>
              <a:t>Das ist der </a:t>
            </a:r>
            <a:r>
              <a:rPr lang="en-US" sz="1400" dirty="0" err="1">
                <a:solidFill>
                  <a:srgbClr val="2C3E50"/>
                </a:solidFill>
                <a:latin typeface="Calibri" pitchFamily="34" charset="0"/>
                <a:ea typeface="Calibri" pitchFamily="34" charset="-122"/>
                <a:cs typeface="Calibri" pitchFamily="34" charset="-120"/>
              </a:rPr>
              <a:t>Rückfall</a:t>
            </a:r>
            <a:r>
              <a:rPr lang="en-US" sz="1400" dirty="0">
                <a:solidFill>
                  <a:srgbClr val="2C3E50"/>
                </a:solidFill>
                <a:latin typeface="Calibri" pitchFamily="34" charset="0"/>
                <a:ea typeface="Calibri" pitchFamily="34" charset="-122"/>
                <a:cs typeface="Calibri" pitchFamily="34" charset="-120"/>
              </a:rPr>
              <a:t>-Modus deines Gehirns.</a:t>
            </a:r>
            <a:endParaRPr lang="en-US" sz="1400" dirty="0"/>
          </a:p>
        </p:txBody>
      </p:sp>
      <p:sp>
        <p:nvSpPr>
          <p:cNvPr id="7" name="Text 5"/>
          <p:cNvSpPr/>
          <p:nvPr/>
        </p:nvSpPr>
        <p:spPr>
          <a:xfrm>
            <a:off x="548640" y="3474720"/>
            <a:ext cx="8046720" cy="274320"/>
          </a:xfrm>
          <a:prstGeom prst="rect">
            <a:avLst/>
          </a:prstGeom>
          <a:noFill/>
          <a:ln/>
        </p:spPr>
        <p:txBody>
          <a:bodyPr wrap="square" rtlCol="0" anchor="ctr"/>
          <a:lstStyle/>
          <a:p>
            <a:pPr marL="0" indent="0">
              <a:buNone/>
            </a:pPr>
            <a:r>
              <a:rPr lang="en-US" sz="1100" b="1" kern="0" spc="400" dirty="0">
                <a:solidFill>
                  <a:srgbClr val="DC822E"/>
                </a:solidFill>
                <a:latin typeface="Calibri" pitchFamily="34" charset="0"/>
                <a:ea typeface="Calibri" pitchFamily="34" charset="-122"/>
                <a:cs typeface="Calibri" pitchFamily="34" charset="-120"/>
              </a:rPr>
              <a:t>GEGENMITTEL</a:t>
            </a:r>
            <a:endParaRPr lang="en-US" sz="1100" dirty="0"/>
          </a:p>
        </p:txBody>
      </p:sp>
      <p:sp>
        <p:nvSpPr>
          <p:cNvPr id="8" name="Text 6"/>
          <p:cNvSpPr/>
          <p:nvPr/>
        </p:nvSpPr>
        <p:spPr>
          <a:xfrm>
            <a:off x="548640" y="3794760"/>
            <a:ext cx="8046720" cy="1005840"/>
          </a:xfrm>
          <a:prstGeom prst="rect">
            <a:avLst/>
          </a:prstGeom>
          <a:noFill/>
          <a:ln/>
        </p:spPr>
        <p:txBody>
          <a:bodyPr wrap="square" lIns="0" tIns="0" rIns="0" bIns="0" rtlCol="0" anchor="t"/>
          <a:lstStyle/>
          <a:p>
            <a:pPr marL="0" indent="0">
              <a:buNone/>
            </a:pPr>
            <a:r>
              <a:rPr lang="en-US" sz="1400" b="1" dirty="0">
                <a:solidFill>
                  <a:srgbClr val="1A3A4A"/>
                </a:solidFill>
                <a:latin typeface="Calibri" pitchFamily="34" charset="0"/>
                <a:ea typeface="Calibri" pitchFamily="34" charset="-122"/>
                <a:cs typeface="Calibri" pitchFamily="34" charset="-120"/>
              </a:rPr>
              <a:t>Sonntag-Reset prüft jede Woche:</a:t>
            </a:r>
            <a:endParaRPr lang="en-US" sz="1400" dirty="0"/>
          </a:p>
          <a:p>
            <a:pPr marL="0" indent="0">
              <a:buNone/>
            </a:pPr>
            <a:r>
              <a:rPr lang="en-US" sz="1400" b="1" dirty="0">
                <a:solidFill>
                  <a:srgbClr val="1A3A4A"/>
                </a:solidFill>
                <a:latin typeface="Calibri" pitchFamily="34" charset="0"/>
                <a:ea typeface="Calibri" pitchFamily="34" charset="-122"/>
                <a:cs typeface="Calibri" pitchFamily="34" charset="-120"/>
              </a:rPr>
              <a:t>„Bin ich in CEO-Modus oder Macher-Modus?"</a:t>
            </a:r>
            <a:endParaRPr lang="en-US" sz="1400" dirty="0"/>
          </a:p>
          <a:p>
            <a:pPr marL="0" indent="0">
              <a:buNone/>
            </a:pPr>
            <a:r>
              <a:rPr lang="en-US" sz="1400" b="1" dirty="0">
                <a:solidFill>
                  <a:srgbClr val="1A3A4A"/>
                </a:solidFill>
                <a:latin typeface="Calibri" pitchFamily="34" charset="0"/>
                <a:ea typeface="Calibri" pitchFamily="34" charset="-122"/>
                <a:cs typeface="Calibri" pitchFamily="34" charset="-120"/>
              </a:rPr>
              <a:t>Wenn Macher → sofort Kurskorrektur.</a:t>
            </a:r>
            <a:endParaRPr lang="en-US" sz="1400" dirty="0"/>
          </a:p>
        </p:txBody>
      </p:sp>
      <p:sp>
        <p:nvSpPr>
          <p:cNvPr id="9" name="Text 7"/>
          <p:cNvSpPr/>
          <p:nvPr/>
        </p:nvSpPr>
        <p:spPr>
          <a:xfrm>
            <a:off x="457200" y="4800600"/>
            <a:ext cx="5486400" cy="274320"/>
          </a:xfrm>
          <a:prstGeom prst="rect">
            <a:avLst/>
          </a:prstGeom>
          <a:noFill/>
          <a:ln/>
        </p:spPr>
        <p:txBody>
          <a:bodyPr wrap="square" rtlCol="0" anchor="ctr"/>
          <a:lstStyle/>
          <a:p>
            <a:pPr marL="0" indent="0">
              <a:buNone/>
            </a:pPr>
            <a:r>
              <a:rPr lang="en-US" sz="900" kern="0" spc="200" dirty="0">
                <a:solidFill>
                  <a:srgbClr val="7A8A95"/>
                </a:solidFill>
                <a:latin typeface="Calibri" pitchFamily="34" charset="0"/>
                <a:ea typeface="Calibri" pitchFamily="34" charset="-122"/>
                <a:cs typeface="Calibri" pitchFamily="34" charset="-120"/>
              </a:rPr>
              <a:t>Mama-CEO · Modul 1 · Lektion 2.6</a:t>
            </a:r>
            <a:endParaRPr lang="en-US" sz="900" dirty="0"/>
          </a:p>
        </p:txBody>
      </p:sp>
      <p:sp>
        <p:nvSpPr>
          <p:cNvPr id="10" name="Text 8"/>
          <p:cNvSpPr/>
          <p:nvPr/>
        </p:nvSpPr>
        <p:spPr>
          <a:xfrm>
            <a:off x="6400800" y="4800600"/>
            <a:ext cx="2286000" cy="274320"/>
          </a:xfrm>
          <a:prstGeom prst="rect">
            <a:avLst/>
          </a:prstGeom>
          <a:noFill/>
          <a:ln/>
        </p:spPr>
        <p:txBody>
          <a:bodyPr wrap="square" rtlCol="0" anchor="ctr"/>
          <a:lstStyle/>
          <a:p>
            <a:pPr marL="0" indent="0" algn="r">
              <a:buNone/>
            </a:pPr>
            <a:r>
              <a:rPr lang="en-US" sz="900" i="1" dirty="0">
                <a:solidFill>
                  <a:srgbClr val="7A8A95"/>
                </a:solidFill>
                <a:latin typeface="Calibri" pitchFamily="34" charset="0"/>
                <a:ea typeface="Calibri" pitchFamily="34" charset="-122"/>
                <a:cs typeface="Calibri" pitchFamily="34" charset="-120"/>
              </a:rPr>
              <a:t>Mum Life Balance</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2828C"/>
        </a:solidFill>
        <a:effectLst/>
      </p:bgPr>
    </p:bg>
    <p:spTree>
      <p:nvGrpSpPr>
        <p:cNvPr id="1" name=""/>
        <p:cNvGrpSpPr/>
        <p:nvPr/>
      </p:nvGrpSpPr>
      <p:grpSpPr>
        <a:xfrm>
          <a:off x="0" y="0"/>
          <a:ext cx="0" cy="0"/>
          <a:chOff x="0" y="0"/>
          <a:chExt cx="0" cy="0"/>
        </a:xfrm>
      </p:grpSpPr>
      <p:sp>
        <p:nvSpPr>
          <p:cNvPr id="2" name="Text 0"/>
          <p:cNvSpPr/>
          <p:nvPr/>
        </p:nvSpPr>
        <p:spPr>
          <a:xfrm>
            <a:off x="548640" y="308187"/>
            <a:ext cx="8046720" cy="365760"/>
          </a:xfrm>
          <a:prstGeom prst="rect">
            <a:avLst/>
          </a:prstGeom>
          <a:noFill/>
          <a:ln/>
        </p:spPr>
        <p:txBody>
          <a:bodyPr wrap="square" rtlCol="0" anchor="ctr"/>
          <a:lstStyle/>
          <a:p>
            <a:pPr marL="0" indent="0" algn="ctr">
              <a:buNone/>
            </a:pPr>
            <a:r>
              <a:rPr lang="en-US" sz="1100" b="1" kern="0" spc="400" dirty="0">
                <a:solidFill>
                  <a:srgbClr val="DC822E"/>
                </a:solidFill>
                <a:latin typeface="Calibri" pitchFamily="34" charset="0"/>
                <a:ea typeface="Calibri" pitchFamily="34" charset="-122"/>
                <a:cs typeface="Calibri" pitchFamily="34" charset="-120"/>
              </a:rPr>
              <a:t>SELF-REFLECTION</a:t>
            </a:r>
            <a:endParaRPr lang="en-US" sz="1100" dirty="0"/>
          </a:p>
        </p:txBody>
      </p:sp>
      <p:sp>
        <p:nvSpPr>
          <p:cNvPr id="3" name="Shape 1"/>
          <p:cNvSpPr/>
          <p:nvPr/>
        </p:nvSpPr>
        <p:spPr>
          <a:xfrm>
            <a:off x="4236720" y="655659"/>
            <a:ext cx="548640" cy="36576"/>
          </a:xfrm>
          <a:prstGeom prst="rect">
            <a:avLst/>
          </a:prstGeom>
          <a:solidFill>
            <a:srgbClr val="DC822E"/>
          </a:solidFill>
          <a:ln w="12700">
            <a:solidFill>
              <a:srgbClr val="DC822E">
                <a:alpha val="0"/>
              </a:srgbClr>
            </a:solidFill>
            <a:prstDash val="solid"/>
          </a:ln>
        </p:spPr>
        <p:txBody>
          <a:bodyPr/>
          <a:lstStyle/>
          <a:p>
            <a:endParaRPr lang="de-CH"/>
          </a:p>
        </p:txBody>
      </p:sp>
      <p:sp>
        <p:nvSpPr>
          <p:cNvPr id="4" name="Text 2"/>
          <p:cNvSpPr/>
          <p:nvPr/>
        </p:nvSpPr>
        <p:spPr>
          <a:xfrm>
            <a:off x="548640" y="2011680"/>
            <a:ext cx="8046720" cy="2286000"/>
          </a:xfrm>
          <a:prstGeom prst="rect">
            <a:avLst/>
          </a:prstGeom>
          <a:noFill/>
          <a:ln/>
        </p:spPr>
        <p:txBody>
          <a:bodyPr wrap="square" lIns="0" tIns="0" rIns="0" bIns="0" rtlCol="0" anchor="ctr"/>
          <a:lstStyle/>
          <a:p>
            <a:pPr marL="0" indent="0" algn="ctr">
              <a:buNone/>
            </a:pPr>
            <a:r>
              <a:rPr lang="en-US" sz="2800" b="1" dirty="0">
                <a:solidFill>
                  <a:srgbClr val="F1ECDD"/>
                </a:solidFill>
                <a:latin typeface="Georgia" pitchFamily="34" charset="0"/>
                <a:ea typeface="Georgia" pitchFamily="34" charset="-122"/>
                <a:cs typeface="Georgia" pitchFamily="34" charset="-120"/>
              </a:rPr>
              <a:t>Welche der 5 Blockaden trifft DICH am wahrscheinlichsten?</a:t>
            </a:r>
            <a:endParaRPr lang="en-US" sz="2800" dirty="0"/>
          </a:p>
          <a:p>
            <a:pPr marL="0" indent="0" algn="ctr">
              <a:buNone/>
            </a:pPr>
            <a:r>
              <a:rPr lang="en-US" sz="2800" b="1" dirty="0">
                <a:solidFill>
                  <a:srgbClr val="F1ECDD"/>
                </a:solidFill>
                <a:latin typeface="Georgia" pitchFamily="34" charset="0"/>
                <a:ea typeface="Georgia" pitchFamily="34" charset="-122"/>
                <a:cs typeface="Georgia" pitchFamily="34" charset="-120"/>
              </a:rPr>
              <a:t>(Oder welche trifft dich schon im Programm?)</a:t>
            </a:r>
            <a:endParaRPr lang="en-US" sz="2800" dirty="0"/>
          </a:p>
          <a:p>
            <a:pPr marL="0" indent="0" algn="ctr">
              <a:buNone/>
            </a:pPr>
            <a:r>
              <a:rPr lang="en-US" sz="2800" b="1" dirty="0">
                <a:solidFill>
                  <a:srgbClr val="F1ECDD"/>
                </a:solidFill>
                <a:latin typeface="Georgia" pitchFamily="34" charset="0"/>
                <a:ea typeface="Georgia" pitchFamily="34" charset="-122"/>
                <a:cs typeface="Georgia" pitchFamily="34" charset="-120"/>
              </a:rPr>
              <a:t>Markier sie im Arbeitsblatt.</a:t>
            </a:r>
            <a:endParaRPr lang="en-US" sz="2800" dirty="0"/>
          </a:p>
          <a:p>
            <a:pPr marL="0" indent="0" algn="ctr">
              <a:buNone/>
            </a:pPr>
            <a:r>
              <a:rPr lang="en-US" sz="2800" b="1" dirty="0">
                <a:solidFill>
                  <a:srgbClr val="F1ECDD"/>
                </a:solidFill>
                <a:latin typeface="Georgia" pitchFamily="34" charset="0"/>
                <a:ea typeface="Georgia" pitchFamily="34" charset="-122"/>
                <a:cs typeface="Georgia" pitchFamily="34" charset="-120"/>
              </a:rPr>
              <a:t>Bring diese Erkenntnis zum Live-Call 1.</a:t>
            </a:r>
            <a:endParaRPr lang="en-US" sz="2800" dirty="0"/>
          </a:p>
        </p:txBody>
      </p:sp>
      <p:sp>
        <p:nvSpPr>
          <p:cNvPr id="5" name="Text 3"/>
          <p:cNvSpPr/>
          <p:nvPr/>
        </p:nvSpPr>
        <p:spPr>
          <a:xfrm>
            <a:off x="457200" y="4800600"/>
            <a:ext cx="5486400" cy="274320"/>
          </a:xfrm>
          <a:prstGeom prst="rect">
            <a:avLst/>
          </a:prstGeom>
          <a:noFill/>
          <a:ln/>
        </p:spPr>
        <p:txBody>
          <a:bodyPr wrap="square" rtlCol="0" anchor="ctr"/>
          <a:lstStyle/>
          <a:p>
            <a:pPr marL="0" indent="0">
              <a:buNone/>
            </a:pPr>
            <a:r>
              <a:rPr lang="en-US" sz="900" kern="0" spc="200" dirty="0">
                <a:solidFill>
                  <a:srgbClr val="F1ECDD"/>
                </a:solidFill>
                <a:latin typeface="Calibri" pitchFamily="34" charset="0"/>
                <a:ea typeface="Calibri" pitchFamily="34" charset="-122"/>
                <a:cs typeface="Calibri" pitchFamily="34" charset="-120"/>
              </a:rPr>
              <a:t>Mama-CEO · Modul 1 · Lektion 2.6</a:t>
            </a:r>
            <a:endParaRPr lang="en-US" sz="900" dirty="0"/>
          </a:p>
        </p:txBody>
      </p:sp>
      <p:sp>
        <p:nvSpPr>
          <p:cNvPr id="6" name="Text 4"/>
          <p:cNvSpPr/>
          <p:nvPr/>
        </p:nvSpPr>
        <p:spPr>
          <a:xfrm>
            <a:off x="6400800" y="4800600"/>
            <a:ext cx="2286000" cy="274320"/>
          </a:xfrm>
          <a:prstGeom prst="rect">
            <a:avLst/>
          </a:prstGeom>
          <a:noFill/>
          <a:ln/>
        </p:spPr>
        <p:txBody>
          <a:bodyPr wrap="square" rtlCol="0" anchor="ctr"/>
          <a:lstStyle/>
          <a:p>
            <a:pPr marL="0" indent="0" algn="r">
              <a:buNone/>
            </a:pPr>
            <a:r>
              <a:rPr lang="en-US" sz="900" i="1" dirty="0">
                <a:solidFill>
                  <a:srgbClr val="F1ECDD"/>
                </a:solidFill>
                <a:latin typeface="Calibri" pitchFamily="34" charset="0"/>
                <a:ea typeface="Calibri" pitchFamily="34" charset="-122"/>
                <a:cs typeface="Calibri" pitchFamily="34" charset="-120"/>
              </a:rPr>
              <a:t>Mum Life Balance</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2828C"/>
        </a:solidFill>
        <a:effectLst/>
      </p:bgPr>
    </p:bg>
    <p:spTree>
      <p:nvGrpSpPr>
        <p:cNvPr id="1" name=""/>
        <p:cNvGrpSpPr/>
        <p:nvPr/>
      </p:nvGrpSpPr>
      <p:grpSpPr>
        <a:xfrm>
          <a:off x="0" y="0"/>
          <a:ext cx="0" cy="0"/>
          <a:chOff x="0" y="0"/>
          <a:chExt cx="0" cy="0"/>
        </a:xfrm>
      </p:grpSpPr>
      <p:sp>
        <p:nvSpPr>
          <p:cNvPr id="2" name="Text 0"/>
          <p:cNvSpPr/>
          <p:nvPr/>
        </p:nvSpPr>
        <p:spPr>
          <a:xfrm>
            <a:off x="548640" y="416560"/>
            <a:ext cx="8046720" cy="365760"/>
          </a:xfrm>
          <a:prstGeom prst="rect">
            <a:avLst/>
          </a:prstGeom>
          <a:noFill/>
          <a:ln/>
        </p:spPr>
        <p:txBody>
          <a:bodyPr wrap="square" rtlCol="0" anchor="ctr"/>
          <a:lstStyle/>
          <a:p>
            <a:pPr marL="0" indent="0" algn="ctr">
              <a:buNone/>
            </a:pPr>
            <a:r>
              <a:rPr lang="en-US" sz="1100" b="1" kern="0" spc="400" dirty="0">
                <a:solidFill>
                  <a:srgbClr val="DC822E"/>
                </a:solidFill>
                <a:latin typeface="Calibri" pitchFamily="34" charset="0"/>
                <a:ea typeface="Calibri" pitchFamily="34" charset="-122"/>
                <a:cs typeface="Calibri" pitchFamily="34" charset="-120"/>
              </a:rPr>
              <a:t>DEINE VERSICHERUNG</a:t>
            </a:r>
            <a:endParaRPr lang="en-US" sz="1100" dirty="0"/>
          </a:p>
        </p:txBody>
      </p:sp>
      <p:sp>
        <p:nvSpPr>
          <p:cNvPr id="3" name="Shape 1"/>
          <p:cNvSpPr/>
          <p:nvPr/>
        </p:nvSpPr>
        <p:spPr>
          <a:xfrm>
            <a:off x="4297680" y="782320"/>
            <a:ext cx="548640" cy="36576"/>
          </a:xfrm>
          <a:prstGeom prst="rect">
            <a:avLst/>
          </a:prstGeom>
          <a:solidFill>
            <a:srgbClr val="DC822E"/>
          </a:solidFill>
          <a:ln w="12700">
            <a:solidFill>
              <a:srgbClr val="DC822E">
                <a:alpha val="0"/>
              </a:srgbClr>
            </a:solidFill>
            <a:prstDash val="solid"/>
          </a:ln>
        </p:spPr>
        <p:txBody>
          <a:bodyPr/>
          <a:lstStyle/>
          <a:p>
            <a:endParaRPr lang="de-CH"/>
          </a:p>
        </p:txBody>
      </p:sp>
      <p:sp>
        <p:nvSpPr>
          <p:cNvPr id="4" name="Text 2"/>
          <p:cNvSpPr/>
          <p:nvPr/>
        </p:nvSpPr>
        <p:spPr>
          <a:xfrm>
            <a:off x="548640" y="1659975"/>
            <a:ext cx="8046720" cy="2286000"/>
          </a:xfrm>
          <a:prstGeom prst="rect">
            <a:avLst/>
          </a:prstGeom>
          <a:noFill/>
          <a:ln/>
        </p:spPr>
        <p:txBody>
          <a:bodyPr wrap="square" lIns="0" tIns="0" rIns="0" bIns="0" rtlCol="0" anchor="ctr"/>
          <a:lstStyle/>
          <a:p>
            <a:pPr marL="0" indent="0" algn="ctr">
              <a:buNone/>
            </a:pPr>
            <a:r>
              <a:rPr lang="en-US" sz="3200" b="1" dirty="0">
                <a:solidFill>
                  <a:srgbClr val="F1ECDD"/>
                </a:solidFill>
                <a:latin typeface="Georgia" pitchFamily="34" charset="0"/>
                <a:ea typeface="Georgia" pitchFamily="34" charset="-122"/>
                <a:cs typeface="Georgia" pitchFamily="34" charset="-120"/>
              </a:rPr>
              <a:t>Dein Sonntag-Reset aus Lektion 1.5</a:t>
            </a:r>
            <a:endParaRPr lang="en-US" sz="3200" dirty="0"/>
          </a:p>
          <a:p>
            <a:pPr marL="0" indent="0" algn="ctr">
              <a:buNone/>
            </a:pPr>
            <a:r>
              <a:rPr lang="en-US" sz="3200" b="1" dirty="0">
                <a:solidFill>
                  <a:srgbClr val="F1ECDD"/>
                </a:solidFill>
                <a:latin typeface="Georgia" pitchFamily="34" charset="0"/>
                <a:ea typeface="Georgia" pitchFamily="34" charset="-122"/>
                <a:cs typeface="Georgia" pitchFamily="34" charset="-120"/>
              </a:rPr>
              <a:t>ist die Versicherung gegen alle 5 Blockaden.</a:t>
            </a:r>
            <a:endParaRPr lang="en-US" sz="3200" dirty="0"/>
          </a:p>
          <a:p>
            <a:pPr marL="0" indent="0" algn="ctr">
              <a:buNone/>
            </a:pPr>
            <a:r>
              <a:rPr lang="en-US" sz="3200" b="1" dirty="0">
                <a:solidFill>
                  <a:srgbClr val="F1ECDD"/>
                </a:solidFill>
                <a:latin typeface="Georgia" pitchFamily="34" charset="0"/>
                <a:ea typeface="Georgia" pitchFamily="34" charset="-122"/>
                <a:cs typeface="Georgia" pitchFamily="34" charset="-120"/>
              </a:rPr>
              <a:t>Du hast den Termin schon im Kalender.</a:t>
            </a:r>
            <a:endParaRPr lang="en-US" sz="3200" dirty="0"/>
          </a:p>
          <a:p>
            <a:pPr marL="0" indent="0" algn="ctr">
              <a:buNone/>
            </a:pPr>
            <a:r>
              <a:rPr lang="en-US" sz="3200" b="1" dirty="0">
                <a:solidFill>
                  <a:srgbClr val="F1ECDD"/>
                </a:solidFill>
                <a:latin typeface="Georgia" pitchFamily="34" charset="0"/>
                <a:ea typeface="Georgia" pitchFamily="34" charset="-122"/>
                <a:cs typeface="Georgia" pitchFamily="34" charset="-120"/>
              </a:rPr>
              <a:t>Nutze ihn — JEDE Woche.</a:t>
            </a:r>
            <a:endParaRPr lang="en-US" sz="3200" dirty="0"/>
          </a:p>
        </p:txBody>
      </p:sp>
      <p:sp>
        <p:nvSpPr>
          <p:cNvPr id="5" name="Text 3"/>
          <p:cNvSpPr/>
          <p:nvPr/>
        </p:nvSpPr>
        <p:spPr>
          <a:xfrm>
            <a:off x="457200" y="4800600"/>
            <a:ext cx="5486400" cy="274320"/>
          </a:xfrm>
          <a:prstGeom prst="rect">
            <a:avLst/>
          </a:prstGeom>
          <a:noFill/>
          <a:ln/>
        </p:spPr>
        <p:txBody>
          <a:bodyPr wrap="square" rtlCol="0" anchor="ctr"/>
          <a:lstStyle/>
          <a:p>
            <a:pPr marL="0" indent="0">
              <a:buNone/>
            </a:pPr>
            <a:r>
              <a:rPr lang="en-US" sz="900" kern="0" spc="200" dirty="0">
                <a:solidFill>
                  <a:srgbClr val="F1ECDD"/>
                </a:solidFill>
                <a:latin typeface="Calibri" pitchFamily="34" charset="0"/>
                <a:ea typeface="Calibri" pitchFamily="34" charset="-122"/>
                <a:cs typeface="Calibri" pitchFamily="34" charset="-120"/>
              </a:rPr>
              <a:t>Mama-CEO · Modul 1 · Lektion 2.6</a:t>
            </a:r>
            <a:endParaRPr lang="en-US" sz="900" dirty="0"/>
          </a:p>
        </p:txBody>
      </p:sp>
      <p:sp>
        <p:nvSpPr>
          <p:cNvPr id="6" name="Text 4"/>
          <p:cNvSpPr/>
          <p:nvPr/>
        </p:nvSpPr>
        <p:spPr>
          <a:xfrm>
            <a:off x="6400800" y="4800600"/>
            <a:ext cx="2286000" cy="274320"/>
          </a:xfrm>
          <a:prstGeom prst="rect">
            <a:avLst/>
          </a:prstGeom>
          <a:noFill/>
          <a:ln/>
        </p:spPr>
        <p:txBody>
          <a:bodyPr wrap="square" rtlCol="0" anchor="ctr"/>
          <a:lstStyle/>
          <a:p>
            <a:pPr marL="0" indent="0" algn="r">
              <a:buNone/>
            </a:pPr>
            <a:r>
              <a:rPr lang="en-US" sz="900" i="1" dirty="0">
                <a:solidFill>
                  <a:srgbClr val="F1ECDD"/>
                </a:solidFill>
                <a:latin typeface="Calibri" pitchFamily="34" charset="0"/>
                <a:ea typeface="Calibri" pitchFamily="34" charset="-122"/>
                <a:cs typeface="Calibri" pitchFamily="34" charset="-120"/>
              </a:rPr>
              <a:t>Mum Life Balance</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2828C"/>
        </a:solidFill>
        <a:effectLst/>
      </p:bgPr>
    </p:bg>
    <p:spTree>
      <p:nvGrpSpPr>
        <p:cNvPr id="1" name=""/>
        <p:cNvGrpSpPr/>
        <p:nvPr/>
      </p:nvGrpSpPr>
      <p:grpSpPr>
        <a:xfrm>
          <a:off x="0" y="0"/>
          <a:ext cx="0" cy="0"/>
          <a:chOff x="0" y="0"/>
          <a:chExt cx="0" cy="0"/>
        </a:xfrm>
      </p:grpSpPr>
      <p:sp>
        <p:nvSpPr>
          <p:cNvPr id="2" name="Text 0"/>
          <p:cNvSpPr/>
          <p:nvPr/>
        </p:nvSpPr>
        <p:spPr>
          <a:xfrm>
            <a:off x="548640" y="457200"/>
            <a:ext cx="8046720" cy="274320"/>
          </a:xfrm>
          <a:prstGeom prst="rect">
            <a:avLst/>
          </a:prstGeom>
          <a:noFill/>
          <a:ln/>
        </p:spPr>
        <p:txBody>
          <a:bodyPr wrap="square" rtlCol="0" anchor="ctr"/>
          <a:lstStyle/>
          <a:p>
            <a:pPr marL="0" indent="0">
              <a:buNone/>
            </a:pPr>
            <a:r>
              <a:rPr lang="en-US" sz="1100" b="1" kern="0" spc="400" dirty="0">
                <a:solidFill>
                  <a:srgbClr val="DC822E"/>
                </a:solidFill>
                <a:latin typeface="Calibri" pitchFamily="34" charset="0"/>
                <a:ea typeface="Calibri" pitchFamily="34" charset="-122"/>
                <a:cs typeface="Calibri" pitchFamily="34" charset="-120"/>
              </a:rPr>
              <a:t>DAS NIMMST DU MIT</a:t>
            </a:r>
            <a:endParaRPr lang="en-US" sz="1100" dirty="0"/>
          </a:p>
        </p:txBody>
      </p:sp>
      <p:sp>
        <p:nvSpPr>
          <p:cNvPr id="3" name="Text 1"/>
          <p:cNvSpPr/>
          <p:nvPr/>
        </p:nvSpPr>
        <p:spPr>
          <a:xfrm>
            <a:off x="548640" y="822960"/>
            <a:ext cx="8046720" cy="731520"/>
          </a:xfrm>
          <a:prstGeom prst="rect">
            <a:avLst/>
          </a:prstGeom>
          <a:noFill/>
          <a:ln/>
        </p:spPr>
        <p:txBody>
          <a:bodyPr wrap="square" lIns="0" tIns="0" rIns="0" bIns="0" rtlCol="0" anchor="t"/>
          <a:lstStyle/>
          <a:p>
            <a:pPr marL="0" indent="0">
              <a:buNone/>
            </a:pPr>
            <a:r>
              <a:rPr lang="en-US" sz="3200" b="1" dirty="0">
                <a:solidFill>
                  <a:srgbClr val="F1ECDD"/>
                </a:solidFill>
                <a:latin typeface="Georgia" pitchFamily="34" charset="0"/>
                <a:ea typeface="Georgia" pitchFamily="34" charset="-122"/>
                <a:cs typeface="Georgia" pitchFamily="34" charset="-120"/>
              </a:rPr>
              <a:t>Key Takeaways</a:t>
            </a:r>
            <a:endParaRPr lang="en-US" sz="3200" dirty="0"/>
          </a:p>
        </p:txBody>
      </p:sp>
      <p:sp>
        <p:nvSpPr>
          <p:cNvPr id="4" name="Shape 2"/>
          <p:cNvSpPr/>
          <p:nvPr/>
        </p:nvSpPr>
        <p:spPr>
          <a:xfrm>
            <a:off x="640080" y="1828800"/>
            <a:ext cx="411480" cy="411480"/>
          </a:xfrm>
          <a:prstGeom prst="ellipse">
            <a:avLst/>
          </a:prstGeom>
          <a:solidFill>
            <a:srgbClr val="DC822E"/>
          </a:solidFill>
          <a:ln w="12700">
            <a:solidFill>
              <a:srgbClr val="DC822E">
                <a:alpha val="0"/>
              </a:srgbClr>
            </a:solidFill>
            <a:prstDash val="solid"/>
          </a:ln>
        </p:spPr>
        <p:txBody>
          <a:bodyPr/>
          <a:lstStyle/>
          <a:p>
            <a:endParaRPr lang="de-CH"/>
          </a:p>
        </p:txBody>
      </p:sp>
      <p:sp>
        <p:nvSpPr>
          <p:cNvPr id="5" name="Text 3"/>
          <p:cNvSpPr/>
          <p:nvPr/>
        </p:nvSpPr>
        <p:spPr>
          <a:xfrm>
            <a:off x="640080" y="1828800"/>
            <a:ext cx="411480" cy="41148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6" name="Text 4"/>
          <p:cNvSpPr/>
          <p:nvPr/>
        </p:nvSpPr>
        <p:spPr>
          <a:xfrm>
            <a:off x="1234440" y="1801368"/>
            <a:ext cx="7315200" cy="502920"/>
          </a:xfrm>
          <a:prstGeom prst="rect">
            <a:avLst/>
          </a:prstGeom>
          <a:noFill/>
          <a:ln/>
        </p:spPr>
        <p:txBody>
          <a:bodyPr wrap="square" lIns="0" tIns="0" rIns="0" bIns="0" rtlCol="0" anchor="ctr"/>
          <a:lstStyle/>
          <a:p>
            <a:pPr marL="0" indent="0">
              <a:buNone/>
            </a:pPr>
            <a:r>
              <a:rPr lang="en-US" sz="1500" dirty="0">
                <a:solidFill>
                  <a:srgbClr val="F1ECDD"/>
                </a:solidFill>
                <a:latin typeface="Calibri" pitchFamily="34" charset="0"/>
                <a:ea typeface="Calibri" pitchFamily="34" charset="-122"/>
                <a:cs typeface="Calibri" pitchFamily="34" charset="-120"/>
              </a:rPr>
              <a:t>5 typische Blockaden erkannt — sie sind normal</a:t>
            </a:r>
            <a:endParaRPr lang="en-US" sz="1500" dirty="0"/>
          </a:p>
        </p:txBody>
      </p:sp>
      <p:sp>
        <p:nvSpPr>
          <p:cNvPr id="7" name="Shape 5"/>
          <p:cNvSpPr/>
          <p:nvPr/>
        </p:nvSpPr>
        <p:spPr>
          <a:xfrm>
            <a:off x="640080" y="2468880"/>
            <a:ext cx="411480" cy="411480"/>
          </a:xfrm>
          <a:prstGeom prst="ellipse">
            <a:avLst/>
          </a:prstGeom>
          <a:solidFill>
            <a:srgbClr val="DC822E"/>
          </a:solidFill>
          <a:ln w="12700">
            <a:solidFill>
              <a:srgbClr val="DC822E">
                <a:alpha val="0"/>
              </a:srgbClr>
            </a:solidFill>
            <a:prstDash val="solid"/>
          </a:ln>
        </p:spPr>
        <p:txBody>
          <a:bodyPr/>
          <a:lstStyle/>
          <a:p>
            <a:endParaRPr lang="de-CH"/>
          </a:p>
        </p:txBody>
      </p:sp>
      <p:sp>
        <p:nvSpPr>
          <p:cNvPr id="8" name="Text 6"/>
          <p:cNvSpPr/>
          <p:nvPr/>
        </p:nvSpPr>
        <p:spPr>
          <a:xfrm>
            <a:off x="640080" y="2468880"/>
            <a:ext cx="411480" cy="41148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9" name="Text 7"/>
          <p:cNvSpPr/>
          <p:nvPr/>
        </p:nvSpPr>
        <p:spPr>
          <a:xfrm>
            <a:off x="1234440" y="2441448"/>
            <a:ext cx="7315200" cy="502920"/>
          </a:xfrm>
          <a:prstGeom prst="rect">
            <a:avLst/>
          </a:prstGeom>
          <a:noFill/>
          <a:ln/>
        </p:spPr>
        <p:txBody>
          <a:bodyPr wrap="square" lIns="0" tIns="0" rIns="0" bIns="0" rtlCol="0" anchor="ctr"/>
          <a:lstStyle/>
          <a:p>
            <a:pPr marL="0" indent="0">
              <a:buNone/>
            </a:pPr>
            <a:r>
              <a:rPr lang="en-US" sz="1500" dirty="0">
                <a:solidFill>
                  <a:srgbClr val="F1ECDD"/>
                </a:solidFill>
                <a:latin typeface="Calibri" pitchFamily="34" charset="0"/>
                <a:ea typeface="Calibri" pitchFamily="34" charset="-122"/>
                <a:cs typeface="Calibri" pitchFamily="34" charset="-120"/>
              </a:rPr>
              <a:t>Deine Haupt-Blockade kennst du jetzt</a:t>
            </a:r>
            <a:endParaRPr lang="en-US" sz="1500" dirty="0"/>
          </a:p>
        </p:txBody>
      </p:sp>
      <p:sp>
        <p:nvSpPr>
          <p:cNvPr id="10" name="Shape 8"/>
          <p:cNvSpPr/>
          <p:nvPr/>
        </p:nvSpPr>
        <p:spPr>
          <a:xfrm>
            <a:off x="640080" y="3108960"/>
            <a:ext cx="411480" cy="411480"/>
          </a:xfrm>
          <a:prstGeom prst="ellipse">
            <a:avLst/>
          </a:prstGeom>
          <a:solidFill>
            <a:srgbClr val="DC822E"/>
          </a:solidFill>
          <a:ln w="12700">
            <a:solidFill>
              <a:srgbClr val="DC822E">
                <a:alpha val="0"/>
              </a:srgbClr>
            </a:solidFill>
            <a:prstDash val="solid"/>
          </a:ln>
        </p:spPr>
        <p:txBody>
          <a:bodyPr/>
          <a:lstStyle/>
          <a:p>
            <a:endParaRPr lang="de-CH"/>
          </a:p>
        </p:txBody>
      </p:sp>
      <p:sp>
        <p:nvSpPr>
          <p:cNvPr id="11" name="Text 9"/>
          <p:cNvSpPr/>
          <p:nvPr/>
        </p:nvSpPr>
        <p:spPr>
          <a:xfrm>
            <a:off x="640080" y="3108960"/>
            <a:ext cx="411480" cy="41148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12" name="Text 10"/>
          <p:cNvSpPr/>
          <p:nvPr/>
        </p:nvSpPr>
        <p:spPr>
          <a:xfrm>
            <a:off x="1234440" y="3081528"/>
            <a:ext cx="7315200" cy="502920"/>
          </a:xfrm>
          <a:prstGeom prst="rect">
            <a:avLst/>
          </a:prstGeom>
          <a:noFill/>
          <a:ln/>
        </p:spPr>
        <p:txBody>
          <a:bodyPr wrap="square" lIns="0" tIns="0" rIns="0" bIns="0" rtlCol="0" anchor="ctr"/>
          <a:lstStyle/>
          <a:p>
            <a:pPr marL="0" indent="0">
              <a:buNone/>
            </a:pPr>
            <a:r>
              <a:rPr lang="en-US" sz="1500" dirty="0">
                <a:solidFill>
                  <a:srgbClr val="F1ECDD"/>
                </a:solidFill>
                <a:latin typeface="Calibri" pitchFamily="34" charset="0"/>
                <a:ea typeface="Calibri" pitchFamily="34" charset="-122"/>
                <a:cs typeface="Calibri" pitchFamily="34" charset="-120"/>
              </a:rPr>
              <a:t>Sonntag-Reset aus L1.5 ist deine Versicherung dagegen</a:t>
            </a:r>
            <a:endParaRPr lang="en-US" sz="1500" dirty="0"/>
          </a:p>
        </p:txBody>
      </p:sp>
      <p:sp>
        <p:nvSpPr>
          <p:cNvPr id="13" name="Shape 11"/>
          <p:cNvSpPr/>
          <p:nvPr/>
        </p:nvSpPr>
        <p:spPr>
          <a:xfrm>
            <a:off x="640080" y="3749040"/>
            <a:ext cx="411480" cy="411480"/>
          </a:xfrm>
          <a:prstGeom prst="ellipse">
            <a:avLst/>
          </a:prstGeom>
          <a:solidFill>
            <a:srgbClr val="DC822E"/>
          </a:solidFill>
          <a:ln w="12700">
            <a:solidFill>
              <a:srgbClr val="DC822E">
                <a:alpha val="0"/>
              </a:srgbClr>
            </a:solidFill>
            <a:prstDash val="solid"/>
          </a:ln>
        </p:spPr>
        <p:txBody>
          <a:bodyPr/>
          <a:lstStyle/>
          <a:p>
            <a:endParaRPr lang="de-CH"/>
          </a:p>
        </p:txBody>
      </p:sp>
      <p:sp>
        <p:nvSpPr>
          <p:cNvPr id="14" name="Text 12"/>
          <p:cNvSpPr/>
          <p:nvPr/>
        </p:nvSpPr>
        <p:spPr>
          <a:xfrm>
            <a:off x="640080" y="3749040"/>
            <a:ext cx="411480" cy="41148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15" name="Text 13"/>
          <p:cNvSpPr/>
          <p:nvPr/>
        </p:nvSpPr>
        <p:spPr>
          <a:xfrm>
            <a:off x="1234440" y="3721608"/>
            <a:ext cx="7315200" cy="502920"/>
          </a:xfrm>
          <a:prstGeom prst="rect">
            <a:avLst/>
          </a:prstGeom>
          <a:noFill/>
          <a:ln/>
        </p:spPr>
        <p:txBody>
          <a:bodyPr wrap="square" lIns="0" tIns="0" rIns="0" bIns="0" rtlCol="0" anchor="ctr"/>
          <a:lstStyle/>
          <a:p>
            <a:pPr marL="0" indent="0">
              <a:buNone/>
            </a:pPr>
            <a:r>
              <a:rPr lang="en-US" sz="1500" dirty="0">
                <a:solidFill>
                  <a:srgbClr val="F1ECDD"/>
                </a:solidFill>
                <a:latin typeface="Calibri" pitchFamily="34" charset="0"/>
                <a:ea typeface="Calibri" pitchFamily="34" charset="-122"/>
                <a:cs typeface="Calibri" pitchFamily="34" charset="-120"/>
              </a:rPr>
              <a:t>Säule 2 komplett abgeschlossen — bereit für Live-Call 1</a:t>
            </a:r>
            <a:endParaRPr lang="en-US" sz="1500" dirty="0"/>
          </a:p>
        </p:txBody>
      </p:sp>
      <p:sp>
        <p:nvSpPr>
          <p:cNvPr id="16" name="Text 14"/>
          <p:cNvSpPr/>
          <p:nvPr/>
        </p:nvSpPr>
        <p:spPr>
          <a:xfrm>
            <a:off x="457200" y="4800600"/>
            <a:ext cx="5486400" cy="274320"/>
          </a:xfrm>
          <a:prstGeom prst="rect">
            <a:avLst/>
          </a:prstGeom>
          <a:noFill/>
          <a:ln/>
        </p:spPr>
        <p:txBody>
          <a:bodyPr wrap="square" rtlCol="0" anchor="ctr"/>
          <a:lstStyle/>
          <a:p>
            <a:pPr marL="0" indent="0">
              <a:buNone/>
            </a:pPr>
            <a:r>
              <a:rPr lang="en-US" sz="900" kern="0" spc="200" dirty="0">
                <a:solidFill>
                  <a:srgbClr val="F1ECDD"/>
                </a:solidFill>
                <a:latin typeface="Calibri" pitchFamily="34" charset="0"/>
                <a:ea typeface="Calibri" pitchFamily="34" charset="-122"/>
                <a:cs typeface="Calibri" pitchFamily="34" charset="-120"/>
              </a:rPr>
              <a:t>Mama-CEO · Modul 1 · Lektion 2.6</a:t>
            </a:r>
            <a:endParaRPr lang="en-US" sz="900" dirty="0"/>
          </a:p>
        </p:txBody>
      </p:sp>
      <p:sp>
        <p:nvSpPr>
          <p:cNvPr id="17" name="Text 15"/>
          <p:cNvSpPr/>
          <p:nvPr/>
        </p:nvSpPr>
        <p:spPr>
          <a:xfrm>
            <a:off x="6400800" y="4800600"/>
            <a:ext cx="2286000" cy="274320"/>
          </a:xfrm>
          <a:prstGeom prst="rect">
            <a:avLst/>
          </a:prstGeom>
          <a:noFill/>
          <a:ln/>
        </p:spPr>
        <p:txBody>
          <a:bodyPr wrap="square" rtlCol="0" anchor="ctr"/>
          <a:lstStyle/>
          <a:p>
            <a:pPr marL="0" indent="0" algn="r">
              <a:buNone/>
            </a:pPr>
            <a:r>
              <a:rPr lang="en-US" sz="900" i="1" dirty="0">
                <a:solidFill>
                  <a:srgbClr val="F1ECDD"/>
                </a:solidFill>
                <a:latin typeface="Calibri" pitchFamily="34" charset="0"/>
                <a:ea typeface="Calibri" pitchFamily="34" charset="-122"/>
                <a:cs typeface="Calibri" pitchFamily="34" charset="-120"/>
              </a:rPr>
              <a:t>Mum Life Balance</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8046720" cy="822960"/>
          </a:xfrm>
          <a:prstGeom prst="rect">
            <a:avLst/>
          </a:prstGeom>
          <a:noFill/>
          <a:ln/>
        </p:spPr>
        <p:txBody>
          <a:bodyPr wrap="square" lIns="0" tIns="0" rIns="0" bIns="0" rtlCol="0" anchor="t"/>
          <a:lstStyle/>
          <a:p>
            <a:pPr marL="0" indent="0">
              <a:buNone/>
            </a:pPr>
            <a:r>
              <a:rPr lang="en-US" sz="3200" b="1" dirty="0">
                <a:solidFill>
                  <a:srgbClr val="1A3A4A"/>
                </a:solidFill>
                <a:latin typeface="Georgia" pitchFamily="34" charset="0"/>
                <a:ea typeface="Georgia" pitchFamily="34" charset="-122"/>
                <a:cs typeface="Georgia" pitchFamily="34" charset="-120"/>
              </a:rPr>
              <a:t>Dein nächster Schritt</a:t>
            </a:r>
            <a:endParaRPr lang="en-US" sz="3200" dirty="0"/>
          </a:p>
        </p:txBody>
      </p:sp>
      <p:sp>
        <p:nvSpPr>
          <p:cNvPr id="3" name="Shape 1"/>
          <p:cNvSpPr/>
          <p:nvPr/>
        </p:nvSpPr>
        <p:spPr>
          <a:xfrm>
            <a:off x="548640" y="1737360"/>
            <a:ext cx="3931920" cy="2743200"/>
          </a:xfrm>
          <a:prstGeom prst="rect">
            <a:avLst/>
          </a:prstGeom>
          <a:solidFill>
            <a:srgbClr val="F1ECDD"/>
          </a:solidFill>
          <a:ln w="12700">
            <a:solidFill>
              <a:srgbClr val="F1ECDD">
                <a:alpha val="0"/>
              </a:srgbClr>
            </a:solidFill>
            <a:prstDash val="solid"/>
          </a:ln>
        </p:spPr>
        <p:txBody>
          <a:bodyPr/>
          <a:lstStyle/>
          <a:p>
            <a:endParaRPr lang="de-CH"/>
          </a:p>
        </p:txBody>
      </p:sp>
      <p:sp>
        <p:nvSpPr>
          <p:cNvPr id="4" name="Shape 2"/>
          <p:cNvSpPr/>
          <p:nvPr/>
        </p:nvSpPr>
        <p:spPr>
          <a:xfrm>
            <a:off x="548640" y="1737360"/>
            <a:ext cx="3931920" cy="73152"/>
          </a:xfrm>
          <a:prstGeom prst="rect">
            <a:avLst/>
          </a:prstGeom>
          <a:solidFill>
            <a:srgbClr val="12828C"/>
          </a:solidFill>
          <a:ln w="12700">
            <a:solidFill>
              <a:srgbClr val="12828C">
                <a:alpha val="0"/>
              </a:srgbClr>
            </a:solidFill>
            <a:prstDash val="solid"/>
          </a:ln>
        </p:spPr>
        <p:txBody>
          <a:bodyPr/>
          <a:lstStyle/>
          <a:p>
            <a:endParaRPr lang="de-CH"/>
          </a:p>
        </p:txBody>
      </p:sp>
      <p:sp>
        <p:nvSpPr>
          <p:cNvPr id="5" name="Text 3"/>
          <p:cNvSpPr/>
          <p:nvPr/>
        </p:nvSpPr>
        <p:spPr>
          <a:xfrm>
            <a:off x="777240" y="1920240"/>
            <a:ext cx="3657600" cy="274320"/>
          </a:xfrm>
          <a:prstGeom prst="rect">
            <a:avLst/>
          </a:prstGeom>
          <a:noFill/>
          <a:ln/>
        </p:spPr>
        <p:txBody>
          <a:bodyPr wrap="square" rtlCol="0" anchor="ctr"/>
          <a:lstStyle/>
          <a:p>
            <a:pPr marL="0" indent="0">
              <a:buNone/>
            </a:pPr>
            <a:r>
              <a:rPr lang="en-US" sz="1000" b="1" kern="0" spc="300" dirty="0">
                <a:solidFill>
                  <a:srgbClr val="0D6168"/>
                </a:solidFill>
                <a:latin typeface="Calibri" pitchFamily="34" charset="0"/>
                <a:ea typeface="Calibri" pitchFamily="34" charset="-122"/>
                <a:cs typeface="Calibri" pitchFamily="34" charset="-120"/>
              </a:rPr>
              <a:t>📋  ARBEITSBLATT</a:t>
            </a:r>
            <a:endParaRPr lang="en-US" sz="1000" dirty="0"/>
          </a:p>
        </p:txBody>
      </p:sp>
      <p:sp>
        <p:nvSpPr>
          <p:cNvPr id="6" name="Text 4"/>
          <p:cNvSpPr/>
          <p:nvPr/>
        </p:nvSpPr>
        <p:spPr>
          <a:xfrm>
            <a:off x="777240" y="2240280"/>
            <a:ext cx="3657600" cy="457200"/>
          </a:xfrm>
          <a:prstGeom prst="rect">
            <a:avLst/>
          </a:prstGeom>
          <a:noFill/>
          <a:ln/>
        </p:spPr>
        <p:txBody>
          <a:bodyPr wrap="square" lIns="0" tIns="0" rIns="0" bIns="0" rtlCol="0" anchor="t"/>
          <a:lstStyle/>
          <a:p>
            <a:pPr marL="0" indent="0">
              <a:buNone/>
            </a:pPr>
            <a:r>
              <a:rPr lang="en-US" sz="1800" b="1" dirty="0">
                <a:solidFill>
                  <a:srgbClr val="1A3A4A"/>
                </a:solidFill>
                <a:latin typeface="Georgia" pitchFamily="34" charset="0"/>
                <a:ea typeface="Georgia" pitchFamily="34" charset="-122"/>
                <a:cs typeface="Georgia" pitchFamily="34" charset="-120"/>
              </a:rPr>
              <a:t>LIVE-CALL 1 · Ende W2</a:t>
            </a:r>
            <a:endParaRPr lang="en-US" sz="1800" dirty="0"/>
          </a:p>
        </p:txBody>
      </p:sp>
      <p:sp>
        <p:nvSpPr>
          <p:cNvPr id="7" name="Text 5"/>
          <p:cNvSpPr/>
          <p:nvPr/>
        </p:nvSpPr>
        <p:spPr>
          <a:xfrm>
            <a:off x="777240" y="2834640"/>
            <a:ext cx="3566160" cy="1554480"/>
          </a:xfrm>
          <a:prstGeom prst="rect">
            <a:avLst/>
          </a:prstGeom>
          <a:noFill/>
          <a:ln/>
        </p:spPr>
        <p:txBody>
          <a:bodyPr wrap="square" rtlCol="0" anchor="t"/>
          <a:lstStyle/>
          <a:p>
            <a:pPr marL="342900" indent="-342900">
              <a:spcAft>
                <a:spcPts val="600"/>
              </a:spcAft>
              <a:buSzPct val="100000"/>
              <a:buChar char="▸"/>
            </a:pPr>
            <a:r>
              <a:rPr lang="en-US" sz="1300" dirty="0">
                <a:solidFill>
                  <a:srgbClr val="2C3E50"/>
                </a:solidFill>
                <a:latin typeface="Calibri" pitchFamily="34" charset="0"/>
                <a:ea typeface="Calibri" pitchFamily="34" charset="-122"/>
                <a:cs typeface="Calibri" pitchFamily="34" charset="-120"/>
              </a:rPr>
              <a:t>90 Min Hot-Seat mit Patricia</a:t>
            </a:r>
            <a:endParaRPr lang="en-US" sz="1300" dirty="0"/>
          </a:p>
          <a:p>
            <a:pPr marL="342900" indent="-342900">
              <a:spcAft>
                <a:spcPts val="600"/>
              </a:spcAft>
              <a:buSzPct val="100000"/>
              <a:buChar char="▸"/>
            </a:pPr>
            <a:r>
              <a:rPr lang="en-US" sz="1300" dirty="0">
                <a:solidFill>
                  <a:srgbClr val="2C3E50"/>
                </a:solidFill>
                <a:latin typeface="Calibri" pitchFamily="34" charset="0"/>
                <a:ea typeface="Calibri" pitchFamily="34" charset="-122"/>
                <a:cs typeface="Calibri" pitchFamily="34" charset="-120"/>
              </a:rPr>
              <a:t>Bring dein Hütchen-Inventar (Lektion 2.3)</a:t>
            </a:r>
            <a:endParaRPr lang="en-US" sz="1300" dirty="0"/>
          </a:p>
          <a:p>
            <a:pPr marL="342900" indent="-342900">
              <a:spcAft>
                <a:spcPts val="600"/>
              </a:spcAft>
              <a:buSzPct val="100000"/>
              <a:buChar char="▸"/>
            </a:pPr>
            <a:r>
              <a:rPr lang="en-US" sz="1300" dirty="0">
                <a:solidFill>
                  <a:srgbClr val="2C3E50"/>
                </a:solidFill>
                <a:latin typeface="Calibri" pitchFamily="34" charset="0"/>
                <a:ea typeface="Calibri" pitchFamily="34" charset="-122"/>
                <a:cs typeface="Calibri" pitchFamily="34" charset="-120"/>
              </a:rPr>
              <a:t>Bring deinen Wochenrhythmus (Lektion 1.5)</a:t>
            </a:r>
            <a:endParaRPr lang="en-US" sz="1300" dirty="0"/>
          </a:p>
          <a:p>
            <a:pPr marL="342900" indent="-342900">
              <a:spcAft>
                <a:spcPts val="600"/>
              </a:spcAft>
              <a:buSzPct val="100000"/>
              <a:buChar char="▸"/>
            </a:pPr>
            <a:r>
              <a:rPr lang="en-US" sz="1300" dirty="0">
                <a:solidFill>
                  <a:srgbClr val="2C3E50"/>
                </a:solidFill>
                <a:latin typeface="Calibri" pitchFamily="34" charset="0"/>
                <a:ea typeface="Calibri" pitchFamily="34" charset="-122"/>
                <a:cs typeface="Calibri" pitchFamily="34" charset="-120"/>
              </a:rPr>
              <a:t>Wir feilen gemeinsam</a:t>
            </a:r>
            <a:endParaRPr lang="en-US" sz="1300" dirty="0"/>
          </a:p>
        </p:txBody>
      </p:sp>
      <p:sp>
        <p:nvSpPr>
          <p:cNvPr id="8" name="Shape 6"/>
          <p:cNvSpPr/>
          <p:nvPr/>
        </p:nvSpPr>
        <p:spPr>
          <a:xfrm>
            <a:off x="4663440" y="1737360"/>
            <a:ext cx="3931920" cy="2743200"/>
          </a:xfrm>
          <a:prstGeom prst="rect">
            <a:avLst/>
          </a:prstGeom>
          <a:solidFill>
            <a:srgbClr val="F1ECDD"/>
          </a:solidFill>
          <a:ln w="12700">
            <a:solidFill>
              <a:srgbClr val="F1ECDD">
                <a:alpha val="0"/>
              </a:srgbClr>
            </a:solidFill>
            <a:prstDash val="solid"/>
          </a:ln>
        </p:spPr>
        <p:txBody>
          <a:bodyPr/>
          <a:lstStyle/>
          <a:p>
            <a:endParaRPr lang="de-CH"/>
          </a:p>
        </p:txBody>
      </p:sp>
      <p:sp>
        <p:nvSpPr>
          <p:cNvPr id="9" name="Shape 7"/>
          <p:cNvSpPr/>
          <p:nvPr/>
        </p:nvSpPr>
        <p:spPr>
          <a:xfrm>
            <a:off x="4663440" y="1737360"/>
            <a:ext cx="3931920" cy="73152"/>
          </a:xfrm>
          <a:prstGeom prst="rect">
            <a:avLst/>
          </a:prstGeom>
          <a:solidFill>
            <a:srgbClr val="DC822E"/>
          </a:solidFill>
          <a:ln w="12700">
            <a:solidFill>
              <a:srgbClr val="DC822E">
                <a:alpha val="0"/>
              </a:srgbClr>
            </a:solidFill>
            <a:prstDash val="solid"/>
          </a:ln>
        </p:spPr>
        <p:txBody>
          <a:bodyPr/>
          <a:lstStyle/>
          <a:p>
            <a:endParaRPr lang="de-CH"/>
          </a:p>
        </p:txBody>
      </p:sp>
      <p:sp>
        <p:nvSpPr>
          <p:cNvPr id="10" name="Text 8"/>
          <p:cNvSpPr/>
          <p:nvPr/>
        </p:nvSpPr>
        <p:spPr>
          <a:xfrm>
            <a:off x="4892040" y="1920240"/>
            <a:ext cx="3657600" cy="274320"/>
          </a:xfrm>
          <a:prstGeom prst="rect">
            <a:avLst/>
          </a:prstGeom>
          <a:noFill/>
          <a:ln/>
        </p:spPr>
        <p:txBody>
          <a:bodyPr wrap="square" rtlCol="0" anchor="ctr"/>
          <a:lstStyle/>
          <a:p>
            <a:pPr marL="0" indent="0">
              <a:buNone/>
            </a:pPr>
            <a:r>
              <a:rPr lang="en-US" sz="1000" b="1" kern="0" spc="300" dirty="0">
                <a:solidFill>
                  <a:srgbClr val="DC822E"/>
                </a:solidFill>
                <a:latin typeface="Calibri" pitchFamily="34" charset="0"/>
                <a:ea typeface="Calibri" pitchFamily="34" charset="-122"/>
                <a:cs typeface="Calibri" pitchFamily="34" charset="-120"/>
              </a:rPr>
              <a:t>▶  ALS NÄCHSTES</a:t>
            </a:r>
            <a:endParaRPr lang="en-US" sz="1000" dirty="0"/>
          </a:p>
        </p:txBody>
      </p:sp>
      <p:sp>
        <p:nvSpPr>
          <p:cNvPr id="11" name="Text 9"/>
          <p:cNvSpPr/>
          <p:nvPr/>
        </p:nvSpPr>
        <p:spPr>
          <a:xfrm>
            <a:off x="4892040" y="2240280"/>
            <a:ext cx="3657600" cy="457200"/>
          </a:xfrm>
          <a:prstGeom prst="rect">
            <a:avLst/>
          </a:prstGeom>
          <a:noFill/>
          <a:ln/>
        </p:spPr>
        <p:txBody>
          <a:bodyPr wrap="square" lIns="0" tIns="0" rIns="0" bIns="0" rtlCol="0" anchor="t"/>
          <a:lstStyle/>
          <a:p>
            <a:pPr marL="0" indent="0">
              <a:buNone/>
            </a:pPr>
            <a:r>
              <a:rPr lang="en-US" sz="1800" b="1" dirty="0">
                <a:solidFill>
                  <a:srgbClr val="1A3A4A"/>
                </a:solidFill>
                <a:latin typeface="Georgia" pitchFamily="34" charset="0"/>
                <a:ea typeface="Georgia" pitchFamily="34" charset="-122"/>
                <a:cs typeface="Georgia" pitchFamily="34" charset="-120"/>
              </a:rPr>
              <a:t>Säule 3 · Du baust die Struktur</a:t>
            </a:r>
            <a:endParaRPr lang="en-US" sz="1800" dirty="0"/>
          </a:p>
        </p:txBody>
      </p:sp>
      <p:sp>
        <p:nvSpPr>
          <p:cNvPr id="12" name="Text 10"/>
          <p:cNvSpPr/>
          <p:nvPr/>
        </p:nvSpPr>
        <p:spPr>
          <a:xfrm>
            <a:off x="4892040" y="2834640"/>
            <a:ext cx="3566160" cy="1554480"/>
          </a:xfrm>
          <a:prstGeom prst="rect">
            <a:avLst/>
          </a:prstGeom>
          <a:noFill/>
          <a:ln/>
        </p:spPr>
        <p:txBody>
          <a:bodyPr wrap="square" rtlCol="0" anchor="t"/>
          <a:lstStyle/>
          <a:p>
            <a:pPr marL="342900" indent="-342900">
              <a:spcAft>
                <a:spcPts val="600"/>
              </a:spcAft>
              <a:buSzPct val="100000"/>
              <a:buChar char="▸"/>
            </a:pPr>
            <a:r>
              <a:rPr lang="en-US" sz="1300" dirty="0">
                <a:solidFill>
                  <a:srgbClr val="2C3E50"/>
                </a:solidFill>
                <a:latin typeface="Calibri" pitchFamily="34" charset="0"/>
                <a:ea typeface="Calibri" pitchFamily="34" charset="-122"/>
                <a:cs typeface="Calibri" pitchFamily="34" charset="-120"/>
              </a:rPr>
              <a:t>Notion-Business-Brain</a:t>
            </a:r>
            <a:endParaRPr lang="en-US" sz="1300" dirty="0"/>
          </a:p>
          <a:p>
            <a:pPr marL="342900" indent="-342900">
              <a:spcAft>
                <a:spcPts val="600"/>
              </a:spcAft>
              <a:buSzPct val="100000"/>
              <a:buChar char="▸"/>
            </a:pPr>
            <a:r>
              <a:rPr lang="en-US" sz="1300" dirty="0">
                <a:solidFill>
                  <a:srgbClr val="2C3E50"/>
                </a:solidFill>
                <a:latin typeface="Calibri" pitchFamily="34" charset="0"/>
                <a:ea typeface="Calibri" pitchFamily="34" charset="-122"/>
                <a:cs typeface="Calibri" pitchFamily="34" charset="-120"/>
              </a:rPr>
              <a:t>Jahres-Strategie + Monats/Wochenplanung</a:t>
            </a:r>
            <a:endParaRPr lang="en-US" sz="1300" dirty="0"/>
          </a:p>
          <a:p>
            <a:pPr marL="342900" indent="-342900">
              <a:spcAft>
                <a:spcPts val="600"/>
              </a:spcAft>
              <a:buSzPct val="100000"/>
              <a:buChar char="▸"/>
            </a:pPr>
            <a:r>
              <a:rPr lang="en-US" sz="1300" dirty="0">
                <a:solidFill>
                  <a:srgbClr val="2C3E50"/>
                </a:solidFill>
                <a:latin typeface="Calibri" pitchFamily="34" charset="0"/>
                <a:ea typeface="Calibri" pitchFamily="34" charset="-122"/>
                <a:cs typeface="Calibri" pitchFamily="34" charset="-120"/>
              </a:rPr>
              <a:t>Aus deinem Brain Dump wird eine Notion-Struktur</a:t>
            </a:r>
            <a:endParaRPr lang="en-US" sz="1300" dirty="0"/>
          </a:p>
        </p:txBody>
      </p:sp>
      <p:sp>
        <p:nvSpPr>
          <p:cNvPr id="13" name="Text 11"/>
          <p:cNvSpPr/>
          <p:nvPr/>
        </p:nvSpPr>
        <p:spPr>
          <a:xfrm>
            <a:off x="457200" y="4800600"/>
            <a:ext cx="5486400" cy="274320"/>
          </a:xfrm>
          <a:prstGeom prst="rect">
            <a:avLst/>
          </a:prstGeom>
          <a:noFill/>
          <a:ln/>
        </p:spPr>
        <p:txBody>
          <a:bodyPr wrap="square" rtlCol="0" anchor="ctr"/>
          <a:lstStyle/>
          <a:p>
            <a:pPr marL="0" indent="0">
              <a:buNone/>
            </a:pPr>
            <a:r>
              <a:rPr lang="en-US" sz="900" kern="0" spc="200" dirty="0">
                <a:solidFill>
                  <a:srgbClr val="7A8A95"/>
                </a:solidFill>
                <a:latin typeface="Calibri" pitchFamily="34" charset="0"/>
                <a:ea typeface="Calibri" pitchFamily="34" charset="-122"/>
                <a:cs typeface="Calibri" pitchFamily="34" charset="-120"/>
              </a:rPr>
              <a:t>Mama-CEO · Modul 1 · Lektion 2.6</a:t>
            </a:r>
            <a:endParaRPr lang="en-US" sz="900" dirty="0"/>
          </a:p>
        </p:txBody>
      </p:sp>
      <p:sp>
        <p:nvSpPr>
          <p:cNvPr id="14" name="Text 12"/>
          <p:cNvSpPr/>
          <p:nvPr/>
        </p:nvSpPr>
        <p:spPr>
          <a:xfrm>
            <a:off x="6400800" y="4800600"/>
            <a:ext cx="2286000" cy="274320"/>
          </a:xfrm>
          <a:prstGeom prst="rect">
            <a:avLst/>
          </a:prstGeom>
          <a:noFill/>
          <a:ln/>
        </p:spPr>
        <p:txBody>
          <a:bodyPr wrap="square" rtlCol="0" anchor="ctr"/>
          <a:lstStyle/>
          <a:p>
            <a:pPr marL="0" indent="0" algn="r">
              <a:buNone/>
            </a:pPr>
            <a:r>
              <a:rPr lang="en-US" sz="900" i="1" dirty="0">
                <a:solidFill>
                  <a:srgbClr val="7A8A95"/>
                </a:solidFill>
                <a:latin typeface="Calibri" pitchFamily="34" charset="0"/>
                <a:ea typeface="Calibri" pitchFamily="34" charset="-122"/>
                <a:cs typeface="Calibri" pitchFamily="34" charset="-120"/>
              </a:rPr>
              <a:t>Mum Life Balance</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1137</Words>
  <Application>Microsoft Office PowerPoint</Application>
  <PresentationFormat>Bildschirmpräsentation (16:9)</PresentationFormat>
  <Paragraphs>119</Paragraphs>
  <Slides>10</Slides>
  <Notes>10</Notes>
  <HiddenSlides>0</HiddenSlides>
  <MMClips>0</MMClips>
  <ScaleCrop>false</ScaleCrop>
  <HeadingPairs>
    <vt:vector size="6" baseType="variant">
      <vt:variant>
        <vt:lpstr>Verwendete Schriftarten</vt:lpstr>
      </vt:variant>
      <vt:variant>
        <vt:i4>3</vt:i4>
      </vt:variant>
      <vt:variant>
        <vt:lpstr>Design</vt:lpstr>
      </vt:variant>
      <vt:variant>
        <vt:i4>1</vt:i4>
      </vt:variant>
      <vt:variant>
        <vt:lpstr>Folientitel</vt:lpstr>
      </vt:variant>
      <vt:variant>
        <vt:i4>10</vt:i4>
      </vt:variant>
    </vt:vector>
  </HeadingPairs>
  <TitlesOfParts>
    <vt:vector size="14" baseType="lpstr">
      <vt:lpstr>Arial</vt:lpstr>
      <vt:lpstr>Calibri</vt:lpstr>
      <vt:lpstr>Georgia</vt:lpstr>
      <vt:lpstr>Office Theme</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vector>
  </TitlesOfParts>
  <Company>Mum Life Balance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Mama-CEO · Lektion 2.6 — 5 Mama-CEO-Blockaden</dc:title>
  <dc:subject>PptxGenJS Presentation</dc:subject>
  <dc:creator>Patricia Ulmann · Mum Life Balance</dc:creator>
  <cp:lastModifiedBy>Patricia Ulmann</cp:lastModifiedBy>
  <cp:revision>2</cp:revision>
  <dcterms:created xsi:type="dcterms:W3CDTF">2026-05-21T20:21:44Z</dcterms:created>
  <dcterms:modified xsi:type="dcterms:W3CDTF">2026-05-22T06:34:07Z</dcterms:modified>
</cp:coreProperties>
</file>