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Notion klingt für viele erstmal nach noch einem Tool, das man lernen muss. Ist es nicht. Notion ist dein zweites Gehirn, der Ort an dem dein ganzes Business und dein Familien-Alltag zusammenlaufen, damit du es nicht mehr im Kopf tragen musst.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Bevor du irgendwas klickst, will ich dir die Vogelperspektive zeigen. Notion ist nicht noch eine Aufgabe, sondern eine Entlastung. Es ist der Ort, an dem dein Business und dein Familien-Alltag zusammenlaufen, und in der nächsten Lektion bauen wir es dann gemeinsam auf.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Ganz ehrlich: dein Kopf ist der schlechteste Speicherort, den es gibt. Newsletter, Kinderarzt, das Reel für Freitag, der Geburtstag der Schwägerin, das schwirrt alles gleichzeitig herum und frisst Energie. Sobald es in Notion einen Platz hat, darfst du es loslassen.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Notion baut sich in vier Stufen auf, genau wie wir es in der letzten Lektion gesehen haben. Jahr, Monat, Woche, Tag. Jede Stufe füttert die nächste, und genau das nehmen wir uns jetzt einzeln vor.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oberste Stufe ist das Jahr. Hier steht grob, was wann kommt: deine Produkte, deine Launches, deine grossen Themen und natürlich die Schulferien. Das ist genau das, was du in der nächsten Lektion erarbeitest.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zweite Stufe ist der Monat. Hier holst du dir aus dem Jahr einen einzigen Fokus, dazu drei Ziele, und du entscheidest, welche deiner Lebens-Bereiche diesen Monat überhaupt dran sind. So wird aus dem groben Jahr ein konkreter Monat.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dritte Stufe ist die Woche, und das ist die wichtigste. Jede Woche hat ihre Nummer, ihre Fokus-Säule, deine Power-Zeiten und ein Hauptziel. Und hier verteilst du dann deine Lebens-Bereiche auf deine Slots, genau das schauen wir in der nächsten Lektion noch viel genauer 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unterste Stufe ist der Tag. Datum, Tagesfokus, drei Hauptaufgaben und abends ein, zwei Sätze Reflexion. Den Tag planst du in dreissig Sekunden, weil die ganze Vorarbeit oben schon erledigt ist. Und merk dir diese Stufe, denn genau die liest später dein Cockpit-Bot.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dann gibt es noch eine eigene Ebene, die quer durch alles läuft: deine Ziele. Deine ein bis drei wichtigsten Ziele verknüpfst du mit Jahr, Monat und Woche, und genau das sorgt dafür, dass alles in dieselbe Richtung zeigt und du dich nicht verzettelst.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war die Landkarte. Du musst hier noch nichts in Notion klicken, das machen wir gemeinsam in der MASTERY-Lektion. Skizzier im Arbeitsblatt schon mal deine vier Stufen auf Papier, dann hast du in 3.5 alles parat. Bis gleich.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nchor="t" lIns="0" rIns="0" tIns="0" bIns="0">
            <a:spAutoFit/>
          </a:bodyPr>
          <a:lstStyle/>
          <a:p>
            <a:r>
              <a:rPr sz="1100" b="1" i="0">
                <a:solidFill>
                  <a:srgbClr val="DC822E"/>
                </a:solidFill>
                <a:latin typeface="Calibri"/>
              </a:rPr>
              <a:t>SÄULE 3 — DU BAUST DIE STRUKTUR</a:t>
            </a:r>
          </a:p>
        </p:txBody>
      </p:sp>
      <p:sp>
        <p:nvSpPr>
          <p:cNvPr id="4" name="Rectangle 3"/>
          <p:cNvSpPr/>
          <p:nvPr/>
        </p:nvSpPr>
        <p:spPr>
          <a:xfrm>
            <a:off x="548640" y="960120"/>
            <a:ext cx="548640" cy="45720"/>
          </a:xfrm>
          <a:prstGeom prst="rect">
            <a:avLst/>
          </a:prstGeom>
          <a:solidFill>
            <a:srgbClr val="DC8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863840" cy="1463040"/>
          </a:xfrm>
          <a:prstGeom prst="rect">
            <a:avLst/>
          </a:prstGeom>
          <a:noFill/>
        </p:spPr>
        <p:txBody>
          <a:bodyPr wrap="square" anchor="t" lIns="0" rIns="0" tIns="0" bIns="0">
            <a:spAutoFit/>
          </a:bodyPr>
          <a:lstStyle/>
          <a:p>
            <a:r>
              <a:rPr sz="4400" b="1" i="0">
                <a:solidFill>
                  <a:srgbClr val="1A3A4A"/>
                </a:solidFill>
                <a:latin typeface="Georgia"/>
              </a:rPr>
              <a:t>Notion als Business-Brain</a:t>
            </a:r>
          </a:p>
        </p:txBody>
      </p:sp>
      <p:sp>
        <p:nvSpPr>
          <p:cNvPr id="6" name="TextBox 5"/>
          <p:cNvSpPr txBox="1"/>
          <p:nvPr/>
        </p:nvSpPr>
        <p:spPr>
          <a:xfrm>
            <a:off x="548640" y="2880360"/>
            <a:ext cx="7680960" cy="1280160"/>
          </a:xfrm>
          <a:prstGeom prst="rect">
            <a:avLst/>
          </a:prstGeom>
          <a:noFill/>
        </p:spPr>
        <p:txBody>
          <a:bodyPr wrap="square" anchor="t" lIns="0" rIns="0" tIns="0" bIns="0">
            <a:spAutoFit/>
          </a:bodyPr>
          <a:lstStyle/>
          <a:p>
            <a:r>
              <a:rPr sz="1800" b="0" i="0">
                <a:solidFill>
                  <a:srgbClr val="2C3E50"/>
                </a:solidFill>
                <a:latin typeface="Georgia"/>
              </a:rPr>
              <a:t>Jahr · Monat · Woche · Tag</a:t>
            </a:r>
          </a:p>
        </p:txBody>
      </p:sp>
      <p:sp>
        <p:nvSpPr>
          <p:cNvPr id="7" name="TextBox 6"/>
          <p:cNvSpPr txBox="1"/>
          <p:nvPr/>
        </p:nvSpPr>
        <p:spPr>
          <a:xfrm>
            <a:off x="548640" y="4572000"/>
            <a:ext cx="3657600" cy="365760"/>
          </a:xfrm>
          <a:prstGeom prst="rect">
            <a:avLst/>
          </a:prstGeom>
          <a:noFill/>
        </p:spPr>
        <p:txBody>
          <a:bodyPr wrap="square" anchor="t" lIns="0" rIns="0" tIns="0" bIns="0">
            <a:spAutoFit/>
          </a:bodyPr>
          <a:lstStyle/>
          <a:p>
            <a:r>
              <a:rPr sz="1200" b="1" i="0">
                <a:solidFill>
                  <a:srgbClr val="12828C"/>
                </a:solidFill>
                <a:latin typeface="Calibri"/>
              </a:rPr>
              <a:t>Patricia Ulmann</a:t>
            </a:r>
          </a:p>
        </p:txBody>
      </p:sp>
      <p:sp>
        <p:nvSpPr>
          <p:cNvPr id="8" name="TextBox 7"/>
          <p:cNvSpPr txBox="1"/>
          <p:nvPr/>
        </p:nvSpPr>
        <p:spPr>
          <a:xfrm>
            <a:off x="4937760" y="4572000"/>
            <a:ext cx="3657600" cy="365760"/>
          </a:xfrm>
          <a:prstGeom prst="rect">
            <a:avLst/>
          </a:prstGeom>
          <a:noFill/>
        </p:spPr>
        <p:txBody>
          <a:bodyPr wrap="square" anchor="t" lIns="0" rIns="0" tIns="0" bIns="0">
            <a:spAutoFit/>
          </a:bodyPr>
          <a:lstStyle/>
          <a:p>
            <a:pPr algn="r"/>
            <a:r>
              <a:rPr sz="1100" b="0" i="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828C"/>
        </a:solidFill>
        <a:effectLst/>
      </p:bgPr>
    </p:bg>
    <p:spTree>
      <p:nvGrpSpPr>
        <p:cNvPr id="1" name=""/>
        <p:cNvGrpSpPr/>
        <p:nvPr/>
      </p:nvGrpSpPr>
      <p:grpSpPr/>
      <p:sp>
        <p:nvSpPr>
          <p:cNvPr id="2" name="TextBox 1"/>
          <p:cNvSpPr txBox="1"/>
          <p:nvPr/>
        </p:nvSpPr>
        <p:spPr>
          <a:xfrm>
            <a:off x="548640" y="1097280"/>
            <a:ext cx="8046720" cy="365760"/>
          </a:xfrm>
          <a:prstGeom prst="rect">
            <a:avLst/>
          </a:prstGeom>
          <a:noFill/>
        </p:spPr>
        <p:txBody>
          <a:bodyPr wrap="square" anchor="t" lIns="0" rIns="0" tIns="0" bIns="0">
            <a:spAutoFit/>
          </a:bodyPr>
          <a:lstStyle/>
          <a:p>
            <a:r>
              <a:rPr sz="1100" b="1" i="0">
                <a:solidFill>
                  <a:srgbClr val="DC822E"/>
                </a:solidFill>
                <a:latin typeface="Calibri"/>
              </a:rPr>
              <a:t>KEIN NEUES TOOL</a:t>
            </a:r>
          </a:p>
        </p:txBody>
      </p:sp>
      <p:sp>
        <p:nvSpPr>
          <p:cNvPr id="3" name="Rectangle 2"/>
          <p:cNvSpPr/>
          <p:nvPr/>
        </p:nvSpPr>
        <p:spPr>
          <a:xfrm>
            <a:off x="548640" y="1554480"/>
            <a:ext cx="548640" cy="45720"/>
          </a:xfrm>
          <a:prstGeom prst="rect">
            <a:avLst/>
          </a:prstGeom>
          <a:solidFill>
            <a:srgbClr val="DC8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920240"/>
            <a:ext cx="8046720" cy="2194560"/>
          </a:xfrm>
          <a:prstGeom prst="rect">
            <a:avLst/>
          </a:prstGeom>
          <a:noFill/>
        </p:spPr>
        <p:txBody>
          <a:bodyPr wrap="square" anchor="t" lIns="0" rIns="0" tIns="0" bIns="0">
            <a:spAutoFit/>
          </a:bodyPr>
          <a:lstStyle/>
          <a:p>
            <a:r>
              <a:rPr sz="3200" b="1" i="0">
                <a:solidFill>
                  <a:srgbClr val="F1ECDD"/>
                </a:solidFill>
                <a:latin typeface="Georgia"/>
              </a:rPr>
              <a:t>Notion ist dein zweites Gehirn.</a:t>
            </a:r>
          </a:p>
        </p:txBody>
      </p:sp>
      <p:sp>
        <p:nvSpPr>
          <p:cNvPr id="5" name="TextBox 4"/>
          <p:cNvSpPr txBox="1"/>
          <p:nvPr/>
        </p:nvSpPr>
        <p:spPr>
          <a:xfrm>
            <a:off x="548640" y="3703320"/>
            <a:ext cx="8046720" cy="731520"/>
          </a:xfrm>
          <a:prstGeom prst="rect">
            <a:avLst/>
          </a:prstGeom>
          <a:noFill/>
        </p:spPr>
        <p:txBody>
          <a:bodyPr wrap="square" anchor="t" lIns="0" rIns="0" tIns="0" bIns="0">
            <a:spAutoFit/>
          </a:bodyPr>
          <a:lstStyle/>
          <a:p>
            <a:r>
              <a:rPr sz="1500" b="0" i="1">
                <a:solidFill>
                  <a:srgbClr val="F1ECDD"/>
                </a:solidFill>
                <a:latin typeface="Calibri"/>
              </a:rPr>
              <a:t>Der Ort, an dem Business UND Familien-Alltag zusammenlaufen.</a:t>
            </a:r>
          </a:p>
        </p:txBody>
      </p:sp>
      <p:sp>
        <p:nvSpPr>
          <p:cNvPr id="6" name="TextBox 5"/>
          <p:cNvSpPr txBox="1"/>
          <p:nvPr/>
        </p:nvSpPr>
        <p:spPr>
          <a:xfrm>
            <a:off x="457200" y="4754880"/>
            <a:ext cx="5486400" cy="274320"/>
          </a:xfrm>
          <a:prstGeom prst="rect">
            <a:avLst/>
          </a:prstGeom>
          <a:noFill/>
        </p:spPr>
        <p:txBody>
          <a:bodyPr wrap="square" anchor="t" lIns="0" rIns="0" tIns="0" bIns="0">
            <a:spAutoFit/>
          </a:bodyPr>
          <a:lstStyle/>
          <a:p>
            <a:r>
              <a:rPr sz="900" b="0" i="0">
                <a:solidFill>
                  <a:srgbClr val="F1ECDD"/>
                </a:solidFill>
                <a:latin typeface="Calibri"/>
              </a:rPr>
              <a:t>Mama-CEO · Säule 3 · Lektion 3.2</a:t>
            </a:r>
          </a:p>
        </p:txBody>
      </p:sp>
      <p:sp>
        <p:nvSpPr>
          <p:cNvPr id="7" name="TextBox 6"/>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F1ECDD"/>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Dein Kopf ist der falsche Speicherort</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900"/>
              </a:spcAft>
            </a:pPr>
            <a:r>
              <a:rPr sz="1600" b="0" i="0">
                <a:solidFill>
                  <a:srgbClr val="2C3E50"/>
                </a:solidFill>
                <a:latin typeface="Calibri"/>
              </a:rPr>
              <a:t>Newsletter, Termin beim Kinderarzt, Reel für Freitag, Geburtstag der Schwägerin …</a:t>
            </a:r>
          </a:p>
          <a:p>
            <a:pPr>
              <a:spcBef>
                <a:spcPts val="0"/>
              </a:spcBef>
              <a:spcAft>
                <a:spcPts val="900"/>
              </a:spcAft>
            </a:pPr>
            <a:r>
              <a:rPr sz="1600" b="0" i="0">
                <a:solidFill>
                  <a:srgbClr val="2C3E50"/>
                </a:solidFill>
                <a:latin typeface="Calibri"/>
              </a:rPr>
              <a:t>Das alles im Kopf zu tragen, kostet dich jeden Tag Energie.</a:t>
            </a:r>
          </a:p>
          <a:p>
            <a:pPr>
              <a:spcBef>
                <a:spcPts val="0"/>
              </a:spcBef>
              <a:spcAft>
                <a:spcPts val="800"/>
              </a:spcAft>
            </a:pPr>
            <a:r>
              <a:rPr sz="1400" b="0" i="1">
                <a:solidFill>
                  <a:srgbClr val="7A8A95"/>
                </a:solidFill>
                <a:latin typeface="Calibri"/>
              </a:rPr>
              <a:t>Was ein Zuhause ausserhalb deines Kopfes hat, musst du nicht mehr erinnern.</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3.2</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822960"/>
          </a:xfrm>
          <a:prstGeom prst="rect">
            <a:avLst/>
          </a:prstGeom>
          <a:noFill/>
        </p:spPr>
        <p:txBody>
          <a:bodyPr wrap="square" anchor="t" lIns="0" rIns="0" tIns="0" bIns="0">
            <a:spAutoFit/>
          </a:bodyPr>
          <a:lstStyle/>
          <a:p>
            <a:r>
              <a:rPr sz="3000" b="1" i="0">
                <a:solidFill>
                  <a:srgbClr val="1A3A4A"/>
                </a:solidFill>
                <a:latin typeface="Georgia"/>
              </a:rPr>
              <a:t>Die 4-Stufen-Hierarchie</a:t>
            </a:r>
          </a:p>
        </p:txBody>
      </p:sp>
      <p:sp>
        <p:nvSpPr>
          <p:cNvPr id="3" name="TextBox 2"/>
          <p:cNvSpPr txBox="1"/>
          <p:nvPr/>
        </p:nvSpPr>
        <p:spPr>
          <a:xfrm>
            <a:off x="548640" y="1371600"/>
            <a:ext cx="822960" cy="640080"/>
          </a:xfrm>
          <a:prstGeom prst="rect">
            <a:avLst/>
          </a:prstGeom>
          <a:noFill/>
        </p:spPr>
        <p:txBody>
          <a:bodyPr wrap="square" anchor="t" lIns="0" rIns="0" tIns="0" bIns="0">
            <a:spAutoFit/>
          </a:bodyPr>
          <a:lstStyle/>
          <a:p>
            <a:r>
              <a:rPr sz="2800" b="1" i="0">
                <a:solidFill>
                  <a:srgbClr val="DC822E"/>
                </a:solidFill>
                <a:latin typeface="Georgia"/>
              </a:rPr>
              <a:t>01</a:t>
            </a:r>
          </a:p>
        </p:txBody>
      </p:sp>
      <p:sp>
        <p:nvSpPr>
          <p:cNvPr id="4" name="TextBox 3"/>
          <p:cNvSpPr txBox="1"/>
          <p:nvPr/>
        </p:nvSpPr>
        <p:spPr>
          <a:xfrm>
            <a:off x="1371600" y="1408176"/>
            <a:ext cx="7223760" cy="713232"/>
          </a:xfrm>
          <a:prstGeom prst="rect">
            <a:avLst/>
          </a:prstGeom>
          <a:noFill/>
        </p:spPr>
        <p:txBody>
          <a:bodyPr wrap="square" anchor="t" lIns="0" rIns="0" tIns="0" bIns="0">
            <a:spAutoFit/>
          </a:bodyPr>
          <a:lstStyle/>
          <a:p>
            <a:r>
              <a:rPr sz="1600" b="1" i="0">
                <a:solidFill>
                  <a:srgbClr val="2C3E50"/>
                </a:solidFill>
                <a:latin typeface="Calibri"/>
              </a:rPr>
              <a:t>Jahr</a:t>
            </a:r>
          </a:p>
          <a:p>
            <a:pPr>
              <a:spcBef>
                <a:spcPts val="100"/>
              </a:spcBef>
            </a:pPr>
            <a:r>
              <a:rPr sz="1200" b="0" i="0">
                <a:solidFill>
                  <a:srgbClr val="7A8A95"/>
                </a:solidFill>
                <a:latin typeface="Calibri"/>
              </a:rPr>
              <a:t>was überhaupt kommt</a:t>
            </a:r>
          </a:p>
        </p:txBody>
      </p:sp>
      <p:sp>
        <p:nvSpPr>
          <p:cNvPr id="5" name="TextBox 4"/>
          <p:cNvSpPr txBox="1"/>
          <p:nvPr/>
        </p:nvSpPr>
        <p:spPr>
          <a:xfrm>
            <a:off x="548640" y="2084832"/>
            <a:ext cx="822960" cy="640080"/>
          </a:xfrm>
          <a:prstGeom prst="rect">
            <a:avLst/>
          </a:prstGeom>
          <a:noFill/>
        </p:spPr>
        <p:txBody>
          <a:bodyPr wrap="square" anchor="t" lIns="0" rIns="0" tIns="0" bIns="0">
            <a:spAutoFit/>
          </a:bodyPr>
          <a:lstStyle/>
          <a:p>
            <a:r>
              <a:rPr sz="2800" b="1" i="0">
                <a:solidFill>
                  <a:srgbClr val="DC822E"/>
                </a:solidFill>
                <a:latin typeface="Georgia"/>
              </a:rPr>
              <a:t>02</a:t>
            </a:r>
          </a:p>
        </p:txBody>
      </p:sp>
      <p:sp>
        <p:nvSpPr>
          <p:cNvPr id="6" name="TextBox 5"/>
          <p:cNvSpPr txBox="1"/>
          <p:nvPr/>
        </p:nvSpPr>
        <p:spPr>
          <a:xfrm>
            <a:off x="1371600" y="2121408"/>
            <a:ext cx="7223760" cy="713232"/>
          </a:xfrm>
          <a:prstGeom prst="rect">
            <a:avLst/>
          </a:prstGeom>
          <a:noFill/>
        </p:spPr>
        <p:txBody>
          <a:bodyPr wrap="square" anchor="t" lIns="0" rIns="0" tIns="0" bIns="0">
            <a:spAutoFit/>
          </a:bodyPr>
          <a:lstStyle/>
          <a:p>
            <a:r>
              <a:rPr sz="1600" b="1" i="0">
                <a:solidFill>
                  <a:srgbClr val="2C3E50"/>
                </a:solidFill>
                <a:latin typeface="Calibri"/>
              </a:rPr>
              <a:t>Monat</a:t>
            </a:r>
          </a:p>
          <a:p>
            <a:pPr>
              <a:spcBef>
                <a:spcPts val="100"/>
              </a:spcBef>
            </a:pPr>
            <a:r>
              <a:rPr sz="1200" b="0" i="0">
                <a:solidFill>
                  <a:srgbClr val="7A8A95"/>
                </a:solidFill>
                <a:latin typeface="Calibri"/>
              </a:rPr>
              <a:t>1 Fokus + 3 Ziele</a:t>
            </a:r>
          </a:p>
        </p:txBody>
      </p:sp>
      <p:sp>
        <p:nvSpPr>
          <p:cNvPr id="7" name="TextBox 6"/>
          <p:cNvSpPr txBox="1"/>
          <p:nvPr/>
        </p:nvSpPr>
        <p:spPr>
          <a:xfrm>
            <a:off x="548640" y="2798064"/>
            <a:ext cx="822960" cy="640080"/>
          </a:xfrm>
          <a:prstGeom prst="rect">
            <a:avLst/>
          </a:prstGeom>
          <a:noFill/>
        </p:spPr>
        <p:txBody>
          <a:bodyPr wrap="square" anchor="t" lIns="0" rIns="0" tIns="0" bIns="0">
            <a:spAutoFit/>
          </a:bodyPr>
          <a:lstStyle/>
          <a:p>
            <a:r>
              <a:rPr sz="2800" b="1" i="0">
                <a:solidFill>
                  <a:srgbClr val="DC822E"/>
                </a:solidFill>
                <a:latin typeface="Georgia"/>
              </a:rPr>
              <a:t>03</a:t>
            </a:r>
          </a:p>
        </p:txBody>
      </p:sp>
      <p:sp>
        <p:nvSpPr>
          <p:cNvPr id="8" name="TextBox 7"/>
          <p:cNvSpPr txBox="1"/>
          <p:nvPr/>
        </p:nvSpPr>
        <p:spPr>
          <a:xfrm>
            <a:off x="1371600" y="2834640"/>
            <a:ext cx="7223760" cy="713232"/>
          </a:xfrm>
          <a:prstGeom prst="rect">
            <a:avLst/>
          </a:prstGeom>
          <a:noFill/>
        </p:spPr>
        <p:txBody>
          <a:bodyPr wrap="square" anchor="t" lIns="0" rIns="0" tIns="0" bIns="0">
            <a:spAutoFit/>
          </a:bodyPr>
          <a:lstStyle/>
          <a:p>
            <a:r>
              <a:rPr sz="1600" b="1" i="0">
                <a:solidFill>
                  <a:srgbClr val="2C3E50"/>
                </a:solidFill>
                <a:latin typeface="Calibri"/>
              </a:rPr>
              <a:t>Woche</a:t>
            </a:r>
          </a:p>
          <a:p>
            <a:pPr>
              <a:spcBef>
                <a:spcPts val="100"/>
              </a:spcBef>
            </a:pPr>
            <a:r>
              <a:rPr sz="1200" b="0" i="0">
                <a:solidFill>
                  <a:srgbClr val="7A8A95"/>
                </a:solidFill>
                <a:latin typeface="Calibri"/>
              </a:rPr>
              <a:t>deine Bereiche verteilt</a:t>
            </a:r>
          </a:p>
        </p:txBody>
      </p:sp>
      <p:sp>
        <p:nvSpPr>
          <p:cNvPr id="9" name="TextBox 8"/>
          <p:cNvSpPr txBox="1"/>
          <p:nvPr/>
        </p:nvSpPr>
        <p:spPr>
          <a:xfrm>
            <a:off x="548640" y="3511296"/>
            <a:ext cx="822960" cy="640080"/>
          </a:xfrm>
          <a:prstGeom prst="rect">
            <a:avLst/>
          </a:prstGeom>
          <a:noFill/>
        </p:spPr>
        <p:txBody>
          <a:bodyPr wrap="square" anchor="t" lIns="0" rIns="0" tIns="0" bIns="0">
            <a:spAutoFit/>
          </a:bodyPr>
          <a:lstStyle/>
          <a:p>
            <a:r>
              <a:rPr sz="2800" b="1" i="0">
                <a:solidFill>
                  <a:srgbClr val="DC822E"/>
                </a:solidFill>
                <a:latin typeface="Georgia"/>
              </a:rPr>
              <a:t>04</a:t>
            </a:r>
          </a:p>
        </p:txBody>
      </p:sp>
      <p:sp>
        <p:nvSpPr>
          <p:cNvPr id="10" name="TextBox 9"/>
          <p:cNvSpPr txBox="1"/>
          <p:nvPr/>
        </p:nvSpPr>
        <p:spPr>
          <a:xfrm>
            <a:off x="1371600" y="3547872"/>
            <a:ext cx="7223760" cy="713232"/>
          </a:xfrm>
          <a:prstGeom prst="rect">
            <a:avLst/>
          </a:prstGeom>
          <a:noFill/>
        </p:spPr>
        <p:txBody>
          <a:bodyPr wrap="square" anchor="t" lIns="0" rIns="0" tIns="0" bIns="0">
            <a:spAutoFit/>
          </a:bodyPr>
          <a:lstStyle/>
          <a:p>
            <a:r>
              <a:rPr sz="1600" b="1" i="0">
                <a:solidFill>
                  <a:srgbClr val="2C3E50"/>
                </a:solidFill>
                <a:latin typeface="Calibri"/>
              </a:rPr>
              <a:t>Tag</a:t>
            </a:r>
          </a:p>
          <a:p>
            <a:pPr>
              <a:spcBef>
                <a:spcPts val="100"/>
              </a:spcBef>
            </a:pPr>
            <a:r>
              <a:rPr sz="1200" b="0" i="0">
                <a:solidFill>
                  <a:srgbClr val="7A8A95"/>
                </a:solidFill>
                <a:latin typeface="Calibri"/>
              </a:rPr>
              <a:t>deine 3 Hauptaufgaben</a:t>
            </a:r>
          </a:p>
        </p:txBody>
      </p:sp>
      <p:sp>
        <p:nvSpPr>
          <p:cNvPr id="11" name="TextBox 10"/>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3.2</a:t>
            </a:r>
          </a:p>
        </p:txBody>
      </p:sp>
      <p:sp>
        <p:nvSpPr>
          <p:cNvPr id="12" name="TextBox 11"/>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Stufe 1 — Jahr</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1000"/>
              </a:spcAft>
            </a:pPr>
            <a:r>
              <a:rPr sz="2100" b="1" i="0">
                <a:solidFill>
                  <a:srgbClr val="1A3A4A"/>
                </a:solidFill>
                <a:latin typeface="Georgia"/>
              </a:rPr>
              <a:t>Was kommt wann?</a:t>
            </a:r>
          </a:p>
          <a:p>
            <a:pPr>
              <a:spcBef>
                <a:spcPts val="0"/>
              </a:spcBef>
              <a:spcAft>
                <a:spcPts val="900"/>
              </a:spcAft>
            </a:pPr>
            <a:r>
              <a:rPr sz="1600" b="1" i="0">
                <a:solidFill>
                  <a:srgbClr val="DC822E"/>
                </a:solidFill>
                <a:latin typeface="Calibri"/>
              </a:rPr>
              <a:t>▪  </a:t>
            </a:r>
            <a:r>
              <a:rPr sz="1600" b="0" i="0">
                <a:solidFill>
                  <a:srgbClr val="2C3E50"/>
                </a:solidFill>
                <a:latin typeface="Calibri"/>
              </a:rPr>
              <a:t>Produkte · Launches · grosse Themen · Schulferien</a:t>
            </a:r>
          </a:p>
          <a:p>
            <a:pPr>
              <a:spcBef>
                <a:spcPts val="0"/>
              </a:spcBef>
              <a:spcAft>
                <a:spcPts val="800"/>
              </a:spcAft>
            </a:pPr>
            <a:r>
              <a:rPr sz="1400" b="0" i="1">
                <a:solidFill>
                  <a:srgbClr val="7A8A95"/>
                </a:solidFill>
                <a:latin typeface="Calibri"/>
              </a:rPr>
              <a:t>Die grobe Landkarte für dein ganzes Jahr (aus Lektion 3.3).</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3.2</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Stufe 2 — Monat</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900"/>
              </a:spcAft>
            </a:pPr>
            <a:r>
              <a:rPr sz="1600" b="1" i="0">
                <a:solidFill>
                  <a:srgbClr val="DC822E"/>
                </a:solidFill>
                <a:latin typeface="Calibri"/>
              </a:rPr>
              <a:t>▪  </a:t>
            </a:r>
            <a:r>
              <a:rPr sz="1600" b="0" i="0">
                <a:solidFill>
                  <a:srgbClr val="2C3E50"/>
                </a:solidFill>
                <a:latin typeface="Calibri"/>
              </a:rPr>
              <a:t>1 Monatsfokus</a:t>
            </a:r>
          </a:p>
          <a:p>
            <a:pPr>
              <a:spcBef>
                <a:spcPts val="0"/>
              </a:spcBef>
              <a:spcAft>
                <a:spcPts val="900"/>
              </a:spcAft>
            </a:pPr>
            <a:r>
              <a:rPr sz="1600" b="1" i="0">
                <a:solidFill>
                  <a:srgbClr val="DC822E"/>
                </a:solidFill>
                <a:latin typeface="Calibri"/>
              </a:rPr>
              <a:t>▪  </a:t>
            </a:r>
            <a:r>
              <a:rPr sz="1600" b="0" i="0">
                <a:solidFill>
                  <a:srgbClr val="2C3E50"/>
                </a:solidFill>
                <a:latin typeface="Calibri"/>
              </a:rPr>
              <a:t>3 Hauptziele</a:t>
            </a:r>
          </a:p>
          <a:p>
            <a:pPr>
              <a:spcBef>
                <a:spcPts val="0"/>
              </a:spcBef>
              <a:spcAft>
                <a:spcPts val="900"/>
              </a:spcAft>
            </a:pPr>
            <a:r>
              <a:rPr sz="1600" b="1" i="0">
                <a:solidFill>
                  <a:srgbClr val="DC822E"/>
                </a:solidFill>
                <a:latin typeface="Calibri"/>
              </a:rPr>
              <a:t>▪  </a:t>
            </a:r>
            <a:r>
              <a:rPr sz="1600" b="0" i="0">
                <a:solidFill>
                  <a:srgbClr val="2C3E50"/>
                </a:solidFill>
                <a:latin typeface="Calibri"/>
              </a:rPr>
              <a:t>welche Lebens-Bereiche diesen Monat aktiv sind</a:t>
            </a:r>
          </a:p>
          <a:p>
            <a:pPr>
              <a:spcBef>
                <a:spcPts val="0"/>
              </a:spcBef>
              <a:spcAft>
                <a:spcPts val="800"/>
              </a:spcAft>
            </a:pPr>
            <a:r>
              <a:rPr sz="1400" b="0" i="1">
                <a:solidFill>
                  <a:srgbClr val="7A8A95"/>
                </a:solidFill>
                <a:latin typeface="Calibri"/>
              </a:rPr>
              <a:t>Der Monat macht aus dem groben Jahr einen konkreten Fokus.</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3.2</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Stufe 3 — Woche</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900"/>
              </a:spcAft>
            </a:pPr>
            <a:r>
              <a:rPr sz="1600" b="1" i="0">
                <a:solidFill>
                  <a:srgbClr val="DC822E"/>
                </a:solidFill>
                <a:latin typeface="Calibri"/>
              </a:rPr>
              <a:t>▪  </a:t>
            </a:r>
            <a:r>
              <a:rPr sz="1600" b="0" i="0">
                <a:solidFill>
                  <a:srgbClr val="2C3E50"/>
                </a:solidFill>
                <a:latin typeface="Calibri"/>
              </a:rPr>
              <a:t>KW · Fokus-Säule · Power-Zeiten · Hauptziel</a:t>
            </a:r>
          </a:p>
          <a:p>
            <a:pPr>
              <a:spcBef>
                <a:spcPts val="0"/>
              </a:spcBef>
              <a:spcAft>
                <a:spcPts val="900"/>
              </a:spcAft>
            </a:pPr>
            <a:r>
              <a:rPr sz="1600" b="0" i="0">
                <a:solidFill>
                  <a:srgbClr val="2C3E50"/>
                </a:solidFill>
                <a:latin typeface="Calibri"/>
              </a:rPr>
              <a:t>Hier verteilst du deine 6 Lebens-Bereiche auf deine Slots.</a:t>
            </a:r>
          </a:p>
          <a:p>
            <a:pPr>
              <a:spcBef>
                <a:spcPts val="0"/>
              </a:spcBef>
              <a:spcAft>
                <a:spcPts val="800"/>
              </a:spcAft>
            </a:pPr>
            <a:r>
              <a:rPr sz="1400" b="0" i="1">
                <a:solidFill>
                  <a:srgbClr val="7A8A95"/>
                </a:solidFill>
                <a:latin typeface="Calibri"/>
              </a:rPr>
              <a:t>Die Woche ist die Ebene, in der dein Leben wirklich stattfindet.</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3.2</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Stufe 4 — Tag</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900"/>
              </a:spcAft>
            </a:pPr>
            <a:r>
              <a:rPr sz="1600" b="1" i="0">
                <a:solidFill>
                  <a:srgbClr val="DC822E"/>
                </a:solidFill>
                <a:latin typeface="Calibri"/>
              </a:rPr>
              <a:t>▪  </a:t>
            </a:r>
            <a:r>
              <a:rPr sz="1600" b="0" i="0">
                <a:solidFill>
                  <a:srgbClr val="2C3E50"/>
                </a:solidFill>
                <a:latin typeface="Calibri"/>
              </a:rPr>
              <a:t>Datum · Tagesfokus · 3 Hauptaufgaben · kurze Reflexion</a:t>
            </a:r>
          </a:p>
          <a:p>
            <a:pPr>
              <a:spcBef>
                <a:spcPts val="0"/>
              </a:spcBef>
              <a:spcAft>
                <a:spcPts val="900"/>
              </a:spcAft>
            </a:pPr>
            <a:r>
              <a:rPr sz="1600" b="0" i="0">
                <a:solidFill>
                  <a:srgbClr val="2C3E50"/>
                </a:solidFill>
                <a:latin typeface="Calibri"/>
              </a:rPr>
              <a:t>Den Tag planst du in 30 Sekunden, weil die Woche schon steht.</a:t>
            </a:r>
          </a:p>
          <a:p>
            <a:pPr>
              <a:spcBef>
                <a:spcPts val="0"/>
              </a:spcBef>
              <a:spcAft>
                <a:spcPts val="800"/>
              </a:spcAft>
            </a:pPr>
            <a:r>
              <a:rPr sz="1400" b="0" i="1">
                <a:solidFill>
                  <a:srgbClr val="7A8A95"/>
                </a:solidFill>
                <a:latin typeface="Calibri"/>
              </a:rPr>
              <a:t>Genau diese Stufe liest später dein Cockpit-Bot fürs Briefing.</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3.2</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Ziele — dein roter Faden</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1000"/>
              </a:spcAft>
            </a:pPr>
            <a:r>
              <a:rPr sz="2100" b="1" i="0">
                <a:solidFill>
                  <a:srgbClr val="1A3A4A"/>
                </a:solidFill>
                <a:latin typeface="Georgia"/>
              </a:rPr>
              <a:t>Deine 1-3 Ziele laufen quer durch Jahr, Monat und Woche.</a:t>
            </a:r>
          </a:p>
          <a:p>
            <a:pPr>
              <a:spcBef>
                <a:spcPts val="0"/>
              </a:spcBef>
              <a:spcAft>
                <a:spcPts val="900"/>
              </a:spcAft>
            </a:pPr>
            <a:r>
              <a:rPr sz="1600" b="0" i="0">
                <a:solidFill>
                  <a:srgbClr val="2C3E50"/>
                </a:solidFill>
                <a:latin typeface="Calibri"/>
              </a:rPr>
              <a:t>Sie sorgen dafür, dass alles in dieselbe Richtung zeigt.</a:t>
            </a:r>
          </a:p>
          <a:p>
            <a:pPr>
              <a:spcBef>
                <a:spcPts val="0"/>
              </a:spcBef>
              <a:spcAft>
                <a:spcPts val="800"/>
              </a:spcAft>
            </a:pPr>
            <a:r>
              <a:rPr sz="1400" b="0" i="1">
                <a:solidFill>
                  <a:srgbClr val="7A8A95"/>
                </a:solidFill>
                <a:latin typeface="Calibri"/>
              </a:rPr>
              <a:t>Ohne roten Faden verzettelst du dich — mit ihm bleibst du auf Kurs.</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3.2</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822960"/>
          </a:xfrm>
          <a:prstGeom prst="rect">
            <a:avLst/>
          </a:prstGeom>
          <a:noFill/>
        </p:spPr>
        <p:txBody>
          <a:bodyPr wrap="square" anchor="t" lIns="0" rIns="0" tIns="0" bIns="0">
            <a:spAutoFit/>
          </a:bodyPr>
          <a:lstStyle/>
          <a:p>
            <a:r>
              <a:rPr sz="3000" b="1" i="0">
                <a:solidFill>
                  <a:srgbClr val="1A3A4A"/>
                </a:solidFill>
                <a:latin typeface="Georgia"/>
              </a:rPr>
              <a:t>Dein nächster Schritt</a:t>
            </a:r>
          </a:p>
        </p:txBody>
      </p:sp>
      <p:sp>
        <p:nvSpPr>
          <p:cNvPr id="3" name="Rectangle 2"/>
          <p:cNvSpPr/>
          <p:nvPr/>
        </p:nvSpPr>
        <p:spPr>
          <a:xfrm>
            <a:off x="548640" y="1737360"/>
            <a:ext cx="3931920" cy="2743200"/>
          </a:xfrm>
          <a:prstGeom prst="rect">
            <a:avLst/>
          </a:prstGeom>
          <a:solidFill>
            <a:srgbClr val="F1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737360"/>
            <a:ext cx="3931920" cy="91440"/>
          </a:xfrm>
          <a:prstGeom prst="rect">
            <a:avLst/>
          </a:prstGeom>
          <a:solidFill>
            <a:srgbClr val="12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920240"/>
            <a:ext cx="3657600" cy="274320"/>
          </a:xfrm>
          <a:prstGeom prst="rect">
            <a:avLst/>
          </a:prstGeom>
          <a:noFill/>
        </p:spPr>
        <p:txBody>
          <a:bodyPr wrap="square" anchor="t" lIns="0" rIns="0" tIns="0" bIns="0">
            <a:spAutoFit/>
          </a:bodyPr>
          <a:lstStyle/>
          <a:p>
            <a:r>
              <a:rPr sz="1000" b="1" i="0">
                <a:solidFill>
                  <a:srgbClr val="0D6168"/>
                </a:solidFill>
                <a:latin typeface="Calibri"/>
              </a:rPr>
              <a:t>📋  ARBEITSBLATT</a:t>
            </a:r>
          </a:p>
        </p:txBody>
      </p:sp>
      <p:sp>
        <p:nvSpPr>
          <p:cNvPr id="6" name="TextBox 5"/>
          <p:cNvSpPr txBox="1"/>
          <p:nvPr/>
        </p:nvSpPr>
        <p:spPr>
          <a:xfrm>
            <a:off x="731520" y="2286000"/>
            <a:ext cx="3657600" cy="548640"/>
          </a:xfrm>
          <a:prstGeom prst="rect">
            <a:avLst/>
          </a:prstGeom>
          <a:noFill/>
        </p:spPr>
        <p:txBody>
          <a:bodyPr wrap="square" anchor="t" lIns="0" rIns="0" tIns="0" bIns="0">
            <a:spAutoFit/>
          </a:bodyPr>
          <a:lstStyle/>
          <a:p>
            <a:r>
              <a:rPr sz="1600" b="1" i="0">
                <a:solidFill>
                  <a:srgbClr val="1A3A4A"/>
                </a:solidFill>
                <a:latin typeface="Georgia"/>
              </a:rPr>
              <a:t>4 Stufen skizzieren</a:t>
            </a:r>
          </a:p>
        </p:txBody>
      </p:sp>
      <p:sp>
        <p:nvSpPr>
          <p:cNvPr id="7" name="TextBox 6"/>
          <p:cNvSpPr txBox="1"/>
          <p:nvPr/>
        </p:nvSpPr>
        <p:spPr>
          <a:xfrm>
            <a:off x="731520" y="2880360"/>
            <a:ext cx="3566160" cy="1463040"/>
          </a:xfrm>
          <a:prstGeom prst="rect">
            <a:avLst/>
          </a:prstGeom>
          <a:noFill/>
        </p:spPr>
        <p:txBody>
          <a:bodyPr wrap="square" anchor="t" lIns="0" rIns="0" tIns="0" bIns="0">
            <a:spAutoFit/>
          </a:bodyPr>
          <a:lstStyle/>
          <a:p>
            <a:r>
              <a:rPr sz="1250" b="0" i="0">
                <a:solidFill>
                  <a:srgbClr val="2C3E50"/>
                </a:solidFill>
                <a:latin typeface="Calibri"/>
              </a:rPr>
              <a:t>Skizzier deine vier Stufen auf Papier — du musst hier noch nichts in Notion klicken. Das war die Landkarte.</a:t>
            </a:r>
          </a:p>
        </p:txBody>
      </p:sp>
      <p:sp>
        <p:nvSpPr>
          <p:cNvPr id="8" name="Rectangle 7"/>
          <p:cNvSpPr/>
          <p:nvPr/>
        </p:nvSpPr>
        <p:spPr>
          <a:xfrm>
            <a:off x="4663440" y="1737360"/>
            <a:ext cx="3931920" cy="2743200"/>
          </a:xfrm>
          <a:prstGeom prst="rect">
            <a:avLst/>
          </a:prstGeom>
          <a:solidFill>
            <a:srgbClr val="F1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63440" y="1737360"/>
            <a:ext cx="3931920" cy="91440"/>
          </a:xfrm>
          <a:prstGeom prst="rect">
            <a:avLst/>
          </a:prstGeom>
          <a:solidFill>
            <a:srgbClr val="DC8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920240"/>
            <a:ext cx="3657600" cy="274320"/>
          </a:xfrm>
          <a:prstGeom prst="rect">
            <a:avLst/>
          </a:prstGeom>
          <a:noFill/>
        </p:spPr>
        <p:txBody>
          <a:bodyPr wrap="square" anchor="t" lIns="0" rIns="0" tIns="0" bIns="0">
            <a:spAutoFit/>
          </a:bodyPr>
          <a:lstStyle/>
          <a:p>
            <a:r>
              <a:rPr sz="1000" b="1" i="0">
                <a:solidFill>
                  <a:srgbClr val="DC822E"/>
                </a:solidFill>
                <a:latin typeface="Calibri"/>
              </a:rPr>
              <a:t>▶  ALS NÄCHSTES</a:t>
            </a:r>
          </a:p>
        </p:txBody>
      </p:sp>
      <p:sp>
        <p:nvSpPr>
          <p:cNvPr id="11" name="TextBox 10"/>
          <p:cNvSpPr txBox="1"/>
          <p:nvPr/>
        </p:nvSpPr>
        <p:spPr>
          <a:xfrm>
            <a:off x="4846320" y="2286000"/>
            <a:ext cx="3657600" cy="548640"/>
          </a:xfrm>
          <a:prstGeom prst="rect">
            <a:avLst/>
          </a:prstGeom>
          <a:noFill/>
        </p:spPr>
        <p:txBody>
          <a:bodyPr wrap="square" anchor="t" lIns="0" rIns="0" tIns="0" bIns="0">
            <a:spAutoFit/>
          </a:bodyPr>
          <a:lstStyle/>
          <a:p>
            <a:r>
              <a:rPr sz="1600" b="1" i="0">
                <a:solidFill>
                  <a:srgbClr val="1A3A4A"/>
                </a:solidFill>
                <a:latin typeface="Georgia"/>
              </a:rPr>
              <a:t>Lektion 3.5 (MASTERY)</a:t>
            </a:r>
          </a:p>
        </p:txBody>
      </p:sp>
      <p:sp>
        <p:nvSpPr>
          <p:cNvPr id="12" name="TextBox 11"/>
          <p:cNvSpPr txBox="1"/>
          <p:nvPr/>
        </p:nvSpPr>
        <p:spPr>
          <a:xfrm>
            <a:off x="4846320" y="2880360"/>
            <a:ext cx="3566160" cy="1463040"/>
          </a:xfrm>
          <a:prstGeom prst="rect">
            <a:avLst/>
          </a:prstGeom>
          <a:noFill/>
        </p:spPr>
        <p:txBody>
          <a:bodyPr wrap="square" anchor="t" lIns="0" rIns="0" tIns="0" bIns="0">
            <a:spAutoFit/>
          </a:bodyPr>
          <a:lstStyle/>
          <a:p>
            <a:r>
              <a:rPr sz="1250" b="0" i="0">
                <a:solidFill>
                  <a:srgbClr val="2C3E50"/>
                </a:solidFill>
                <a:latin typeface="Calibri"/>
              </a:rPr>
              <a:t>Dein Notion-Template einrichten — da bauen wir alles gemeinsam.</a:t>
            </a:r>
          </a:p>
        </p:txBody>
      </p:sp>
      <p:sp>
        <p:nvSpPr>
          <p:cNvPr id="13" name="TextBox 12"/>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3.2</a:t>
            </a:r>
          </a:p>
        </p:txBody>
      </p:sp>
      <p:sp>
        <p:nvSpPr>
          <p:cNvPr id="14" name="TextBox 13"/>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