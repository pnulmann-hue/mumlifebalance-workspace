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Notion klingt für viele erstmal nach noch einem Tool, das man lernen muss. Ist es nicht. Notion ist dein zweites Gehirn, der Ort an dem dein ganzes Business und dein Familien-Alltag zusammenlaufen, damit du es nicht mehr im Kopf tragen musst.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du irgendwas klickst, will ich dir die Vogelperspektive zeigen. Notion ist nicht noch eine Aufgabe, sondern eine Entlastung. Es ist der Ort, an dem dein Business und dein Familien-Alltag zusammenlaufen, und in der nächsten Lektion bauen wir es dann gemeinsam auf.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Ganz ehrlich: dein Kopf ist der schlechteste Speicherort, den es gibt. Newsletter, Kinderarzt, das Reel für Freitag, der Geburtstag der Schwägerin, das schwirrt alles gleichzeitig herum und frisst Energie. Sobald es in Notion einen Platz hat, darfst du es loslassen.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Notion baut sich in vier Stufen auf, genau wie wir es in der letzten Lektion gesehen haben. Jahr, Monat, Woche, Tag. Jede Stufe füttert die nächste, und genau das nehmen wir uns jetzt einzeln vor.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oberste Stufe ist das Jahr. Hier steht grob, was wann kommt: deine Produkte, deine Launches, deine grossen Themen und natürlich die Schulferien. Das ist genau das, was du in der letzten Lektion erarbeitet hast.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zweite Stufe ist der Monat. Hier holst du dir aus dem Jahr einen einzigen Fokus, dazu drei Ziele, und du entscheidest, welche deiner Lebens-Bereiche diesen Monat überhaupt dran sind. So wird aus dem groben Jahr ein konkreter Monat.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Stufe ist die Woche, und das ist die wichtigste. Jede Woche hat ihre Nummer, ihre Fokus-Säule, deine Power-Zeiten und ein Hauptziel. Und hier verteilst du dann deine Lebens-Bereiche auf deine Slots, genau das schauen wir in der nächsten Lektion noch viel genauer 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unterste Stufe ist der Tag. Datum, Tagesfokus, drei Hauptaufgaben und abends ein, zwei Sätze Reflexion. Den Tag planst du in dreissig Sekunden, weil die ganze Vorarbeit oben schon erledigt ist. Und merk dir diese Stufe, denn genau die liest später dein Cockpit-Bot.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dann gibt es noch eine eigene Ebene, die quer durch alles läuft: deine Ziele. Deine ein bis drei wichtigsten Ziele verknüpfst du mit Jahr, Monat und Woche, und genau das sorgt dafür, dass alles in dieselbe Richtung zeigt und du dich nicht verzettelst.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war die Landkarte. Du musst hier noch nichts in Notion klicken, das machen wir gemeinsam in der MASTERY-Lektion. Skizzier im Arbeitsblatt schon mal deine vier Stufen auf Papier, dann hast du in 3.5 alles parat.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TextBox 1"/>
          <p:cNvSpPr txBox="1"/>
          <p:nvPr/>
        </p:nvSpPr>
        <p:spPr>
          <a:xfrm>
            <a:off x="914400" y="1920240"/>
            <a:ext cx="10332720" cy="914400"/>
          </a:xfrm>
          <a:prstGeom prst="rect">
            <a:avLst/>
          </a:prstGeom>
          <a:noFill/>
        </p:spPr>
        <p:txBody>
          <a:bodyPr wrap="square" anchor="t" lIns="0" rIns="0" tIns="0" bIns="0">
            <a:spAutoFit/>
          </a:bodyPr>
          <a:lstStyle/>
          <a:p>
            <a:pPr algn="l">
              <a:spcBef>
                <a:spcPts val="0"/>
              </a:spcBef>
              <a:spcAft>
                <a:spcPts val="1400"/>
              </a:spcAft>
            </a:pPr>
            <a:r>
              <a:rPr sz="8000" b="1" i="0">
                <a:solidFill>
                  <a:srgbClr val="F1ECDD"/>
                </a:solidFill>
                <a:latin typeface="Georgia"/>
              </a:rPr>
              <a:t>3.2</a:t>
            </a:r>
          </a:p>
        </p:txBody>
      </p:sp>
      <p:sp>
        <p:nvSpPr>
          <p:cNvPr id="3" name="TextBox 2"/>
          <p:cNvSpPr txBox="1"/>
          <p:nvPr/>
        </p:nvSpPr>
        <p:spPr>
          <a:xfrm>
            <a:off x="914400" y="2971800"/>
            <a:ext cx="10332720" cy="1828800"/>
          </a:xfrm>
          <a:prstGeom prst="rect">
            <a:avLst/>
          </a:prstGeom>
          <a:noFill/>
        </p:spPr>
        <p:txBody>
          <a:bodyPr wrap="square" anchor="t" lIns="0" rIns="0" tIns="0" bIns="0">
            <a:spAutoFit/>
          </a:bodyPr>
          <a:lstStyle/>
          <a:p>
            <a:pPr algn="l">
              <a:spcBef>
                <a:spcPts val="0"/>
              </a:spcBef>
              <a:spcAft>
                <a:spcPts val="1400"/>
              </a:spcAft>
            </a:pPr>
            <a:r>
              <a:rPr sz="4200" b="1" i="0">
                <a:solidFill>
                  <a:srgbClr val="FFFFFF"/>
                </a:solidFill>
                <a:latin typeface="Georgia"/>
              </a:rPr>
              <a:t>Notion als Business-Brain</a:t>
            </a:r>
          </a:p>
        </p:txBody>
      </p:sp>
      <p:sp>
        <p:nvSpPr>
          <p:cNvPr id="4" name="TextBox 3"/>
          <p:cNvSpPr txBox="1"/>
          <p:nvPr/>
        </p:nvSpPr>
        <p:spPr>
          <a:xfrm>
            <a:off x="914400" y="4572000"/>
            <a:ext cx="10332720" cy="914400"/>
          </a:xfrm>
          <a:prstGeom prst="rect">
            <a:avLst/>
          </a:prstGeom>
          <a:noFill/>
        </p:spPr>
        <p:txBody>
          <a:bodyPr wrap="square" anchor="t" lIns="0" rIns="0" tIns="0" bIns="0">
            <a:spAutoFit/>
          </a:bodyPr>
          <a:lstStyle/>
          <a:p>
            <a:pPr algn="l">
              <a:spcBef>
                <a:spcPts val="0"/>
              </a:spcBef>
              <a:spcAft>
                <a:spcPts val="1400"/>
              </a:spcAft>
            </a:pPr>
            <a:r>
              <a:rPr sz="2400" b="0" i="1">
                <a:solidFill>
                  <a:srgbClr val="F1ECDD"/>
                </a:solidFill>
                <a:latin typeface="Calibri"/>
              </a:rPr>
              <a:t>Jahr · Monat · Woche · Tag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400"/>
              </a:spcAft>
            </a:pPr>
            <a:r>
              <a:rPr sz="3200" b="1" i="0">
                <a:solidFill>
                  <a:srgbClr val="1F6F6B"/>
                </a:solidFill>
                <a:latin typeface="Georgia"/>
              </a:rPr>
              <a:t>Kein neues Tool — dein zweites Gehirn</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600" b="1" i="0">
                <a:solidFill>
                  <a:srgbClr val="2A2A2A"/>
                </a:solidFill>
                <a:latin typeface="Georgia"/>
              </a:rPr>
              <a:t>Der Ort, an dem Business UND Familien-Alltag zusammenlaufen.</a:t>
            </a:r>
          </a:p>
          <a:p>
            <a:pPr algn="l">
              <a:spcBef>
                <a:spcPts val="0"/>
              </a:spcBef>
              <a:spcAft>
                <a:spcPts val="1400"/>
              </a:spcAft>
            </a:pPr>
            <a:r>
              <a:rPr sz="2100" b="0" i="0">
                <a:solidFill>
                  <a:srgbClr val="2A2A2A"/>
                </a:solidFill>
                <a:latin typeface="Calibri"/>
              </a:rPr>
              <a:t>Damit du es nicht mehr im Kopf tragen musst.</a:t>
            </a:r>
          </a:p>
          <a:p>
            <a:pPr algn="l">
              <a:spcBef>
                <a:spcPts val="0"/>
              </a:spcBef>
              <a:spcAft>
                <a:spcPts val="1400"/>
              </a:spcAft>
            </a:pPr>
            <a:r>
              <a:rPr sz="2000" b="0" i="1">
                <a:solidFill>
                  <a:srgbClr val="6E6E6E"/>
                </a:solidFill>
                <a:latin typeface="Calibri"/>
              </a:rPr>
              <a:t>Diese Lektion ist die Landkarte. Geklickt wird erst in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400"/>
              </a:spcAft>
            </a:pPr>
            <a:r>
              <a:rPr sz="3200" b="1" i="0">
                <a:solidFill>
                  <a:srgbClr val="1F6F6B"/>
                </a:solidFill>
                <a:latin typeface="Georgia"/>
              </a:rPr>
              <a:t>Dein Kopf ist der falsche Speicherort</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Newsletter rausschicken, Termin beim Kinderarzt, Reel für Freitag, Geburtstag der Schwägerin …</a:t>
            </a:r>
          </a:p>
          <a:p>
            <a:pPr algn="l">
              <a:spcBef>
                <a:spcPts val="0"/>
              </a:spcBef>
              <a:spcAft>
                <a:spcPts val="1400"/>
              </a:spcAft>
            </a:pPr>
            <a:r>
              <a:rPr sz="2100" b="0" i="0">
                <a:solidFill>
                  <a:srgbClr val="2A2A2A"/>
                </a:solidFill>
                <a:latin typeface="Calibri"/>
              </a:rPr>
              <a:t>Das alles im Kopf zu tragen, kostet dich jeden Tag Energie.</a:t>
            </a:r>
          </a:p>
          <a:p>
            <a:pPr algn="l">
              <a:spcBef>
                <a:spcPts val="0"/>
              </a:spcBef>
              <a:spcAft>
                <a:spcPts val="1400"/>
              </a:spcAft>
            </a:pPr>
            <a:r>
              <a:rPr sz="2000" b="0" i="1">
                <a:solidFill>
                  <a:srgbClr val="6E6E6E"/>
                </a:solidFill>
                <a:latin typeface="Calibri"/>
              </a:rPr>
              <a:t>Was ein Zuhause ausserhalb deines Kopfes hat, musst du nicht mehr erinnern.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400"/>
              </a:spcAft>
            </a:pPr>
            <a:r>
              <a:rPr sz="3200" b="1" i="0">
                <a:solidFill>
                  <a:srgbClr val="1F6F6B"/>
                </a:solidFill>
                <a:latin typeface="Georgia"/>
              </a:rPr>
              <a:t>Die 4-Stufen-Hierarchie</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JAHR — was überhaupt kommt</a:t>
            </a:r>
          </a:p>
          <a:p>
            <a:pPr algn="l">
              <a:spcBef>
                <a:spcPts val="0"/>
              </a:spcBef>
              <a:spcAft>
                <a:spcPts val="1400"/>
              </a:spcAft>
            </a:pPr>
            <a:r>
              <a:rPr sz="2100" b="0" i="0">
                <a:solidFill>
                  <a:srgbClr val="2A2A2A"/>
                </a:solidFill>
                <a:latin typeface="Calibri"/>
              </a:rPr>
              <a:t>MONAT — 1 Fokus + 3 Ziele</a:t>
            </a:r>
          </a:p>
          <a:p>
            <a:pPr algn="l">
              <a:spcBef>
                <a:spcPts val="0"/>
              </a:spcBef>
              <a:spcAft>
                <a:spcPts val="1400"/>
              </a:spcAft>
            </a:pPr>
            <a:r>
              <a:rPr sz="2100" b="0" i="0">
                <a:solidFill>
                  <a:srgbClr val="2A2A2A"/>
                </a:solidFill>
                <a:latin typeface="Calibri"/>
              </a:rPr>
              <a:t>WOCHE — deine Bereiche verteilt</a:t>
            </a:r>
          </a:p>
          <a:p>
            <a:pPr algn="l">
              <a:spcBef>
                <a:spcPts val="0"/>
              </a:spcBef>
              <a:spcAft>
                <a:spcPts val="1400"/>
              </a:spcAft>
            </a:pPr>
            <a:r>
              <a:rPr sz="2100" b="0" i="0">
                <a:solidFill>
                  <a:srgbClr val="2A2A2A"/>
                </a:solidFill>
                <a:latin typeface="Calibri"/>
              </a:rPr>
              <a:t>TAG — deine 3 Hauptaufgaben</a:t>
            </a:r>
          </a:p>
          <a:p>
            <a:pPr algn="l">
              <a:spcBef>
                <a:spcPts val="0"/>
              </a:spcBef>
              <a:spcAft>
                <a:spcPts val="1400"/>
              </a:spcAft>
            </a:pPr>
            <a:r>
              <a:rPr sz="2000" b="0" i="1">
                <a:solidFill>
                  <a:srgbClr val="6E6E6E"/>
                </a:solidFill>
                <a:latin typeface="Calibri"/>
              </a:rPr>
              <a:t>Vier Stufen, die ineinandergreifen — von oben nach unten.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400"/>
              </a:spcAft>
            </a:pPr>
            <a:r>
              <a:rPr sz="3200" b="1" i="0">
                <a:solidFill>
                  <a:srgbClr val="1F6F6B"/>
                </a:solidFill>
                <a:latin typeface="Georgia"/>
              </a:rPr>
              <a:t>Stufe 1 — Jahr</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600" b="1" i="0">
                <a:solidFill>
                  <a:srgbClr val="2A2A2A"/>
                </a:solidFill>
                <a:latin typeface="Georgia"/>
              </a:rPr>
              <a:t>Was kommt wann?</a:t>
            </a:r>
          </a:p>
          <a:p>
            <a:pPr algn="l">
              <a:spcBef>
                <a:spcPts val="0"/>
              </a:spcBef>
              <a:spcAft>
                <a:spcPts val="1400"/>
              </a:spcAft>
            </a:pPr>
            <a:r>
              <a:rPr sz="2100" b="0" i="0">
                <a:solidFill>
                  <a:srgbClr val="2A2A2A"/>
                </a:solidFill>
                <a:latin typeface="Calibri"/>
              </a:rPr>
              <a:t>Produkte · Launches · grosse Themen · Schulferien</a:t>
            </a:r>
          </a:p>
          <a:p>
            <a:pPr algn="l">
              <a:spcBef>
                <a:spcPts val="0"/>
              </a:spcBef>
              <a:spcAft>
                <a:spcPts val="1400"/>
              </a:spcAft>
            </a:pPr>
            <a:r>
              <a:rPr sz="2000" b="0" i="1">
                <a:solidFill>
                  <a:srgbClr val="6E6E6E"/>
                </a:solidFill>
                <a:latin typeface="Calibri"/>
              </a:rPr>
              <a:t>Die grobe Landkarte für dein ganzes Jahr (aus Lektion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400"/>
              </a:spcAft>
            </a:pPr>
            <a:r>
              <a:rPr sz="3200" b="1" i="0">
                <a:solidFill>
                  <a:srgbClr val="1F6F6B"/>
                </a:solidFill>
                <a:latin typeface="Georgia"/>
              </a:rPr>
              <a:t>Stufe 2 — Monat</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1 Monatsfokus</a:t>
            </a:r>
          </a:p>
          <a:p>
            <a:pPr algn="l">
              <a:spcBef>
                <a:spcPts val="0"/>
              </a:spcBef>
              <a:spcAft>
                <a:spcPts val="1400"/>
              </a:spcAft>
            </a:pPr>
            <a:r>
              <a:rPr sz="2100" b="0" i="0">
                <a:solidFill>
                  <a:srgbClr val="2A2A2A"/>
                </a:solidFill>
                <a:latin typeface="Calibri"/>
              </a:rPr>
              <a:t>3 Hauptziele</a:t>
            </a:r>
          </a:p>
          <a:p>
            <a:pPr algn="l">
              <a:spcBef>
                <a:spcPts val="0"/>
              </a:spcBef>
              <a:spcAft>
                <a:spcPts val="1400"/>
              </a:spcAft>
            </a:pPr>
            <a:r>
              <a:rPr sz="2100" b="0" i="0">
                <a:solidFill>
                  <a:srgbClr val="2A2A2A"/>
                </a:solidFill>
                <a:latin typeface="Calibri"/>
              </a:rPr>
              <a:t>welche Lebens-Bereiche diesen Monat aktiv sind</a:t>
            </a:r>
          </a:p>
          <a:p>
            <a:pPr algn="l">
              <a:spcBef>
                <a:spcPts val="0"/>
              </a:spcBef>
              <a:spcAft>
                <a:spcPts val="1400"/>
              </a:spcAft>
            </a:pPr>
            <a:r>
              <a:rPr sz="2000" b="0" i="1">
                <a:solidFill>
                  <a:srgbClr val="6E6E6E"/>
                </a:solidFill>
                <a:latin typeface="Calibri"/>
              </a:rPr>
              <a:t>Der Monat macht aus dem groben Jahr einen konkreten Fokus.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400"/>
              </a:spcAft>
            </a:pPr>
            <a:r>
              <a:rPr sz="3200" b="1" i="0">
                <a:solidFill>
                  <a:srgbClr val="1F6F6B"/>
                </a:solidFill>
                <a:latin typeface="Georgia"/>
              </a:rPr>
              <a:t>Stufe 3 — Woche</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KW-Nummer · Fokus-Säule · Power-Zeiten · Hauptziel</a:t>
            </a:r>
          </a:p>
          <a:p>
            <a:pPr algn="l">
              <a:spcBef>
                <a:spcPts val="0"/>
              </a:spcBef>
              <a:spcAft>
                <a:spcPts val="1400"/>
              </a:spcAft>
            </a:pPr>
            <a:r>
              <a:rPr sz="2100" b="0" i="0">
                <a:solidFill>
                  <a:srgbClr val="2A2A2A"/>
                </a:solidFill>
                <a:latin typeface="Calibri"/>
              </a:rPr>
              <a:t>Hier verteilst du deine 6 Lebens-Bereiche auf deine Slots.</a:t>
            </a:r>
          </a:p>
          <a:p>
            <a:pPr algn="l">
              <a:spcBef>
                <a:spcPts val="0"/>
              </a:spcBef>
              <a:spcAft>
                <a:spcPts val="1400"/>
              </a:spcAft>
            </a:pPr>
            <a:r>
              <a:rPr sz="2000" b="0" i="1">
                <a:solidFill>
                  <a:srgbClr val="6E6E6E"/>
                </a:solidFill>
                <a:latin typeface="Calibri"/>
              </a:rPr>
              <a:t>Die Woche ist die Ebene, in der dein Leben wirklich stattfindet.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400"/>
              </a:spcAft>
            </a:pPr>
            <a:r>
              <a:rPr sz="3200" b="1" i="0">
                <a:solidFill>
                  <a:srgbClr val="1F6F6B"/>
                </a:solidFill>
                <a:latin typeface="Georgia"/>
              </a:rPr>
              <a:t>Stufe 4 — Tag</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Datum · Tagesfokus · 3 Hauptaufgaben · kurze Reflexion</a:t>
            </a:r>
          </a:p>
          <a:p>
            <a:pPr algn="l">
              <a:spcBef>
                <a:spcPts val="0"/>
              </a:spcBef>
              <a:spcAft>
                <a:spcPts val="1400"/>
              </a:spcAft>
            </a:pPr>
            <a:r>
              <a:rPr sz="2100" b="0" i="0">
                <a:solidFill>
                  <a:srgbClr val="2A2A2A"/>
                </a:solidFill>
                <a:latin typeface="Calibri"/>
              </a:rPr>
              <a:t>Der Tag planst du in 30 Sekunden, weil die Woche schon steht.</a:t>
            </a:r>
          </a:p>
          <a:p>
            <a:pPr algn="l">
              <a:spcBef>
                <a:spcPts val="0"/>
              </a:spcBef>
              <a:spcAft>
                <a:spcPts val="1400"/>
              </a:spcAft>
            </a:pPr>
            <a:r>
              <a:rPr sz="2000" b="0" i="1">
                <a:solidFill>
                  <a:srgbClr val="6E6E6E"/>
                </a:solidFill>
                <a:latin typeface="Calibri"/>
              </a:rPr>
              <a:t>Genau diese Stufe liest später dein Cockpit-Bot fürs Briefing.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400"/>
              </a:spcAft>
            </a:pPr>
            <a:r>
              <a:rPr sz="3200" b="1" i="0">
                <a:solidFill>
                  <a:srgbClr val="1F6F6B"/>
                </a:solidFill>
                <a:latin typeface="Georgia"/>
              </a:rPr>
              <a:t>Ziele — dein roter Faden</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600" b="1" i="0">
                <a:solidFill>
                  <a:srgbClr val="2A2A2A"/>
                </a:solidFill>
                <a:latin typeface="Georgia"/>
              </a:rPr>
              <a:t>Deine 1-3 Ziele laufen quer durch Jahr, Monat und Woche.</a:t>
            </a:r>
          </a:p>
          <a:p>
            <a:pPr algn="l">
              <a:spcBef>
                <a:spcPts val="0"/>
              </a:spcBef>
              <a:spcAft>
                <a:spcPts val="1400"/>
              </a:spcAft>
            </a:pPr>
            <a:r>
              <a:rPr sz="2100" b="0" i="0">
                <a:solidFill>
                  <a:srgbClr val="2A2A2A"/>
                </a:solidFill>
                <a:latin typeface="Calibri"/>
              </a:rPr>
              <a:t>Sie sorgen dafür, dass alles in dieselbe Richtung zeigt.</a:t>
            </a:r>
          </a:p>
          <a:p>
            <a:pPr algn="l">
              <a:spcBef>
                <a:spcPts val="0"/>
              </a:spcBef>
              <a:spcAft>
                <a:spcPts val="1400"/>
              </a:spcAft>
            </a:pPr>
            <a:r>
              <a:rPr sz="2000" b="0" i="1">
                <a:solidFill>
                  <a:srgbClr val="6E6E6E"/>
                </a:solidFill>
                <a:latin typeface="Calibri"/>
              </a:rPr>
              <a:t>Ohne roten Faden verzettelst du dich — mit ihm bleibst du auf Kurs.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TextBox 1"/>
          <p:cNvSpPr txBox="1"/>
          <p:nvPr/>
        </p:nvSpPr>
        <p:spPr>
          <a:xfrm>
            <a:off x="1005840" y="2194560"/>
            <a:ext cx="10149840" cy="2743200"/>
          </a:xfrm>
          <a:prstGeom prst="rect">
            <a:avLst/>
          </a:prstGeom>
          <a:noFill/>
        </p:spPr>
        <p:txBody>
          <a:bodyPr wrap="square" anchor="ctr" lIns="0" rIns="0" tIns="0" bIns="0">
            <a:spAutoFit/>
          </a:bodyPr>
          <a:lstStyle/>
          <a:p>
            <a:pPr algn="l">
              <a:spcBef>
                <a:spcPts val="0"/>
              </a:spcBef>
              <a:spcAft>
                <a:spcPts val="1800"/>
              </a:spcAft>
            </a:pPr>
            <a:r>
              <a:rPr sz="2200" b="0" i="0">
                <a:solidFill>
                  <a:srgbClr val="F1ECDD"/>
                </a:solidFill>
                <a:latin typeface="Calibri"/>
              </a:rPr>
              <a:t>Du musst hier noch nichts klicken.</a:t>
            </a:r>
          </a:p>
          <a:p>
            <a:pPr algn="l">
              <a:spcBef>
                <a:spcPts val="0"/>
              </a:spcBef>
              <a:spcAft>
                <a:spcPts val="1800"/>
              </a:spcAft>
            </a:pPr>
            <a:r>
              <a:rPr sz="3200" b="1" i="0">
                <a:solidFill>
                  <a:srgbClr val="FFFFFF"/>
                </a:solidFill>
                <a:latin typeface="Georgia"/>
              </a:rPr>
              <a:t>Das war die Landkarte — gebaut wird in 3.5.</a:t>
            </a:r>
          </a:p>
          <a:p>
            <a:pPr algn="l">
              <a:spcBef>
                <a:spcPts val="0"/>
              </a:spcBef>
              <a:spcAft>
                <a:spcPts val="1800"/>
              </a:spcAft>
            </a:pPr>
            <a:r>
              <a:rPr sz="2200" b="0" i="0">
                <a:solidFill>
                  <a:srgbClr val="F1ECDD"/>
                </a:solidFill>
                <a:latin typeface="Calibri"/>
              </a:rPr>
              <a:t>📋 Im Arbeitsblatt: skizzier deine 4 Stufen auf Papier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