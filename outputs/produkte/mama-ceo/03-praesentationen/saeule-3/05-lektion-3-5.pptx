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MASTERY-Lektion von Säule 3. Hier bauen wir gemeinsam dein Business-Brain in Notion, und das Schöne ist: du musst nichts von null erstellen, sondern duplizierst mein fertiges Template und füllst es mit allem, was du schon erarbeitet hast.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wir loslegen: du baust hier nichts von null. Du nimmst mein fertiges Template, duplizierst es in dein eigenes Notion und füllst es dann mit allem, was du in den letzten Wochen auf Papier erarbeitet hast. Nimm dir dafür eine ungestörte halbe Stunde und mach am besten direkt mit.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Erster Schritt: du duplizierst mein Template mit einem Klick oben rechts, damit landet alles in deinem eigenen Notion. Dann füllst du die Jahres-Datenbank aus Arbeitsblatt 3.3, danach die Monats-Datenbank aus 3.4 und verknüpfst sie mit dem Jahr. Als Viertes legst du deine aktuelle Woche an mit Kalenderwoche, Fokus-Säule, Power-Zeiten und den aktiven Bereichen.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Fünftens legst du den heutigen Tag als Übung an und verknüpfst ihn mit der Woche. Sechstens kommen deine ein bis drei Ziele rein, verknüpft mit Jahr, Monat und Woche, das ist dein roter Faden. Siebtens legst du deine vier Rollen und dein Hütchen-Inventar als Referenz ab, und zum Schluss stellst du deinen 90-Tage-Tracker scharf.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jetzt kommt der Grund, warum wir das so sauber verknüpfen: weil alles zusammenhängt, kann dein Cockpit-Bot später morgens deinen Tagesplaner lesen und dir per Telegram sagen, was heute dran ist. Den Bot selbst baust du in Säule vier, aber das Fundament dafür legst du genau heute.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Wenn du alle Schritte gemacht hast, steht dein Business-Brain. Hak im Arbeitsblatt jeden Schritt ab, und wenn du irgendwo hängst, notier dir die Frage und bring dein eingerichtetes Notion zum Live-Call zwei mit, da schauen wir gemeinsam drauf. Ich bin stolz auf dich.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Oval 1"/>
          <p:cNvSpPr/>
          <p:nvPr/>
        </p:nvSpPr>
        <p:spPr>
          <a:xfrm>
            <a:off x="6858000" y="3840480"/>
            <a:ext cx="3200400" cy="3200400"/>
          </a:xfrm>
          <a:prstGeom prst="ellipse">
            <a:avLst/>
          </a:prstGeom>
          <a:solidFill>
            <a:srgbClr val="DC8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8046720" cy="365760"/>
          </a:xfrm>
          <a:prstGeom prst="rect">
            <a:avLst/>
          </a:prstGeom>
          <a:noFill/>
        </p:spPr>
        <p:txBody>
          <a:bodyPr wrap="square" anchor="t" lIns="0" rIns="0" tIns="0" bIns="0">
            <a:spAutoFit/>
          </a:bodyPr>
          <a:lstStyle/>
          <a:p>
            <a:r>
              <a:rPr sz="1100" b="1" i="0">
                <a:solidFill>
                  <a:srgbClr val="DC822E"/>
                </a:solidFill>
                <a:latin typeface="Calibri"/>
              </a:rPr>
              <a:t>SÄULE 3 — DU BAUST DIE STRUKTUR · MASTERY</a:t>
            </a:r>
          </a:p>
        </p:txBody>
      </p:sp>
      <p:sp>
        <p:nvSpPr>
          <p:cNvPr id="4" name="Rectangle 3"/>
          <p:cNvSpPr/>
          <p:nvPr/>
        </p:nvSpPr>
        <p:spPr>
          <a:xfrm>
            <a:off x="548640" y="960120"/>
            <a:ext cx="548640" cy="45720"/>
          </a:xfrm>
          <a:prstGeom prst="rect">
            <a:avLst/>
          </a:prstGeom>
          <a:solidFill>
            <a:srgbClr val="DC8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863840" cy="1463040"/>
          </a:xfrm>
          <a:prstGeom prst="rect">
            <a:avLst/>
          </a:prstGeom>
          <a:noFill/>
        </p:spPr>
        <p:txBody>
          <a:bodyPr wrap="square" anchor="t" lIns="0" rIns="0" tIns="0" bIns="0">
            <a:spAutoFit/>
          </a:bodyPr>
          <a:lstStyle/>
          <a:p>
            <a:r>
              <a:rPr sz="4400" b="1" i="0">
                <a:solidFill>
                  <a:srgbClr val="1A3A4A"/>
                </a:solidFill>
                <a:latin typeface="Georgia"/>
              </a:rPr>
              <a:t>Dein Notion-Template einrichten</a:t>
            </a:r>
          </a:p>
        </p:txBody>
      </p:sp>
      <p:sp>
        <p:nvSpPr>
          <p:cNvPr id="6" name="TextBox 5"/>
          <p:cNvSpPr txBox="1"/>
          <p:nvPr/>
        </p:nvSpPr>
        <p:spPr>
          <a:xfrm>
            <a:off x="548640" y="2880360"/>
            <a:ext cx="7680960" cy="1280160"/>
          </a:xfrm>
          <a:prstGeom prst="rect">
            <a:avLst/>
          </a:prstGeom>
          <a:noFill/>
        </p:spPr>
        <p:txBody>
          <a:bodyPr wrap="square" anchor="t" lIns="0" rIns="0" tIns="0" bIns="0">
            <a:spAutoFit/>
          </a:bodyPr>
          <a:lstStyle/>
          <a:p>
            <a:r>
              <a:rPr sz="1800" b="0" i="0">
                <a:solidFill>
                  <a:srgbClr val="2C3E50"/>
                </a:solidFill>
                <a:latin typeface="Georgia"/>
              </a:rPr>
              <a:t>Jetzt bauen wir dein Business-Brain</a:t>
            </a:r>
          </a:p>
        </p:txBody>
      </p:sp>
      <p:sp>
        <p:nvSpPr>
          <p:cNvPr id="7" name="TextBox 6"/>
          <p:cNvSpPr txBox="1"/>
          <p:nvPr/>
        </p:nvSpPr>
        <p:spPr>
          <a:xfrm>
            <a:off x="548640" y="4572000"/>
            <a:ext cx="3657600" cy="365760"/>
          </a:xfrm>
          <a:prstGeom prst="rect">
            <a:avLst/>
          </a:prstGeom>
          <a:noFill/>
        </p:spPr>
        <p:txBody>
          <a:bodyPr wrap="square" anchor="t" lIns="0" rIns="0" tIns="0" bIns="0">
            <a:spAutoFit/>
          </a:bodyPr>
          <a:lstStyle/>
          <a:p>
            <a:r>
              <a:rPr sz="1200" b="1" i="0">
                <a:solidFill>
                  <a:srgbClr val="12828C"/>
                </a:solidFill>
                <a:latin typeface="Calibri"/>
              </a:rPr>
              <a:t>Patricia Ulmann</a:t>
            </a:r>
          </a:p>
        </p:txBody>
      </p:sp>
      <p:sp>
        <p:nvSpPr>
          <p:cNvPr id="8" name="TextBox 7"/>
          <p:cNvSpPr txBox="1"/>
          <p:nvPr/>
        </p:nvSpPr>
        <p:spPr>
          <a:xfrm>
            <a:off x="4937760" y="4572000"/>
            <a:ext cx="3657600" cy="365760"/>
          </a:xfrm>
          <a:prstGeom prst="rect">
            <a:avLst/>
          </a:prstGeom>
          <a:noFill/>
        </p:spPr>
        <p:txBody>
          <a:bodyPr wrap="square" anchor="t" lIns="0" rIns="0" tIns="0" bIns="0">
            <a:spAutoFit/>
          </a:bodyPr>
          <a:lstStyle/>
          <a:p>
            <a:pPr algn="r"/>
            <a:r>
              <a:rPr sz="1100" b="0" i="0">
                <a:solidFill>
                  <a:srgbClr val="7A8A95"/>
                </a:solidFill>
                <a:latin typeface="Calibri"/>
              </a:rPr>
              <a:t>mumlifebalance.ch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nchor="t" lIns="0" rIns="0" tIns="0" bIns="0">
            <a:spAutoFit/>
          </a:bodyPr>
          <a:lstStyle/>
          <a:p>
            <a:r>
              <a:rPr sz="3000" b="1" i="0">
                <a:solidFill>
                  <a:srgbClr val="1A3A4A"/>
                </a:solidFill>
                <a:latin typeface="Georgia"/>
              </a:rPr>
              <a:t>Du baust nichts von null</a:t>
            </a:r>
          </a:p>
        </p:txBody>
      </p:sp>
      <p:sp>
        <p:nvSpPr>
          <p:cNvPr id="3" name="TextBox 2"/>
          <p:cNvSpPr txBox="1"/>
          <p:nvPr/>
        </p:nvSpPr>
        <p:spPr>
          <a:xfrm>
            <a:off x="548640" y="1417320"/>
            <a:ext cx="8046720" cy="3154680"/>
          </a:xfrm>
          <a:prstGeom prst="rect">
            <a:avLst/>
          </a:prstGeom>
          <a:noFill/>
        </p:spPr>
        <p:txBody>
          <a:bodyPr wrap="square" anchor="t" lIns="0" rIns="0" tIns="0" bIns="0">
            <a:spAutoFit/>
          </a:bodyPr>
          <a:lstStyle/>
          <a:p>
            <a:pPr>
              <a:spcBef>
                <a:spcPts val="0"/>
              </a:spcBef>
              <a:spcAft>
                <a:spcPts val="1000"/>
              </a:spcAft>
            </a:pPr>
            <a:r>
              <a:rPr sz="2100" b="1" i="0">
                <a:solidFill>
                  <a:srgbClr val="1A3A4A"/>
                </a:solidFill>
                <a:latin typeface="Georgia"/>
              </a:rPr>
              <a:t>Du duplizierst mein fertiges Master-Template.</a:t>
            </a:r>
          </a:p>
          <a:p>
            <a:pPr>
              <a:spcBef>
                <a:spcPts val="0"/>
              </a:spcBef>
              <a:spcAft>
                <a:spcPts val="900"/>
              </a:spcAft>
            </a:pPr>
            <a:r>
              <a:rPr sz="1600" b="0" i="0">
                <a:solidFill>
                  <a:srgbClr val="2C3E50"/>
                </a:solidFill>
                <a:latin typeface="Calibri"/>
              </a:rPr>
              <a:t>Dann füllst du es mit deinen Arbeitsblättern aus Säule 1, 2 und 3.</a:t>
            </a:r>
          </a:p>
          <a:p>
            <a:pPr>
              <a:spcBef>
                <a:spcPts val="0"/>
              </a:spcBef>
              <a:spcAft>
                <a:spcPts val="800"/>
              </a:spcAft>
            </a:pPr>
            <a:r>
              <a:rPr sz="1400" b="0" i="1">
                <a:solidFill>
                  <a:srgbClr val="7A8A95"/>
                </a:solidFill>
                <a:latin typeface="Calibri"/>
              </a:rPr>
              <a:t>Plan dir 30 Minuten ungestört ein — und mach mit, während du schaust.</a:t>
            </a:r>
          </a:p>
        </p:txBody>
      </p:sp>
      <p:sp>
        <p:nvSpPr>
          <p:cNvPr id="4" name="TextBox 3"/>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3.5</a:t>
            </a:r>
          </a:p>
        </p:txBody>
      </p:sp>
      <p:sp>
        <p:nvSpPr>
          <p:cNvPr id="5" name="TextBox 4"/>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822960"/>
          </a:xfrm>
          <a:prstGeom prst="rect">
            <a:avLst/>
          </a:prstGeom>
          <a:noFill/>
        </p:spPr>
        <p:txBody>
          <a:bodyPr wrap="square" anchor="t" lIns="0" rIns="0" tIns="0" bIns="0">
            <a:spAutoFit/>
          </a:bodyPr>
          <a:lstStyle/>
          <a:p>
            <a:r>
              <a:rPr sz="3000" b="1" i="0">
                <a:solidFill>
                  <a:srgbClr val="1A3A4A"/>
                </a:solidFill>
                <a:latin typeface="Georgia"/>
              </a:rPr>
              <a:t>So richtest du es ein</a:t>
            </a:r>
          </a:p>
        </p:txBody>
      </p:sp>
      <p:sp>
        <p:nvSpPr>
          <p:cNvPr id="3" name="TextBox 2"/>
          <p:cNvSpPr txBox="1"/>
          <p:nvPr/>
        </p:nvSpPr>
        <p:spPr>
          <a:xfrm>
            <a:off x="548640" y="1371600"/>
            <a:ext cx="822960" cy="640080"/>
          </a:xfrm>
          <a:prstGeom prst="rect">
            <a:avLst/>
          </a:prstGeom>
          <a:noFill/>
        </p:spPr>
        <p:txBody>
          <a:bodyPr wrap="square" anchor="t" lIns="0" rIns="0" tIns="0" bIns="0">
            <a:spAutoFit/>
          </a:bodyPr>
          <a:lstStyle/>
          <a:p>
            <a:r>
              <a:rPr sz="2800" b="1" i="0">
                <a:solidFill>
                  <a:srgbClr val="DC822E"/>
                </a:solidFill>
                <a:latin typeface="Georgia"/>
              </a:rPr>
              <a:t>01</a:t>
            </a:r>
          </a:p>
        </p:txBody>
      </p:sp>
      <p:sp>
        <p:nvSpPr>
          <p:cNvPr id="4" name="TextBox 3"/>
          <p:cNvSpPr txBox="1"/>
          <p:nvPr/>
        </p:nvSpPr>
        <p:spPr>
          <a:xfrm>
            <a:off x="1371600" y="1408176"/>
            <a:ext cx="7223760" cy="713232"/>
          </a:xfrm>
          <a:prstGeom prst="rect">
            <a:avLst/>
          </a:prstGeom>
          <a:noFill/>
        </p:spPr>
        <p:txBody>
          <a:bodyPr wrap="square" anchor="t" lIns="0" rIns="0" tIns="0" bIns="0">
            <a:spAutoFit/>
          </a:bodyPr>
          <a:lstStyle/>
          <a:p>
            <a:r>
              <a:rPr sz="1600" b="1" i="0">
                <a:solidFill>
                  <a:srgbClr val="2C3E50"/>
                </a:solidFill>
                <a:latin typeface="Calibri"/>
              </a:rPr>
              <a:t>Template duplizieren</a:t>
            </a:r>
          </a:p>
          <a:p>
            <a:pPr>
              <a:spcBef>
                <a:spcPts val="100"/>
              </a:spcBef>
            </a:pPr>
            <a:r>
              <a:rPr sz="1200" b="0" i="0">
                <a:solidFill>
                  <a:srgbClr val="7A8A95"/>
                </a:solidFill>
                <a:latin typeface="Calibri"/>
              </a:rPr>
              <a:t>1 Klick oben rechts → in deinem Notion</a:t>
            </a:r>
          </a:p>
        </p:txBody>
      </p:sp>
      <p:sp>
        <p:nvSpPr>
          <p:cNvPr id="5" name="TextBox 4"/>
          <p:cNvSpPr txBox="1"/>
          <p:nvPr/>
        </p:nvSpPr>
        <p:spPr>
          <a:xfrm>
            <a:off x="548640" y="2084832"/>
            <a:ext cx="822960" cy="640080"/>
          </a:xfrm>
          <a:prstGeom prst="rect">
            <a:avLst/>
          </a:prstGeom>
          <a:noFill/>
        </p:spPr>
        <p:txBody>
          <a:bodyPr wrap="square" anchor="t" lIns="0" rIns="0" tIns="0" bIns="0">
            <a:spAutoFit/>
          </a:bodyPr>
          <a:lstStyle/>
          <a:p>
            <a:r>
              <a:rPr sz="2800" b="1" i="0">
                <a:solidFill>
                  <a:srgbClr val="DC822E"/>
                </a:solidFill>
                <a:latin typeface="Georgia"/>
              </a:rPr>
              <a:t>02</a:t>
            </a:r>
          </a:p>
        </p:txBody>
      </p:sp>
      <p:sp>
        <p:nvSpPr>
          <p:cNvPr id="6" name="TextBox 5"/>
          <p:cNvSpPr txBox="1"/>
          <p:nvPr/>
        </p:nvSpPr>
        <p:spPr>
          <a:xfrm>
            <a:off x="1371600" y="2121408"/>
            <a:ext cx="7223760" cy="713232"/>
          </a:xfrm>
          <a:prstGeom prst="rect">
            <a:avLst/>
          </a:prstGeom>
          <a:noFill/>
        </p:spPr>
        <p:txBody>
          <a:bodyPr wrap="square" anchor="t" lIns="0" rIns="0" tIns="0" bIns="0">
            <a:spAutoFit/>
          </a:bodyPr>
          <a:lstStyle/>
          <a:p>
            <a:r>
              <a:rPr sz="1600" b="1" i="0">
                <a:solidFill>
                  <a:srgbClr val="2C3E50"/>
                </a:solidFill>
                <a:latin typeface="Calibri"/>
              </a:rPr>
              <a:t>Jahres-DB füllen</a:t>
            </a:r>
          </a:p>
          <a:p>
            <a:pPr>
              <a:spcBef>
                <a:spcPts val="100"/>
              </a:spcBef>
            </a:pPr>
            <a:r>
              <a:rPr sz="1200" b="0" i="0">
                <a:solidFill>
                  <a:srgbClr val="7A8A95"/>
                </a:solidFill>
                <a:latin typeface="Calibri"/>
              </a:rPr>
              <a:t>aus Arbeitsblatt 3.3 (Monats-Trio, Ferien, Anlässe)</a:t>
            </a:r>
          </a:p>
        </p:txBody>
      </p:sp>
      <p:sp>
        <p:nvSpPr>
          <p:cNvPr id="7" name="TextBox 6"/>
          <p:cNvSpPr txBox="1"/>
          <p:nvPr/>
        </p:nvSpPr>
        <p:spPr>
          <a:xfrm>
            <a:off x="548640" y="2798064"/>
            <a:ext cx="822960" cy="640080"/>
          </a:xfrm>
          <a:prstGeom prst="rect">
            <a:avLst/>
          </a:prstGeom>
          <a:noFill/>
        </p:spPr>
        <p:txBody>
          <a:bodyPr wrap="square" anchor="t" lIns="0" rIns="0" tIns="0" bIns="0">
            <a:spAutoFit/>
          </a:bodyPr>
          <a:lstStyle/>
          <a:p>
            <a:r>
              <a:rPr sz="2800" b="1" i="0">
                <a:solidFill>
                  <a:srgbClr val="DC822E"/>
                </a:solidFill>
                <a:latin typeface="Georgia"/>
              </a:rPr>
              <a:t>03</a:t>
            </a:r>
          </a:p>
        </p:txBody>
      </p:sp>
      <p:sp>
        <p:nvSpPr>
          <p:cNvPr id="8" name="TextBox 7"/>
          <p:cNvSpPr txBox="1"/>
          <p:nvPr/>
        </p:nvSpPr>
        <p:spPr>
          <a:xfrm>
            <a:off x="1371600" y="2834640"/>
            <a:ext cx="7223760" cy="713232"/>
          </a:xfrm>
          <a:prstGeom prst="rect">
            <a:avLst/>
          </a:prstGeom>
          <a:noFill/>
        </p:spPr>
        <p:txBody>
          <a:bodyPr wrap="square" anchor="t" lIns="0" rIns="0" tIns="0" bIns="0">
            <a:spAutoFit/>
          </a:bodyPr>
          <a:lstStyle/>
          <a:p>
            <a:r>
              <a:rPr sz="1600" b="1" i="0">
                <a:solidFill>
                  <a:srgbClr val="2C3E50"/>
                </a:solidFill>
                <a:latin typeface="Calibri"/>
              </a:rPr>
              <a:t>Monats-DB füllen</a:t>
            </a:r>
          </a:p>
          <a:p>
            <a:pPr>
              <a:spcBef>
                <a:spcPts val="100"/>
              </a:spcBef>
            </a:pPr>
            <a:r>
              <a:rPr sz="1200" b="0" i="0">
                <a:solidFill>
                  <a:srgbClr val="7A8A95"/>
                </a:solidFill>
                <a:latin typeface="Calibri"/>
              </a:rPr>
              <a:t>aus 3.4 + mit dem Jahr verknüpfen</a:t>
            </a:r>
          </a:p>
        </p:txBody>
      </p:sp>
      <p:sp>
        <p:nvSpPr>
          <p:cNvPr id="9" name="TextBox 8"/>
          <p:cNvSpPr txBox="1"/>
          <p:nvPr/>
        </p:nvSpPr>
        <p:spPr>
          <a:xfrm>
            <a:off x="548640" y="3511296"/>
            <a:ext cx="822960" cy="640080"/>
          </a:xfrm>
          <a:prstGeom prst="rect">
            <a:avLst/>
          </a:prstGeom>
          <a:noFill/>
        </p:spPr>
        <p:txBody>
          <a:bodyPr wrap="square" anchor="t" lIns="0" rIns="0" tIns="0" bIns="0">
            <a:spAutoFit/>
          </a:bodyPr>
          <a:lstStyle/>
          <a:p>
            <a:r>
              <a:rPr sz="2800" b="1" i="0">
                <a:solidFill>
                  <a:srgbClr val="DC822E"/>
                </a:solidFill>
                <a:latin typeface="Georgia"/>
              </a:rPr>
              <a:t>04</a:t>
            </a:r>
          </a:p>
        </p:txBody>
      </p:sp>
      <p:sp>
        <p:nvSpPr>
          <p:cNvPr id="10" name="TextBox 9"/>
          <p:cNvSpPr txBox="1"/>
          <p:nvPr/>
        </p:nvSpPr>
        <p:spPr>
          <a:xfrm>
            <a:off x="1371600" y="3547872"/>
            <a:ext cx="7223760" cy="713232"/>
          </a:xfrm>
          <a:prstGeom prst="rect">
            <a:avLst/>
          </a:prstGeom>
          <a:noFill/>
        </p:spPr>
        <p:txBody>
          <a:bodyPr wrap="square" anchor="t" lIns="0" rIns="0" tIns="0" bIns="0">
            <a:spAutoFit/>
          </a:bodyPr>
          <a:lstStyle/>
          <a:p>
            <a:r>
              <a:rPr sz="1600" b="1" i="0">
                <a:solidFill>
                  <a:srgbClr val="2C3E50"/>
                </a:solidFill>
                <a:latin typeface="Calibri"/>
              </a:rPr>
              <a:t>Wochen-DB anlegen</a:t>
            </a:r>
          </a:p>
          <a:p>
            <a:pPr>
              <a:spcBef>
                <a:spcPts val="100"/>
              </a:spcBef>
            </a:pPr>
            <a:r>
              <a:rPr sz="1200" b="0" i="0">
                <a:solidFill>
                  <a:srgbClr val="7A8A95"/>
                </a:solidFill>
                <a:latin typeface="Calibri"/>
              </a:rPr>
              <a:t>KW · Fokus-Säule · Power-Zeiten · aktive Bereiche</a:t>
            </a:r>
          </a:p>
        </p:txBody>
      </p:sp>
      <p:sp>
        <p:nvSpPr>
          <p:cNvPr id="11" name="TextBox 10"/>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3.5</a:t>
            </a:r>
          </a:p>
        </p:txBody>
      </p:sp>
      <p:sp>
        <p:nvSpPr>
          <p:cNvPr id="12" name="TextBox 11"/>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822960"/>
          </a:xfrm>
          <a:prstGeom prst="rect">
            <a:avLst/>
          </a:prstGeom>
          <a:noFill/>
        </p:spPr>
        <p:txBody>
          <a:bodyPr wrap="square" anchor="t" lIns="0" rIns="0" tIns="0" bIns="0">
            <a:spAutoFit/>
          </a:bodyPr>
          <a:lstStyle/>
          <a:p>
            <a:r>
              <a:rPr sz="3000" b="1" i="0">
                <a:solidFill>
                  <a:srgbClr val="1A3A4A"/>
                </a:solidFill>
                <a:latin typeface="Georgia"/>
              </a:rPr>
              <a:t>So richtest du es ein</a:t>
            </a:r>
          </a:p>
        </p:txBody>
      </p:sp>
      <p:sp>
        <p:nvSpPr>
          <p:cNvPr id="3" name="TextBox 2"/>
          <p:cNvSpPr txBox="1"/>
          <p:nvPr/>
        </p:nvSpPr>
        <p:spPr>
          <a:xfrm>
            <a:off x="548640" y="1188720"/>
            <a:ext cx="8046720" cy="457200"/>
          </a:xfrm>
          <a:prstGeom prst="rect">
            <a:avLst/>
          </a:prstGeom>
          <a:noFill/>
        </p:spPr>
        <p:txBody>
          <a:bodyPr wrap="square" anchor="t" lIns="0" rIns="0" tIns="0" bIns="0">
            <a:spAutoFit/>
          </a:bodyPr>
          <a:lstStyle/>
          <a:p>
            <a:r>
              <a:rPr sz="1300" b="0" i="0">
                <a:solidFill>
                  <a:srgbClr val="7A8A95"/>
                </a:solidFill>
                <a:latin typeface="Calibri"/>
              </a:rPr>
              <a:t>… weiter:</a:t>
            </a:r>
          </a:p>
        </p:txBody>
      </p:sp>
      <p:sp>
        <p:nvSpPr>
          <p:cNvPr id="4" name="TextBox 3"/>
          <p:cNvSpPr txBox="1"/>
          <p:nvPr/>
        </p:nvSpPr>
        <p:spPr>
          <a:xfrm>
            <a:off x="548640" y="1828800"/>
            <a:ext cx="822960" cy="640080"/>
          </a:xfrm>
          <a:prstGeom prst="rect">
            <a:avLst/>
          </a:prstGeom>
          <a:noFill/>
        </p:spPr>
        <p:txBody>
          <a:bodyPr wrap="square" anchor="t" lIns="0" rIns="0" tIns="0" bIns="0">
            <a:spAutoFit/>
          </a:bodyPr>
          <a:lstStyle/>
          <a:p>
            <a:r>
              <a:rPr sz="2800" b="1" i="0">
                <a:solidFill>
                  <a:srgbClr val="DC822E"/>
                </a:solidFill>
                <a:latin typeface="Georgia"/>
              </a:rPr>
              <a:t>01</a:t>
            </a:r>
          </a:p>
        </p:txBody>
      </p:sp>
      <p:sp>
        <p:nvSpPr>
          <p:cNvPr id="5" name="TextBox 4"/>
          <p:cNvSpPr txBox="1"/>
          <p:nvPr/>
        </p:nvSpPr>
        <p:spPr>
          <a:xfrm>
            <a:off x="1371600" y="1865376"/>
            <a:ext cx="7223760" cy="662940"/>
          </a:xfrm>
          <a:prstGeom prst="rect">
            <a:avLst/>
          </a:prstGeom>
          <a:noFill/>
        </p:spPr>
        <p:txBody>
          <a:bodyPr wrap="square" anchor="t" lIns="0" rIns="0" tIns="0" bIns="0">
            <a:spAutoFit/>
          </a:bodyPr>
          <a:lstStyle/>
          <a:p>
            <a:r>
              <a:rPr sz="1600" b="1" i="0">
                <a:solidFill>
                  <a:srgbClr val="2C3E50"/>
                </a:solidFill>
                <a:latin typeface="Calibri"/>
              </a:rPr>
              <a:t>Tagesplaner anlegen</a:t>
            </a:r>
          </a:p>
          <a:p>
            <a:pPr>
              <a:spcBef>
                <a:spcPts val="100"/>
              </a:spcBef>
            </a:pPr>
            <a:r>
              <a:rPr sz="1200" b="0" i="0">
                <a:solidFill>
                  <a:srgbClr val="7A8A95"/>
                </a:solidFill>
                <a:latin typeface="Calibri"/>
              </a:rPr>
              <a:t>heute als Beispiel + mit der Woche verknüpfen</a:t>
            </a:r>
          </a:p>
        </p:txBody>
      </p:sp>
      <p:sp>
        <p:nvSpPr>
          <p:cNvPr id="6" name="TextBox 5"/>
          <p:cNvSpPr txBox="1"/>
          <p:nvPr/>
        </p:nvSpPr>
        <p:spPr>
          <a:xfrm>
            <a:off x="548640" y="2491740"/>
            <a:ext cx="822960" cy="640080"/>
          </a:xfrm>
          <a:prstGeom prst="rect">
            <a:avLst/>
          </a:prstGeom>
          <a:noFill/>
        </p:spPr>
        <p:txBody>
          <a:bodyPr wrap="square" anchor="t" lIns="0" rIns="0" tIns="0" bIns="0">
            <a:spAutoFit/>
          </a:bodyPr>
          <a:lstStyle/>
          <a:p>
            <a:r>
              <a:rPr sz="2800" b="1" i="0">
                <a:solidFill>
                  <a:srgbClr val="DC822E"/>
                </a:solidFill>
                <a:latin typeface="Georgia"/>
              </a:rPr>
              <a:t>02</a:t>
            </a:r>
          </a:p>
        </p:txBody>
      </p:sp>
      <p:sp>
        <p:nvSpPr>
          <p:cNvPr id="7" name="TextBox 6"/>
          <p:cNvSpPr txBox="1"/>
          <p:nvPr/>
        </p:nvSpPr>
        <p:spPr>
          <a:xfrm>
            <a:off x="1371600" y="2528316"/>
            <a:ext cx="7223760" cy="662940"/>
          </a:xfrm>
          <a:prstGeom prst="rect">
            <a:avLst/>
          </a:prstGeom>
          <a:noFill/>
        </p:spPr>
        <p:txBody>
          <a:bodyPr wrap="square" anchor="t" lIns="0" rIns="0" tIns="0" bIns="0">
            <a:spAutoFit/>
          </a:bodyPr>
          <a:lstStyle/>
          <a:p>
            <a:r>
              <a:rPr sz="1600" b="1" i="0">
                <a:solidFill>
                  <a:srgbClr val="2C3E50"/>
                </a:solidFill>
                <a:latin typeface="Calibri"/>
              </a:rPr>
              <a:t>Ziele verknüpfen</a:t>
            </a:r>
          </a:p>
          <a:p>
            <a:pPr>
              <a:spcBef>
                <a:spcPts val="100"/>
              </a:spcBef>
            </a:pPr>
            <a:r>
              <a:rPr sz="1200" b="0" i="0">
                <a:solidFill>
                  <a:srgbClr val="7A8A95"/>
                </a:solidFill>
                <a:latin typeface="Calibri"/>
              </a:rPr>
              <a:t>1-3 Ziele mit Jahr / Monat / Woche</a:t>
            </a:r>
          </a:p>
        </p:txBody>
      </p:sp>
      <p:sp>
        <p:nvSpPr>
          <p:cNvPr id="8" name="TextBox 7"/>
          <p:cNvSpPr txBox="1"/>
          <p:nvPr/>
        </p:nvSpPr>
        <p:spPr>
          <a:xfrm>
            <a:off x="548640" y="3154680"/>
            <a:ext cx="822960" cy="640080"/>
          </a:xfrm>
          <a:prstGeom prst="rect">
            <a:avLst/>
          </a:prstGeom>
          <a:noFill/>
        </p:spPr>
        <p:txBody>
          <a:bodyPr wrap="square" anchor="t" lIns="0" rIns="0" tIns="0" bIns="0">
            <a:spAutoFit/>
          </a:bodyPr>
          <a:lstStyle/>
          <a:p>
            <a:r>
              <a:rPr sz="2800" b="1" i="0">
                <a:solidFill>
                  <a:srgbClr val="DC822E"/>
                </a:solidFill>
                <a:latin typeface="Georgia"/>
              </a:rPr>
              <a:t>03</a:t>
            </a:r>
          </a:p>
        </p:txBody>
      </p:sp>
      <p:sp>
        <p:nvSpPr>
          <p:cNvPr id="9" name="TextBox 8"/>
          <p:cNvSpPr txBox="1"/>
          <p:nvPr/>
        </p:nvSpPr>
        <p:spPr>
          <a:xfrm>
            <a:off x="1371600" y="3191256"/>
            <a:ext cx="7223760" cy="662940"/>
          </a:xfrm>
          <a:prstGeom prst="rect">
            <a:avLst/>
          </a:prstGeom>
          <a:noFill/>
        </p:spPr>
        <p:txBody>
          <a:bodyPr wrap="square" anchor="t" lIns="0" rIns="0" tIns="0" bIns="0">
            <a:spAutoFit/>
          </a:bodyPr>
          <a:lstStyle/>
          <a:p>
            <a:r>
              <a:rPr sz="1600" b="1" i="0">
                <a:solidFill>
                  <a:srgbClr val="2C3E50"/>
                </a:solidFill>
                <a:latin typeface="Calibri"/>
              </a:rPr>
              <a:t>Rollen + Hütchen ablegen</a:t>
            </a:r>
          </a:p>
          <a:p>
            <a:pPr>
              <a:spcBef>
                <a:spcPts val="100"/>
              </a:spcBef>
            </a:pPr>
            <a:r>
              <a:rPr sz="1200" b="0" i="0">
                <a:solidFill>
                  <a:srgbClr val="7A8A95"/>
                </a:solidFill>
                <a:latin typeface="Calibri"/>
              </a:rPr>
              <a:t>deine Arbeit aus Säule 1+2 als Referenz</a:t>
            </a:r>
          </a:p>
        </p:txBody>
      </p:sp>
      <p:sp>
        <p:nvSpPr>
          <p:cNvPr id="10" name="TextBox 9"/>
          <p:cNvSpPr txBox="1"/>
          <p:nvPr/>
        </p:nvSpPr>
        <p:spPr>
          <a:xfrm>
            <a:off x="548640" y="3817620"/>
            <a:ext cx="822960" cy="640080"/>
          </a:xfrm>
          <a:prstGeom prst="rect">
            <a:avLst/>
          </a:prstGeom>
          <a:noFill/>
        </p:spPr>
        <p:txBody>
          <a:bodyPr wrap="square" anchor="t" lIns="0" rIns="0" tIns="0" bIns="0">
            <a:spAutoFit/>
          </a:bodyPr>
          <a:lstStyle/>
          <a:p>
            <a:r>
              <a:rPr sz="2800" b="1" i="0">
                <a:solidFill>
                  <a:srgbClr val="DC822E"/>
                </a:solidFill>
                <a:latin typeface="Georgia"/>
              </a:rPr>
              <a:t>04</a:t>
            </a:r>
          </a:p>
        </p:txBody>
      </p:sp>
      <p:sp>
        <p:nvSpPr>
          <p:cNvPr id="11" name="TextBox 10"/>
          <p:cNvSpPr txBox="1"/>
          <p:nvPr/>
        </p:nvSpPr>
        <p:spPr>
          <a:xfrm>
            <a:off x="1371600" y="3854196"/>
            <a:ext cx="7223760" cy="662940"/>
          </a:xfrm>
          <a:prstGeom prst="rect">
            <a:avLst/>
          </a:prstGeom>
          <a:noFill/>
        </p:spPr>
        <p:txBody>
          <a:bodyPr wrap="square" anchor="t" lIns="0" rIns="0" tIns="0" bIns="0">
            <a:spAutoFit/>
          </a:bodyPr>
          <a:lstStyle/>
          <a:p>
            <a:r>
              <a:rPr sz="1600" b="1" i="0">
                <a:solidFill>
                  <a:srgbClr val="2C3E50"/>
                </a:solidFill>
                <a:latin typeface="Calibri"/>
              </a:rPr>
              <a:t>90-Tage-Tracker scharf stellen</a:t>
            </a:r>
          </a:p>
          <a:p>
            <a:pPr>
              <a:spcBef>
                <a:spcPts val="100"/>
              </a:spcBef>
            </a:pPr>
            <a:r>
              <a:rPr sz="1200" b="0" i="0">
                <a:solidFill>
                  <a:srgbClr val="7A8A95"/>
                </a:solidFill>
                <a:latin typeface="Calibri"/>
              </a:rPr>
              <a:t>dein Mini-Quartals-Plan</a:t>
            </a:r>
          </a:p>
        </p:txBody>
      </p:sp>
      <p:sp>
        <p:nvSpPr>
          <p:cNvPr id="12" name="TextBox 11"/>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3.5</a:t>
            </a:r>
          </a:p>
        </p:txBody>
      </p:sp>
      <p:sp>
        <p:nvSpPr>
          <p:cNvPr id="13" name="TextBox 12"/>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828C"/>
        </a:solidFill>
        <a:effectLst/>
      </p:bgPr>
    </p:bg>
    <p:spTree>
      <p:nvGrpSpPr>
        <p:cNvPr id="1" name=""/>
        <p:cNvGrpSpPr/>
        <p:nvPr/>
      </p:nvGrpSpPr>
      <p:grpSpPr/>
      <p:sp>
        <p:nvSpPr>
          <p:cNvPr id="2" name="TextBox 1"/>
          <p:cNvSpPr txBox="1"/>
          <p:nvPr/>
        </p:nvSpPr>
        <p:spPr>
          <a:xfrm>
            <a:off x="548640" y="1097280"/>
            <a:ext cx="8046720" cy="365760"/>
          </a:xfrm>
          <a:prstGeom prst="rect">
            <a:avLst/>
          </a:prstGeom>
          <a:noFill/>
        </p:spPr>
        <p:txBody>
          <a:bodyPr wrap="square" anchor="t" lIns="0" rIns="0" tIns="0" bIns="0">
            <a:spAutoFit/>
          </a:bodyPr>
          <a:lstStyle/>
          <a:p>
            <a:r>
              <a:rPr sz="1100" b="1" i="0">
                <a:solidFill>
                  <a:srgbClr val="DC822E"/>
                </a:solidFill>
                <a:latin typeface="Calibri"/>
              </a:rPr>
              <a:t>UND DAS BESTE</a:t>
            </a:r>
          </a:p>
        </p:txBody>
      </p:sp>
      <p:sp>
        <p:nvSpPr>
          <p:cNvPr id="3" name="Rectangle 2"/>
          <p:cNvSpPr/>
          <p:nvPr/>
        </p:nvSpPr>
        <p:spPr>
          <a:xfrm>
            <a:off x="548640" y="1554480"/>
            <a:ext cx="548640" cy="45720"/>
          </a:xfrm>
          <a:prstGeom prst="rect">
            <a:avLst/>
          </a:prstGeom>
          <a:solidFill>
            <a:srgbClr val="DC8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920240"/>
            <a:ext cx="8046720" cy="2194560"/>
          </a:xfrm>
          <a:prstGeom prst="rect">
            <a:avLst/>
          </a:prstGeom>
          <a:noFill/>
        </p:spPr>
        <p:txBody>
          <a:bodyPr wrap="square" anchor="t" lIns="0" rIns="0" tIns="0" bIns="0">
            <a:spAutoFit/>
          </a:bodyPr>
          <a:lstStyle/>
          <a:p>
            <a:r>
              <a:rPr sz="2800" b="1" i="0">
                <a:solidFill>
                  <a:srgbClr val="F1ECDD"/>
                </a:solidFill>
                <a:latin typeface="Georgia"/>
              </a:rPr>
              <a:t>Genau das liest später dein Cockpit-Bot.</a:t>
            </a:r>
          </a:p>
        </p:txBody>
      </p:sp>
      <p:sp>
        <p:nvSpPr>
          <p:cNvPr id="5" name="TextBox 4"/>
          <p:cNvSpPr txBox="1"/>
          <p:nvPr/>
        </p:nvSpPr>
        <p:spPr>
          <a:xfrm>
            <a:off x="548640" y="3703320"/>
            <a:ext cx="8046720" cy="731520"/>
          </a:xfrm>
          <a:prstGeom prst="rect">
            <a:avLst/>
          </a:prstGeom>
          <a:noFill/>
        </p:spPr>
        <p:txBody>
          <a:bodyPr wrap="square" anchor="t" lIns="0" rIns="0" tIns="0" bIns="0">
            <a:spAutoFit/>
          </a:bodyPr>
          <a:lstStyle/>
          <a:p>
            <a:r>
              <a:rPr sz="1500" b="0" i="1">
                <a:solidFill>
                  <a:srgbClr val="F1ECDD"/>
                </a:solidFill>
                <a:latin typeface="Calibri"/>
              </a:rPr>
              <a:t>Weil alles verknüpft in Notion steht, brieft er dich morgens per Telegram. (Bot = Säule 4.)</a:t>
            </a:r>
          </a:p>
        </p:txBody>
      </p:sp>
      <p:sp>
        <p:nvSpPr>
          <p:cNvPr id="6" name="TextBox 5"/>
          <p:cNvSpPr txBox="1"/>
          <p:nvPr/>
        </p:nvSpPr>
        <p:spPr>
          <a:xfrm>
            <a:off x="457200" y="4754880"/>
            <a:ext cx="5486400" cy="274320"/>
          </a:xfrm>
          <a:prstGeom prst="rect">
            <a:avLst/>
          </a:prstGeom>
          <a:noFill/>
        </p:spPr>
        <p:txBody>
          <a:bodyPr wrap="square" anchor="t" lIns="0" rIns="0" tIns="0" bIns="0">
            <a:spAutoFit/>
          </a:bodyPr>
          <a:lstStyle/>
          <a:p>
            <a:r>
              <a:rPr sz="900" b="0" i="0">
                <a:solidFill>
                  <a:srgbClr val="F1ECDD"/>
                </a:solidFill>
                <a:latin typeface="Calibri"/>
              </a:rPr>
              <a:t>Mama-CEO · Säule 3 · Lektion 3.5</a:t>
            </a:r>
          </a:p>
        </p:txBody>
      </p:sp>
      <p:sp>
        <p:nvSpPr>
          <p:cNvPr id="7" name="TextBox 6"/>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F1ECDD"/>
                </a:solidFill>
                <a:latin typeface="Calibri"/>
              </a:rPr>
              <a:t>Mum Life Balance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57200"/>
            <a:ext cx="8046720" cy="822960"/>
          </a:xfrm>
          <a:prstGeom prst="rect">
            <a:avLst/>
          </a:prstGeom>
          <a:noFill/>
        </p:spPr>
        <p:txBody>
          <a:bodyPr wrap="square" anchor="t" lIns="0" rIns="0" tIns="0" bIns="0">
            <a:spAutoFit/>
          </a:bodyPr>
          <a:lstStyle/>
          <a:p>
            <a:r>
              <a:rPr sz="3000" b="1" i="0">
                <a:solidFill>
                  <a:srgbClr val="1A3A4A"/>
                </a:solidFill>
                <a:latin typeface="Georgia"/>
              </a:rPr>
              <a:t>Dein nächster Schritt</a:t>
            </a:r>
          </a:p>
        </p:txBody>
      </p:sp>
      <p:sp>
        <p:nvSpPr>
          <p:cNvPr id="3" name="Rectangle 2"/>
          <p:cNvSpPr/>
          <p:nvPr/>
        </p:nvSpPr>
        <p:spPr>
          <a:xfrm>
            <a:off x="548640" y="1737360"/>
            <a:ext cx="3931920" cy="2743200"/>
          </a:xfrm>
          <a:prstGeom prst="rect">
            <a:avLst/>
          </a:prstGeom>
          <a:solidFill>
            <a:srgbClr val="F1EC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737360"/>
            <a:ext cx="3931920" cy="91440"/>
          </a:xfrm>
          <a:prstGeom prst="rect">
            <a:avLst/>
          </a:prstGeom>
          <a:solidFill>
            <a:srgbClr val="1282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3657600" cy="274320"/>
          </a:xfrm>
          <a:prstGeom prst="rect">
            <a:avLst/>
          </a:prstGeom>
          <a:noFill/>
        </p:spPr>
        <p:txBody>
          <a:bodyPr wrap="square" anchor="t" lIns="0" rIns="0" tIns="0" bIns="0">
            <a:spAutoFit/>
          </a:bodyPr>
          <a:lstStyle/>
          <a:p>
            <a:r>
              <a:rPr sz="1000" b="1" i="0">
                <a:solidFill>
                  <a:srgbClr val="0D6168"/>
                </a:solidFill>
                <a:latin typeface="Calibri"/>
              </a:rPr>
              <a:t>📋  ARBEITSBLATT</a:t>
            </a:r>
          </a:p>
        </p:txBody>
      </p:sp>
      <p:sp>
        <p:nvSpPr>
          <p:cNvPr id="6" name="TextBox 5"/>
          <p:cNvSpPr txBox="1"/>
          <p:nvPr/>
        </p:nvSpPr>
        <p:spPr>
          <a:xfrm>
            <a:off x="731520" y="2286000"/>
            <a:ext cx="3657600" cy="548640"/>
          </a:xfrm>
          <a:prstGeom prst="rect">
            <a:avLst/>
          </a:prstGeom>
          <a:noFill/>
        </p:spPr>
        <p:txBody>
          <a:bodyPr wrap="square" anchor="t" lIns="0" rIns="0" tIns="0" bIns="0">
            <a:spAutoFit/>
          </a:bodyPr>
          <a:lstStyle/>
          <a:p>
            <a:r>
              <a:rPr sz="1600" b="1" i="0">
                <a:solidFill>
                  <a:srgbClr val="1A3A4A"/>
                </a:solidFill>
                <a:latin typeface="Georgia"/>
              </a:rPr>
              <a:t>Einricht-Checkliste</a:t>
            </a:r>
          </a:p>
        </p:txBody>
      </p:sp>
      <p:sp>
        <p:nvSpPr>
          <p:cNvPr id="7" name="TextBox 6"/>
          <p:cNvSpPr txBox="1"/>
          <p:nvPr/>
        </p:nvSpPr>
        <p:spPr>
          <a:xfrm>
            <a:off x="731520" y="2880360"/>
            <a:ext cx="3566160" cy="1463040"/>
          </a:xfrm>
          <a:prstGeom prst="rect">
            <a:avLst/>
          </a:prstGeom>
          <a:noFill/>
        </p:spPr>
        <p:txBody>
          <a:bodyPr wrap="square" anchor="t" lIns="0" rIns="0" tIns="0" bIns="0">
            <a:spAutoFit/>
          </a:bodyPr>
          <a:lstStyle/>
          <a:p>
            <a:r>
              <a:rPr sz="1250" b="0" i="0">
                <a:solidFill>
                  <a:srgbClr val="2C3E50"/>
                </a:solidFill>
                <a:latin typeface="Calibri"/>
              </a:rPr>
              <a:t>Hak im Arbeitsblatt jeden Schritt ab. Notier dir deine eine offene Frage für den Live-Call.</a:t>
            </a:r>
          </a:p>
        </p:txBody>
      </p:sp>
      <p:sp>
        <p:nvSpPr>
          <p:cNvPr id="8" name="Rectangle 7"/>
          <p:cNvSpPr/>
          <p:nvPr/>
        </p:nvSpPr>
        <p:spPr>
          <a:xfrm>
            <a:off x="4663440" y="1737360"/>
            <a:ext cx="3931920" cy="2743200"/>
          </a:xfrm>
          <a:prstGeom prst="rect">
            <a:avLst/>
          </a:prstGeom>
          <a:solidFill>
            <a:srgbClr val="F1EC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663440" y="1737360"/>
            <a:ext cx="3931920" cy="91440"/>
          </a:xfrm>
          <a:prstGeom prst="rect">
            <a:avLst/>
          </a:prstGeom>
          <a:solidFill>
            <a:srgbClr val="DC8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46320" y="1920240"/>
            <a:ext cx="3657600" cy="274320"/>
          </a:xfrm>
          <a:prstGeom prst="rect">
            <a:avLst/>
          </a:prstGeom>
          <a:noFill/>
        </p:spPr>
        <p:txBody>
          <a:bodyPr wrap="square" anchor="t" lIns="0" rIns="0" tIns="0" bIns="0">
            <a:spAutoFit/>
          </a:bodyPr>
          <a:lstStyle/>
          <a:p>
            <a:r>
              <a:rPr sz="1000" b="1" i="0">
                <a:solidFill>
                  <a:srgbClr val="DC822E"/>
                </a:solidFill>
                <a:latin typeface="Calibri"/>
              </a:rPr>
              <a:t>▶  ALS NÄCHSTES</a:t>
            </a:r>
          </a:p>
        </p:txBody>
      </p:sp>
      <p:sp>
        <p:nvSpPr>
          <p:cNvPr id="11" name="TextBox 10"/>
          <p:cNvSpPr txBox="1"/>
          <p:nvPr/>
        </p:nvSpPr>
        <p:spPr>
          <a:xfrm>
            <a:off x="4846320" y="2286000"/>
            <a:ext cx="3657600" cy="548640"/>
          </a:xfrm>
          <a:prstGeom prst="rect">
            <a:avLst/>
          </a:prstGeom>
          <a:noFill/>
        </p:spPr>
        <p:txBody>
          <a:bodyPr wrap="square" anchor="t" lIns="0" rIns="0" tIns="0" bIns="0">
            <a:spAutoFit/>
          </a:bodyPr>
          <a:lstStyle/>
          <a:p>
            <a:r>
              <a:rPr sz="1600" b="1" i="0">
                <a:solidFill>
                  <a:srgbClr val="1A3A4A"/>
                </a:solidFill>
                <a:latin typeface="Georgia"/>
              </a:rPr>
              <a:t>Live-Call 2</a:t>
            </a:r>
          </a:p>
        </p:txBody>
      </p:sp>
      <p:sp>
        <p:nvSpPr>
          <p:cNvPr id="12" name="TextBox 11"/>
          <p:cNvSpPr txBox="1"/>
          <p:nvPr/>
        </p:nvSpPr>
        <p:spPr>
          <a:xfrm>
            <a:off x="4846320" y="2880360"/>
            <a:ext cx="3566160" cy="1463040"/>
          </a:xfrm>
          <a:prstGeom prst="rect">
            <a:avLst/>
          </a:prstGeom>
          <a:noFill/>
        </p:spPr>
        <p:txBody>
          <a:bodyPr wrap="square" anchor="t" lIns="0" rIns="0" tIns="0" bIns="0">
            <a:spAutoFit/>
          </a:bodyPr>
          <a:lstStyle/>
          <a:p>
            <a:r>
              <a:rPr sz="1250" b="0" i="0">
                <a:solidFill>
                  <a:srgbClr val="2C3E50"/>
                </a:solidFill>
                <a:latin typeface="Calibri"/>
              </a:rPr>
              <a:t>Notion-Brain-Sprechstunde — bring dein eingerichtetes Notion mit.</a:t>
            </a:r>
          </a:p>
        </p:txBody>
      </p:sp>
      <p:sp>
        <p:nvSpPr>
          <p:cNvPr id="13" name="TextBox 12"/>
          <p:cNvSpPr txBox="1"/>
          <p:nvPr/>
        </p:nvSpPr>
        <p:spPr>
          <a:xfrm>
            <a:off x="457200" y="4754880"/>
            <a:ext cx="5486400" cy="274320"/>
          </a:xfrm>
          <a:prstGeom prst="rect">
            <a:avLst/>
          </a:prstGeom>
          <a:noFill/>
        </p:spPr>
        <p:txBody>
          <a:bodyPr wrap="square" anchor="t" lIns="0" rIns="0" tIns="0" bIns="0">
            <a:spAutoFit/>
          </a:bodyPr>
          <a:lstStyle/>
          <a:p>
            <a:r>
              <a:rPr sz="900" b="0" i="0">
                <a:solidFill>
                  <a:srgbClr val="7A8A95"/>
                </a:solidFill>
                <a:latin typeface="Calibri"/>
              </a:rPr>
              <a:t>Mama-CEO · Säule 3 · Lektion 3.5</a:t>
            </a:r>
          </a:p>
        </p:txBody>
      </p:sp>
      <p:sp>
        <p:nvSpPr>
          <p:cNvPr id="14" name="TextBox 13"/>
          <p:cNvSpPr txBox="1"/>
          <p:nvPr/>
        </p:nvSpPr>
        <p:spPr>
          <a:xfrm>
            <a:off x="6400800" y="4754880"/>
            <a:ext cx="2286000" cy="274320"/>
          </a:xfrm>
          <a:prstGeom prst="rect">
            <a:avLst/>
          </a:prstGeom>
          <a:noFill/>
        </p:spPr>
        <p:txBody>
          <a:bodyPr wrap="square" anchor="t" lIns="0" rIns="0" tIns="0" bIns="0">
            <a:spAutoFit/>
          </a:bodyPr>
          <a:lstStyle/>
          <a:p>
            <a:pPr algn="r"/>
            <a:r>
              <a:rPr sz="900" b="0" i="0">
                <a:solidFill>
                  <a:srgbClr val="7A8A95"/>
                </a:solidFill>
                <a:latin typeface="Calibri"/>
              </a:rPr>
              <a:t>Mum Life Balance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