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die MASTERY-Lektion von Säule 3. Hier bauen wir gemeinsam dein Business-Brain in Notion, und das Schöne ist: du musst nichts von null erstellen, sondern duplizierst mein fertiges Template und füllst es mit allem, was du schon erarbeitet hast.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Bevor wir loslegen: du baust hier nichts von null. Du nimmst mein fertiges Template, duplizierst es in dein eigenes Notion und füllst es dann mit allem, was du in den letzten Wochen auf Papier erarbeitet hast. Nimm dir dafür eine ungestörte halbe Stunde und mach am besten direkt mit.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Erster Schritt: du öffnest mein Template und klickst oben rechts auf Duplicate. Damit landet das komplette Ding in deinem eigenen Notion, mit allen Unterseiten und Datenbanken. Ab jetzt arbeitest du in deiner eigenen Kopie.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Zweiter Schritt: du füllst die Jahres-Datenbank mit dem, was du in Arbeitsblatt 3.3 erarbeitet hast. Dein Monats-Trio, deine Ferien, deine Anlässe. Es muss nicht perfekt sein, grob reicht völlig, das wächst mit der Zeit.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Dritter Schritt: dein Monatsplan aus Arbeitsblatt 3.4 wandert in die Monats-Datenbank. Fokus, drei Ziele, aktive Bereiche. Und ganz wichtig: du verknüpfst den Monat mit dem passenden Jahres-Eintrag, damit die Stufen wirklich zusammenhängen.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Vierter Schritt: du legst deine aktuelle Woche an. Die Kalenderwoche, deine Fokus-Säule, deine Power-Zeiten und die Bereiche, die diese Woche dran sind. Auch hier wieder: verknüpf die Woche mit dem Monat.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Fünfter Schritt: du legst den heutigen Tag an, einfach als Übung. Setz dir einen Tagesfokus und zieh dir drei Hauptaufgaben aus deiner Aufgaben-Liste. Verknüpf den Tag mit der Woche, und schon greift die ganze Kette ineinander.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Sechster Schritt: deine ein bis drei Ziele kommen rein und werden mit Jahr, Monat und Woche verknüpft, das ist dein roter Faden. Dann legst du deine vier Rollen und dein Hütchen-Inventar aus Säule eins und zwei als Referenz ab, und zum Schluss stellst du deinen 90-Tage-Tracker scharf.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kommt der Grund, warum wir das so sauber verknüpfen: weil alles zusammenhängt, kann dein Cockpit-Bot später morgens deinen Tagesplaner lesen und dir per Telegram sagen, was heute dran ist. Den Bot selbst baust du in Säule vier, aber das Fundament dafür legst du genau heute.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Wenn du alle Schritte gemacht hast, steht dein Business-Brain. Hak im Arbeitsblatt jeden Schritt ab, und wenn du irgendwo hängst, notier dir die Frage und bring dein eingerichtetes Notion zum Live-Call zwei mit, da schauen wir gemeinsam drauf. Ich bin stolz auf dich.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6F6B"/>
        </a:solidFill>
        <a:effectLst/>
      </p:bgPr>
    </p:bg>
    <p:spTree>
      <p:nvGrpSpPr>
        <p:cNvPr id="1" name=""/>
        <p:cNvGrpSpPr/>
        <p:nvPr/>
      </p:nvGrpSpPr>
      <p:grpSpPr/>
      <p:sp>
        <p:nvSpPr>
          <p:cNvPr id="2" name="TextBox 1"/>
          <p:cNvSpPr txBox="1"/>
          <p:nvPr/>
        </p:nvSpPr>
        <p:spPr>
          <a:xfrm>
            <a:off x="914400" y="1920240"/>
            <a:ext cx="10332720" cy="914400"/>
          </a:xfrm>
          <a:prstGeom prst="rect">
            <a:avLst/>
          </a:prstGeom>
          <a:noFill/>
        </p:spPr>
        <p:txBody>
          <a:bodyPr wrap="square" anchor="t" lIns="0" rIns="0" tIns="0" bIns="0">
            <a:spAutoFit/>
          </a:bodyPr>
          <a:lstStyle/>
          <a:p>
            <a:pPr algn="l">
              <a:spcBef>
                <a:spcPts val="0"/>
              </a:spcBef>
              <a:spcAft>
                <a:spcPts val="1400"/>
              </a:spcAft>
            </a:pPr>
            <a:r>
              <a:rPr sz="8000" b="1" i="0">
                <a:solidFill>
                  <a:srgbClr val="F1ECDD"/>
                </a:solidFill>
                <a:latin typeface="Georgia"/>
              </a:rPr>
              <a:t>3.5</a:t>
            </a:r>
          </a:p>
        </p:txBody>
      </p:sp>
      <p:sp>
        <p:nvSpPr>
          <p:cNvPr id="3" name="TextBox 2"/>
          <p:cNvSpPr txBox="1"/>
          <p:nvPr/>
        </p:nvSpPr>
        <p:spPr>
          <a:xfrm>
            <a:off x="914400" y="2971800"/>
            <a:ext cx="10332720" cy="1828800"/>
          </a:xfrm>
          <a:prstGeom prst="rect">
            <a:avLst/>
          </a:prstGeom>
          <a:noFill/>
        </p:spPr>
        <p:txBody>
          <a:bodyPr wrap="square" anchor="t" lIns="0" rIns="0" tIns="0" bIns="0">
            <a:spAutoFit/>
          </a:bodyPr>
          <a:lstStyle/>
          <a:p>
            <a:pPr algn="l">
              <a:spcBef>
                <a:spcPts val="0"/>
              </a:spcBef>
              <a:spcAft>
                <a:spcPts val="1400"/>
              </a:spcAft>
            </a:pPr>
            <a:r>
              <a:rPr sz="4200" b="1" i="0">
                <a:solidFill>
                  <a:srgbClr val="FFFFFF"/>
                </a:solidFill>
                <a:latin typeface="Georgia"/>
              </a:rPr>
              <a:t>MASTERY · Dein Notion-Template einrichten</a:t>
            </a:r>
          </a:p>
        </p:txBody>
      </p:sp>
      <p:sp>
        <p:nvSpPr>
          <p:cNvPr id="4" name="TextBox 3"/>
          <p:cNvSpPr txBox="1"/>
          <p:nvPr/>
        </p:nvSpPr>
        <p:spPr>
          <a:xfrm>
            <a:off x="914400" y="4572000"/>
            <a:ext cx="10332720" cy="914400"/>
          </a:xfrm>
          <a:prstGeom prst="rect">
            <a:avLst/>
          </a:prstGeom>
          <a:noFill/>
        </p:spPr>
        <p:txBody>
          <a:bodyPr wrap="square" anchor="t" lIns="0" rIns="0" tIns="0" bIns="0">
            <a:spAutoFit/>
          </a:bodyPr>
          <a:lstStyle/>
          <a:p>
            <a:pPr algn="l">
              <a:spcBef>
                <a:spcPts val="0"/>
              </a:spcBef>
              <a:spcAft>
                <a:spcPts val="1400"/>
              </a:spcAft>
            </a:pPr>
            <a:r>
              <a:rPr sz="2400" b="0" i="1">
                <a:solidFill>
                  <a:srgbClr val="F1ECDD"/>
                </a:solidFill>
                <a:latin typeface="Calibri"/>
              </a:rPr>
              <a:t>Jetzt bauen wir dein Business-Brain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400"/>
              </a:spcAft>
            </a:pPr>
            <a:r>
              <a:rPr sz="3200" b="1" i="0">
                <a:solidFill>
                  <a:srgbClr val="1F6F6B"/>
                </a:solidFill>
                <a:latin typeface="Georgia"/>
              </a:rPr>
              <a:t>Du baust nichts von null</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600" b="1" i="0">
                <a:solidFill>
                  <a:srgbClr val="2A2A2A"/>
                </a:solidFill>
                <a:latin typeface="Georgia"/>
              </a:rPr>
              <a:t>Du duplizierst mein fertiges Master-Template.</a:t>
            </a:r>
          </a:p>
          <a:p>
            <a:pPr algn="l">
              <a:spcBef>
                <a:spcPts val="0"/>
              </a:spcBef>
              <a:spcAft>
                <a:spcPts val="1400"/>
              </a:spcAft>
            </a:pPr>
            <a:r>
              <a:rPr sz="2100" b="0" i="0">
                <a:solidFill>
                  <a:srgbClr val="2A2A2A"/>
                </a:solidFill>
                <a:latin typeface="Calibri"/>
              </a:rPr>
              <a:t>Dann füllst du es mit deinen Arbeitsblättern aus Säule 1, 2 und 3.</a:t>
            </a:r>
          </a:p>
          <a:p>
            <a:pPr algn="l">
              <a:spcBef>
                <a:spcPts val="0"/>
              </a:spcBef>
              <a:spcAft>
                <a:spcPts val="1400"/>
              </a:spcAft>
            </a:pPr>
            <a:r>
              <a:rPr sz="2000" b="0" i="1">
                <a:solidFill>
                  <a:srgbClr val="6E6E6E"/>
                </a:solidFill>
                <a:latin typeface="Calibri"/>
              </a:rPr>
              <a:t>Plan dir 30 Minuten ungestört ein — und mach mit, während du schaust.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400"/>
              </a:spcAft>
            </a:pPr>
            <a:r>
              <a:rPr sz="3200" b="1" i="0">
                <a:solidFill>
                  <a:srgbClr val="1F6F6B"/>
                </a:solidFill>
                <a:latin typeface="Georgia"/>
              </a:rPr>
              <a:t>Schritt 1 — Template duplizieren</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200" b="1" i="0">
                <a:solidFill>
                  <a:srgbClr val="1F6F6B"/>
                </a:solidFill>
                <a:latin typeface="Calibri"/>
              </a:rPr>
              <a:t>Ein Klick oben rechts auf „Duplicate“.</a:t>
            </a:r>
          </a:p>
          <a:p>
            <a:pPr algn="l">
              <a:spcBef>
                <a:spcPts val="0"/>
              </a:spcBef>
              <a:spcAft>
                <a:spcPts val="1400"/>
              </a:spcAft>
            </a:pPr>
            <a:r>
              <a:rPr sz="2100" b="0" i="0">
                <a:solidFill>
                  <a:srgbClr val="2A2A2A"/>
                </a:solidFill>
                <a:latin typeface="Calibri"/>
              </a:rPr>
              <a:t>Das ganze Template landet in deinem eigenen Notion — mit allen Datenbanken.</a:t>
            </a:r>
          </a:p>
          <a:p>
            <a:pPr algn="l">
              <a:spcBef>
                <a:spcPts val="0"/>
              </a:spcBef>
              <a:spcAft>
                <a:spcPts val="1400"/>
              </a:spcAft>
            </a:pPr>
            <a:r>
              <a:rPr sz="2000" b="0" i="1">
                <a:solidFill>
                  <a:srgbClr val="6E6E6E"/>
                </a:solidFill>
                <a:latin typeface="Calibri"/>
              </a:rPr>
              <a:t>Deine Kopie, deine Daten.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400"/>
              </a:spcAft>
            </a:pPr>
            <a:r>
              <a:rPr sz="3200" b="1" i="0">
                <a:solidFill>
                  <a:srgbClr val="1F6F6B"/>
                </a:solidFill>
                <a:latin typeface="Georgia"/>
              </a:rPr>
              <a:t>Schritt 2 — Jahres-DB füllen</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200" b="1" i="0">
                <a:solidFill>
                  <a:srgbClr val="1F6F6B"/>
                </a:solidFill>
                <a:latin typeface="Calibri"/>
              </a:rPr>
              <a:t>Trag deine Jahres-Strategie aus Arbeitsblatt 3.3 ein.</a:t>
            </a:r>
          </a:p>
          <a:p>
            <a:pPr algn="l">
              <a:spcBef>
                <a:spcPts val="0"/>
              </a:spcBef>
              <a:spcAft>
                <a:spcPts val="1400"/>
              </a:spcAft>
            </a:pPr>
            <a:r>
              <a:rPr sz="2100" b="0" i="0">
                <a:solidFill>
                  <a:srgbClr val="2A2A2A"/>
                </a:solidFill>
                <a:latin typeface="Calibri"/>
              </a:rPr>
              <a:t>Monats-Trio (Gratis · Mini · Gross), Ferien, Anlässe.</a:t>
            </a:r>
          </a:p>
          <a:p>
            <a:pPr algn="l">
              <a:spcBef>
                <a:spcPts val="0"/>
              </a:spcBef>
              <a:spcAft>
                <a:spcPts val="1400"/>
              </a:spcAft>
            </a:pPr>
            <a:r>
              <a:rPr sz="2000" b="0" i="1">
                <a:solidFill>
                  <a:srgbClr val="6E6E6E"/>
                </a:solidFill>
                <a:latin typeface="Calibri"/>
              </a:rPr>
              <a:t>Grob reicht — es darf wachsen.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400"/>
              </a:spcAft>
            </a:pPr>
            <a:r>
              <a:rPr sz="3200" b="1" i="0">
                <a:solidFill>
                  <a:srgbClr val="1F6F6B"/>
                </a:solidFill>
                <a:latin typeface="Georgia"/>
              </a:rPr>
              <a:t>Schritt 3 — Monats-DB füllen</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200" b="1" i="0">
                <a:solidFill>
                  <a:srgbClr val="1F6F6B"/>
                </a:solidFill>
                <a:latin typeface="Calibri"/>
              </a:rPr>
              <a:t>Übertrag deinen Monatsplan aus Arbeitsblatt 3.4.</a:t>
            </a:r>
          </a:p>
          <a:p>
            <a:pPr algn="l">
              <a:spcBef>
                <a:spcPts val="0"/>
              </a:spcBef>
              <a:spcAft>
                <a:spcPts val="1400"/>
              </a:spcAft>
            </a:pPr>
            <a:r>
              <a:rPr sz="2100" b="0" i="0">
                <a:solidFill>
                  <a:srgbClr val="2A2A2A"/>
                </a:solidFill>
                <a:latin typeface="Calibri"/>
              </a:rPr>
              <a:t>Fokus + 3 Ziele + aktive Bereiche.</a:t>
            </a:r>
          </a:p>
          <a:p>
            <a:pPr algn="l">
              <a:spcBef>
                <a:spcPts val="0"/>
              </a:spcBef>
              <a:spcAft>
                <a:spcPts val="1400"/>
              </a:spcAft>
            </a:pPr>
            <a:r>
              <a:rPr sz="2000" b="0" i="1">
                <a:solidFill>
                  <a:srgbClr val="6E6E6E"/>
                </a:solidFill>
                <a:latin typeface="Calibri"/>
              </a:rPr>
              <a:t>Verknüpf den Monat mit dem passenden Jahr-Eintrag.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400"/>
              </a:spcAft>
            </a:pPr>
            <a:r>
              <a:rPr sz="3200" b="1" i="0">
                <a:solidFill>
                  <a:srgbClr val="1F6F6B"/>
                </a:solidFill>
                <a:latin typeface="Georgia"/>
              </a:rPr>
              <a:t>Schritt 4 — Wochen-DB anlegen</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200" b="1" i="0">
                <a:solidFill>
                  <a:srgbClr val="1F6F6B"/>
                </a:solidFill>
                <a:latin typeface="Calibri"/>
              </a:rPr>
              <a:t>Leg deine aktuelle Woche an.</a:t>
            </a:r>
          </a:p>
          <a:p>
            <a:pPr algn="l">
              <a:spcBef>
                <a:spcPts val="0"/>
              </a:spcBef>
              <a:spcAft>
                <a:spcPts val="1400"/>
              </a:spcAft>
            </a:pPr>
            <a:r>
              <a:rPr sz="2100" b="0" i="0">
                <a:solidFill>
                  <a:srgbClr val="2A2A2A"/>
                </a:solidFill>
                <a:latin typeface="Calibri"/>
              </a:rPr>
              <a:t>KW · Fokus-Säule · Power-Zeiten · aktive Bereiche.</a:t>
            </a:r>
          </a:p>
          <a:p>
            <a:pPr algn="l">
              <a:spcBef>
                <a:spcPts val="0"/>
              </a:spcBef>
              <a:spcAft>
                <a:spcPts val="1400"/>
              </a:spcAft>
            </a:pPr>
            <a:r>
              <a:rPr sz="2000" b="0" i="1">
                <a:solidFill>
                  <a:srgbClr val="6E6E6E"/>
                </a:solidFill>
                <a:latin typeface="Calibri"/>
              </a:rPr>
              <a:t>Verknüpf die Woche mit dem Monat.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400"/>
              </a:spcAft>
            </a:pPr>
            <a:r>
              <a:rPr sz="3200" b="1" i="0">
                <a:solidFill>
                  <a:srgbClr val="1F6F6B"/>
                </a:solidFill>
                <a:latin typeface="Georgia"/>
              </a:rPr>
              <a:t>Schritt 5 — Tagesplaner</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200" b="1" i="0">
                <a:solidFill>
                  <a:srgbClr val="1F6F6B"/>
                </a:solidFill>
                <a:latin typeface="Calibri"/>
              </a:rPr>
              <a:t>Leg den heutigen Tag als Beispiel an.</a:t>
            </a:r>
          </a:p>
          <a:p>
            <a:pPr algn="l">
              <a:spcBef>
                <a:spcPts val="0"/>
              </a:spcBef>
              <a:spcAft>
                <a:spcPts val="1400"/>
              </a:spcAft>
            </a:pPr>
            <a:r>
              <a:rPr sz="2100" b="0" i="0">
                <a:solidFill>
                  <a:srgbClr val="2A2A2A"/>
                </a:solidFill>
                <a:latin typeface="Calibri"/>
              </a:rPr>
              <a:t>Tagesfokus + 3 Hauptaufgaben aus deiner Aufgaben-Liste.</a:t>
            </a:r>
          </a:p>
          <a:p>
            <a:pPr algn="l">
              <a:spcBef>
                <a:spcPts val="0"/>
              </a:spcBef>
              <a:spcAft>
                <a:spcPts val="1400"/>
              </a:spcAft>
            </a:pPr>
            <a:r>
              <a:rPr sz="2000" b="0" i="1">
                <a:solidFill>
                  <a:srgbClr val="6E6E6E"/>
                </a:solidFill>
                <a:latin typeface="Calibri"/>
              </a:rPr>
              <a:t>Verknüpf den Tag mit der Woche.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400"/>
              </a:spcAft>
            </a:pPr>
            <a:r>
              <a:rPr sz="3200" b="1" i="0">
                <a:solidFill>
                  <a:srgbClr val="1F6F6B"/>
                </a:solidFill>
                <a:latin typeface="Georgia"/>
              </a:rPr>
              <a:t>Schritt 6 — Ziele + deine Arbeit aus S1+S2</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200" b="1" i="0">
                <a:solidFill>
                  <a:srgbClr val="1F6F6B"/>
                </a:solidFill>
                <a:latin typeface="Calibri"/>
              </a:rPr>
              <a:t>Trag deine 1-3 Ziele ein und verknüpf sie mit Jahr/Monat/Woche.</a:t>
            </a:r>
          </a:p>
          <a:p>
            <a:pPr algn="l">
              <a:spcBef>
                <a:spcPts val="0"/>
              </a:spcBef>
              <a:spcAft>
                <a:spcPts val="1400"/>
              </a:spcAft>
            </a:pPr>
            <a:r>
              <a:rPr sz="2100" b="0" i="0">
                <a:solidFill>
                  <a:srgbClr val="2A2A2A"/>
                </a:solidFill>
                <a:latin typeface="Calibri"/>
              </a:rPr>
              <a:t>Leg deine 4 Rollen + dein Hütchen-Inventar als Referenz ab.</a:t>
            </a:r>
          </a:p>
          <a:p>
            <a:pPr algn="l">
              <a:spcBef>
                <a:spcPts val="0"/>
              </a:spcBef>
              <a:spcAft>
                <a:spcPts val="1400"/>
              </a:spcAft>
            </a:pPr>
            <a:r>
              <a:rPr sz="2000" b="0" i="1">
                <a:solidFill>
                  <a:srgbClr val="6E6E6E"/>
                </a:solidFill>
                <a:latin typeface="Calibri"/>
              </a:rPr>
              <a:t>Stell deinen 90-Tage-Tracker scharf.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400"/>
              </a:spcAft>
            </a:pPr>
            <a:r>
              <a:rPr sz="3200" b="1" i="0">
                <a:solidFill>
                  <a:srgbClr val="1F6F6B"/>
                </a:solidFill>
                <a:latin typeface="Georgia"/>
              </a:rPr>
              <a:t>Genau das liest dein Cockpit-Bot</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100" b="0" i="0">
                <a:solidFill>
                  <a:srgbClr val="2A2A2A"/>
                </a:solidFill>
                <a:latin typeface="Calibri"/>
              </a:rPr>
              <a:t>Weil alles verknüpft in Notion steht …</a:t>
            </a:r>
          </a:p>
          <a:p>
            <a:pPr algn="l">
              <a:spcBef>
                <a:spcPts val="0"/>
              </a:spcBef>
              <a:spcAft>
                <a:spcPts val="1400"/>
              </a:spcAft>
            </a:pPr>
            <a:r>
              <a:rPr sz="2600" b="1" i="0">
                <a:solidFill>
                  <a:srgbClr val="2A2A2A"/>
                </a:solidFill>
                <a:latin typeface="Georgia"/>
              </a:rPr>
              <a:t>… kann dich dein Cockpit-Bot morgens per Telegram briefen.</a:t>
            </a:r>
          </a:p>
          <a:p>
            <a:pPr algn="l">
              <a:spcBef>
                <a:spcPts val="0"/>
              </a:spcBef>
              <a:spcAft>
                <a:spcPts val="1400"/>
              </a:spcAft>
            </a:pPr>
            <a:r>
              <a:rPr sz="2000" b="0" i="1">
                <a:solidFill>
                  <a:srgbClr val="6E6E6E"/>
                </a:solidFill>
                <a:latin typeface="Calibri"/>
              </a:rPr>
              <a:t>Den Bot baust du in Säule 4 — das Fundament dafür legst du heute.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6F6B"/>
        </a:solidFill>
        <a:effectLst/>
      </p:bgPr>
    </p:bg>
    <p:spTree>
      <p:nvGrpSpPr>
        <p:cNvPr id="1" name=""/>
        <p:cNvGrpSpPr/>
        <p:nvPr/>
      </p:nvGrpSpPr>
      <p:grpSpPr/>
      <p:sp>
        <p:nvSpPr>
          <p:cNvPr id="2" name="TextBox 1"/>
          <p:cNvSpPr txBox="1"/>
          <p:nvPr/>
        </p:nvSpPr>
        <p:spPr>
          <a:xfrm>
            <a:off x="1005840" y="2194560"/>
            <a:ext cx="10149840" cy="2743200"/>
          </a:xfrm>
          <a:prstGeom prst="rect">
            <a:avLst/>
          </a:prstGeom>
          <a:noFill/>
        </p:spPr>
        <p:txBody>
          <a:bodyPr wrap="square" anchor="ctr" lIns="0" rIns="0" tIns="0" bIns="0">
            <a:spAutoFit/>
          </a:bodyPr>
          <a:lstStyle/>
          <a:p>
            <a:pPr algn="l">
              <a:spcBef>
                <a:spcPts val="0"/>
              </a:spcBef>
              <a:spcAft>
                <a:spcPts val="1800"/>
              </a:spcAft>
            </a:pPr>
            <a:r>
              <a:rPr sz="3200" b="1" i="0">
                <a:solidFill>
                  <a:srgbClr val="FFFFFF"/>
                </a:solidFill>
                <a:latin typeface="Georgia"/>
              </a:rPr>
              <a:t>Dein Business-Brain steht. 🎯</a:t>
            </a:r>
          </a:p>
          <a:p>
            <a:pPr algn="l">
              <a:spcBef>
                <a:spcPts val="0"/>
              </a:spcBef>
              <a:spcAft>
                <a:spcPts val="1800"/>
              </a:spcAft>
            </a:pPr>
            <a:r>
              <a:rPr sz="2200" b="0" i="0">
                <a:solidFill>
                  <a:srgbClr val="F1ECDD"/>
                </a:solidFill>
                <a:latin typeface="Calibri"/>
              </a:rPr>
              <a:t>📋 Im Arbeitsblatt: die Einricht-Checkliste, Häkchen für Häkchen</a:t>
            </a:r>
          </a:p>
          <a:p>
            <a:pPr algn="l">
              <a:spcBef>
                <a:spcPts val="0"/>
              </a:spcBef>
              <a:spcAft>
                <a:spcPts val="1800"/>
              </a:spcAft>
            </a:pPr>
            <a:r>
              <a:rPr sz="2200" b="0" i="0">
                <a:solidFill>
                  <a:srgbClr val="F1ECDD"/>
                </a:solidFill>
                <a:latin typeface="Calibri"/>
              </a:rPr>
              <a:t>Bring dein Notion zum Live-Call 2 — der Notion-Brain-Sprechstunde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