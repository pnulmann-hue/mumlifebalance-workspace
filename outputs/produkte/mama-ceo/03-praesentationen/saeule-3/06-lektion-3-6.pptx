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Letzte Lektion von Säule 3, und vielleicht die ehrlichste. Denn es kommt der Tag, an dem ein Kind krank ist oder ein Notfall reinplatzt, und dann brauchst du keinen perfekten Plan, sondern einen, der trotzdem läuft.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grösste Fehler in der Planung ist das Alles-oder-nichts-Denken. Entweder läuft die Woche zu hundert Prozent, oder sie fällt komplett aus, und du fühlst dich als Versagerin. Dabei gibt es einen Mittelweg, und der heisst der 50%-Plan.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50%-Plan ist deine minimale Woche. Nicht alles, nur das, was wirklich nicht warten kann. Meistens ist das genau eine Sache im Business: deine Kundinnen nicht hängen lassen. Alles andere darf warten, und das ist keine Niederlage, das ist kluge Führung.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Was bleibt: einmal am Tag kurz die DMs und Mails checken, damit keine Kundin im Regen steht. Plus die eine kritische Sache, wenn gerade ein Launch läuft. Und sonst: Familie zuerst. Das ist die ganze minimale Woche.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Was pausiert: alles was du selbst erschaffst. Produkterstellung, neuer Content, grosse Strategie-Arbeit. Das läuft nicht weg, und es darf warten, bis der Sturm vorbei ist. Wichtig ist, dass du das vorher entscheidest, nicht mitten im Chaos.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Eine Sache muss auch im Notfall sein: deine Stories. Aber die kannst du vorplanen oder dir Templates bauen, die du in fünf Minuten raushaust, selbst vom Sofa aus. Wie du so eine Story-Strategie aufsetzt, lernst du in der Insta-Kundenmaschine. Wichtig hier: deine Sichtbarkeit bricht nicht weg, nur weil du gerade am Kinderbett sitzt.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 genau hier zahlt sich dein Notion-Wochenplan aus: auch im Chaos weisst du genau, wie es morgen weitergeht, weil alles schon drin steht. Du musst nichts neu erfinden. Später, in Säule 4, nimmt dir der Cockpit-Bot sogar das Reinschauen ab und sagt dir morgens, was dran ist. Im Notfall ist genau das Gold wert.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Ich sag dir ehrlich: auch bei mir kommt das Leben dazwischen, und es gab Phasen mit einem Familien-Notfall, wo ich kaum am Schreibtisch war. Das Kind, die Familie, das stand im Zentrum, und trotzdem lief mein Business weiter, nicht weil ich eine Übermama bin, sondern weil das System stand. Genau das baust du dir hier auf.</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Für den Notfall-Tag gibt es eine eigene, winzige Tagesplaner-Variante: eine Business-Sache, der Rest Familie, und der Satz heute reicht das. Du hängst ihn dir in Notion als Vorlage hin, damit du an so einem Tag nicht erst überlegen musst, was jetzt zählt.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 Arbeitsblatt definierst du jetzt deinen eigenen 50%-Plan, bevor du ihn brauchst. Damit hast du Säule 3 abgeschlossen: deine Struktur steht, dein Notion lebt, und du hast einen Plan für die Tage, an denen das Leben dazwischenkommt. Wir sehen uns im Live-Call 2, der Notion-Brain-Sprechstunde.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6F6B"/>
        </a:solidFill>
        <a:effectLst/>
      </p:bgPr>
    </p:bg>
    <p:spTree>
      <p:nvGrpSpPr>
        <p:cNvPr id="1" name=""/>
        <p:cNvGrpSpPr/>
        <p:nvPr/>
      </p:nvGrpSpPr>
      <p:grpSpPr/>
      <p:sp>
        <p:nvSpPr>
          <p:cNvPr id="2" name="TextBox 1"/>
          <p:cNvSpPr txBox="1"/>
          <p:nvPr/>
        </p:nvSpPr>
        <p:spPr>
          <a:xfrm>
            <a:off x="914400" y="1920240"/>
            <a:ext cx="10332720" cy="914400"/>
          </a:xfrm>
          <a:prstGeom prst="rect">
            <a:avLst/>
          </a:prstGeom>
          <a:noFill/>
        </p:spPr>
        <p:txBody>
          <a:bodyPr wrap="square" anchor="t" lIns="0" rIns="0" tIns="0" bIns="0">
            <a:spAutoFit/>
          </a:bodyPr>
          <a:lstStyle/>
          <a:p>
            <a:pPr algn="l">
              <a:spcBef>
                <a:spcPts val="0"/>
              </a:spcBef>
              <a:spcAft>
                <a:spcPts val="1000"/>
              </a:spcAft>
            </a:pPr>
            <a:r>
              <a:rPr sz="8000" b="1" i="0">
                <a:solidFill>
                  <a:srgbClr val="F1ECDD"/>
                </a:solidFill>
                <a:latin typeface="Georgia"/>
              </a:rPr>
              <a:t>3.6</a:t>
            </a:r>
          </a:p>
        </p:txBody>
      </p:sp>
      <p:sp>
        <p:nvSpPr>
          <p:cNvPr id="3" name="TextBox 2"/>
          <p:cNvSpPr txBox="1"/>
          <p:nvPr/>
        </p:nvSpPr>
        <p:spPr>
          <a:xfrm>
            <a:off x="914400" y="2971800"/>
            <a:ext cx="10332720" cy="1828800"/>
          </a:xfrm>
          <a:prstGeom prst="rect">
            <a:avLst/>
          </a:prstGeom>
          <a:noFill/>
        </p:spPr>
        <p:txBody>
          <a:bodyPr wrap="square" anchor="t" lIns="0" rIns="0" tIns="0" bIns="0">
            <a:spAutoFit/>
          </a:bodyPr>
          <a:lstStyle/>
          <a:p>
            <a:pPr algn="l">
              <a:spcBef>
                <a:spcPts val="0"/>
              </a:spcBef>
              <a:spcAft>
                <a:spcPts val="1000"/>
              </a:spcAft>
            </a:pPr>
            <a:r>
              <a:rPr sz="4400" b="1" i="0">
                <a:solidFill>
                  <a:srgbClr val="FFFFFF"/>
                </a:solidFill>
                <a:latin typeface="Georgia"/>
              </a:rPr>
              <a:t>Notfall-Modus — dein 50%-Plan</a:t>
            </a:r>
          </a:p>
        </p:txBody>
      </p:sp>
      <p:sp>
        <p:nvSpPr>
          <p:cNvPr id="4" name="TextBox 3"/>
          <p:cNvSpPr txBox="1"/>
          <p:nvPr/>
        </p:nvSpPr>
        <p:spPr>
          <a:xfrm>
            <a:off x="914400" y="4480560"/>
            <a:ext cx="10332720" cy="914400"/>
          </a:xfrm>
          <a:prstGeom prst="rect">
            <a:avLst/>
          </a:prstGeom>
          <a:noFill/>
        </p:spPr>
        <p:txBody>
          <a:bodyPr wrap="square" anchor="t" lIns="0" rIns="0" tIns="0" bIns="0">
            <a:spAutoFit/>
          </a:bodyPr>
          <a:lstStyle/>
          <a:p>
            <a:pPr algn="l">
              <a:spcBef>
                <a:spcPts val="0"/>
              </a:spcBef>
              <a:spcAft>
                <a:spcPts val="1000"/>
              </a:spcAft>
            </a:pPr>
            <a:r>
              <a:rPr sz="2400" b="0" i="1">
                <a:solidFill>
                  <a:srgbClr val="F1ECDD"/>
                </a:solidFill>
                <a:latin typeface="Calibri"/>
              </a:rPr>
              <a:t>Für die Tage, an denen das Leben dazwischenkommt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201168" cy="201168"/>
          </a:xfrm>
          <a:prstGeom prst="rect">
            <a:avLst/>
          </a:prstGeom>
          <a:solidFill>
            <a:srgbClr val="1F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424160" cy="1005840"/>
          </a:xfrm>
          <a:prstGeom prst="rect">
            <a:avLst/>
          </a:prstGeom>
          <a:noFill/>
        </p:spPr>
        <p:txBody>
          <a:bodyPr wrap="square" anchor="t" lIns="0" rIns="0" tIns="0" bIns="0">
            <a:spAutoFit/>
          </a:bodyPr>
          <a:lstStyle/>
          <a:p>
            <a:pPr algn="l">
              <a:spcBef>
                <a:spcPts val="0"/>
              </a:spcBef>
              <a:spcAft>
                <a:spcPts val="1000"/>
              </a:spcAft>
            </a:pPr>
            <a:r>
              <a:rPr sz="3200" b="1" i="0">
                <a:solidFill>
                  <a:srgbClr val="1F6F6B"/>
                </a:solidFill>
                <a:latin typeface="Georgia"/>
              </a:rPr>
              <a:t>„Alles oder nichts“ ist die Falle</a:t>
            </a:r>
          </a:p>
        </p:txBody>
      </p:sp>
      <p:sp>
        <p:nvSpPr>
          <p:cNvPr id="4" name="TextBox 3"/>
          <p:cNvSpPr txBox="1"/>
          <p:nvPr/>
        </p:nvSpPr>
        <p:spPr>
          <a:xfrm>
            <a:off x="868680" y="1783080"/>
            <a:ext cx="10424160" cy="4572000"/>
          </a:xfrm>
          <a:prstGeom prst="rect">
            <a:avLst/>
          </a:prstGeom>
          <a:noFill/>
        </p:spPr>
        <p:txBody>
          <a:bodyPr wrap="square" anchor="t" lIns="0" rIns="0" tIns="0" bIns="0">
            <a:spAutoFit/>
          </a:bodyPr>
          <a:lstStyle/>
          <a:p>
            <a:pPr algn="l">
              <a:spcBef>
                <a:spcPts val="0"/>
              </a:spcBef>
              <a:spcAft>
                <a:spcPts val="1400"/>
              </a:spcAft>
            </a:pPr>
            <a:r>
              <a:rPr sz="2600" b="1" i="0">
                <a:solidFill>
                  <a:srgbClr val="2A2A2A"/>
                </a:solidFill>
                <a:latin typeface="Georgia"/>
              </a:rPr>
              <a:t>100% Plan  ↔  alles fällt aus</a:t>
            </a:r>
          </a:p>
          <a:p>
            <a:pPr algn="l">
              <a:spcBef>
                <a:spcPts val="0"/>
              </a:spcBef>
              <a:spcAft>
                <a:spcPts val="1400"/>
              </a:spcAft>
            </a:pPr>
            <a:r>
              <a:rPr sz="2100" b="0" i="0">
                <a:solidFill>
                  <a:srgbClr val="2A2A2A"/>
                </a:solidFill>
                <a:latin typeface="Calibri"/>
              </a:rPr>
              <a:t>Dazwischen liegt der Mittelweg: der 50%-Plan.</a:t>
            </a:r>
          </a:p>
          <a:p>
            <a:pPr algn="l">
              <a:spcBef>
                <a:spcPts val="0"/>
              </a:spcBef>
              <a:spcAft>
                <a:spcPts val="1400"/>
              </a:spcAft>
            </a:pPr>
            <a:r>
              <a:rPr sz="2000" b="0" i="1">
                <a:solidFill>
                  <a:srgbClr val="6E6E6E"/>
                </a:solidFill>
                <a:latin typeface="Calibri"/>
              </a:rPr>
              <a:t>Sonst fühlst du dich bei jedem Notfall als Versagerin.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201168" cy="201168"/>
          </a:xfrm>
          <a:prstGeom prst="rect">
            <a:avLst/>
          </a:prstGeom>
          <a:solidFill>
            <a:srgbClr val="1F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424160" cy="1005840"/>
          </a:xfrm>
          <a:prstGeom prst="rect">
            <a:avLst/>
          </a:prstGeom>
          <a:noFill/>
        </p:spPr>
        <p:txBody>
          <a:bodyPr wrap="square" anchor="t" lIns="0" rIns="0" tIns="0" bIns="0">
            <a:spAutoFit/>
          </a:bodyPr>
          <a:lstStyle/>
          <a:p>
            <a:pPr algn="l">
              <a:spcBef>
                <a:spcPts val="0"/>
              </a:spcBef>
              <a:spcAft>
                <a:spcPts val="1000"/>
              </a:spcAft>
            </a:pPr>
            <a:r>
              <a:rPr sz="3200" b="1" i="0">
                <a:solidFill>
                  <a:srgbClr val="1F6F6B"/>
                </a:solidFill>
                <a:latin typeface="Georgia"/>
              </a:rPr>
              <a:t>Der 50%-Plan = deine minimale Woche</a:t>
            </a:r>
          </a:p>
        </p:txBody>
      </p:sp>
      <p:sp>
        <p:nvSpPr>
          <p:cNvPr id="4" name="TextBox 3"/>
          <p:cNvSpPr txBox="1"/>
          <p:nvPr/>
        </p:nvSpPr>
        <p:spPr>
          <a:xfrm>
            <a:off x="868680" y="1783080"/>
            <a:ext cx="10424160" cy="4572000"/>
          </a:xfrm>
          <a:prstGeom prst="rect">
            <a:avLst/>
          </a:prstGeom>
          <a:noFill/>
        </p:spPr>
        <p:txBody>
          <a:bodyPr wrap="square" anchor="t" lIns="0" rIns="0" tIns="0" bIns="0">
            <a:spAutoFit/>
          </a:bodyPr>
          <a:lstStyle/>
          <a:p>
            <a:pPr algn="l">
              <a:spcBef>
                <a:spcPts val="0"/>
              </a:spcBef>
              <a:spcAft>
                <a:spcPts val="1400"/>
              </a:spcAft>
            </a:pPr>
            <a:r>
              <a:rPr sz="2600" b="1" i="0">
                <a:solidFill>
                  <a:srgbClr val="2A2A2A"/>
                </a:solidFill>
                <a:latin typeface="Georgia"/>
              </a:rPr>
              <a:t>Nur das, was wirklich nicht warten kann.</a:t>
            </a:r>
          </a:p>
          <a:p>
            <a:pPr algn="l">
              <a:spcBef>
                <a:spcPts val="0"/>
              </a:spcBef>
              <a:spcAft>
                <a:spcPts val="1400"/>
              </a:spcAft>
            </a:pPr>
            <a:r>
              <a:rPr sz="2100" b="0" i="0">
                <a:solidFill>
                  <a:srgbClr val="2A2A2A"/>
                </a:solidFill>
                <a:latin typeface="Calibri"/>
              </a:rPr>
              <a:t>Meistens: deine Kundinnen nicht hängen lassen.</a:t>
            </a:r>
          </a:p>
          <a:p>
            <a:pPr algn="l">
              <a:spcBef>
                <a:spcPts val="0"/>
              </a:spcBef>
              <a:spcAft>
                <a:spcPts val="1400"/>
              </a:spcAft>
            </a:pPr>
            <a:r>
              <a:rPr sz="2000" b="0" i="1">
                <a:solidFill>
                  <a:srgbClr val="6E6E6E"/>
                </a:solidFill>
                <a:latin typeface="Calibri"/>
              </a:rPr>
              <a:t>Alles andere darf warten — das ist keine Niederlage, das ist kluge Führung.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201168" cy="201168"/>
          </a:xfrm>
          <a:prstGeom prst="rect">
            <a:avLst/>
          </a:prstGeom>
          <a:solidFill>
            <a:srgbClr val="1F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424160" cy="1005840"/>
          </a:xfrm>
          <a:prstGeom prst="rect">
            <a:avLst/>
          </a:prstGeom>
          <a:noFill/>
        </p:spPr>
        <p:txBody>
          <a:bodyPr wrap="square" anchor="t" lIns="0" rIns="0" tIns="0" bIns="0">
            <a:spAutoFit/>
          </a:bodyPr>
          <a:lstStyle/>
          <a:p>
            <a:pPr algn="l">
              <a:spcBef>
                <a:spcPts val="0"/>
              </a:spcBef>
              <a:spcAft>
                <a:spcPts val="1000"/>
              </a:spcAft>
            </a:pPr>
            <a:r>
              <a:rPr sz="3200" b="1" i="0">
                <a:solidFill>
                  <a:srgbClr val="1F6F6B"/>
                </a:solidFill>
                <a:latin typeface="Georgia"/>
              </a:rPr>
              <a:t>Was BLEIBT im Notfall</a:t>
            </a:r>
          </a:p>
        </p:txBody>
      </p:sp>
      <p:sp>
        <p:nvSpPr>
          <p:cNvPr id="4" name="TextBox 3"/>
          <p:cNvSpPr txBox="1"/>
          <p:nvPr/>
        </p:nvSpPr>
        <p:spPr>
          <a:xfrm>
            <a:off x="868680" y="1783080"/>
            <a:ext cx="10424160" cy="4572000"/>
          </a:xfrm>
          <a:prstGeom prst="rect">
            <a:avLst/>
          </a:prstGeom>
          <a:noFill/>
        </p:spPr>
        <p:txBody>
          <a:bodyPr wrap="square" anchor="t" lIns="0" rIns="0" tIns="0" bIns="0">
            <a:spAutoFit/>
          </a:bodyPr>
          <a:lstStyle/>
          <a:p>
            <a:pPr algn="l">
              <a:spcBef>
                <a:spcPts val="0"/>
              </a:spcBef>
              <a:spcAft>
                <a:spcPts val="1400"/>
              </a:spcAft>
            </a:pPr>
            <a:r>
              <a:rPr sz="2100" b="0" i="0">
                <a:solidFill>
                  <a:srgbClr val="2E7D57"/>
                </a:solidFill>
                <a:latin typeface="Calibri"/>
              </a:rPr>
              <a:t>✓  1× am Tag DMs + Mails checken</a:t>
            </a:r>
          </a:p>
          <a:p>
            <a:pPr algn="l">
              <a:spcBef>
                <a:spcPts val="0"/>
              </a:spcBef>
              <a:spcAft>
                <a:spcPts val="1400"/>
              </a:spcAft>
            </a:pPr>
            <a:r>
              <a:rPr sz="2100" b="0" i="0">
                <a:solidFill>
                  <a:srgbClr val="2E7D57"/>
                </a:solidFill>
                <a:latin typeface="Calibri"/>
              </a:rPr>
              <a:t>✓  die 1 kritische Sache (z.B. laufender Launch)</a:t>
            </a:r>
          </a:p>
          <a:p>
            <a:pPr algn="l">
              <a:spcBef>
                <a:spcPts val="0"/>
              </a:spcBef>
              <a:spcAft>
                <a:spcPts val="1400"/>
              </a:spcAft>
            </a:pPr>
            <a:r>
              <a:rPr sz="2100" b="0" i="0">
                <a:solidFill>
                  <a:srgbClr val="2E7D57"/>
                </a:solidFill>
                <a:latin typeface="Calibri"/>
              </a:rPr>
              <a:t>✓  Familie zuerst</a:t>
            </a:r>
          </a:p>
          <a:p>
            <a:pPr algn="l">
              <a:spcBef>
                <a:spcPts val="0"/>
              </a:spcBef>
              <a:spcAft>
                <a:spcPts val="1400"/>
              </a:spcAft>
            </a:pPr>
            <a:r>
              <a:rPr sz="2000" b="0" i="1">
                <a:solidFill>
                  <a:srgbClr val="6E6E6E"/>
                </a:solidFill>
                <a:latin typeface="Calibri"/>
              </a:rPr>
              <a:t>Das ist die ganze minimale Woche.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201168" cy="201168"/>
          </a:xfrm>
          <a:prstGeom prst="rect">
            <a:avLst/>
          </a:prstGeom>
          <a:solidFill>
            <a:srgbClr val="1F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424160" cy="1005840"/>
          </a:xfrm>
          <a:prstGeom prst="rect">
            <a:avLst/>
          </a:prstGeom>
          <a:noFill/>
        </p:spPr>
        <p:txBody>
          <a:bodyPr wrap="square" anchor="t" lIns="0" rIns="0" tIns="0" bIns="0">
            <a:spAutoFit/>
          </a:bodyPr>
          <a:lstStyle/>
          <a:p>
            <a:pPr algn="l">
              <a:spcBef>
                <a:spcPts val="0"/>
              </a:spcBef>
              <a:spcAft>
                <a:spcPts val="1000"/>
              </a:spcAft>
            </a:pPr>
            <a:r>
              <a:rPr sz="3200" b="1" i="0">
                <a:solidFill>
                  <a:srgbClr val="1F6F6B"/>
                </a:solidFill>
                <a:latin typeface="Georgia"/>
              </a:rPr>
              <a:t>Was PAUSIERT im Notfall</a:t>
            </a:r>
          </a:p>
        </p:txBody>
      </p:sp>
      <p:sp>
        <p:nvSpPr>
          <p:cNvPr id="4" name="TextBox 3"/>
          <p:cNvSpPr txBox="1"/>
          <p:nvPr/>
        </p:nvSpPr>
        <p:spPr>
          <a:xfrm>
            <a:off x="868680" y="1783080"/>
            <a:ext cx="10424160" cy="4572000"/>
          </a:xfrm>
          <a:prstGeom prst="rect">
            <a:avLst/>
          </a:prstGeom>
          <a:noFill/>
        </p:spPr>
        <p:txBody>
          <a:bodyPr wrap="square" anchor="t" lIns="0" rIns="0" tIns="0" bIns="0">
            <a:spAutoFit/>
          </a:bodyPr>
          <a:lstStyle/>
          <a:p>
            <a:pPr algn="l">
              <a:spcBef>
                <a:spcPts val="0"/>
              </a:spcBef>
              <a:spcAft>
                <a:spcPts val="1400"/>
              </a:spcAft>
            </a:pPr>
            <a:r>
              <a:rPr sz="2100" b="0" i="0">
                <a:solidFill>
                  <a:srgbClr val="B85042"/>
                </a:solidFill>
                <a:latin typeface="Calibri"/>
              </a:rPr>
              <a:t>✗  Produkterstellung</a:t>
            </a:r>
          </a:p>
          <a:p>
            <a:pPr algn="l">
              <a:spcBef>
                <a:spcPts val="0"/>
              </a:spcBef>
              <a:spcAft>
                <a:spcPts val="1400"/>
              </a:spcAft>
            </a:pPr>
            <a:r>
              <a:rPr sz="2100" b="0" i="0">
                <a:solidFill>
                  <a:srgbClr val="B85042"/>
                </a:solidFill>
                <a:latin typeface="Calibri"/>
              </a:rPr>
              <a:t>✗  neuer Content</a:t>
            </a:r>
          </a:p>
          <a:p>
            <a:pPr algn="l">
              <a:spcBef>
                <a:spcPts val="0"/>
              </a:spcBef>
              <a:spcAft>
                <a:spcPts val="1400"/>
              </a:spcAft>
            </a:pPr>
            <a:r>
              <a:rPr sz="2100" b="0" i="0">
                <a:solidFill>
                  <a:srgbClr val="B85042"/>
                </a:solidFill>
                <a:latin typeface="Calibri"/>
              </a:rPr>
              <a:t>✗  grosse Strategie-Arbeit</a:t>
            </a:r>
          </a:p>
          <a:p>
            <a:pPr algn="l">
              <a:spcBef>
                <a:spcPts val="0"/>
              </a:spcBef>
              <a:spcAft>
                <a:spcPts val="1400"/>
              </a:spcAft>
            </a:pPr>
            <a:r>
              <a:rPr sz="2000" b="0" i="1">
                <a:solidFill>
                  <a:srgbClr val="6E6E6E"/>
                </a:solidFill>
                <a:latin typeface="Calibri"/>
              </a:rPr>
              <a:t>Läuft nicht weg — darf warten, bis der Sturm vorbei ist.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201168" cy="201168"/>
          </a:xfrm>
          <a:prstGeom prst="rect">
            <a:avLst/>
          </a:prstGeom>
          <a:solidFill>
            <a:srgbClr val="1F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424160" cy="1005840"/>
          </a:xfrm>
          <a:prstGeom prst="rect">
            <a:avLst/>
          </a:prstGeom>
          <a:noFill/>
        </p:spPr>
        <p:txBody>
          <a:bodyPr wrap="square" anchor="t" lIns="0" rIns="0" tIns="0" bIns="0">
            <a:spAutoFit/>
          </a:bodyPr>
          <a:lstStyle/>
          <a:p>
            <a:pPr algn="l">
              <a:spcBef>
                <a:spcPts val="0"/>
              </a:spcBef>
              <a:spcAft>
                <a:spcPts val="1000"/>
              </a:spcAft>
            </a:pPr>
            <a:r>
              <a:rPr sz="3200" b="1" i="0">
                <a:solidFill>
                  <a:srgbClr val="1F6F6B"/>
                </a:solidFill>
                <a:latin typeface="Georgia"/>
              </a:rPr>
              <a:t>Stories laufen weiter — vorgeplant</a:t>
            </a:r>
          </a:p>
        </p:txBody>
      </p:sp>
      <p:sp>
        <p:nvSpPr>
          <p:cNvPr id="4" name="TextBox 3"/>
          <p:cNvSpPr txBox="1"/>
          <p:nvPr/>
        </p:nvSpPr>
        <p:spPr>
          <a:xfrm>
            <a:off x="868680" y="1783080"/>
            <a:ext cx="10424160" cy="4572000"/>
          </a:xfrm>
          <a:prstGeom prst="rect">
            <a:avLst/>
          </a:prstGeom>
          <a:noFill/>
        </p:spPr>
        <p:txBody>
          <a:bodyPr wrap="square" anchor="t" lIns="0" rIns="0" tIns="0" bIns="0">
            <a:spAutoFit/>
          </a:bodyPr>
          <a:lstStyle/>
          <a:p>
            <a:pPr algn="l">
              <a:spcBef>
                <a:spcPts val="0"/>
              </a:spcBef>
              <a:spcAft>
                <a:spcPts val="1400"/>
              </a:spcAft>
            </a:pPr>
            <a:r>
              <a:rPr sz="2100" b="0" i="0">
                <a:solidFill>
                  <a:srgbClr val="2A2A2A"/>
                </a:solidFill>
                <a:latin typeface="Calibri"/>
              </a:rPr>
              <a:t>Vorgeplant oder als Template — in 5 Min vom Sofa.</a:t>
            </a:r>
          </a:p>
          <a:p>
            <a:pPr algn="l">
              <a:spcBef>
                <a:spcPts val="0"/>
              </a:spcBef>
              <a:spcAft>
                <a:spcPts val="1400"/>
              </a:spcAft>
            </a:pPr>
            <a:r>
              <a:rPr sz="2100" b="0" i="0">
                <a:solidFill>
                  <a:srgbClr val="2A2A2A"/>
                </a:solidFill>
                <a:latin typeface="Calibri"/>
              </a:rPr>
              <a:t>Deine Sichtbarkeit bricht nicht weg, nur weil du am Kinderbett sitzt.</a:t>
            </a:r>
          </a:p>
          <a:p>
            <a:pPr algn="l">
              <a:spcBef>
                <a:spcPts val="0"/>
              </a:spcBef>
              <a:spcAft>
                <a:spcPts val="1400"/>
              </a:spcAft>
            </a:pPr>
            <a:r>
              <a:rPr sz="1700" b="0" i="0">
                <a:solidFill>
                  <a:srgbClr val="6E6E6E"/>
                </a:solidFill>
                <a:latin typeface="Calibri"/>
              </a:rPr>
              <a:t>(Wie du eine Story-Strategie aufsetzt, lernst du in der Insta-Kundenmaschine.)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201168" cy="201168"/>
          </a:xfrm>
          <a:prstGeom prst="rect">
            <a:avLst/>
          </a:prstGeom>
          <a:solidFill>
            <a:srgbClr val="1F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424160" cy="1005840"/>
          </a:xfrm>
          <a:prstGeom prst="rect">
            <a:avLst/>
          </a:prstGeom>
          <a:noFill/>
        </p:spPr>
        <p:txBody>
          <a:bodyPr wrap="square" anchor="t" lIns="0" rIns="0" tIns="0" bIns="0">
            <a:spAutoFit/>
          </a:bodyPr>
          <a:lstStyle/>
          <a:p>
            <a:pPr algn="l">
              <a:spcBef>
                <a:spcPts val="0"/>
              </a:spcBef>
              <a:spcAft>
                <a:spcPts val="1000"/>
              </a:spcAft>
            </a:pPr>
            <a:r>
              <a:rPr sz="3200" b="1" i="0">
                <a:solidFill>
                  <a:srgbClr val="1F6F6B"/>
                </a:solidFill>
                <a:latin typeface="Georgia"/>
              </a:rPr>
              <a:t>Dein Wochenplan gibt Sicherheit</a:t>
            </a:r>
          </a:p>
        </p:txBody>
      </p:sp>
      <p:sp>
        <p:nvSpPr>
          <p:cNvPr id="4" name="TextBox 3"/>
          <p:cNvSpPr txBox="1"/>
          <p:nvPr/>
        </p:nvSpPr>
        <p:spPr>
          <a:xfrm>
            <a:off x="868680" y="1783080"/>
            <a:ext cx="10424160" cy="4572000"/>
          </a:xfrm>
          <a:prstGeom prst="rect">
            <a:avLst/>
          </a:prstGeom>
          <a:noFill/>
        </p:spPr>
        <p:txBody>
          <a:bodyPr wrap="square" anchor="t" lIns="0" rIns="0" tIns="0" bIns="0">
            <a:spAutoFit/>
          </a:bodyPr>
          <a:lstStyle/>
          <a:p>
            <a:pPr algn="l">
              <a:spcBef>
                <a:spcPts val="0"/>
              </a:spcBef>
              <a:spcAft>
                <a:spcPts val="1400"/>
              </a:spcAft>
            </a:pPr>
            <a:r>
              <a:rPr sz="2600" b="1" i="0">
                <a:solidFill>
                  <a:srgbClr val="2A2A2A"/>
                </a:solidFill>
                <a:latin typeface="Georgia"/>
              </a:rPr>
              <a:t>Auch im Chaos weisst du, wie's morgen weitergeht — es steht schon drin.</a:t>
            </a:r>
          </a:p>
          <a:p>
            <a:pPr algn="l">
              <a:spcBef>
                <a:spcPts val="0"/>
              </a:spcBef>
              <a:spcAft>
                <a:spcPts val="1400"/>
              </a:spcAft>
            </a:pPr>
            <a:r>
              <a:rPr sz="2100" b="0" i="0">
                <a:solidFill>
                  <a:srgbClr val="2A2A2A"/>
                </a:solidFill>
                <a:latin typeface="Calibri"/>
              </a:rPr>
              <a:t>Du musst nichts neu erfinden.</a:t>
            </a:r>
          </a:p>
          <a:p>
            <a:pPr algn="l">
              <a:spcBef>
                <a:spcPts val="0"/>
              </a:spcBef>
              <a:spcAft>
                <a:spcPts val="1400"/>
              </a:spcAft>
            </a:pPr>
            <a:r>
              <a:rPr sz="2000" b="0" i="1">
                <a:solidFill>
                  <a:srgbClr val="6E6E6E"/>
                </a:solidFill>
                <a:latin typeface="Calibri"/>
              </a:rPr>
              <a:t>Später nimmt dir der Cockpit-Bot (Säule 4) sogar das Reinschauen ab.</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201168" cy="201168"/>
          </a:xfrm>
          <a:prstGeom prst="rect">
            <a:avLst/>
          </a:prstGeom>
          <a:solidFill>
            <a:srgbClr val="1F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424160" cy="1005840"/>
          </a:xfrm>
          <a:prstGeom prst="rect">
            <a:avLst/>
          </a:prstGeom>
          <a:noFill/>
        </p:spPr>
        <p:txBody>
          <a:bodyPr wrap="square" anchor="t" lIns="0" rIns="0" tIns="0" bIns="0">
            <a:spAutoFit/>
          </a:bodyPr>
          <a:lstStyle/>
          <a:p>
            <a:pPr algn="l">
              <a:spcBef>
                <a:spcPts val="0"/>
              </a:spcBef>
              <a:spcAft>
                <a:spcPts val="1000"/>
              </a:spcAft>
            </a:pPr>
            <a:r>
              <a:rPr sz="3200" b="1" i="0">
                <a:solidFill>
                  <a:srgbClr val="1F6F6B"/>
                </a:solidFill>
                <a:latin typeface="Georgia"/>
              </a:rPr>
              <a:t>Mein ehrliches Beispiel</a:t>
            </a:r>
          </a:p>
        </p:txBody>
      </p:sp>
      <p:sp>
        <p:nvSpPr>
          <p:cNvPr id="4" name="TextBox 3"/>
          <p:cNvSpPr txBox="1"/>
          <p:nvPr/>
        </p:nvSpPr>
        <p:spPr>
          <a:xfrm>
            <a:off x="868680" y="1783080"/>
            <a:ext cx="10424160" cy="4572000"/>
          </a:xfrm>
          <a:prstGeom prst="rect">
            <a:avLst/>
          </a:prstGeom>
          <a:noFill/>
        </p:spPr>
        <p:txBody>
          <a:bodyPr wrap="square" anchor="t" lIns="0" rIns="0" tIns="0" bIns="0">
            <a:spAutoFit/>
          </a:bodyPr>
          <a:lstStyle/>
          <a:p>
            <a:pPr algn="l">
              <a:spcBef>
                <a:spcPts val="0"/>
              </a:spcBef>
              <a:spcAft>
                <a:spcPts val="1400"/>
              </a:spcAft>
            </a:pPr>
            <a:r>
              <a:rPr sz="2100" b="0" i="0">
                <a:solidFill>
                  <a:srgbClr val="2A2A2A"/>
                </a:solidFill>
                <a:latin typeface="Calibri"/>
              </a:rPr>
              <a:t>Auch bei mir kommt das Leben dazwischen.</a:t>
            </a:r>
          </a:p>
          <a:p>
            <a:pPr algn="l">
              <a:spcBef>
                <a:spcPts val="0"/>
              </a:spcBef>
              <a:spcAft>
                <a:spcPts val="1400"/>
              </a:spcAft>
            </a:pPr>
            <a:r>
              <a:rPr sz="2100" b="0" i="0">
                <a:solidFill>
                  <a:srgbClr val="2A2A2A"/>
                </a:solidFill>
                <a:latin typeface="Calibri"/>
              </a:rPr>
              <a:t>Kind und Familie im Zentrum — Business lief trotzdem weiter.</a:t>
            </a:r>
          </a:p>
          <a:p>
            <a:pPr algn="l">
              <a:spcBef>
                <a:spcPts val="0"/>
              </a:spcBef>
              <a:spcAft>
                <a:spcPts val="1400"/>
              </a:spcAft>
            </a:pPr>
            <a:r>
              <a:rPr sz="2000" b="0" i="1">
                <a:solidFill>
                  <a:srgbClr val="6E6E6E"/>
                </a:solidFill>
                <a:latin typeface="Calibri"/>
              </a:rPr>
              <a:t>Nicht weil ich eine Übermama bin. Weil das System stand.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502920"/>
            <a:ext cx="201168" cy="201168"/>
          </a:xfrm>
          <a:prstGeom prst="rect">
            <a:avLst/>
          </a:prstGeom>
          <a:solidFill>
            <a:srgbClr val="1F6F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424160" cy="1005840"/>
          </a:xfrm>
          <a:prstGeom prst="rect">
            <a:avLst/>
          </a:prstGeom>
          <a:noFill/>
        </p:spPr>
        <p:txBody>
          <a:bodyPr wrap="square" anchor="t" lIns="0" rIns="0" tIns="0" bIns="0">
            <a:spAutoFit/>
          </a:bodyPr>
          <a:lstStyle/>
          <a:p>
            <a:pPr algn="l">
              <a:spcBef>
                <a:spcPts val="0"/>
              </a:spcBef>
              <a:spcAft>
                <a:spcPts val="1000"/>
              </a:spcAft>
            </a:pPr>
            <a:r>
              <a:rPr sz="3200" b="1" i="0">
                <a:solidFill>
                  <a:srgbClr val="1F6F6B"/>
                </a:solidFill>
                <a:latin typeface="Georgia"/>
              </a:rPr>
              <a:t>Der Notfall-Tagesplaner</a:t>
            </a:r>
          </a:p>
        </p:txBody>
      </p:sp>
      <p:sp>
        <p:nvSpPr>
          <p:cNvPr id="4" name="TextBox 3"/>
          <p:cNvSpPr txBox="1"/>
          <p:nvPr/>
        </p:nvSpPr>
        <p:spPr>
          <a:xfrm>
            <a:off x="868680" y="1783080"/>
            <a:ext cx="10424160" cy="4572000"/>
          </a:xfrm>
          <a:prstGeom prst="rect">
            <a:avLst/>
          </a:prstGeom>
          <a:noFill/>
        </p:spPr>
        <p:txBody>
          <a:bodyPr wrap="square" anchor="t" lIns="0" rIns="0" tIns="0" bIns="0">
            <a:spAutoFit/>
          </a:bodyPr>
          <a:lstStyle/>
          <a:p>
            <a:pPr algn="l">
              <a:spcBef>
                <a:spcPts val="0"/>
              </a:spcBef>
              <a:spcAft>
                <a:spcPts val="1400"/>
              </a:spcAft>
            </a:pPr>
            <a:r>
              <a:rPr sz="2600" b="1" i="0">
                <a:solidFill>
                  <a:srgbClr val="2A2A2A"/>
                </a:solidFill>
                <a:latin typeface="Georgia"/>
              </a:rPr>
              <a:t>1 Business-Sache. Rest: Familie.</a:t>
            </a:r>
          </a:p>
          <a:p>
            <a:pPr algn="l">
              <a:spcBef>
                <a:spcPts val="0"/>
              </a:spcBef>
              <a:spcAft>
                <a:spcPts val="1400"/>
              </a:spcAft>
            </a:pPr>
            <a:r>
              <a:rPr sz="2100" b="0" i="0">
                <a:solidFill>
                  <a:srgbClr val="2A2A2A"/>
                </a:solidFill>
                <a:latin typeface="Calibri"/>
              </a:rPr>
              <a:t>„Heute reicht das.“</a:t>
            </a:r>
          </a:p>
          <a:p>
            <a:pPr algn="l">
              <a:spcBef>
                <a:spcPts val="0"/>
              </a:spcBef>
              <a:spcAft>
                <a:spcPts val="1400"/>
              </a:spcAft>
            </a:pPr>
            <a:r>
              <a:rPr sz="2000" b="0" i="1">
                <a:solidFill>
                  <a:srgbClr val="6E6E6E"/>
                </a:solidFill>
                <a:latin typeface="Calibri"/>
              </a:rPr>
              <a:t>Leg ihn dir in Notion als Vorlage bereit — für den Tag, an dem du nicht überlegen willst.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F6F6B"/>
        </a:solidFill>
        <a:effectLst/>
      </p:bgPr>
    </p:bg>
    <p:spTree>
      <p:nvGrpSpPr>
        <p:cNvPr id="1" name=""/>
        <p:cNvGrpSpPr/>
        <p:nvPr/>
      </p:nvGrpSpPr>
      <p:grpSpPr/>
      <p:sp>
        <p:nvSpPr>
          <p:cNvPr id="2" name="TextBox 1"/>
          <p:cNvSpPr txBox="1"/>
          <p:nvPr/>
        </p:nvSpPr>
        <p:spPr>
          <a:xfrm>
            <a:off x="1005840" y="2194560"/>
            <a:ext cx="10149840" cy="2743200"/>
          </a:xfrm>
          <a:prstGeom prst="rect">
            <a:avLst/>
          </a:prstGeom>
          <a:noFill/>
        </p:spPr>
        <p:txBody>
          <a:bodyPr wrap="square" anchor="ctr" lIns="0" rIns="0" tIns="0" bIns="0">
            <a:spAutoFit/>
          </a:bodyPr>
          <a:lstStyle/>
          <a:p>
            <a:pPr algn="l">
              <a:spcBef>
                <a:spcPts val="0"/>
              </a:spcBef>
              <a:spcAft>
                <a:spcPts val="1800"/>
              </a:spcAft>
            </a:pPr>
            <a:r>
              <a:rPr sz="2200" b="0" i="0">
                <a:solidFill>
                  <a:srgbClr val="F1ECDD"/>
                </a:solidFill>
                <a:latin typeface="Calibri"/>
              </a:rPr>
              <a:t>📋 Im Arbeitsblatt: dein 50%-Notfall-Plan</a:t>
            </a:r>
          </a:p>
          <a:p>
            <a:pPr algn="l">
              <a:spcBef>
                <a:spcPts val="0"/>
              </a:spcBef>
              <a:spcAft>
                <a:spcPts val="1800"/>
              </a:spcAft>
            </a:pPr>
            <a:r>
              <a:rPr sz="3200" b="1" i="0">
                <a:solidFill>
                  <a:srgbClr val="FFFFFF"/>
                </a:solidFill>
                <a:latin typeface="Georgia"/>
              </a:rPr>
              <a:t>Säule 3 abgeschlossen 🎉</a:t>
            </a:r>
          </a:p>
          <a:p>
            <a:pPr algn="l">
              <a:spcBef>
                <a:spcPts val="0"/>
              </a:spcBef>
              <a:spcAft>
                <a:spcPts val="1800"/>
              </a:spcAft>
            </a:pPr>
            <a:r>
              <a:rPr sz="2200" b="0" i="0">
                <a:solidFill>
                  <a:srgbClr val="F1ECDD"/>
                </a:solidFill>
                <a:latin typeface="Calibri"/>
              </a:rPr>
              <a:t>Wir sehen uns im Live-Call 2 — der Notion-Brain-Sprechstunde.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