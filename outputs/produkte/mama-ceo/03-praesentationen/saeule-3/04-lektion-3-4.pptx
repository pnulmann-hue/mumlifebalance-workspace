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Dein Jahr steht, und jetzt zoomen wir rein. Vom Jahr in den Monat, vom Monat in die Woche, denn die Woche ist die Ebene, in der dein Leben wirklich stattfindet.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deiner Jahres-Strategie nimmst du dir für jeden Monat genau einen Fokus und drei Ziele. Mehr nicht. Und ganz wichtig: du entscheidest hier auch, welche der sechs Lebens-Bereiche diesen Monat überhaupt dran sind. Nicht jeder Bereich muss jeden Monat laufen, und genau das macht den Monat ruhig statt hektisch.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sieht ein Monat bei mir aus: ein Fokus, zum Beispiel meinen laufenden Pilot gut zu begleiten, dazu drei konkrete Ziele, und ich markiere welche Bereiche diesen Monat aktiv sind. In einem Monat ist Produkterstellung gross dabei, im nächsten gar nicht. Alles ordnet sich dem Monatsfokus unter.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die Woche, und das ist die wichtigste Planungsebene überhaupt. Jede Woche hat eine Nummer, eine Fokus-Säule, also Plattform, Produkt oder Verkauf, und ein Hauptziel. Das ist der Rahmen, in den wir jetzt die sechs Lebens-Bereiche füllen.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Erinnerst du dich an die sechs Bereiche aus Lektion 3.1? Produkterstellung, Sichtbarkeit, Kundenbetreuung, Me-Time, Familie und Haushalt, Reflexion. Diese sechs verteilen wir jetzt auf deine Woche, und zwar so, dass wirklich jeder vorkommt.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kommt Säule 1 wieder rein: deine eigenen Power-Slots. Und die sehen bei jeder anders aus. Die eine hat zwei pro Tag, Vormittag und Abend, die andere nur den Vormittag, und wieder eine andere wie ich vor allem den Dienstagnachmittag, wo alle aus dem Haus sind. Nimm DEINE Slots, nicht ein erfundenes Idealbild. In jeden einzelnen Slot legst du dann einen Lebens-Bereich, so weisst du nicht nur DASS du arbeitest, sondern WORAN.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wird es ganz konkret. Der Lebens-Bereich ist die Schublade, aber in die Schublade legst du die einzelne Aufgabe aus deinem Brain Dump in Säule 2. Beispiel: Montag Vormittag ist Produkterstellung, und die konkrete Aufgabe ist Modul zwei aufnehmen. So wie du beim Haushalt sagst Dienstag ist Bad und Mittwoch ist Küche, sagst du jetzt fürs Business: dieser Slot, diese Aufgabe.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du nicht raten musst was wann passt, nutzt du deinen CEO-Tag-Fokus aus Säule 1. Montag Strategie passt zu Produkterstellung, Dienstag Brand zu Sichtbarkeit, Mittwoch Beziehungen zu Kundenbetreuung, Freitag Reflexion zur Reflexion. Der Tag-Fokus gibt dir die Richtung, die Lebens-Bereiche füllen sie konkret.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der Punkt, den du schon im Monatsplan festgelegt hast: nicht alle sechs Bereiche müssen jede Woche laufen. In einem Monat steht Produkterstellung gross an, im nächsten gar nicht, das ist völlig okay. Was ich dir trotzdem ans Herz lege: lass Me-Time und Reflexion möglichst nie ganz raus, weil genau die zuerst verschwinden wenn es eng wird, und dann landest du wieder im Hamsterrad aus Säule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könnte eine fertige Woche aussehen: deine Power-Slots mit den Bereichen die diesen Monat dran sind, die gelben Mama-Slots für die Familie, und am Sonntag dein Reset. Das ist nur ein Beispiel, deine Woche hat vielleicht weniger Slots oder andere Tage. Wichtig ist nur: es ist ausgewogen, statt dass ein Bereich alles auffrisst.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der Tag? Den planst du in dreissig Sekunden, weil die Woche schon steht. Du schaust morgens auf deinen Tag, setzt einen Tagesfokus und drei Hauptaufgaben, fertig. Abends ein, zwei Sätze Reflexion. Kein langes Grübeln, weil die Vorarbeit in Woche und Monat schon erledigt 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Arbeitsblatt baust du jetzt deinen Monatsplan mit Fokus, drei Zielen und den aktiven Bereichen, dann deine Beispiel-Woche in deinen eigenen Power-Slots, und du hast eine Tagesplaner-Vorlage zum Kopieren. In der nächsten Lektion, der MASTERY, bauen wir das alles gemeinsam in Notion. Plan dir dafür eine ungestörte halbe Stunde ein.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ECDD"/>
        </a:solidFill>
        <a:effectLst/>
      </p:bgPr>
    </p:bg>
    <p:spTree>
      <p:nvGrpSpPr>
        <p:cNvPr id="1" name=""/>
        <p:cNvGrpSpPr/>
        <p:nvPr/>
      </p:nvGrpSpPr>
      <p:grpSpPr/>
      <p:sp>
        <p:nvSpPr>
          <p:cNvPr id="2" name="Oval 1"/>
          <p:cNvSpPr/>
          <p:nvPr/>
        </p:nvSpPr>
        <p:spPr>
          <a:xfrm>
            <a:off x="6858000" y="3840480"/>
            <a:ext cx="3200400" cy="3200400"/>
          </a:xfrm>
          <a:prstGeom prst="ellipse">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046720" cy="365760"/>
          </a:xfrm>
          <a:prstGeom prst="rect">
            <a:avLst/>
          </a:prstGeom>
          <a:noFill/>
        </p:spPr>
        <p:txBody>
          <a:bodyPr wrap="square" anchor="t" lIns="0" rIns="0" tIns="0" bIns="0">
            <a:spAutoFit/>
          </a:bodyPr>
          <a:lstStyle/>
          <a:p>
            <a:r>
              <a:rPr sz="1100" b="1" i="0">
                <a:solidFill>
                  <a:srgbClr val="DC822E"/>
                </a:solidFill>
                <a:latin typeface="Calibri"/>
              </a:rPr>
              <a:t>SÄULE 3 — DU BAUST DIE STRUKTUR</a:t>
            </a:r>
          </a:p>
        </p:txBody>
      </p:sp>
      <p:sp>
        <p:nvSpPr>
          <p:cNvPr id="4" name="Rectangle 3"/>
          <p:cNvSpPr/>
          <p:nvPr/>
        </p:nvSpPr>
        <p:spPr>
          <a:xfrm>
            <a:off x="548640" y="960120"/>
            <a:ext cx="548640" cy="4572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863840" cy="1463040"/>
          </a:xfrm>
          <a:prstGeom prst="rect">
            <a:avLst/>
          </a:prstGeom>
          <a:noFill/>
        </p:spPr>
        <p:txBody>
          <a:bodyPr wrap="square" anchor="t" lIns="0" rIns="0" tIns="0" bIns="0">
            <a:spAutoFit/>
          </a:bodyPr>
          <a:lstStyle/>
          <a:p>
            <a:r>
              <a:rPr sz="4400" b="1" i="0">
                <a:solidFill>
                  <a:srgbClr val="1A3A4A"/>
                </a:solidFill>
                <a:latin typeface="Georgia"/>
              </a:rPr>
              <a:t>Monats- + Wochenplanung</a:t>
            </a:r>
          </a:p>
        </p:txBody>
      </p:sp>
      <p:sp>
        <p:nvSpPr>
          <p:cNvPr id="6" name="TextBox 5"/>
          <p:cNvSpPr txBox="1"/>
          <p:nvPr/>
        </p:nvSpPr>
        <p:spPr>
          <a:xfrm>
            <a:off x="548640" y="2880360"/>
            <a:ext cx="7680960" cy="1280160"/>
          </a:xfrm>
          <a:prstGeom prst="rect">
            <a:avLst/>
          </a:prstGeom>
          <a:noFill/>
        </p:spPr>
        <p:txBody>
          <a:bodyPr wrap="square" anchor="t" lIns="0" rIns="0" tIns="0" bIns="0">
            <a:spAutoFit/>
          </a:bodyPr>
          <a:lstStyle/>
          <a:p>
            <a:r>
              <a:rPr sz="1800" b="0" i="0">
                <a:solidFill>
                  <a:srgbClr val="2C3E50"/>
                </a:solidFill>
                <a:latin typeface="Georgia"/>
              </a:rPr>
              <a:t>Mit deinen 6 Lebens-Bereichen</a:t>
            </a:r>
          </a:p>
        </p:txBody>
      </p:sp>
      <p:sp>
        <p:nvSpPr>
          <p:cNvPr id="7" name="TextBox 6"/>
          <p:cNvSpPr txBox="1"/>
          <p:nvPr/>
        </p:nvSpPr>
        <p:spPr>
          <a:xfrm>
            <a:off x="548640" y="4572000"/>
            <a:ext cx="3657600" cy="365760"/>
          </a:xfrm>
          <a:prstGeom prst="rect">
            <a:avLst/>
          </a:prstGeom>
          <a:noFill/>
        </p:spPr>
        <p:txBody>
          <a:bodyPr wrap="square" anchor="t" lIns="0" rIns="0" tIns="0" bIns="0">
            <a:spAutoFit/>
          </a:bodyPr>
          <a:lstStyle/>
          <a:p>
            <a:r>
              <a:rPr sz="1200" b="1" i="0">
                <a:solidFill>
                  <a:srgbClr val="12828C"/>
                </a:solidFill>
                <a:latin typeface="Calibri"/>
              </a:rPr>
              <a:t>Patricia Ulmann</a:t>
            </a:r>
          </a:p>
        </p:txBody>
      </p:sp>
      <p:sp>
        <p:nvSpPr>
          <p:cNvPr id="8" name="TextBox 7"/>
          <p:cNvSpPr txBox="1"/>
          <p:nvPr/>
        </p:nvSpPr>
        <p:spPr>
          <a:xfrm>
            <a:off x="4937760" y="4572000"/>
            <a:ext cx="3657600" cy="365760"/>
          </a:xfrm>
          <a:prstGeom prst="rect">
            <a:avLst/>
          </a:prstGeom>
          <a:noFill/>
        </p:spPr>
        <p:txBody>
          <a:bodyPr wrap="square" anchor="t" lIns="0" rIns="0" tIns="0" bIns="0">
            <a:spAutoFit/>
          </a:bodyPr>
          <a:lstStyle/>
          <a:p>
            <a:pPr algn="r"/>
            <a:r>
              <a:rPr sz="1100" b="0" i="0">
                <a:solidFill>
                  <a:srgbClr val="7A8A95"/>
                </a:solidFill>
                <a:latin typeface="Calibri"/>
              </a:rPr>
              <a:t>mumlifebalance.ch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Vom Jahr in den Monat</a:t>
            </a:r>
          </a:p>
        </p:txBody>
      </p:sp>
      <p:sp>
        <p:nvSpPr>
          <p:cNvPr id="3" name="TextBox 2"/>
          <p:cNvSpPr txBox="1"/>
          <p:nvPr/>
        </p:nvSpPr>
        <p:spPr>
          <a:xfrm>
            <a:off x="548640" y="1234440"/>
            <a:ext cx="8046720" cy="457200"/>
          </a:xfrm>
          <a:prstGeom prst="rect">
            <a:avLst/>
          </a:prstGeom>
          <a:noFill/>
        </p:spPr>
        <p:txBody>
          <a:bodyPr wrap="square" anchor="t" lIns="0" rIns="0" tIns="0" bIns="0">
            <a:spAutoFit/>
          </a:bodyPr>
          <a:lstStyle/>
          <a:p>
            <a:r>
              <a:rPr sz="1300" b="0" i="0">
                <a:solidFill>
                  <a:srgbClr val="7A8A95"/>
                </a:solidFill>
                <a:latin typeface="Calibri"/>
              </a:rPr>
              <a:t>Pro Monat:</a:t>
            </a:r>
          </a:p>
        </p:txBody>
      </p:sp>
      <p:sp>
        <p:nvSpPr>
          <p:cNvPr id="4" name="TextBox 3"/>
          <p:cNvSpPr txBox="1"/>
          <p:nvPr/>
        </p:nvSpPr>
        <p:spPr>
          <a:xfrm>
            <a:off x="548640" y="1783080"/>
            <a:ext cx="8046720" cy="278892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1 Monatsfokus</a:t>
            </a:r>
          </a:p>
          <a:p>
            <a:pPr>
              <a:spcBef>
                <a:spcPts val="0"/>
              </a:spcBef>
              <a:spcAft>
                <a:spcPts val="900"/>
              </a:spcAft>
            </a:pPr>
            <a:r>
              <a:rPr sz="1600" b="1" i="0">
                <a:solidFill>
                  <a:srgbClr val="DC822E"/>
                </a:solidFill>
                <a:latin typeface="Calibri"/>
              </a:rPr>
              <a:t>▪  </a:t>
            </a:r>
            <a:r>
              <a:rPr sz="1600" b="0" i="0">
                <a:solidFill>
                  <a:srgbClr val="2C3E50"/>
                </a:solidFill>
                <a:latin typeface="Calibri"/>
              </a:rPr>
              <a:t>3 Monatsziele</a:t>
            </a:r>
          </a:p>
          <a:p>
            <a:pPr>
              <a:spcBef>
                <a:spcPts val="0"/>
              </a:spcBef>
              <a:spcAft>
                <a:spcPts val="900"/>
              </a:spcAft>
            </a:pPr>
            <a:r>
              <a:rPr sz="1600" b="1" i="0">
                <a:solidFill>
                  <a:srgbClr val="DC822E"/>
                </a:solidFill>
                <a:latin typeface="Calibri"/>
              </a:rPr>
              <a:t>▪  </a:t>
            </a:r>
            <a:r>
              <a:rPr sz="1600" b="0" i="0">
                <a:solidFill>
                  <a:srgbClr val="2C3E50"/>
                </a:solidFill>
                <a:latin typeface="Calibri"/>
              </a:rPr>
              <a:t>+ welche Lebens-Bereiche diesen Monat aktiv sind</a:t>
            </a:r>
          </a:p>
          <a:p>
            <a:pPr>
              <a:spcBef>
                <a:spcPts val="0"/>
              </a:spcBef>
              <a:spcAft>
                <a:spcPts val="800"/>
              </a:spcAft>
            </a:pPr>
            <a:r>
              <a:rPr sz="1400" b="0" i="1">
                <a:solidFill>
                  <a:srgbClr val="7A8A95"/>
                </a:solidFill>
                <a:latin typeface="Calibri"/>
              </a:rPr>
              <a:t>Nicht jeder Bereich muss jeden Monat laufen.</a:t>
            </a:r>
          </a:p>
        </p:txBody>
      </p:sp>
      <p:sp>
        <p:nvSpPr>
          <p:cNvPr id="5" name="TextBox 4"/>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6" name="TextBox 5"/>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Beispiel-Monat</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0" i="0">
                <a:solidFill>
                  <a:srgbClr val="2C3E50"/>
                </a:solidFill>
                <a:latin typeface="Calibri"/>
              </a:rPr>
              <a:t>Fokus: „meinen Pilot gut begleiten“</a:t>
            </a:r>
          </a:p>
          <a:p>
            <a:pPr>
              <a:spcBef>
                <a:spcPts val="0"/>
              </a:spcBef>
              <a:spcAft>
                <a:spcPts val="900"/>
              </a:spcAft>
            </a:pPr>
            <a:r>
              <a:rPr sz="1600" b="0" i="0">
                <a:solidFill>
                  <a:srgbClr val="2C3E50"/>
                </a:solidFill>
                <a:latin typeface="Calibri"/>
              </a:rPr>
              <a:t>3 konkrete Ziele · aktive Bereiche markiert · evtl. 1 Launch</a:t>
            </a:r>
          </a:p>
          <a:p>
            <a:pPr>
              <a:spcBef>
                <a:spcPts val="0"/>
              </a:spcBef>
              <a:spcAft>
                <a:spcPts val="800"/>
              </a:spcAft>
            </a:pPr>
            <a:r>
              <a:rPr sz="1400" b="0" i="1">
                <a:solidFill>
                  <a:srgbClr val="7A8A95"/>
                </a:solidFill>
                <a:latin typeface="Calibri"/>
              </a:rPr>
              <a:t>Mal ist Produkterstellung gross dabei, mal gar nicht. Alles ordnet sich dem Fokus unter.</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Die Woche — hier lebt dein Plan</a:t>
            </a:r>
          </a:p>
        </p:txBody>
      </p:sp>
      <p:sp>
        <p:nvSpPr>
          <p:cNvPr id="3" name="TextBox 2"/>
          <p:cNvSpPr txBox="1"/>
          <p:nvPr/>
        </p:nvSpPr>
        <p:spPr>
          <a:xfrm>
            <a:off x="548640" y="1234440"/>
            <a:ext cx="8046720" cy="457200"/>
          </a:xfrm>
          <a:prstGeom prst="rect">
            <a:avLst/>
          </a:prstGeom>
          <a:noFill/>
        </p:spPr>
        <p:txBody>
          <a:bodyPr wrap="square" anchor="t" lIns="0" rIns="0" tIns="0" bIns="0">
            <a:spAutoFit/>
          </a:bodyPr>
          <a:lstStyle/>
          <a:p>
            <a:r>
              <a:rPr sz="1300" b="0" i="0">
                <a:solidFill>
                  <a:srgbClr val="7A8A95"/>
                </a:solidFill>
                <a:latin typeface="Calibri"/>
              </a:rPr>
              <a:t>Jede Woche hat:</a:t>
            </a:r>
          </a:p>
        </p:txBody>
      </p:sp>
      <p:sp>
        <p:nvSpPr>
          <p:cNvPr id="4" name="TextBox 3"/>
          <p:cNvSpPr txBox="1"/>
          <p:nvPr/>
        </p:nvSpPr>
        <p:spPr>
          <a:xfrm>
            <a:off x="548640" y="1783080"/>
            <a:ext cx="8046720" cy="278892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eine KW-Nummer</a:t>
            </a:r>
          </a:p>
          <a:p>
            <a:pPr>
              <a:spcBef>
                <a:spcPts val="0"/>
              </a:spcBef>
              <a:spcAft>
                <a:spcPts val="900"/>
              </a:spcAft>
            </a:pPr>
            <a:r>
              <a:rPr sz="1600" b="1" i="0">
                <a:solidFill>
                  <a:srgbClr val="DC822E"/>
                </a:solidFill>
                <a:latin typeface="Calibri"/>
              </a:rPr>
              <a:t>▪  </a:t>
            </a:r>
            <a:r>
              <a:rPr sz="1600" b="0" i="0">
                <a:solidFill>
                  <a:srgbClr val="2C3E50"/>
                </a:solidFill>
                <a:latin typeface="Calibri"/>
              </a:rPr>
              <a:t>eine Fokus-Säule (Plattform · Produkt · Verkauf)</a:t>
            </a:r>
          </a:p>
          <a:p>
            <a:pPr>
              <a:spcBef>
                <a:spcPts val="0"/>
              </a:spcBef>
              <a:spcAft>
                <a:spcPts val="900"/>
              </a:spcAft>
            </a:pPr>
            <a:r>
              <a:rPr sz="1600" b="1" i="0">
                <a:solidFill>
                  <a:srgbClr val="DC822E"/>
                </a:solidFill>
                <a:latin typeface="Calibri"/>
              </a:rPr>
              <a:t>▪  </a:t>
            </a:r>
            <a:r>
              <a:rPr sz="1600" b="0" i="0">
                <a:solidFill>
                  <a:srgbClr val="2C3E50"/>
                </a:solidFill>
                <a:latin typeface="Calibri"/>
              </a:rPr>
              <a:t>ein Hauptziel</a:t>
            </a:r>
          </a:p>
          <a:p>
            <a:pPr>
              <a:spcBef>
                <a:spcPts val="0"/>
              </a:spcBef>
              <a:spcAft>
                <a:spcPts val="800"/>
              </a:spcAft>
            </a:pPr>
            <a:r>
              <a:rPr sz="1400" b="0" i="1">
                <a:solidFill>
                  <a:srgbClr val="7A8A95"/>
                </a:solidFill>
                <a:latin typeface="Calibri"/>
              </a:rPr>
              <a:t>Das ist der Rahmen für deine Lebens-Bereiche.</a:t>
            </a:r>
          </a:p>
        </p:txBody>
      </p:sp>
      <p:sp>
        <p:nvSpPr>
          <p:cNvPr id="5" name="TextBox 4"/>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6" name="TextBox 5"/>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Die 6 Lebens-Bereiche</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  Produkterstellung</a:t>
            </a:r>
          </a:p>
          <a:p>
            <a:pPr>
              <a:spcBef>
                <a:spcPts val="0"/>
              </a:spcBef>
              <a:spcAft>
                <a:spcPts val="900"/>
              </a:spcAft>
            </a:pPr>
            <a:r>
              <a:rPr sz="1600" b="1" i="0">
                <a:solidFill>
                  <a:srgbClr val="DC822E"/>
                </a:solidFill>
                <a:latin typeface="Calibri"/>
              </a:rPr>
              <a:t>▪  </a:t>
            </a:r>
            <a:r>
              <a:rPr sz="1600" b="0" i="0">
                <a:solidFill>
                  <a:srgbClr val="2C3E50"/>
                </a:solidFill>
                <a:latin typeface="Calibri"/>
              </a:rPr>
              <a:t>📱  Sichtbarkeit / Content</a:t>
            </a:r>
          </a:p>
          <a:p>
            <a:pPr>
              <a:spcBef>
                <a:spcPts val="0"/>
              </a:spcBef>
              <a:spcAft>
                <a:spcPts val="900"/>
              </a:spcAft>
            </a:pPr>
            <a:r>
              <a:rPr sz="1600" b="1" i="0">
                <a:solidFill>
                  <a:srgbClr val="DC822E"/>
                </a:solidFill>
                <a:latin typeface="Calibri"/>
              </a:rPr>
              <a:t>▪  </a:t>
            </a:r>
            <a:r>
              <a:rPr sz="1600" b="0" i="0">
                <a:solidFill>
                  <a:srgbClr val="2C3E50"/>
                </a:solidFill>
                <a:latin typeface="Calibri"/>
              </a:rPr>
              <a:t>💬  Kundenbetreuung</a:t>
            </a:r>
          </a:p>
          <a:p>
            <a:pPr>
              <a:spcBef>
                <a:spcPts val="0"/>
              </a:spcBef>
              <a:spcAft>
                <a:spcPts val="900"/>
              </a:spcAft>
            </a:pPr>
            <a:r>
              <a:rPr sz="1600" b="1" i="0">
                <a:solidFill>
                  <a:srgbClr val="DC822E"/>
                </a:solidFill>
                <a:latin typeface="Calibri"/>
              </a:rPr>
              <a:t>▪  </a:t>
            </a:r>
            <a:r>
              <a:rPr sz="1600" b="0" i="0">
                <a:solidFill>
                  <a:srgbClr val="2C3E50"/>
                </a:solidFill>
                <a:latin typeface="Calibri"/>
              </a:rPr>
              <a:t>🧘  Me-Time</a:t>
            </a:r>
          </a:p>
          <a:p>
            <a:pPr>
              <a:spcBef>
                <a:spcPts val="0"/>
              </a:spcBef>
              <a:spcAft>
                <a:spcPts val="900"/>
              </a:spcAft>
            </a:pPr>
            <a:r>
              <a:rPr sz="1600" b="1" i="0">
                <a:solidFill>
                  <a:srgbClr val="DC822E"/>
                </a:solidFill>
                <a:latin typeface="Calibri"/>
              </a:rPr>
              <a:t>▪  </a:t>
            </a:r>
            <a:r>
              <a:rPr sz="1600" b="0" i="0">
                <a:solidFill>
                  <a:srgbClr val="2C3E50"/>
                </a:solidFill>
                <a:latin typeface="Calibri"/>
              </a:rPr>
              <a:t>👨‍👩‍👧‍👦  Familie + Haushalt</a:t>
            </a:r>
          </a:p>
          <a:p>
            <a:pPr>
              <a:spcBef>
                <a:spcPts val="0"/>
              </a:spcBef>
              <a:spcAft>
                <a:spcPts val="900"/>
              </a:spcAft>
            </a:pPr>
            <a:r>
              <a:rPr sz="1600" b="1" i="0">
                <a:solidFill>
                  <a:srgbClr val="DC822E"/>
                </a:solidFill>
                <a:latin typeface="Calibri"/>
              </a:rPr>
              <a:t>▪  </a:t>
            </a:r>
            <a:r>
              <a:rPr sz="1600" b="0" i="0">
                <a:solidFill>
                  <a:srgbClr val="2C3E50"/>
                </a:solidFill>
                <a:latin typeface="Calibri"/>
              </a:rPr>
              <a:t>📊  Reflexion</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Bereiche treffen deine Power-Slots</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1000"/>
              </a:spcAft>
            </a:pPr>
            <a:r>
              <a:rPr sz="2100" b="1" i="0">
                <a:solidFill>
                  <a:srgbClr val="1A3A4A"/>
                </a:solidFill>
                <a:latin typeface="Georgia"/>
              </a:rPr>
              <a:t>Nimm DEINE Slots — kein erfundenes Idealbild.</a:t>
            </a:r>
          </a:p>
          <a:p>
            <a:pPr>
              <a:spcBef>
                <a:spcPts val="0"/>
              </a:spcBef>
              <a:spcAft>
                <a:spcPts val="900"/>
              </a:spcAft>
            </a:pPr>
            <a:r>
              <a:rPr sz="1600" b="0" i="0">
                <a:solidFill>
                  <a:srgbClr val="2C3E50"/>
                </a:solidFill>
                <a:latin typeface="Calibri"/>
              </a:rPr>
              <a:t>2 pro Tag · nur der Vormittag · oder 1 freier Nachmittag</a:t>
            </a:r>
          </a:p>
          <a:p>
            <a:pPr>
              <a:spcBef>
                <a:spcPts val="0"/>
              </a:spcBef>
              <a:spcAft>
                <a:spcPts val="800"/>
              </a:spcAft>
            </a:pPr>
            <a:r>
              <a:rPr sz="1400" b="0" i="1">
                <a:solidFill>
                  <a:srgbClr val="7A8A95"/>
                </a:solidFill>
                <a:latin typeface="Calibri"/>
              </a:rPr>
              <a:t>In jeden Slot 1 Bereich → du weisst nicht nur DASS, sondern WORAN du arbeitest.</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828C"/>
        </a:solidFill>
        <a:effectLst/>
      </p:bgPr>
    </p:bg>
    <p:spTree>
      <p:nvGrpSpPr>
        <p:cNvPr id="1" name=""/>
        <p:cNvGrpSpPr/>
        <p:nvPr/>
      </p:nvGrpSpPr>
      <p:grpSpPr/>
      <p:sp>
        <p:nvSpPr>
          <p:cNvPr id="2" name="TextBox 1"/>
          <p:cNvSpPr txBox="1"/>
          <p:nvPr/>
        </p:nvSpPr>
        <p:spPr>
          <a:xfrm>
            <a:off x="548640" y="1097280"/>
            <a:ext cx="8046720" cy="365760"/>
          </a:xfrm>
          <a:prstGeom prst="rect">
            <a:avLst/>
          </a:prstGeom>
          <a:noFill/>
        </p:spPr>
        <p:txBody>
          <a:bodyPr wrap="square" anchor="t" lIns="0" rIns="0" tIns="0" bIns="0">
            <a:spAutoFit/>
          </a:bodyPr>
          <a:lstStyle/>
          <a:p>
            <a:r>
              <a:rPr sz="1100" b="1" i="0">
                <a:solidFill>
                  <a:srgbClr val="DC822E"/>
                </a:solidFill>
                <a:latin typeface="Calibri"/>
              </a:rPr>
              <a:t>VOM BEREICH ZUR AUFGABE</a:t>
            </a:r>
          </a:p>
        </p:txBody>
      </p:sp>
      <p:sp>
        <p:nvSpPr>
          <p:cNvPr id="3" name="Rectangle 2"/>
          <p:cNvSpPr/>
          <p:nvPr/>
        </p:nvSpPr>
        <p:spPr>
          <a:xfrm>
            <a:off x="548640" y="1554480"/>
            <a:ext cx="548640" cy="4572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920240"/>
            <a:ext cx="8046720" cy="2194560"/>
          </a:xfrm>
          <a:prstGeom prst="rect">
            <a:avLst/>
          </a:prstGeom>
          <a:noFill/>
        </p:spPr>
        <p:txBody>
          <a:bodyPr wrap="square" anchor="t" lIns="0" rIns="0" tIns="0" bIns="0">
            <a:spAutoFit/>
          </a:bodyPr>
          <a:lstStyle/>
          <a:p>
            <a:r>
              <a:rPr sz="2800" b="1" i="0">
                <a:solidFill>
                  <a:srgbClr val="F1ECDD"/>
                </a:solidFill>
                <a:latin typeface="Georgia"/>
              </a:rPr>
              <a:t>Bereich = die Schublade. Aufgabe = der Inhalt.</a:t>
            </a:r>
          </a:p>
        </p:txBody>
      </p:sp>
      <p:sp>
        <p:nvSpPr>
          <p:cNvPr id="5" name="TextBox 4"/>
          <p:cNvSpPr txBox="1"/>
          <p:nvPr/>
        </p:nvSpPr>
        <p:spPr>
          <a:xfrm>
            <a:off x="548640" y="3703320"/>
            <a:ext cx="8046720" cy="731520"/>
          </a:xfrm>
          <a:prstGeom prst="rect">
            <a:avLst/>
          </a:prstGeom>
          <a:noFill/>
        </p:spPr>
        <p:txBody>
          <a:bodyPr wrap="square" anchor="t" lIns="0" rIns="0" tIns="0" bIns="0">
            <a:spAutoFit/>
          </a:bodyPr>
          <a:lstStyle/>
          <a:p>
            <a:r>
              <a:rPr sz="1500" b="0" i="1">
                <a:solidFill>
                  <a:srgbClr val="F1ECDD"/>
                </a:solidFill>
                <a:latin typeface="Calibri"/>
              </a:rPr>
              <a:t>Mo Vormittag = Produkterstellung = „Modul 2 aufnehmen“. Wie beim Haushalt: Di = Bad, Mi = Küche.</a:t>
            </a:r>
          </a:p>
        </p:txBody>
      </p:sp>
      <p:sp>
        <p:nvSpPr>
          <p:cNvPr id="6" name="TextBox 5"/>
          <p:cNvSpPr txBox="1"/>
          <p:nvPr/>
        </p:nvSpPr>
        <p:spPr>
          <a:xfrm>
            <a:off x="457200" y="4754880"/>
            <a:ext cx="5486400" cy="274320"/>
          </a:xfrm>
          <a:prstGeom prst="rect">
            <a:avLst/>
          </a:prstGeom>
          <a:noFill/>
        </p:spPr>
        <p:txBody>
          <a:bodyPr wrap="square" anchor="t" lIns="0" rIns="0" tIns="0" bIns="0">
            <a:spAutoFit/>
          </a:bodyPr>
          <a:lstStyle/>
          <a:p>
            <a:r>
              <a:rPr sz="900" b="0" i="0">
                <a:solidFill>
                  <a:srgbClr val="F1ECDD"/>
                </a:solidFill>
                <a:latin typeface="Calibri"/>
              </a:rPr>
              <a:t>Mama-CEO · Säule 3 · Lektion 3.4</a:t>
            </a:r>
          </a:p>
        </p:txBody>
      </p:sp>
      <p:sp>
        <p:nvSpPr>
          <p:cNvPr id="7" name="TextBox 6"/>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F1ECDD"/>
                </a:solidFill>
                <a:latin typeface="Calibri"/>
              </a:rPr>
              <a:t>Mum Life Balance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Der CEO-Tag-Fokus gibt die Richtung</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1" i="0">
                <a:solidFill>
                  <a:srgbClr val="DC822E"/>
                </a:solidFill>
                <a:latin typeface="Calibri"/>
              </a:rPr>
              <a:t>▪  </a:t>
            </a:r>
            <a:r>
              <a:rPr sz="1600" b="0" i="0">
                <a:solidFill>
                  <a:srgbClr val="2C3E50"/>
                </a:solidFill>
                <a:latin typeface="Calibri"/>
              </a:rPr>
              <a:t>Mo Strategie → Produkterstellung</a:t>
            </a:r>
          </a:p>
          <a:p>
            <a:pPr>
              <a:spcBef>
                <a:spcPts val="0"/>
              </a:spcBef>
              <a:spcAft>
                <a:spcPts val="900"/>
              </a:spcAft>
            </a:pPr>
            <a:r>
              <a:rPr sz="1600" b="1" i="0">
                <a:solidFill>
                  <a:srgbClr val="DC822E"/>
                </a:solidFill>
                <a:latin typeface="Calibri"/>
              </a:rPr>
              <a:t>▪  </a:t>
            </a:r>
            <a:r>
              <a:rPr sz="1600" b="0" i="0">
                <a:solidFill>
                  <a:srgbClr val="2C3E50"/>
                </a:solidFill>
                <a:latin typeface="Calibri"/>
              </a:rPr>
              <a:t>Di Brand → Sichtbarkeit</a:t>
            </a:r>
          </a:p>
          <a:p>
            <a:pPr>
              <a:spcBef>
                <a:spcPts val="0"/>
              </a:spcBef>
              <a:spcAft>
                <a:spcPts val="900"/>
              </a:spcAft>
            </a:pPr>
            <a:r>
              <a:rPr sz="1600" b="1" i="0">
                <a:solidFill>
                  <a:srgbClr val="DC822E"/>
                </a:solidFill>
                <a:latin typeface="Calibri"/>
              </a:rPr>
              <a:t>▪  </a:t>
            </a:r>
            <a:r>
              <a:rPr sz="1600" b="0" i="0">
                <a:solidFill>
                  <a:srgbClr val="2C3E50"/>
                </a:solidFill>
                <a:latin typeface="Calibri"/>
              </a:rPr>
              <a:t>Mi Beziehungen → Kundenbetreuung</a:t>
            </a:r>
          </a:p>
          <a:p>
            <a:pPr>
              <a:spcBef>
                <a:spcPts val="0"/>
              </a:spcBef>
              <a:spcAft>
                <a:spcPts val="900"/>
              </a:spcAft>
            </a:pPr>
            <a:r>
              <a:rPr sz="1600" b="1" i="0">
                <a:solidFill>
                  <a:srgbClr val="DC822E"/>
                </a:solidFill>
                <a:latin typeface="Calibri"/>
              </a:rPr>
              <a:t>▪  </a:t>
            </a:r>
            <a:r>
              <a:rPr sz="1600" b="0" i="0">
                <a:solidFill>
                  <a:srgbClr val="2C3E50"/>
                </a:solidFill>
                <a:latin typeface="Calibri"/>
              </a:rPr>
              <a:t>Fr Reflexion → Reflexion</a:t>
            </a:r>
          </a:p>
          <a:p>
            <a:pPr>
              <a:spcBef>
                <a:spcPts val="0"/>
              </a:spcBef>
              <a:spcAft>
                <a:spcPts val="800"/>
              </a:spcAft>
            </a:pPr>
            <a:r>
              <a:rPr sz="1400" b="0" i="1">
                <a:solidFill>
                  <a:srgbClr val="7A8A95"/>
                </a:solidFill>
                <a:latin typeface="Calibri"/>
              </a:rPr>
              <a:t>Der Tag-Fokus gibt die Richtung, die Bereiche füllen sie konkret.</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Welche Bereiche sind diesen Monat dran?</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1000"/>
              </a:spcAft>
            </a:pPr>
            <a:r>
              <a:rPr sz="2100" b="1" i="0">
                <a:solidFill>
                  <a:srgbClr val="1A3A4A"/>
                </a:solidFill>
                <a:latin typeface="Georgia"/>
              </a:rPr>
              <a:t>Nicht alle 6 jede Woche — der Monat entscheidet.</a:t>
            </a:r>
          </a:p>
          <a:p>
            <a:pPr>
              <a:spcBef>
                <a:spcPts val="0"/>
              </a:spcBef>
              <a:spcAft>
                <a:spcPts val="900"/>
              </a:spcAft>
            </a:pPr>
            <a:r>
              <a:rPr sz="1600" b="0" i="0">
                <a:solidFill>
                  <a:srgbClr val="2C3E50"/>
                </a:solidFill>
                <a:latin typeface="Calibri"/>
              </a:rPr>
              <a:t>Aber: Me-Time + Reflexion möglichst nie ganz raus.</a:t>
            </a:r>
          </a:p>
          <a:p>
            <a:pPr>
              <a:spcBef>
                <a:spcPts val="0"/>
              </a:spcBef>
              <a:spcAft>
                <a:spcPts val="800"/>
              </a:spcAft>
            </a:pPr>
            <a:r>
              <a:rPr sz="1400" b="0" i="1">
                <a:solidFill>
                  <a:srgbClr val="7A8A95"/>
                </a:solidFill>
                <a:latin typeface="Calibri"/>
              </a:rPr>
              <a:t>Sonst landest du wieder im Hamsterrad aus Säule 2.</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Beispiel-Woche</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900"/>
              </a:spcAft>
            </a:pPr>
            <a:r>
              <a:rPr sz="1600" b="0" i="0">
                <a:solidFill>
                  <a:srgbClr val="2C3E50"/>
                </a:solidFill>
                <a:latin typeface="Calibri"/>
              </a:rPr>
              <a:t>Power-Slots mit ihren Bereichen + gelbe Mama-Slots + Sonntag-Reset</a:t>
            </a:r>
          </a:p>
          <a:p>
            <a:pPr>
              <a:spcBef>
                <a:spcPts val="0"/>
              </a:spcBef>
              <a:spcAft>
                <a:spcPts val="900"/>
              </a:spcAft>
            </a:pPr>
            <a:r>
              <a:rPr sz="1600" b="0" i="0">
                <a:solidFill>
                  <a:srgbClr val="2C3E50"/>
                </a:solidFill>
                <a:latin typeface="Calibri"/>
              </a:rPr>
              <a:t>Nur ein Beispiel — deine Woche hat vielleicht weniger Slots oder andere Tage.</a:t>
            </a:r>
          </a:p>
          <a:p>
            <a:pPr>
              <a:spcBef>
                <a:spcPts val="0"/>
              </a:spcBef>
              <a:spcAft>
                <a:spcPts val="800"/>
              </a:spcAft>
            </a:pPr>
            <a:r>
              <a:rPr sz="1400" b="0" i="1">
                <a:solidFill>
                  <a:srgbClr val="7A8A95"/>
                </a:solidFill>
                <a:latin typeface="Calibri"/>
              </a:rPr>
              <a:t>Wichtig: ausgewogen, statt dass ein Bereich alles auffrisst.</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914400"/>
          </a:xfrm>
          <a:prstGeom prst="rect">
            <a:avLst/>
          </a:prstGeom>
          <a:noFill/>
        </p:spPr>
        <p:txBody>
          <a:bodyPr wrap="square" anchor="t" lIns="0" rIns="0" tIns="0" bIns="0">
            <a:spAutoFit/>
          </a:bodyPr>
          <a:lstStyle/>
          <a:p>
            <a:r>
              <a:rPr sz="3000" b="1" i="0">
                <a:solidFill>
                  <a:srgbClr val="1A3A4A"/>
                </a:solidFill>
                <a:latin typeface="Georgia"/>
              </a:rPr>
              <a:t>Der Tag in 30 Sekunden</a:t>
            </a:r>
          </a:p>
        </p:txBody>
      </p:sp>
      <p:sp>
        <p:nvSpPr>
          <p:cNvPr id="3" name="TextBox 2"/>
          <p:cNvSpPr txBox="1"/>
          <p:nvPr/>
        </p:nvSpPr>
        <p:spPr>
          <a:xfrm>
            <a:off x="548640" y="1417320"/>
            <a:ext cx="8046720" cy="3154680"/>
          </a:xfrm>
          <a:prstGeom prst="rect">
            <a:avLst/>
          </a:prstGeom>
          <a:noFill/>
        </p:spPr>
        <p:txBody>
          <a:bodyPr wrap="square" anchor="t" lIns="0" rIns="0" tIns="0" bIns="0">
            <a:spAutoFit/>
          </a:bodyPr>
          <a:lstStyle/>
          <a:p>
            <a:pPr>
              <a:spcBef>
                <a:spcPts val="0"/>
              </a:spcBef>
              <a:spcAft>
                <a:spcPts val="1000"/>
              </a:spcAft>
            </a:pPr>
            <a:r>
              <a:rPr sz="2100" b="1" i="0">
                <a:solidFill>
                  <a:srgbClr val="1A3A4A"/>
                </a:solidFill>
                <a:latin typeface="Georgia"/>
              </a:rPr>
              <a:t>Tagesfokus + 3 Hauptaufgaben</a:t>
            </a:r>
          </a:p>
          <a:p>
            <a:pPr>
              <a:spcBef>
                <a:spcPts val="0"/>
              </a:spcBef>
              <a:spcAft>
                <a:spcPts val="900"/>
              </a:spcAft>
            </a:pPr>
            <a:r>
              <a:rPr sz="1600" b="0" i="0">
                <a:solidFill>
                  <a:srgbClr val="2C3E50"/>
                </a:solidFill>
                <a:latin typeface="Calibri"/>
              </a:rPr>
              <a:t>Abends: 1-2 Sätze Reflexion.</a:t>
            </a:r>
          </a:p>
          <a:p>
            <a:pPr>
              <a:spcBef>
                <a:spcPts val="0"/>
              </a:spcBef>
              <a:spcAft>
                <a:spcPts val="800"/>
              </a:spcAft>
            </a:pPr>
            <a:r>
              <a:rPr sz="1400" b="0" i="1">
                <a:solidFill>
                  <a:srgbClr val="7A8A95"/>
                </a:solidFill>
                <a:latin typeface="Calibri"/>
              </a:rPr>
              <a:t>Kein Grübeln — die Woche steht ja schon.</a:t>
            </a:r>
          </a:p>
        </p:txBody>
      </p:sp>
      <p:sp>
        <p:nvSpPr>
          <p:cNvPr id="4" name="TextBox 3"/>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5" name="TextBox 4"/>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8046720" cy="822960"/>
          </a:xfrm>
          <a:prstGeom prst="rect">
            <a:avLst/>
          </a:prstGeom>
          <a:noFill/>
        </p:spPr>
        <p:txBody>
          <a:bodyPr wrap="square" anchor="t" lIns="0" rIns="0" tIns="0" bIns="0">
            <a:spAutoFit/>
          </a:bodyPr>
          <a:lstStyle/>
          <a:p>
            <a:r>
              <a:rPr sz="3000" b="1" i="0">
                <a:solidFill>
                  <a:srgbClr val="1A3A4A"/>
                </a:solidFill>
                <a:latin typeface="Georgia"/>
              </a:rPr>
              <a:t>Dein nächster Schritt</a:t>
            </a:r>
          </a:p>
        </p:txBody>
      </p:sp>
      <p:sp>
        <p:nvSpPr>
          <p:cNvPr id="3" name="Rectangle 2"/>
          <p:cNvSpPr/>
          <p:nvPr/>
        </p:nvSpPr>
        <p:spPr>
          <a:xfrm>
            <a:off x="548640" y="1737360"/>
            <a:ext cx="3931920" cy="2743200"/>
          </a:xfrm>
          <a:prstGeom prst="rect">
            <a:avLst/>
          </a:prstGeom>
          <a:solidFill>
            <a:srgbClr val="F1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737360"/>
            <a:ext cx="3931920" cy="91440"/>
          </a:xfrm>
          <a:prstGeom prst="rect">
            <a:avLst/>
          </a:prstGeom>
          <a:solidFill>
            <a:srgbClr val="128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920240"/>
            <a:ext cx="3657600" cy="274320"/>
          </a:xfrm>
          <a:prstGeom prst="rect">
            <a:avLst/>
          </a:prstGeom>
          <a:noFill/>
        </p:spPr>
        <p:txBody>
          <a:bodyPr wrap="square" anchor="t" lIns="0" rIns="0" tIns="0" bIns="0">
            <a:spAutoFit/>
          </a:bodyPr>
          <a:lstStyle/>
          <a:p>
            <a:r>
              <a:rPr sz="1000" b="1" i="0">
                <a:solidFill>
                  <a:srgbClr val="0D6168"/>
                </a:solidFill>
                <a:latin typeface="Calibri"/>
              </a:rPr>
              <a:t>📋  ARBEITSBLATT</a:t>
            </a:r>
          </a:p>
        </p:txBody>
      </p:sp>
      <p:sp>
        <p:nvSpPr>
          <p:cNvPr id="6" name="TextBox 5"/>
          <p:cNvSpPr txBox="1"/>
          <p:nvPr/>
        </p:nvSpPr>
        <p:spPr>
          <a:xfrm>
            <a:off x="731520" y="2286000"/>
            <a:ext cx="3657600" cy="548640"/>
          </a:xfrm>
          <a:prstGeom prst="rect">
            <a:avLst/>
          </a:prstGeom>
          <a:noFill/>
        </p:spPr>
        <p:txBody>
          <a:bodyPr wrap="square" anchor="t" lIns="0" rIns="0" tIns="0" bIns="0">
            <a:spAutoFit/>
          </a:bodyPr>
          <a:lstStyle/>
          <a:p>
            <a:r>
              <a:rPr sz="1600" b="1" i="0">
                <a:solidFill>
                  <a:srgbClr val="1A3A4A"/>
                </a:solidFill>
                <a:latin typeface="Georgia"/>
              </a:rPr>
              <a:t>Monat + Woche bauen</a:t>
            </a:r>
          </a:p>
        </p:txBody>
      </p:sp>
      <p:sp>
        <p:nvSpPr>
          <p:cNvPr id="7" name="TextBox 6"/>
          <p:cNvSpPr txBox="1"/>
          <p:nvPr/>
        </p:nvSpPr>
        <p:spPr>
          <a:xfrm>
            <a:off x="731520" y="2880360"/>
            <a:ext cx="3566160" cy="1463040"/>
          </a:xfrm>
          <a:prstGeom prst="rect">
            <a:avLst/>
          </a:prstGeom>
          <a:noFill/>
        </p:spPr>
        <p:txBody>
          <a:bodyPr wrap="square" anchor="t" lIns="0" rIns="0" tIns="0" bIns="0">
            <a:spAutoFit/>
          </a:bodyPr>
          <a:lstStyle/>
          <a:p>
            <a:r>
              <a:rPr sz="1250" b="0" i="0">
                <a:solidFill>
                  <a:srgbClr val="2C3E50"/>
                </a:solidFill>
                <a:latin typeface="Calibri"/>
              </a:rPr>
              <a:t>Monatsplan (Fokus + 3 Ziele + aktive Bereiche) + Beispiel-Woche in deinen Slots + Tagesplaner-Vorlage. Das ist das Herzstück.</a:t>
            </a:r>
          </a:p>
        </p:txBody>
      </p:sp>
      <p:sp>
        <p:nvSpPr>
          <p:cNvPr id="8" name="Rectangle 7"/>
          <p:cNvSpPr/>
          <p:nvPr/>
        </p:nvSpPr>
        <p:spPr>
          <a:xfrm>
            <a:off x="4663440" y="1737360"/>
            <a:ext cx="3931920" cy="2743200"/>
          </a:xfrm>
          <a:prstGeom prst="rect">
            <a:avLst/>
          </a:prstGeom>
          <a:solidFill>
            <a:srgbClr val="F1EC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663440" y="1737360"/>
            <a:ext cx="3931920" cy="91440"/>
          </a:xfrm>
          <a:prstGeom prst="rect">
            <a:avLst/>
          </a:prstGeom>
          <a:solidFill>
            <a:srgbClr val="DC8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46320" y="1920240"/>
            <a:ext cx="3657600" cy="274320"/>
          </a:xfrm>
          <a:prstGeom prst="rect">
            <a:avLst/>
          </a:prstGeom>
          <a:noFill/>
        </p:spPr>
        <p:txBody>
          <a:bodyPr wrap="square" anchor="t" lIns="0" rIns="0" tIns="0" bIns="0">
            <a:spAutoFit/>
          </a:bodyPr>
          <a:lstStyle/>
          <a:p>
            <a:r>
              <a:rPr sz="1000" b="1" i="0">
                <a:solidFill>
                  <a:srgbClr val="DC822E"/>
                </a:solidFill>
                <a:latin typeface="Calibri"/>
              </a:rPr>
              <a:t>▶  ALS NÄCHSTES</a:t>
            </a:r>
          </a:p>
        </p:txBody>
      </p:sp>
      <p:sp>
        <p:nvSpPr>
          <p:cNvPr id="11" name="TextBox 10"/>
          <p:cNvSpPr txBox="1"/>
          <p:nvPr/>
        </p:nvSpPr>
        <p:spPr>
          <a:xfrm>
            <a:off x="4846320" y="2286000"/>
            <a:ext cx="3657600" cy="548640"/>
          </a:xfrm>
          <a:prstGeom prst="rect">
            <a:avLst/>
          </a:prstGeom>
          <a:noFill/>
        </p:spPr>
        <p:txBody>
          <a:bodyPr wrap="square" anchor="t" lIns="0" rIns="0" tIns="0" bIns="0">
            <a:spAutoFit/>
          </a:bodyPr>
          <a:lstStyle/>
          <a:p>
            <a:r>
              <a:rPr sz="1600" b="1" i="0">
                <a:solidFill>
                  <a:srgbClr val="1A3A4A"/>
                </a:solidFill>
                <a:latin typeface="Georgia"/>
              </a:rPr>
              <a:t>Lektion 3.5 (MASTERY)</a:t>
            </a:r>
          </a:p>
        </p:txBody>
      </p:sp>
      <p:sp>
        <p:nvSpPr>
          <p:cNvPr id="12" name="TextBox 11"/>
          <p:cNvSpPr txBox="1"/>
          <p:nvPr/>
        </p:nvSpPr>
        <p:spPr>
          <a:xfrm>
            <a:off x="4846320" y="2880360"/>
            <a:ext cx="3566160" cy="1463040"/>
          </a:xfrm>
          <a:prstGeom prst="rect">
            <a:avLst/>
          </a:prstGeom>
          <a:noFill/>
        </p:spPr>
        <p:txBody>
          <a:bodyPr wrap="square" anchor="t" lIns="0" rIns="0" tIns="0" bIns="0">
            <a:spAutoFit/>
          </a:bodyPr>
          <a:lstStyle/>
          <a:p>
            <a:r>
              <a:rPr sz="1250" b="0" i="0">
                <a:solidFill>
                  <a:srgbClr val="2C3E50"/>
                </a:solidFill>
                <a:latin typeface="Calibri"/>
              </a:rPr>
              <a:t>Jetzt bauen wir das alles gemeinsam in Notion. Plan dir 30 Min ein.</a:t>
            </a:r>
          </a:p>
        </p:txBody>
      </p:sp>
      <p:sp>
        <p:nvSpPr>
          <p:cNvPr id="13" name="TextBox 12"/>
          <p:cNvSpPr txBox="1"/>
          <p:nvPr/>
        </p:nvSpPr>
        <p:spPr>
          <a:xfrm>
            <a:off x="457200" y="4754880"/>
            <a:ext cx="5486400" cy="274320"/>
          </a:xfrm>
          <a:prstGeom prst="rect">
            <a:avLst/>
          </a:prstGeom>
          <a:noFill/>
        </p:spPr>
        <p:txBody>
          <a:bodyPr wrap="square" anchor="t" lIns="0" rIns="0" tIns="0" bIns="0">
            <a:spAutoFit/>
          </a:bodyPr>
          <a:lstStyle/>
          <a:p>
            <a:r>
              <a:rPr sz="900" b="0" i="0">
                <a:solidFill>
                  <a:srgbClr val="7A8A95"/>
                </a:solidFill>
                <a:latin typeface="Calibri"/>
              </a:rPr>
              <a:t>Mama-CEO · Säule 3 · Lektion 3.4</a:t>
            </a:r>
          </a:p>
        </p:txBody>
      </p:sp>
      <p:sp>
        <p:nvSpPr>
          <p:cNvPr id="14" name="TextBox 13"/>
          <p:cNvSpPr txBox="1"/>
          <p:nvPr/>
        </p:nvSpPr>
        <p:spPr>
          <a:xfrm>
            <a:off x="6400800" y="4754880"/>
            <a:ext cx="2286000" cy="274320"/>
          </a:xfrm>
          <a:prstGeom prst="rect">
            <a:avLst/>
          </a:prstGeom>
          <a:noFill/>
        </p:spPr>
        <p:txBody>
          <a:bodyPr wrap="square" anchor="t" lIns="0" rIns="0" tIns="0" bIns="0">
            <a:spAutoFit/>
          </a:bodyPr>
          <a:lstStyle/>
          <a:p>
            <a:pPr algn="r"/>
            <a:r>
              <a:rPr sz="900" b="0" i="0">
                <a:solidFill>
                  <a:srgbClr val="7A8A95"/>
                </a:solidFill>
                <a:latin typeface="Calibri"/>
              </a:rPr>
              <a:t>Mum Life Balance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