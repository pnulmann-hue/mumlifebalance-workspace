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 Jahr steht, und jetzt zoomen wir rein. Vom Jahr in den Monat, vom Monat in die Woche, denn die Woche ist die Ebene, in der dein Leben wirklich stattfindet.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Aus deiner Jahres-Strategie nimmst du dir für jeden Monat genau einen Fokus und drei Ziele. Mehr nicht. Und ganz wichtig: du entscheidest hier auch, welche der sechs Lebens-Bereiche diesen Monat überhaupt dran sind. Nicht jeder Bereich muss jeden Monat laufen, und genau das macht den Monat ruhig statt hektisch.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sieht ein Monat bei mir aus: ein Fokus, zum Beispiel meinen laufenden Pilot gut zu begleiten, dazu drei konkrete Ziele, und ich markiere welche Bereiche diesen Monat aktiv sind. In einem Monat ist Produkterstellung gross dabei, im nächsten gar nicht. Alles ordnet sich dem Monatsfokus unter.</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die Woche, und das ist die wichtigste Planungsebene überhaupt. Jede Woche hat eine Nummer, eine Fokus-Säule, also Plattform, Produkt oder Verkauf, und ein Hauptziel. Das ist der Rahmen, in den wir jetzt die sechs Lebens-Bereiche füllen.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Erinnerst du dich an die sechs Bereiche aus Lektion 3.1? Produkterstellung, Sichtbarkeit, Kundenbetreuung, Me-Time, Familie und Haushalt, Reflexion. Diese sechs verteilen wir jetzt auf deine Woche, und zwar so, dass wirklich jeder vorkommt.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Hier kommt Säule 1 wieder rein: deine eigenen Power-Slots. Und die sehen bei jeder anders aus. Die eine hat zwei pro Tag, Vormittag und Abend, die andere nur den Vormittag, und wieder eine andere wie ich vor allem den Dienstagnachmittag, wo alle aus dem Haus sind. Nimm DEINE Slots, nicht ein erfundenes Idealbild. In jeden einzelnen Slot legst du dann einen Lebens-Bereich, so weisst du nicht nur DASS du arbeitest, sondern WORAN.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wird es ganz konkret. Der Lebens-Bereich ist die Schublade, aber in die Schublade legst du die einzelne Aufgabe aus deinem Brain Dump in Säule 2. Beispiel: Montag Vormittag ist Produkterstellung, und die konkrete Aufgabe ist Modul zwei aufnehmen. So wie du beim Haushalt sagst Dienstag ist Bad und Mittwoch ist Küche, sagst du jetzt fürs Business: dieser Slot, diese Aufgabe. Damit ist nichts mehr nur ein vager Bereich, sondern ein klarer Auftrag.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du nicht raten musst was wann passt, nutzt du deinen CEO-Tag-Fokus aus Säule 1. Montag Strategie passt zu Produkterstellung, Dienstag Brand zu Sichtbarkeit, Mittwoch Beziehungen zu Kundenbetreuung, Freitag Reflexion zur Reflexion. Der Tag-Fokus gibt dir die Richtung, die Lebens-Bereiche füllen sie konkret.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der Punkt, den du schon im Monatsplan festgelegt hast: nicht alle sechs Bereiche müssen jede Woche laufen. In einem Monat steht Produkterstellung gross an, im nächsten gar nicht, das ist völlig okay. Was ich dir trotzdem ans Herz lege: lass Me-Time und Reflexion möglichst nie ganz raus, weil genau die zuerst verschwinden wenn es eng wird, und dann landest du wieder im Hamsterrad aus Säule 2.</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könnte eine fertige Woche aussehen: deine Power-Slots mit den Bereichen die diesen Monat dran sind, die gelben Mama-Slots für die Familie, und am Sonntag dein Reset. Das ist nur ein Beispiel, deine Woche hat vielleicht weniger Slots oder andere Tage. Wichtig ist nur: es ist ausgewogen, statt dass ein Bereich alles auffrisst.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der Tag? Den planst du in dreissig Sekunden, weil die Woche schon steht. Du schaust morgens auf deinen Tag, setzt einen Tagesfokus und drei Hauptaufgaben, fertig. Abends ein, zwei Sätze Reflexion. Kein langes Grübeln, weil die Vorarbeit in Woche und Monat schon erledigt ist.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baust du jetzt deinen Monatsplan mit Fokus, drei Zielen und den aktiven Bereichen, dann deine Beispiel-Woche mit diesen Bereichen in deinen eigenen Power-Slots, und du hast eine Tagesplaner-Vorlage zum Kopieren. Nimm dir dafür Zeit, das ist das Herzstück.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der nächsten Lektion, der MASTERY, bauen wir das alles gemeinsam in Notion. Du duplizierst mein Master-Template und füllst es mit allem was du bis hierher erarbeitet hast. Plan dir dafür eine ungestörte halbe Stunde ein.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TextBox 1"/>
          <p:cNvSpPr txBox="1"/>
          <p:nvPr/>
        </p:nvSpPr>
        <p:spPr>
          <a:xfrm>
            <a:off x="914400" y="1920240"/>
            <a:ext cx="10332720" cy="914400"/>
          </a:xfrm>
          <a:prstGeom prst="rect">
            <a:avLst/>
          </a:prstGeom>
          <a:noFill/>
        </p:spPr>
        <p:txBody>
          <a:bodyPr wrap="square" anchor="t" lIns="0" rIns="0" tIns="0" bIns="0">
            <a:spAutoFit/>
          </a:bodyPr>
          <a:lstStyle/>
          <a:p>
            <a:pPr algn="l">
              <a:spcBef>
                <a:spcPts val="0"/>
              </a:spcBef>
              <a:spcAft>
                <a:spcPts val="1000"/>
              </a:spcAft>
            </a:pPr>
            <a:r>
              <a:rPr sz="8000" b="1" i="0">
                <a:solidFill>
                  <a:srgbClr val="F1ECDD"/>
                </a:solidFill>
                <a:latin typeface="Georgia"/>
              </a:rPr>
              <a:t>3.4</a:t>
            </a:r>
          </a:p>
        </p:txBody>
      </p:sp>
      <p:sp>
        <p:nvSpPr>
          <p:cNvPr id="3" name="TextBox 2"/>
          <p:cNvSpPr txBox="1"/>
          <p:nvPr/>
        </p:nvSpPr>
        <p:spPr>
          <a:xfrm>
            <a:off x="914400" y="2971800"/>
            <a:ext cx="10332720" cy="1828800"/>
          </a:xfrm>
          <a:prstGeom prst="rect">
            <a:avLst/>
          </a:prstGeom>
          <a:noFill/>
        </p:spPr>
        <p:txBody>
          <a:bodyPr wrap="square" anchor="t" lIns="0" rIns="0" tIns="0" bIns="0">
            <a:spAutoFit/>
          </a:bodyPr>
          <a:lstStyle/>
          <a:p>
            <a:pPr algn="l">
              <a:spcBef>
                <a:spcPts val="0"/>
              </a:spcBef>
              <a:spcAft>
                <a:spcPts val="1000"/>
              </a:spcAft>
            </a:pPr>
            <a:r>
              <a:rPr sz="4400" b="1" i="0">
                <a:solidFill>
                  <a:srgbClr val="FFFFFF"/>
                </a:solidFill>
                <a:latin typeface="Georgia"/>
              </a:rPr>
              <a:t>Monats- + Wochenplanung</a:t>
            </a:r>
          </a:p>
        </p:txBody>
      </p:sp>
      <p:sp>
        <p:nvSpPr>
          <p:cNvPr id="4" name="TextBox 3"/>
          <p:cNvSpPr txBox="1"/>
          <p:nvPr/>
        </p:nvSpPr>
        <p:spPr>
          <a:xfrm>
            <a:off x="914400" y="4480560"/>
            <a:ext cx="10332720" cy="914400"/>
          </a:xfrm>
          <a:prstGeom prst="rect">
            <a:avLst/>
          </a:prstGeom>
          <a:noFill/>
        </p:spPr>
        <p:txBody>
          <a:bodyPr wrap="square" anchor="t" lIns="0" rIns="0" tIns="0" bIns="0">
            <a:spAutoFit/>
          </a:bodyPr>
          <a:lstStyle/>
          <a:p>
            <a:pPr algn="l">
              <a:spcBef>
                <a:spcPts val="0"/>
              </a:spcBef>
              <a:spcAft>
                <a:spcPts val="1000"/>
              </a:spcAft>
            </a:pPr>
            <a:r>
              <a:rPr sz="2400" b="0" i="1">
                <a:solidFill>
                  <a:srgbClr val="F1ECDD"/>
                </a:solidFill>
                <a:latin typeface="Calibri"/>
              </a:rPr>
              <a:t>Mit deinen 6 Lebens-Bereichen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Vom Jahr in den Monat</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Pro Monat:</a:t>
            </a:r>
          </a:p>
          <a:p>
            <a:pPr algn="l">
              <a:spcBef>
                <a:spcPts val="0"/>
              </a:spcBef>
              <a:spcAft>
                <a:spcPts val="1400"/>
              </a:spcAft>
            </a:pPr>
            <a:r>
              <a:rPr sz="2100" b="0" i="0">
                <a:solidFill>
                  <a:srgbClr val="2A2A2A"/>
                </a:solidFill>
                <a:latin typeface="Calibri"/>
              </a:rPr>
              <a:t>1 Monatsfokus</a:t>
            </a:r>
          </a:p>
          <a:p>
            <a:pPr algn="l">
              <a:spcBef>
                <a:spcPts val="0"/>
              </a:spcBef>
              <a:spcAft>
                <a:spcPts val="1400"/>
              </a:spcAft>
            </a:pPr>
            <a:r>
              <a:rPr sz="2100" b="0" i="0">
                <a:solidFill>
                  <a:srgbClr val="2A2A2A"/>
                </a:solidFill>
                <a:latin typeface="Calibri"/>
              </a:rPr>
              <a:t>3 Monatsziele</a:t>
            </a:r>
          </a:p>
          <a:p>
            <a:pPr algn="l">
              <a:spcBef>
                <a:spcPts val="0"/>
              </a:spcBef>
              <a:spcAft>
                <a:spcPts val="1400"/>
              </a:spcAft>
            </a:pPr>
            <a:r>
              <a:rPr sz="2100" b="0" i="0">
                <a:solidFill>
                  <a:srgbClr val="2A2A2A"/>
                </a:solidFill>
                <a:latin typeface="Calibri"/>
              </a:rPr>
              <a:t>+ welche Lebens-Bereiche diesen Monat aktiv sind</a:t>
            </a:r>
          </a:p>
          <a:p>
            <a:pPr algn="l">
              <a:spcBef>
                <a:spcPts val="0"/>
              </a:spcBef>
              <a:spcAft>
                <a:spcPts val="1400"/>
              </a:spcAft>
            </a:pPr>
            <a:r>
              <a:rPr sz="2000" b="0" i="1">
                <a:solidFill>
                  <a:srgbClr val="6E6E6E"/>
                </a:solidFill>
                <a:latin typeface="Calibri"/>
              </a:rPr>
              <a:t>Nicht jeder Bereich muss jeden Monat laufen.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Beispiel-Monat</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Fokus: „meinen Pilot gut begleiten“</a:t>
            </a:r>
          </a:p>
          <a:p>
            <a:pPr algn="l">
              <a:spcBef>
                <a:spcPts val="0"/>
              </a:spcBef>
              <a:spcAft>
                <a:spcPts val="1400"/>
              </a:spcAft>
            </a:pPr>
            <a:r>
              <a:rPr sz="2100" b="0" i="0">
                <a:solidFill>
                  <a:srgbClr val="2A2A2A"/>
                </a:solidFill>
                <a:latin typeface="Calibri"/>
              </a:rPr>
              <a:t>3 konkrete Ziele</a:t>
            </a:r>
          </a:p>
          <a:p>
            <a:pPr algn="l">
              <a:spcBef>
                <a:spcPts val="0"/>
              </a:spcBef>
              <a:spcAft>
                <a:spcPts val="1400"/>
              </a:spcAft>
            </a:pPr>
            <a:r>
              <a:rPr sz="2100" b="0" i="0">
                <a:solidFill>
                  <a:srgbClr val="2A2A2A"/>
                </a:solidFill>
                <a:latin typeface="Calibri"/>
              </a:rPr>
              <a:t>aktive Bereiche markiert · evtl. 1 Launch</a:t>
            </a:r>
          </a:p>
          <a:p>
            <a:pPr algn="l">
              <a:spcBef>
                <a:spcPts val="0"/>
              </a:spcBef>
              <a:spcAft>
                <a:spcPts val="1400"/>
              </a:spcAft>
            </a:pPr>
            <a:r>
              <a:rPr sz="2000" b="0" i="1">
                <a:solidFill>
                  <a:srgbClr val="6E6E6E"/>
                </a:solidFill>
                <a:latin typeface="Calibri"/>
              </a:rPr>
              <a:t>In einem Monat ist Produkterstellung gross dabei, im nächsten gar nicht.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Die Woche — hier lebt dein Plan</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Jede Woche hat:</a:t>
            </a:r>
          </a:p>
          <a:p>
            <a:pPr algn="l">
              <a:spcBef>
                <a:spcPts val="0"/>
              </a:spcBef>
              <a:spcAft>
                <a:spcPts val="1400"/>
              </a:spcAft>
            </a:pPr>
            <a:r>
              <a:rPr sz="2100" b="0" i="0">
                <a:solidFill>
                  <a:srgbClr val="2A2A2A"/>
                </a:solidFill>
                <a:latin typeface="Calibri"/>
              </a:rPr>
              <a:t>eine KW-Nummer</a:t>
            </a:r>
          </a:p>
          <a:p>
            <a:pPr algn="l">
              <a:spcBef>
                <a:spcPts val="0"/>
              </a:spcBef>
              <a:spcAft>
                <a:spcPts val="1400"/>
              </a:spcAft>
            </a:pPr>
            <a:r>
              <a:rPr sz="2100" b="0" i="0">
                <a:solidFill>
                  <a:srgbClr val="2A2A2A"/>
                </a:solidFill>
                <a:latin typeface="Calibri"/>
              </a:rPr>
              <a:t>eine Fokus-Säule (Plattform · Produkt · Verkauf)</a:t>
            </a:r>
          </a:p>
          <a:p>
            <a:pPr algn="l">
              <a:spcBef>
                <a:spcPts val="0"/>
              </a:spcBef>
              <a:spcAft>
                <a:spcPts val="1400"/>
              </a:spcAft>
            </a:pPr>
            <a:r>
              <a:rPr sz="2100" b="0" i="0">
                <a:solidFill>
                  <a:srgbClr val="2A2A2A"/>
                </a:solidFill>
                <a:latin typeface="Calibri"/>
              </a:rPr>
              <a:t>ein Hauptziel</a:t>
            </a:r>
          </a:p>
          <a:p>
            <a:pPr algn="l">
              <a:spcBef>
                <a:spcPts val="0"/>
              </a:spcBef>
              <a:spcAft>
                <a:spcPts val="1400"/>
              </a:spcAft>
            </a:pPr>
            <a:r>
              <a:rPr sz="2000" b="0" i="1">
                <a:solidFill>
                  <a:srgbClr val="6E6E6E"/>
                </a:solidFill>
                <a:latin typeface="Calibri"/>
              </a:rPr>
              <a:t>Das ist der Rahmen für deine Lebens-Bereiche.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Die 6 Lebens-Bereiche</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  Produkterstellung</a:t>
            </a:r>
          </a:p>
          <a:p>
            <a:pPr algn="l">
              <a:spcBef>
                <a:spcPts val="0"/>
              </a:spcBef>
              <a:spcAft>
                <a:spcPts val="1400"/>
              </a:spcAft>
            </a:pPr>
            <a:r>
              <a:rPr sz="2100" b="0" i="0">
                <a:solidFill>
                  <a:srgbClr val="2A2A2A"/>
                </a:solidFill>
                <a:latin typeface="Calibri"/>
              </a:rPr>
              <a:t>📱  Sichtbarkeit / Content</a:t>
            </a:r>
          </a:p>
          <a:p>
            <a:pPr algn="l">
              <a:spcBef>
                <a:spcPts val="0"/>
              </a:spcBef>
              <a:spcAft>
                <a:spcPts val="1400"/>
              </a:spcAft>
            </a:pPr>
            <a:r>
              <a:rPr sz="2100" b="0" i="0">
                <a:solidFill>
                  <a:srgbClr val="2A2A2A"/>
                </a:solidFill>
                <a:latin typeface="Calibri"/>
              </a:rPr>
              <a:t>💬  Kundenbetreuung</a:t>
            </a:r>
          </a:p>
          <a:p>
            <a:pPr algn="l">
              <a:spcBef>
                <a:spcPts val="0"/>
              </a:spcBef>
              <a:spcAft>
                <a:spcPts val="1400"/>
              </a:spcAft>
            </a:pPr>
            <a:r>
              <a:rPr sz="2100" b="0" i="0">
                <a:solidFill>
                  <a:srgbClr val="2A2A2A"/>
                </a:solidFill>
                <a:latin typeface="Calibri"/>
              </a:rPr>
              <a:t>🧘  Me-Time</a:t>
            </a:r>
          </a:p>
          <a:p>
            <a:pPr algn="l">
              <a:spcBef>
                <a:spcPts val="0"/>
              </a:spcBef>
              <a:spcAft>
                <a:spcPts val="1400"/>
              </a:spcAft>
            </a:pPr>
            <a:r>
              <a:rPr sz="2100" b="0" i="0">
                <a:solidFill>
                  <a:srgbClr val="2A2A2A"/>
                </a:solidFill>
                <a:latin typeface="Calibri"/>
              </a:rPr>
              <a:t>👨‍👩‍👧‍👦  Familie + Haushalt</a:t>
            </a:r>
          </a:p>
          <a:p>
            <a:pPr algn="l">
              <a:spcBef>
                <a:spcPts val="0"/>
              </a:spcBef>
              <a:spcAft>
                <a:spcPts val="1400"/>
              </a:spcAft>
            </a:pPr>
            <a:r>
              <a:rPr sz="2100" b="0" i="0">
                <a:solidFill>
                  <a:srgbClr val="2A2A2A"/>
                </a:solidFill>
                <a:latin typeface="Calibri"/>
              </a:rPr>
              <a:t>📊  Reflexion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Bereiche treffen deine Power-Slots</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600" b="1" i="0">
                <a:solidFill>
                  <a:srgbClr val="2A2A2A"/>
                </a:solidFill>
                <a:latin typeface="Georgia"/>
              </a:rPr>
              <a:t>Nimm DEINE Slots — kein erfundenes Idealbild.</a:t>
            </a:r>
          </a:p>
          <a:p>
            <a:pPr algn="l">
              <a:spcBef>
                <a:spcPts val="0"/>
              </a:spcBef>
              <a:spcAft>
                <a:spcPts val="1400"/>
              </a:spcAft>
            </a:pPr>
            <a:r>
              <a:rPr sz="2100" b="0" i="0">
                <a:solidFill>
                  <a:srgbClr val="2A2A2A"/>
                </a:solidFill>
                <a:latin typeface="Calibri"/>
              </a:rPr>
              <a:t>2 pro Tag · nur der Vormittag · oder 1 freier Nachmittag</a:t>
            </a:r>
          </a:p>
          <a:p>
            <a:pPr algn="l">
              <a:spcBef>
                <a:spcPts val="0"/>
              </a:spcBef>
              <a:spcAft>
                <a:spcPts val="1400"/>
              </a:spcAft>
            </a:pPr>
            <a:r>
              <a:rPr sz="2000" b="0" i="1">
                <a:solidFill>
                  <a:srgbClr val="6E6E6E"/>
                </a:solidFill>
                <a:latin typeface="Calibri"/>
              </a:rPr>
              <a:t>In jeden Slot 1 Lebens-Bereich → du weisst nicht nur DASS, sondern WORAN du arbeitest.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Vom Bereich zur konkreten Aufgabe</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600" b="1" i="0">
                <a:solidFill>
                  <a:srgbClr val="2A2A2A"/>
                </a:solidFill>
                <a:latin typeface="Georgia"/>
              </a:rPr>
              <a:t>Bereich = die Schublade. Aufgabe = der Inhalt.</a:t>
            </a:r>
          </a:p>
          <a:p>
            <a:pPr algn="l">
              <a:spcBef>
                <a:spcPts val="0"/>
              </a:spcBef>
              <a:spcAft>
                <a:spcPts val="1400"/>
              </a:spcAft>
            </a:pPr>
            <a:r>
              <a:rPr sz="2100" b="0" i="0">
                <a:solidFill>
                  <a:srgbClr val="2A2A2A"/>
                </a:solidFill>
                <a:latin typeface="Calibri"/>
              </a:rPr>
              <a:t>Mo Vormittag = Produkterstellung = „Modul 2 aufnehmen“</a:t>
            </a:r>
          </a:p>
          <a:p>
            <a:pPr algn="l">
              <a:spcBef>
                <a:spcPts val="0"/>
              </a:spcBef>
              <a:spcAft>
                <a:spcPts val="1400"/>
              </a:spcAft>
            </a:pPr>
            <a:r>
              <a:rPr sz="2000" b="0" i="1">
                <a:solidFill>
                  <a:srgbClr val="6E6E6E"/>
                </a:solidFill>
                <a:latin typeface="Calibri"/>
              </a:rPr>
              <a:t>Wie beim Haushalt: Dienstag ist Bad, Mittwoch ist Küche.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Der CEO-Tag-Fokus gibt die Richtung</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Mo Strategie → Produkterstellung</a:t>
            </a:r>
          </a:p>
          <a:p>
            <a:pPr algn="l">
              <a:spcBef>
                <a:spcPts val="0"/>
              </a:spcBef>
              <a:spcAft>
                <a:spcPts val="1400"/>
              </a:spcAft>
            </a:pPr>
            <a:r>
              <a:rPr sz="2100" b="0" i="0">
                <a:solidFill>
                  <a:srgbClr val="2A2A2A"/>
                </a:solidFill>
                <a:latin typeface="Calibri"/>
              </a:rPr>
              <a:t>Di Brand → Sichtbarkeit</a:t>
            </a:r>
          </a:p>
          <a:p>
            <a:pPr algn="l">
              <a:spcBef>
                <a:spcPts val="0"/>
              </a:spcBef>
              <a:spcAft>
                <a:spcPts val="1400"/>
              </a:spcAft>
            </a:pPr>
            <a:r>
              <a:rPr sz="2100" b="0" i="0">
                <a:solidFill>
                  <a:srgbClr val="2A2A2A"/>
                </a:solidFill>
                <a:latin typeface="Calibri"/>
              </a:rPr>
              <a:t>Mi Beziehungen → Kundenbetreuung</a:t>
            </a:r>
          </a:p>
          <a:p>
            <a:pPr algn="l">
              <a:spcBef>
                <a:spcPts val="0"/>
              </a:spcBef>
              <a:spcAft>
                <a:spcPts val="1400"/>
              </a:spcAft>
            </a:pPr>
            <a:r>
              <a:rPr sz="2100" b="0" i="0">
                <a:solidFill>
                  <a:srgbClr val="2A2A2A"/>
                </a:solidFill>
                <a:latin typeface="Calibri"/>
              </a:rPr>
              <a:t>Fr Reflexion → Reflexion</a:t>
            </a:r>
          </a:p>
          <a:p>
            <a:pPr algn="l">
              <a:spcBef>
                <a:spcPts val="0"/>
              </a:spcBef>
              <a:spcAft>
                <a:spcPts val="1400"/>
              </a:spcAft>
            </a:pPr>
            <a:r>
              <a:rPr sz="2000" b="0" i="1">
                <a:solidFill>
                  <a:srgbClr val="6E6E6E"/>
                </a:solidFill>
                <a:latin typeface="Calibri"/>
              </a:rPr>
              <a:t>Der Tag-Fokus gibt die Richtung, die Bereiche füllen sie konkret.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Welche Bereiche sind diesen Monat dran?</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600" b="1" i="0">
                <a:solidFill>
                  <a:srgbClr val="2A2A2A"/>
                </a:solidFill>
                <a:latin typeface="Georgia"/>
              </a:rPr>
              <a:t>Nicht alle 6 jede Woche — der Monat entscheidet.</a:t>
            </a:r>
          </a:p>
          <a:p>
            <a:pPr algn="l">
              <a:spcBef>
                <a:spcPts val="0"/>
              </a:spcBef>
              <a:spcAft>
                <a:spcPts val="1400"/>
              </a:spcAft>
            </a:pPr>
            <a:r>
              <a:rPr sz="2100" b="0" i="0">
                <a:solidFill>
                  <a:srgbClr val="2A2A2A"/>
                </a:solidFill>
                <a:latin typeface="Calibri"/>
              </a:rPr>
              <a:t>Aber: Me-Time + Reflexion möglichst nie ganz raus.</a:t>
            </a:r>
          </a:p>
          <a:p>
            <a:pPr algn="l">
              <a:spcBef>
                <a:spcPts val="0"/>
              </a:spcBef>
              <a:spcAft>
                <a:spcPts val="1400"/>
              </a:spcAft>
            </a:pPr>
            <a:r>
              <a:rPr sz="2000" b="0" i="1">
                <a:solidFill>
                  <a:srgbClr val="6E6E6E"/>
                </a:solidFill>
                <a:latin typeface="Calibri"/>
              </a:rPr>
              <a:t>Sonst landest du wieder im Hamsterrad aus Säule 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Beispiel-Woche</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Power-Slots mit ihren Bereichen + gelbe Mama-Slots + Sonntag-Reset</a:t>
            </a:r>
          </a:p>
          <a:p>
            <a:pPr algn="l">
              <a:spcBef>
                <a:spcPts val="0"/>
              </a:spcBef>
              <a:spcAft>
                <a:spcPts val="1400"/>
              </a:spcAft>
            </a:pPr>
            <a:r>
              <a:rPr sz="2100" b="0" i="0">
                <a:solidFill>
                  <a:srgbClr val="2A2A2A"/>
                </a:solidFill>
                <a:latin typeface="Calibri"/>
              </a:rPr>
              <a:t>Nur ein Beispiel — deine Woche hat vielleicht weniger Slots oder andere Tage.</a:t>
            </a:r>
          </a:p>
          <a:p>
            <a:pPr algn="l">
              <a:spcBef>
                <a:spcPts val="0"/>
              </a:spcBef>
              <a:spcAft>
                <a:spcPts val="1400"/>
              </a:spcAft>
            </a:pPr>
            <a:r>
              <a:rPr sz="2000" b="0" i="1">
                <a:solidFill>
                  <a:srgbClr val="6E6E6E"/>
                </a:solidFill>
                <a:latin typeface="Calibri"/>
              </a:rPr>
              <a:t>Wichtig: ausgewogen, statt dass ein Bereich alles auffrisst.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Der Tag in 30 Sekunden</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600" b="1" i="0">
                <a:solidFill>
                  <a:srgbClr val="2A2A2A"/>
                </a:solidFill>
                <a:latin typeface="Georgia"/>
              </a:rPr>
              <a:t>Tagesfokus + 3 Hauptaufgaben</a:t>
            </a:r>
          </a:p>
          <a:p>
            <a:pPr algn="l">
              <a:spcBef>
                <a:spcPts val="0"/>
              </a:spcBef>
              <a:spcAft>
                <a:spcPts val="1400"/>
              </a:spcAft>
            </a:pPr>
            <a:r>
              <a:rPr sz="2100" b="0" i="0">
                <a:solidFill>
                  <a:srgbClr val="2A2A2A"/>
                </a:solidFill>
                <a:latin typeface="Calibri"/>
              </a:rPr>
              <a:t>Abends: 1-2 Sätze Reflexion</a:t>
            </a:r>
          </a:p>
          <a:p>
            <a:pPr algn="l">
              <a:spcBef>
                <a:spcPts val="0"/>
              </a:spcBef>
              <a:spcAft>
                <a:spcPts val="1400"/>
              </a:spcAft>
            </a:pPr>
            <a:r>
              <a:rPr sz="2000" b="0" i="1">
                <a:solidFill>
                  <a:srgbClr val="6E6E6E"/>
                </a:solidFill>
                <a:latin typeface="Calibri"/>
              </a:rPr>
              <a:t>Kein Grübeln — die Woche steht ja schon.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548640" y="502920"/>
            <a:ext cx="201168" cy="201168"/>
          </a:xfrm>
          <a:prstGeom prst="rect">
            <a:avLst/>
          </a:prstGeom>
          <a:solidFill>
            <a:srgbClr val="1F6F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68680" y="457200"/>
            <a:ext cx="10424160" cy="1005840"/>
          </a:xfrm>
          <a:prstGeom prst="rect">
            <a:avLst/>
          </a:prstGeom>
          <a:noFill/>
        </p:spPr>
        <p:txBody>
          <a:bodyPr wrap="square" anchor="t" lIns="0" rIns="0" tIns="0" bIns="0">
            <a:spAutoFit/>
          </a:bodyPr>
          <a:lstStyle/>
          <a:p>
            <a:pPr algn="l">
              <a:spcBef>
                <a:spcPts val="0"/>
              </a:spcBef>
              <a:spcAft>
                <a:spcPts val="1000"/>
              </a:spcAft>
            </a:pPr>
            <a:r>
              <a:rPr sz="3200" b="1" i="0">
                <a:solidFill>
                  <a:srgbClr val="1F6F6B"/>
                </a:solidFill>
                <a:latin typeface="Georgia"/>
              </a:rPr>
              <a:t>📋 Im Arbeitsblatt</a:t>
            </a:r>
          </a:p>
        </p:txBody>
      </p:sp>
      <p:sp>
        <p:nvSpPr>
          <p:cNvPr id="4" name="TextBox 3"/>
          <p:cNvSpPr txBox="1"/>
          <p:nvPr/>
        </p:nvSpPr>
        <p:spPr>
          <a:xfrm>
            <a:off x="868680" y="1783080"/>
            <a:ext cx="10424160" cy="4572000"/>
          </a:xfrm>
          <a:prstGeom prst="rect">
            <a:avLst/>
          </a:prstGeom>
          <a:noFill/>
        </p:spPr>
        <p:txBody>
          <a:bodyPr wrap="square" anchor="t" lIns="0" rIns="0" tIns="0" bIns="0">
            <a:spAutoFit/>
          </a:bodyPr>
          <a:lstStyle/>
          <a:p>
            <a:pPr algn="l">
              <a:spcBef>
                <a:spcPts val="0"/>
              </a:spcBef>
              <a:spcAft>
                <a:spcPts val="1400"/>
              </a:spcAft>
            </a:pPr>
            <a:r>
              <a:rPr sz="2100" b="0" i="0">
                <a:solidFill>
                  <a:srgbClr val="2A2A2A"/>
                </a:solidFill>
                <a:latin typeface="Calibri"/>
              </a:rPr>
              <a:t>Dein Monatsplan (Fokus + 3 Ziele + aktive Bereiche)</a:t>
            </a:r>
          </a:p>
          <a:p>
            <a:pPr algn="l">
              <a:spcBef>
                <a:spcPts val="0"/>
              </a:spcBef>
              <a:spcAft>
                <a:spcPts val="1400"/>
              </a:spcAft>
            </a:pPr>
            <a:r>
              <a:rPr sz="2100" b="0" i="0">
                <a:solidFill>
                  <a:srgbClr val="2A2A2A"/>
                </a:solidFill>
                <a:latin typeface="Calibri"/>
              </a:rPr>
              <a:t>Deine Beispiel-Woche in deinen eigenen Slots</a:t>
            </a:r>
          </a:p>
          <a:p>
            <a:pPr algn="l">
              <a:spcBef>
                <a:spcPts val="0"/>
              </a:spcBef>
              <a:spcAft>
                <a:spcPts val="1400"/>
              </a:spcAft>
            </a:pPr>
            <a:r>
              <a:rPr sz="2100" b="0" i="0">
                <a:solidFill>
                  <a:srgbClr val="2A2A2A"/>
                </a:solidFill>
                <a:latin typeface="Calibri"/>
              </a:rPr>
              <a:t>Eine Tagesplaner-Vorlage zum Kopieren</a:t>
            </a:r>
          </a:p>
          <a:p>
            <a:pPr algn="l">
              <a:spcBef>
                <a:spcPts val="0"/>
              </a:spcBef>
              <a:spcAft>
                <a:spcPts val="1400"/>
              </a:spcAft>
            </a:pPr>
            <a:r>
              <a:rPr sz="2000" b="0" i="1">
                <a:solidFill>
                  <a:srgbClr val="6E6E6E"/>
                </a:solidFill>
                <a:latin typeface="Calibri"/>
              </a:rPr>
              <a:t>Nimm dir dafür Zeit — das ist das Herzstück.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F6F6B"/>
        </a:solidFill>
        <a:effectLst/>
      </p:bgPr>
    </p:bg>
    <p:spTree>
      <p:nvGrpSpPr>
        <p:cNvPr id="1" name=""/>
        <p:cNvGrpSpPr/>
        <p:nvPr/>
      </p:nvGrpSpPr>
      <p:grpSpPr/>
      <p:sp>
        <p:nvSpPr>
          <p:cNvPr id="2" name="TextBox 1"/>
          <p:cNvSpPr txBox="1"/>
          <p:nvPr/>
        </p:nvSpPr>
        <p:spPr>
          <a:xfrm>
            <a:off x="1005840" y="2194560"/>
            <a:ext cx="10149840" cy="2743200"/>
          </a:xfrm>
          <a:prstGeom prst="rect">
            <a:avLst/>
          </a:prstGeom>
          <a:noFill/>
        </p:spPr>
        <p:txBody>
          <a:bodyPr wrap="square" anchor="ctr" lIns="0" rIns="0" tIns="0" bIns="0">
            <a:spAutoFit/>
          </a:bodyPr>
          <a:lstStyle/>
          <a:p>
            <a:pPr algn="l">
              <a:spcBef>
                <a:spcPts val="0"/>
              </a:spcBef>
              <a:spcAft>
                <a:spcPts val="1800"/>
              </a:spcAft>
            </a:pPr>
            <a:r>
              <a:rPr sz="3200" b="1" i="0">
                <a:solidFill>
                  <a:srgbClr val="FFFFFF"/>
                </a:solidFill>
                <a:latin typeface="Georgia"/>
              </a:rPr>
              <a:t>Nächste Lektion: 3.5 MASTERY</a:t>
            </a:r>
          </a:p>
          <a:p>
            <a:pPr algn="l">
              <a:spcBef>
                <a:spcPts val="0"/>
              </a:spcBef>
              <a:spcAft>
                <a:spcPts val="1800"/>
              </a:spcAft>
            </a:pPr>
            <a:r>
              <a:rPr sz="2200" b="0" i="0">
                <a:solidFill>
                  <a:srgbClr val="F1ECDD"/>
                </a:solidFill>
                <a:latin typeface="Calibri"/>
              </a:rPr>
              <a:t>Dein Notion-Master-Template einrichten</a:t>
            </a:r>
          </a:p>
          <a:p>
            <a:pPr algn="l">
              <a:spcBef>
                <a:spcPts val="0"/>
              </a:spcBef>
              <a:spcAft>
                <a:spcPts val="1800"/>
              </a:spcAft>
            </a:pPr>
            <a:r>
              <a:rPr sz="2200" b="0" i="0">
                <a:solidFill>
                  <a:srgbClr val="F1ECDD"/>
                </a:solidFill>
                <a:latin typeface="Calibri"/>
              </a:rPr>
              <a:t>Plan dir dafür eine ungestörte halbe Stunde ein.</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