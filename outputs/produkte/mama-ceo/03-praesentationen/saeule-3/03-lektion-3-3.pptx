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zoomen wir ganz weit raus, auf dein ganzes Jahr. Das klingt erstmal nach viel, aber genau das gibt dir am Ende die meiste Ruhe, weil du nie wieder morgens vor der Story stehst und nicht weisst, worüber du reden sollst.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aufs Herz, wer kennt das nicht: du stehst vor der Story und hast keine Ahnung, worüber du heute reden sollst. Das passiert immer dann, wenn du keinen Plan hast und jeden Tag neu erfinden musst. Genau das räumen wir hier weg.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gibt zwei Arten, ein Business zu führen. Die einen reagieren von Tag zu Tag und wundern sich, dass sich nie was Grosses bewegt, und die anderen schauen aufs Jahr und führen. Mama-CEO heisst führen, und das fängt mit der Vogelperspektive 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ganze Fundament steckt in zwei Fragen. Erstens: was bewerbe ich wann. Zweitens: über welche Transformation rede ich wann. Beantworte die zwei, und dein Content schreibt sich fast von selbst, weil du immer weisst, was gerade dran 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plane ich jeden einzelnen Monat: ein Gratis-Produkt, ein Mini-Produkt und ein grosses Produkt. Immer dieselben drei Stufen, jeden Monat neu gefüllt. Das gibt dir einen klaren Takt, an dem sich dein ganzer Content ausrichtet, vom Gratis-Reinholer bis zum grossen Angebot.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der wichtigste Satz der ganzen Lektion: nie steht das Produkt im Zentrum, immer die Transformation. Niemand will das Produkt, alle wollen das Ergebnis dahinter, und genau darüber redest du.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Nimm an, du verkaufst Abnehmshakes. Das Produkt ist der Shake, aber das Ziel ist, dass sie sich endlich wieder geil im Bikini fühlt. Und damit sie das erreicht, muss sie was lernen: Ernährung, Bewegung, Mindset. Genau das sind deine Überthemen, über die du in den Wochen sprichst, nicht der Shake selbst.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falls du nur ein einziges Network-Produkt hast, zum Beispiel Kosmetik: dann überlegst du dir, über welches Überthema du in welcher Woche redest. Eine Woche Hautpflege, eine Woche Ernährung für schöne Haut, eine Woche Routine. So hast du aus einem Produkt ein ganzes Jahr voller Themen, ohne dass es langweilig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du irgendwas anderes planst, trägst du drei Sachen zuerst ein: deine Schulferien, deine Testwochen und deine Anlässe. Denn in den Sommerferien mit den Kindern launchst du nicht, und wenn du eine Testwoche oder einen Anlass hast, redest du schon eine Woche vorher drüber und lädst die Leute ein. Diese Fixpunkte stehen zuerst, alles andere baut sich drumherum.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zeig dir das jetzt live an meinem eigenen Notion-Jahresplan. Du siehst pro Monat mein Gratis-, Mini- und grosses Produkt, du siehst meine Ferien blau markiert, und du siehst farblich getrennt, was Mum Life Balance ist und was doTERRA. Genau so darf deiner auch aussehen, grob und ehrlich.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Genauso wichtig wie was du planst, ist was du hier weglässt. Du planst nicht das ganze Jahr im Detail, grob reicht, und du baust hier noch keine Reels und Captions. Das WIE, also wie aus dem Plan konkreter Content wird, das lernst du in der Insta-Kundenmaschine. Hier bauen wir nur das Fundament.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Fülle deinen Jahres-Plan so gut du heute kannst, er darf wachsen. In der nächsten Lektion zoomen wir wieder rein, vom Jahr in den Monat und in die Woche, mit deinen sechs Lebens-Bereichen.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nchor="t" lIns="0" rIns="0" tIns="0" bIns="0">
            <a:spAutoFit/>
          </a:bodyPr>
          <a:lstStyle/>
          <a:p>
            <a:r>
              <a:rPr sz="1100" b="1" i="0">
                <a:solidFill>
                  <a:srgbClr val="DC822E"/>
                </a:solidFill>
                <a:latin typeface="Calibri"/>
              </a:rPr>
              <a:t>SÄULE 3 — DU BAUST DIE STRUKTUR</a:t>
            </a:r>
          </a:p>
        </p:txBody>
      </p:sp>
      <p:sp>
        <p:nvSpPr>
          <p:cNvPr id="4" name="Rectangle 3"/>
          <p:cNvSpPr/>
          <p:nvPr/>
        </p:nvSpPr>
        <p:spPr>
          <a:xfrm>
            <a:off x="548640" y="96012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463040"/>
          </a:xfrm>
          <a:prstGeom prst="rect">
            <a:avLst/>
          </a:prstGeom>
          <a:noFill/>
        </p:spPr>
        <p:txBody>
          <a:bodyPr wrap="square" anchor="t" lIns="0" rIns="0" tIns="0" bIns="0">
            <a:spAutoFit/>
          </a:bodyPr>
          <a:lstStyle/>
          <a:p>
            <a:r>
              <a:rPr sz="4400" b="1" i="0">
                <a:solidFill>
                  <a:srgbClr val="1A3A4A"/>
                </a:solidFill>
                <a:latin typeface="Georgia"/>
              </a:rPr>
              <a:t>Jahres-Strategie — was kommt WANN</a:t>
            </a:r>
          </a:p>
        </p:txBody>
      </p:sp>
      <p:sp>
        <p:nvSpPr>
          <p:cNvPr id="6" name="TextBox 5"/>
          <p:cNvSpPr txBox="1"/>
          <p:nvPr/>
        </p:nvSpPr>
        <p:spPr>
          <a:xfrm>
            <a:off x="548640" y="2880360"/>
            <a:ext cx="7680960" cy="1280160"/>
          </a:xfrm>
          <a:prstGeom prst="rect">
            <a:avLst/>
          </a:prstGeom>
          <a:noFill/>
        </p:spPr>
        <p:txBody>
          <a:bodyPr wrap="square" anchor="t" lIns="0" rIns="0" tIns="0" bIns="0">
            <a:spAutoFit/>
          </a:bodyPr>
          <a:lstStyle/>
          <a:p>
            <a:r>
              <a:rPr sz="1800" b="0" i="0">
                <a:solidFill>
                  <a:srgbClr val="2C3E50"/>
                </a:solidFill>
                <a:latin typeface="Georgia"/>
              </a:rPr>
              <a:t>Das Fundament für deinen ganzen Content</a:t>
            </a:r>
          </a:p>
        </p:txBody>
      </p:sp>
      <p:sp>
        <p:nvSpPr>
          <p:cNvPr id="7" name="TextBox 6"/>
          <p:cNvSpPr txBox="1"/>
          <p:nvPr/>
        </p:nvSpPr>
        <p:spPr>
          <a:xfrm>
            <a:off x="548640" y="4572000"/>
            <a:ext cx="3657600" cy="365760"/>
          </a:xfrm>
          <a:prstGeom prst="rect">
            <a:avLst/>
          </a:prstGeom>
          <a:noFill/>
        </p:spPr>
        <p:txBody>
          <a:bodyPr wrap="square" anchor="t" lIns="0" rIns="0" tIns="0" bIns="0">
            <a:spAutoFit/>
          </a:bodyPr>
          <a:lstStyle/>
          <a:p>
            <a:r>
              <a:rPr sz="1200" b="1" i="0">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nchor="t" lIns="0" rIns="0" tIns="0" bIns="0">
            <a:spAutoFit/>
          </a:bodyPr>
          <a:lstStyle/>
          <a:p>
            <a:pPr algn="r"/>
            <a:r>
              <a:rPr sz="1100" b="0" i="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828C"/>
        </a:solidFill>
        <a:effectLst/>
      </p:bgPr>
    </p:bg>
    <p:spTree>
      <p:nvGrpSpPr>
        <p:cNvPr id="1" name=""/>
        <p:cNvGrpSpPr/>
        <p:nvPr/>
      </p:nvGrpSpPr>
      <p:grpSpPr/>
      <p:sp>
        <p:nvSpPr>
          <p:cNvPr id="2" name="TextBox 1"/>
          <p:cNvSpPr txBox="1"/>
          <p:nvPr/>
        </p:nvSpPr>
        <p:spPr>
          <a:xfrm>
            <a:off x="548640" y="1097280"/>
            <a:ext cx="8046720" cy="365760"/>
          </a:xfrm>
          <a:prstGeom prst="rect">
            <a:avLst/>
          </a:prstGeom>
          <a:noFill/>
        </p:spPr>
        <p:txBody>
          <a:bodyPr wrap="square" anchor="t" lIns="0" rIns="0" tIns="0" bIns="0">
            <a:spAutoFit/>
          </a:bodyPr>
          <a:lstStyle/>
          <a:p>
            <a:r>
              <a:rPr sz="1100" b="1" i="0">
                <a:solidFill>
                  <a:srgbClr val="DC822E"/>
                </a:solidFill>
                <a:latin typeface="Calibri"/>
              </a:rPr>
              <a:t>WORÜBER REDE ICH HEUTE?</a:t>
            </a:r>
          </a:p>
        </p:txBody>
      </p:sp>
      <p:sp>
        <p:nvSpPr>
          <p:cNvPr id="3" name="Rectangle 2"/>
          <p:cNvSpPr/>
          <p:nvPr/>
        </p:nvSpPr>
        <p:spPr>
          <a:xfrm>
            <a:off x="548640" y="155448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920240"/>
            <a:ext cx="8046720" cy="2194560"/>
          </a:xfrm>
          <a:prstGeom prst="rect">
            <a:avLst/>
          </a:prstGeom>
          <a:noFill/>
        </p:spPr>
        <p:txBody>
          <a:bodyPr wrap="square" anchor="t" lIns="0" rIns="0" tIns="0" bIns="0">
            <a:spAutoFit/>
          </a:bodyPr>
          <a:lstStyle/>
          <a:p>
            <a:r>
              <a:rPr sz="3200" b="1" i="0">
                <a:solidFill>
                  <a:srgbClr val="F1ECDD"/>
                </a:solidFill>
                <a:latin typeface="Georgia"/>
              </a:rPr>
              <a:t>„Keine Ahnung, was ich heute posten soll.“</a:t>
            </a:r>
          </a:p>
        </p:txBody>
      </p:sp>
      <p:sp>
        <p:nvSpPr>
          <p:cNvPr id="5" name="TextBox 4"/>
          <p:cNvSpPr txBox="1"/>
          <p:nvPr/>
        </p:nvSpPr>
        <p:spPr>
          <a:xfrm>
            <a:off x="548640" y="3703320"/>
            <a:ext cx="8046720" cy="731520"/>
          </a:xfrm>
          <a:prstGeom prst="rect">
            <a:avLst/>
          </a:prstGeom>
          <a:noFill/>
        </p:spPr>
        <p:txBody>
          <a:bodyPr wrap="square" anchor="t" lIns="0" rIns="0" tIns="0" bIns="0">
            <a:spAutoFit/>
          </a:bodyPr>
          <a:lstStyle/>
          <a:p>
            <a:r>
              <a:rPr sz="1500" b="0" i="1">
                <a:solidFill>
                  <a:srgbClr val="F1ECDD"/>
                </a:solidFill>
                <a:latin typeface="Calibri"/>
              </a:rPr>
              <a:t>Wer kennt's? Genau das räumen wir weg.</a:t>
            </a:r>
          </a:p>
        </p:txBody>
      </p:sp>
      <p:sp>
        <p:nvSpPr>
          <p:cNvPr id="6" name="TextBox 5"/>
          <p:cNvSpPr txBox="1"/>
          <p:nvPr/>
        </p:nvSpPr>
        <p:spPr>
          <a:xfrm>
            <a:off x="457200" y="4754880"/>
            <a:ext cx="5486400" cy="274320"/>
          </a:xfrm>
          <a:prstGeom prst="rect">
            <a:avLst/>
          </a:prstGeom>
          <a:noFill/>
        </p:spPr>
        <p:txBody>
          <a:bodyPr wrap="square" anchor="t" lIns="0" rIns="0" tIns="0" bIns="0">
            <a:spAutoFit/>
          </a:bodyPr>
          <a:lstStyle/>
          <a:p>
            <a:r>
              <a:rPr sz="900" b="0" i="0">
                <a:solidFill>
                  <a:srgbClr val="F1ECDD"/>
                </a:solidFill>
                <a:latin typeface="Calibri"/>
              </a:rPr>
              <a:t>Mama-CEO · Säule 3 · Lektion 3.3</a:t>
            </a:r>
          </a:p>
        </p:txBody>
      </p:sp>
      <p:sp>
        <p:nvSpPr>
          <p:cNvPr id="7" name="TextBox 6"/>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F1ECDD"/>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Reagieren vs. Führen</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400"/>
              </a:spcAft>
            </a:pPr>
            <a:r>
              <a:rPr sz="1600" b="1" i="0">
                <a:solidFill>
                  <a:srgbClr val="DC822E"/>
                </a:solidFill>
                <a:latin typeface="Calibri"/>
              </a:rPr>
              <a:t>REAGIEREN</a:t>
            </a:r>
          </a:p>
          <a:p>
            <a:pPr>
              <a:spcBef>
                <a:spcPts val="0"/>
              </a:spcBef>
              <a:spcAft>
                <a:spcPts val="900"/>
              </a:spcAft>
            </a:pPr>
            <a:r>
              <a:rPr sz="1600" b="0" i="0">
                <a:solidFill>
                  <a:srgbClr val="2C3E50"/>
                </a:solidFill>
                <a:latin typeface="Calibri"/>
              </a:rPr>
              <a:t>Tag zu Tag · Bauchgefühl · nichts Grosses bewegt sich</a:t>
            </a:r>
          </a:p>
          <a:p>
            <a:pPr>
              <a:spcBef>
                <a:spcPts val="0"/>
              </a:spcBef>
              <a:spcAft>
                <a:spcPts val="400"/>
              </a:spcAft>
            </a:pPr>
            <a:r>
              <a:rPr sz="1600" b="1" i="0">
                <a:solidFill>
                  <a:srgbClr val="DC822E"/>
                </a:solidFill>
                <a:latin typeface="Calibri"/>
              </a:rPr>
              <a:t>FÜHREN</a:t>
            </a:r>
          </a:p>
          <a:p>
            <a:pPr>
              <a:spcBef>
                <a:spcPts val="0"/>
              </a:spcBef>
              <a:spcAft>
                <a:spcPts val="900"/>
              </a:spcAft>
            </a:pPr>
            <a:r>
              <a:rPr sz="1600" b="0" i="0">
                <a:solidFill>
                  <a:srgbClr val="2C3E50"/>
                </a:solidFill>
                <a:latin typeface="Calibri"/>
              </a:rPr>
              <a:t>Jahresblick · du entscheidest · das ist Mama-CEO</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Das Fundament</a:t>
            </a:r>
          </a:p>
        </p:txBody>
      </p:sp>
      <p:sp>
        <p:nvSpPr>
          <p:cNvPr id="3" name="TextBox 2"/>
          <p:cNvSpPr txBox="1"/>
          <p:nvPr/>
        </p:nvSpPr>
        <p:spPr>
          <a:xfrm>
            <a:off x="548640" y="1188720"/>
            <a:ext cx="8046720" cy="457200"/>
          </a:xfrm>
          <a:prstGeom prst="rect">
            <a:avLst/>
          </a:prstGeom>
          <a:noFill/>
        </p:spPr>
        <p:txBody>
          <a:bodyPr wrap="square" anchor="t" lIns="0" rIns="0" tIns="0" bIns="0">
            <a:spAutoFit/>
          </a:bodyPr>
          <a:lstStyle/>
          <a:p>
            <a:r>
              <a:rPr sz="1300" b="0" i="0">
                <a:solidFill>
                  <a:srgbClr val="7A8A95"/>
                </a:solidFill>
                <a:latin typeface="Calibri"/>
              </a:rPr>
              <a:t>Zwei Fragen — mehr brauchst du nicht.</a:t>
            </a:r>
          </a:p>
        </p:txBody>
      </p:sp>
      <p:sp>
        <p:nvSpPr>
          <p:cNvPr id="4" name="TextBox 3"/>
          <p:cNvSpPr txBox="1"/>
          <p:nvPr/>
        </p:nvSpPr>
        <p:spPr>
          <a:xfrm>
            <a:off x="548640" y="1828800"/>
            <a:ext cx="822960" cy="640080"/>
          </a:xfrm>
          <a:prstGeom prst="rect">
            <a:avLst/>
          </a:prstGeom>
          <a:noFill/>
        </p:spPr>
        <p:txBody>
          <a:bodyPr wrap="square" anchor="t" lIns="0" rIns="0" tIns="0" bIns="0">
            <a:spAutoFit/>
          </a:bodyPr>
          <a:lstStyle/>
          <a:p>
            <a:r>
              <a:rPr sz="2800" b="1" i="0">
                <a:solidFill>
                  <a:srgbClr val="DC822E"/>
                </a:solidFill>
                <a:latin typeface="Georgia"/>
              </a:rPr>
              <a:t>01</a:t>
            </a:r>
          </a:p>
        </p:txBody>
      </p:sp>
      <p:sp>
        <p:nvSpPr>
          <p:cNvPr id="5" name="TextBox 4"/>
          <p:cNvSpPr txBox="1"/>
          <p:nvPr/>
        </p:nvSpPr>
        <p:spPr>
          <a:xfrm>
            <a:off x="1371600" y="1865376"/>
            <a:ext cx="7223760" cy="713232"/>
          </a:xfrm>
          <a:prstGeom prst="rect">
            <a:avLst/>
          </a:prstGeom>
          <a:noFill/>
        </p:spPr>
        <p:txBody>
          <a:bodyPr wrap="square" anchor="t" lIns="0" rIns="0" tIns="0" bIns="0">
            <a:spAutoFit/>
          </a:bodyPr>
          <a:lstStyle/>
          <a:p>
            <a:r>
              <a:rPr sz="1600" b="1" i="0">
                <a:solidFill>
                  <a:srgbClr val="2C3E50"/>
                </a:solidFill>
                <a:latin typeface="Calibri"/>
              </a:rPr>
              <a:t>WAS bewerbe ich WANN?</a:t>
            </a:r>
          </a:p>
        </p:txBody>
      </p:sp>
      <p:sp>
        <p:nvSpPr>
          <p:cNvPr id="6" name="TextBox 5"/>
          <p:cNvSpPr txBox="1"/>
          <p:nvPr/>
        </p:nvSpPr>
        <p:spPr>
          <a:xfrm>
            <a:off x="548640" y="2542032"/>
            <a:ext cx="822960" cy="640080"/>
          </a:xfrm>
          <a:prstGeom prst="rect">
            <a:avLst/>
          </a:prstGeom>
          <a:noFill/>
        </p:spPr>
        <p:txBody>
          <a:bodyPr wrap="square" anchor="t" lIns="0" rIns="0" tIns="0" bIns="0">
            <a:spAutoFit/>
          </a:bodyPr>
          <a:lstStyle/>
          <a:p>
            <a:r>
              <a:rPr sz="2800" b="1" i="0">
                <a:solidFill>
                  <a:srgbClr val="DC822E"/>
                </a:solidFill>
                <a:latin typeface="Georgia"/>
              </a:rPr>
              <a:t>02</a:t>
            </a:r>
          </a:p>
        </p:txBody>
      </p:sp>
      <p:sp>
        <p:nvSpPr>
          <p:cNvPr id="7" name="TextBox 6"/>
          <p:cNvSpPr txBox="1"/>
          <p:nvPr/>
        </p:nvSpPr>
        <p:spPr>
          <a:xfrm>
            <a:off x="1371600" y="2578608"/>
            <a:ext cx="7223760" cy="713232"/>
          </a:xfrm>
          <a:prstGeom prst="rect">
            <a:avLst/>
          </a:prstGeom>
          <a:noFill/>
        </p:spPr>
        <p:txBody>
          <a:bodyPr wrap="square" anchor="t" lIns="0" rIns="0" tIns="0" bIns="0">
            <a:spAutoFit/>
          </a:bodyPr>
          <a:lstStyle/>
          <a:p>
            <a:r>
              <a:rPr sz="1600" b="1" i="0">
                <a:solidFill>
                  <a:srgbClr val="2C3E50"/>
                </a:solidFill>
                <a:latin typeface="Calibri"/>
              </a:rPr>
              <a:t>Über WELCHE Transformation rede ich WANN?</a:t>
            </a:r>
          </a:p>
        </p:txBody>
      </p:sp>
      <p:sp>
        <p:nvSpPr>
          <p:cNvPr id="8" name="TextBox 7"/>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9" name="TextBox 8"/>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Dein Monats-Rhythmus</a:t>
            </a:r>
          </a:p>
        </p:txBody>
      </p:sp>
      <p:sp>
        <p:nvSpPr>
          <p:cNvPr id="3" name="TextBox 2"/>
          <p:cNvSpPr txBox="1"/>
          <p:nvPr/>
        </p:nvSpPr>
        <p:spPr>
          <a:xfrm>
            <a:off x="548640" y="1234440"/>
            <a:ext cx="8046720" cy="457200"/>
          </a:xfrm>
          <a:prstGeom prst="rect">
            <a:avLst/>
          </a:prstGeom>
          <a:noFill/>
        </p:spPr>
        <p:txBody>
          <a:bodyPr wrap="square" anchor="t" lIns="0" rIns="0" tIns="0" bIns="0">
            <a:spAutoFit/>
          </a:bodyPr>
          <a:lstStyle/>
          <a:p>
            <a:r>
              <a:rPr sz="1300" b="0" i="0">
                <a:solidFill>
                  <a:srgbClr val="7A8A95"/>
                </a:solidFill>
                <a:latin typeface="Calibri"/>
              </a:rPr>
              <a:t>Jeden Monat dieselben drei Stufen:</a:t>
            </a:r>
          </a:p>
        </p:txBody>
      </p:sp>
      <p:sp>
        <p:nvSpPr>
          <p:cNvPr id="4" name="TextBox 3"/>
          <p:cNvSpPr txBox="1"/>
          <p:nvPr/>
        </p:nvSpPr>
        <p:spPr>
          <a:xfrm>
            <a:off x="548640" y="1783080"/>
            <a:ext cx="8046720" cy="2788920"/>
          </a:xfrm>
          <a:prstGeom prst="rect">
            <a:avLst/>
          </a:prstGeom>
          <a:noFill/>
        </p:spPr>
        <p:txBody>
          <a:bodyPr wrap="square" anchor="t" lIns="0" rIns="0" tIns="0" bIns="0">
            <a:spAutoFit/>
          </a:bodyPr>
          <a:lstStyle/>
          <a:p>
            <a:pPr>
              <a:spcBef>
                <a:spcPts val="0"/>
              </a:spcBef>
              <a:spcAft>
                <a:spcPts val="900"/>
              </a:spcAft>
            </a:pPr>
            <a:r>
              <a:rPr sz="1600" b="1" i="0">
                <a:solidFill>
                  <a:srgbClr val="DC822E"/>
                </a:solidFill>
                <a:latin typeface="Calibri"/>
              </a:rPr>
              <a:t>▪  </a:t>
            </a:r>
            <a:r>
              <a:rPr sz="1600" b="0" i="0">
                <a:solidFill>
                  <a:srgbClr val="2C3E50"/>
                </a:solidFill>
                <a:latin typeface="Calibri"/>
              </a:rPr>
              <a:t>🎁  1 Gratis-Produkt</a:t>
            </a:r>
          </a:p>
          <a:p>
            <a:pPr>
              <a:spcBef>
                <a:spcPts val="0"/>
              </a:spcBef>
              <a:spcAft>
                <a:spcPts val="900"/>
              </a:spcAft>
            </a:pPr>
            <a:r>
              <a:rPr sz="1600" b="1" i="0">
                <a:solidFill>
                  <a:srgbClr val="DC822E"/>
                </a:solidFill>
                <a:latin typeface="Calibri"/>
              </a:rPr>
              <a:t>▪  </a:t>
            </a:r>
            <a:r>
              <a:rPr sz="1600" b="0" i="0">
                <a:solidFill>
                  <a:srgbClr val="2C3E50"/>
                </a:solidFill>
                <a:latin typeface="Calibri"/>
              </a:rPr>
              <a:t>💶  1 Mini-Produkt</a:t>
            </a:r>
          </a:p>
          <a:p>
            <a:pPr>
              <a:spcBef>
                <a:spcPts val="0"/>
              </a:spcBef>
              <a:spcAft>
                <a:spcPts val="900"/>
              </a:spcAft>
            </a:pPr>
            <a:r>
              <a:rPr sz="1600" b="1" i="0">
                <a:solidFill>
                  <a:srgbClr val="DC822E"/>
                </a:solidFill>
                <a:latin typeface="Calibri"/>
              </a:rPr>
              <a:t>▪  </a:t>
            </a:r>
            <a:r>
              <a:rPr sz="1600" b="0" i="0">
                <a:solidFill>
                  <a:srgbClr val="2C3E50"/>
                </a:solidFill>
                <a:latin typeface="Calibri"/>
              </a:rPr>
              <a:t>💎  1 grosses Produkt</a:t>
            </a:r>
          </a:p>
          <a:p>
            <a:pPr>
              <a:spcBef>
                <a:spcPts val="0"/>
              </a:spcBef>
              <a:spcAft>
                <a:spcPts val="800"/>
              </a:spcAft>
            </a:pPr>
            <a:r>
              <a:rPr sz="1400" b="0" i="1">
                <a:solidFill>
                  <a:srgbClr val="7A8A95"/>
                </a:solidFill>
                <a:latin typeface="Calibri"/>
              </a:rPr>
              <a:t>Ein klarer Takt, an dem sich dein ganzer Content ausrichtet.</a:t>
            </a:r>
          </a:p>
        </p:txBody>
      </p:sp>
      <p:sp>
        <p:nvSpPr>
          <p:cNvPr id="5" name="TextBox 4"/>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6" name="TextBox 5"/>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828C"/>
        </a:solidFill>
        <a:effectLst/>
      </p:bgPr>
    </p:bg>
    <p:spTree>
      <p:nvGrpSpPr>
        <p:cNvPr id="1" name=""/>
        <p:cNvGrpSpPr/>
        <p:nvPr/>
      </p:nvGrpSpPr>
      <p:grpSpPr/>
      <p:sp>
        <p:nvSpPr>
          <p:cNvPr id="2" name="TextBox 1"/>
          <p:cNvSpPr txBox="1"/>
          <p:nvPr/>
        </p:nvSpPr>
        <p:spPr>
          <a:xfrm>
            <a:off x="548640" y="1097280"/>
            <a:ext cx="8046720" cy="365760"/>
          </a:xfrm>
          <a:prstGeom prst="rect">
            <a:avLst/>
          </a:prstGeom>
          <a:noFill/>
        </p:spPr>
        <p:txBody>
          <a:bodyPr wrap="square" anchor="t" lIns="0" rIns="0" tIns="0" bIns="0">
            <a:spAutoFit/>
          </a:bodyPr>
          <a:lstStyle/>
          <a:p>
            <a:r>
              <a:rPr sz="1100" b="1" i="0">
                <a:solidFill>
                  <a:srgbClr val="DC822E"/>
                </a:solidFill>
                <a:latin typeface="Calibri"/>
              </a:rPr>
              <a:t>DER WICHTIGSTE SATZ</a:t>
            </a:r>
          </a:p>
        </p:txBody>
      </p:sp>
      <p:sp>
        <p:nvSpPr>
          <p:cNvPr id="3" name="Rectangle 2"/>
          <p:cNvSpPr/>
          <p:nvPr/>
        </p:nvSpPr>
        <p:spPr>
          <a:xfrm>
            <a:off x="548640" y="155448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920240"/>
            <a:ext cx="8046720" cy="2194560"/>
          </a:xfrm>
          <a:prstGeom prst="rect">
            <a:avLst/>
          </a:prstGeom>
          <a:noFill/>
        </p:spPr>
        <p:txBody>
          <a:bodyPr wrap="square" anchor="t" lIns="0" rIns="0" tIns="0" bIns="0">
            <a:spAutoFit/>
          </a:bodyPr>
          <a:lstStyle/>
          <a:p>
            <a:r>
              <a:rPr sz="2800" b="1" i="0">
                <a:solidFill>
                  <a:srgbClr val="F1ECDD"/>
                </a:solidFill>
                <a:latin typeface="Georgia"/>
              </a:rPr>
              <a:t>Das Produkt ist das Werkzeug. Die Transformation ist das Ziel.</a:t>
            </a:r>
          </a:p>
        </p:txBody>
      </p:sp>
      <p:sp>
        <p:nvSpPr>
          <p:cNvPr id="5" name="TextBox 4"/>
          <p:cNvSpPr txBox="1"/>
          <p:nvPr/>
        </p:nvSpPr>
        <p:spPr>
          <a:xfrm>
            <a:off x="548640" y="3703320"/>
            <a:ext cx="8046720" cy="731520"/>
          </a:xfrm>
          <a:prstGeom prst="rect">
            <a:avLst/>
          </a:prstGeom>
          <a:noFill/>
        </p:spPr>
        <p:txBody>
          <a:bodyPr wrap="square" anchor="t" lIns="0" rIns="0" tIns="0" bIns="0">
            <a:spAutoFit/>
          </a:bodyPr>
          <a:lstStyle/>
          <a:p>
            <a:r>
              <a:rPr sz="1500" b="0" i="1">
                <a:solidFill>
                  <a:srgbClr val="F1ECDD"/>
                </a:solidFill>
                <a:latin typeface="Calibri"/>
              </a:rPr>
              <a:t>Niemand will das Produkt — alle wollen das Ergebnis dahinter.</a:t>
            </a:r>
          </a:p>
        </p:txBody>
      </p:sp>
      <p:sp>
        <p:nvSpPr>
          <p:cNvPr id="6" name="TextBox 5"/>
          <p:cNvSpPr txBox="1"/>
          <p:nvPr/>
        </p:nvSpPr>
        <p:spPr>
          <a:xfrm>
            <a:off x="457200" y="4754880"/>
            <a:ext cx="5486400" cy="274320"/>
          </a:xfrm>
          <a:prstGeom prst="rect">
            <a:avLst/>
          </a:prstGeom>
          <a:noFill/>
        </p:spPr>
        <p:txBody>
          <a:bodyPr wrap="square" anchor="t" lIns="0" rIns="0" tIns="0" bIns="0">
            <a:spAutoFit/>
          </a:bodyPr>
          <a:lstStyle/>
          <a:p>
            <a:r>
              <a:rPr sz="900" b="0" i="0">
                <a:solidFill>
                  <a:srgbClr val="F1ECDD"/>
                </a:solidFill>
                <a:latin typeface="Calibri"/>
              </a:rPr>
              <a:t>Mama-CEO · Säule 3 · Lektion 3.3</a:t>
            </a:r>
          </a:p>
        </p:txBody>
      </p:sp>
      <p:sp>
        <p:nvSpPr>
          <p:cNvPr id="7" name="TextBox 6"/>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F1ECDD"/>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Beispiel: Abnehmshake</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900"/>
              </a:spcAft>
            </a:pPr>
            <a:r>
              <a:rPr sz="1600" b="0" i="0">
                <a:solidFill>
                  <a:srgbClr val="2C3E50"/>
                </a:solidFill>
                <a:latin typeface="Calibri"/>
              </a:rPr>
              <a:t>Produkt: der Shake</a:t>
            </a:r>
          </a:p>
          <a:p>
            <a:pPr>
              <a:spcBef>
                <a:spcPts val="0"/>
              </a:spcBef>
              <a:spcAft>
                <a:spcPts val="900"/>
              </a:spcAft>
            </a:pPr>
            <a:r>
              <a:rPr sz="1600" b="0" i="0">
                <a:solidFill>
                  <a:srgbClr val="2C3E50"/>
                </a:solidFill>
                <a:latin typeface="Calibri"/>
              </a:rPr>
              <a:t>Ziel: sich endlich wieder geil im Bikini fühlen</a:t>
            </a:r>
          </a:p>
          <a:p>
            <a:pPr>
              <a:spcBef>
                <a:spcPts val="0"/>
              </a:spcBef>
              <a:spcAft>
                <a:spcPts val="900"/>
              </a:spcAft>
            </a:pPr>
            <a:r>
              <a:rPr sz="1600" b="0" i="0">
                <a:solidFill>
                  <a:srgbClr val="2C3E50"/>
                </a:solidFill>
                <a:latin typeface="Calibri"/>
              </a:rPr>
              <a:t>Überthemen: Ernährung · Bewegung · Mindset</a:t>
            </a:r>
          </a:p>
          <a:p>
            <a:pPr>
              <a:spcBef>
                <a:spcPts val="0"/>
              </a:spcBef>
              <a:spcAft>
                <a:spcPts val="800"/>
              </a:spcAft>
            </a:pPr>
            <a:r>
              <a:rPr sz="1400" b="0" i="1">
                <a:solidFill>
                  <a:srgbClr val="7A8A95"/>
                </a:solidFill>
                <a:latin typeface="Calibri"/>
              </a:rPr>
              <a:t>→ darüber redest du in den Wochen, nicht über den Shake.</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Auch mit nur EINEM Produkt</a:t>
            </a:r>
          </a:p>
        </p:txBody>
      </p:sp>
      <p:sp>
        <p:nvSpPr>
          <p:cNvPr id="3" name="TextBox 2"/>
          <p:cNvSpPr txBox="1"/>
          <p:nvPr/>
        </p:nvSpPr>
        <p:spPr>
          <a:xfrm>
            <a:off x="548640" y="1234440"/>
            <a:ext cx="8046720" cy="457200"/>
          </a:xfrm>
          <a:prstGeom prst="rect">
            <a:avLst/>
          </a:prstGeom>
          <a:noFill/>
        </p:spPr>
        <p:txBody>
          <a:bodyPr wrap="square" anchor="t" lIns="0" rIns="0" tIns="0" bIns="0">
            <a:spAutoFit/>
          </a:bodyPr>
          <a:lstStyle/>
          <a:p>
            <a:r>
              <a:rPr sz="1300" b="0" i="0">
                <a:solidFill>
                  <a:srgbClr val="7A8A95"/>
                </a:solidFill>
                <a:latin typeface="Calibri"/>
              </a:rPr>
              <a:t>Beispiel Kosmetik — ein Überthema pro Woche:</a:t>
            </a:r>
          </a:p>
        </p:txBody>
      </p:sp>
      <p:sp>
        <p:nvSpPr>
          <p:cNvPr id="4" name="TextBox 3"/>
          <p:cNvSpPr txBox="1"/>
          <p:nvPr/>
        </p:nvSpPr>
        <p:spPr>
          <a:xfrm>
            <a:off x="548640" y="1783080"/>
            <a:ext cx="8046720" cy="2788920"/>
          </a:xfrm>
          <a:prstGeom prst="rect">
            <a:avLst/>
          </a:prstGeom>
          <a:noFill/>
        </p:spPr>
        <p:txBody>
          <a:bodyPr wrap="square" anchor="t" lIns="0" rIns="0" tIns="0" bIns="0">
            <a:spAutoFit/>
          </a:bodyPr>
          <a:lstStyle/>
          <a:p>
            <a:pPr>
              <a:spcBef>
                <a:spcPts val="0"/>
              </a:spcBef>
              <a:spcAft>
                <a:spcPts val="900"/>
              </a:spcAft>
            </a:pPr>
            <a:r>
              <a:rPr sz="1600" b="1" i="0">
                <a:solidFill>
                  <a:srgbClr val="DC822E"/>
                </a:solidFill>
                <a:latin typeface="Calibri"/>
              </a:rPr>
              <a:t>▪  </a:t>
            </a:r>
            <a:r>
              <a:rPr sz="1600" b="0" i="0">
                <a:solidFill>
                  <a:srgbClr val="2C3E50"/>
                </a:solidFill>
                <a:latin typeface="Calibri"/>
              </a:rPr>
              <a:t>Woche 1: Hautpflege</a:t>
            </a:r>
          </a:p>
          <a:p>
            <a:pPr>
              <a:spcBef>
                <a:spcPts val="0"/>
              </a:spcBef>
              <a:spcAft>
                <a:spcPts val="900"/>
              </a:spcAft>
            </a:pPr>
            <a:r>
              <a:rPr sz="1600" b="1" i="0">
                <a:solidFill>
                  <a:srgbClr val="DC822E"/>
                </a:solidFill>
                <a:latin typeface="Calibri"/>
              </a:rPr>
              <a:t>▪  </a:t>
            </a:r>
            <a:r>
              <a:rPr sz="1600" b="0" i="0">
                <a:solidFill>
                  <a:srgbClr val="2C3E50"/>
                </a:solidFill>
                <a:latin typeface="Calibri"/>
              </a:rPr>
              <a:t>Woche 2: Ernährung für schöne Haut</a:t>
            </a:r>
          </a:p>
          <a:p>
            <a:pPr>
              <a:spcBef>
                <a:spcPts val="0"/>
              </a:spcBef>
              <a:spcAft>
                <a:spcPts val="900"/>
              </a:spcAft>
            </a:pPr>
            <a:r>
              <a:rPr sz="1600" b="1" i="0">
                <a:solidFill>
                  <a:srgbClr val="DC822E"/>
                </a:solidFill>
                <a:latin typeface="Calibri"/>
              </a:rPr>
              <a:t>▪  </a:t>
            </a:r>
            <a:r>
              <a:rPr sz="1600" b="0" i="0">
                <a:solidFill>
                  <a:srgbClr val="2C3E50"/>
                </a:solidFill>
                <a:latin typeface="Calibri"/>
              </a:rPr>
              <a:t>Woche 3: Routine</a:t>
            </a:r>
          </a:p>
          <a:p>
            <a:pPr>
              <a:spcBef>
                <a:spcPts val="0"/>
              </a:spcBef>
              <a:spcAft>
                <a:spcPts val="800"/>
              </a:spcAft>
            </a:pPr>
            <a:r>
              <a:rPr sz="1400" b="0" i="1">
                <a:solidFill>
                  <a:srgbClr val="7A8A95"/>
                </a:solidFill>
                <a:latin typeface="Calibri"/>
              </a:rPr>
              <a:t>Aus 1 Produkt ein ganzes Jahr voller Themen.</a:t>
            </a:r>
          </a:p>
        </p:txBody>
      </p:sp>
      <p:sp>
        <p:nvSpPr>
          <p:cNvPr id="5" name="TextBox 4"/>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6" name="TextBox 5"/>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Fixpunkte ZUERST eintragen</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900"/>
              </a:spcAft>
            </a:pPr>
            <a:r>
              <a:rPr sz="1600" b="1" i="0">
                <a:solidFill>
                  <a:srgbClr val="DC822E"/>
                </a:solidFill>
                <a:latin typeface="Calibri"/>
              </a:rPr>
              <a:t>▪  </a:t>
            </a:r>
            <a:r>
              <a:rPr sz="1600" b="0" i="0">
                <a:solidFill>
                  <a:srgbClr val="2C3E50"/>
                </a:solidFill>
                <a:latin typeface="Calibri"/>
              </a:rPr>
              <a:t>Schulferien</a:t>
            </a:r>
          </a:p>
          <a:p>
            <a:pPr>
              <a:spcBef>
                <a:spcPts val="0"/>
              </a:spcBef>
              <a:spcAft>
                <a:spcPts val="900"/>
              </a:spcAft>
            </a:pPr>
            <a:r>
              <a:rPr sz="1600" b="1" i="0">
                <a:solidFill>
                  <a:srgbClr val="DC822E"/>
                </a:solidFill>
                <a:latin typeface="Calibri"/>
              </a:rPr>
              <a:t>▪  </a:t>
            </a:r>
            <a:r>
              <a:rPr sz="1600" b="0" i="0">
                <a:solidFill>
                  <a:srgbClr val="2C3E50"/>
                </a:solidFill>
                <a:latin typeface="Calibri"/>
              </a:rPr>
              <a:t>Testwochen</a:t>
            </a:r>
          </a:p>
          <a:p>
            <a:pPr>
              <a:spcBef>
                <a:spcPts val="0"/>
              </a:spcBef>
              <a:spcAft>
                <a:spcPts val="900"/>
              </a:spcAft>
            </a:pPr>
            <a:r>
              <a:rPr sz="1600" b="1" i="0">
                <a:solidFill>
                  <a:srgbClr val="DC822E"/>
                </a:solidFill>
                <a:latin typeface="Calibri"/>
              </a:rPr>
              <a:t>▪  </a:t>
            </a:r>
            <a:r>
              <a:rPr sz="1600" b="0" i="0">
                <a:solidFill>
                  <a:srgbClr val="2C3E50"/>
                </a:solidFill>
                <a:latin typeface="Calibri"/>
              </a:rPr>
              <a:t>Anlässe &amp; Events</a:t>
            </a:r>
          </a:p>
          <a:p>
            <a:pPr>
              <a:spcBef>
                <a:spcPts val="0"/>
              </a:spcBef>
              <a:spcAft>
                <a:spcPts val="800"/>
              </a:spcAft>
            </a:pPr>
            <a:r>
              <a:rPr sz="1400" b="0" i="1">
                <a:solidFill>
                  <a:srgbClr val="7A8A95"/>
                </a:solidFill>
                <a:latin typeface="Calibri"/>
              </a:rPr>
              <a:t>Eine Woche vorher drüber reden + einladen. Alles andere baut sich drumherum.</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Beispiel: mein Notion-Jahresplan</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900"/>
              </a:spcAft>
            </a:pPr>
            <a:r>
              <a:rPr sz="1600" b="1" i="0">
                <a:solidFill>
                  <a:srgbClr val="DC822E"/>
                </a:solidFill>
                <a:latin typeface="Calibri"/>
              </a:rPr>
              <a:t>▪  </a:t>
            </a:r>
            <a:r>
              <a:rPr sz="1600" b="0" i="0">
                <a:solidFill>
                  <a:srgbClr val="2C3E50"/>
                </a:solidFill>
                <a:latin typeface="Calibri"/>
              </a:rPr>
              <a:t>Pro Monat: Gratis · Mini · grosses Produkt</a:t>
            </a:r>
          </a:p>
          <a:p>
            <a:pPr>
              <a:spcBef>
                <a:spcPts val="0"/>
              </a:spcBef>
              <a:spcAft>
                <a:spcPts val="900"/>
              </a:spcAft>
            </a:pPr>
            <a:r>
              <a:rPr sz="1600" b="1" i="0">
                <a:solidFill>
                  <a:srgbClr val="DC822E"/>
                </a:solidFill>
                <a:latin typeface="Calibri"/>
              </a:rPr>
              <a:t>▪  </a:t>
            </a:r>
            <a:r>
              <a:rPr sz="1600" b="0" i="0">
                <a:solidFill>
                  <a:srgbClr val="2C3E50"/>
                </a:solidFill>
                <a:latin typeface="Calibri"/>
              </a:rPr>
              <a:t>Ferien blau markiert</a:t>
            </a:r>
          </a:p>
          <a:p>
            <a:pPr>
              <a:spcBef>
                <a:spcPts val="0"/>
              </a:spcBef>
              <a:spcAft>
                <a:spcPts val="900"/>
              </a:spcAft>
            </a:pPr>
            <a:r>
              <a:rPr sz="1600" b="1" i="0">
                <a:solidFill>
                  <a:srgbClr val="DC822E"/>
                </a:solidFill>
                <a:latin typeface="Calibri"/>
              </a:rPr>
              <a:t>▪  </a:t>
            </a:r>
            <a:r>
              <a:rPr sz="1600" b="0" i="0">
                <a:solidFill>
                  <a:srgbClr val="2C3E50"/>
                </a:solidFill>
                <a:latin typeface="Calibri"/>
              </a:rPr>
              <a:t>Mum Life Balance und doTERRA farblich getrennt</a:t>
            </a:r>
          </a:p>
          <a:p>
            <a:pPr>
              <a:spcBef>
                <a:spcPts val="0"/>
              </a:spcBef>
              <a:spcAft>
                <a:spcPts val="800"/>
              </a:spcAft>
            </a:pPr>
            <a:r>
              <a:rPr sz="1400" b="0" i="1">
                <a:solidFill>
                  <a:srgbClr val="7A8A95"/>
                </a:solidFill>
                <a:latin typeface="Calibri"/>
              </a:rPr>
              <a:t>Grob und ehrlich — so darf deiner auch sein. (Ich zeig dir live meinen echten Plan.)</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Was du hier NICHT machst</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1000"/>
              </a:spcAft>
            </a:pPr>
            <a:r>
              <a:rPr sz="2100" b="1" i="0">
                <a:solidFill>
                  <a:srgbClr val="1A3A4A"/>
                </a:solidFill>
                <a:latin typeface="Georgia"/>
              </a:rPr>
              <a:t>Nicht alles. Nicht im Detail.</a:t>
            </a:r>
          </a:p>
          <a:p>
            <a:pPr>
              <a:spcBef>
                <a:spcPts val="0"/>
              </a:spcBef>
              <a:spcAft>
                <a:spcPts val="900"/>
              </a:spcAft>
            </a:pPr>
            <a:r>
              <a:rPr sz="1600" b="0" i="0">
                <a:solidFill>
                  <a:srgbClr val="2C3E50"/>
                </a:solidFill>
                <a:latin typeface="Calibri"/>
              </a:rPr>
              <a:t>Das WIE — Reels, Captions, Umsetzung — lernst du in der Insta-Kundenmaschine.</a:t>
            </a:r>
          </a:p>
          <a:p>
            <a:pPr>
              <a:spcBef>
                <a:spcPts val="0"/>
              </a:spcBef>
              <a:spcAft>
                <a:spcPts val="800"/>
              </a:spcAft>
            </a:pPr>
            <a:r>
              <a:rPr sz="1400" b="0" i="1">
                <a:solidFill>
                  <a:srgbClr val="7A8A95"/>
                </a:solidFill>
                <a:latin typeface="Calibri"/>
              </a:rPr>
              <a:t>Hier baust du nur das Fundament.</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Dein nächster Schritt</a:t>
            </a:r>
          </a:p>
        </p:txBody>
      </p:sp>
      <p:sp>
        <p:nvSpPr>
          <p:cNvPr id="3" name="Rectangle 2"/>
          <p:cNvSpPr/>
          <p:nvPr/>
        </p:nvSpPr>
        <p:spPr>
          <a:xfrm>
            <a:off x="5486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37360"/>
            <a:ext cx="3931920" cy="91440"/>
          </a:xfrm>
          <a:prstGeom prst="rect">
            <a:avLst/>
          </a:prstGeom>
          <a:solidFill>
            <a:srgbClr val="12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3657600" cy="274320"/>
          </a:xfrm>
          <a:prstGeom prst="rect">
            <a:avLst/>
          </a:prstGeom>
          <a:noFill/>
        </p:spPr>
        <p:txBody>
          <a:bodyPr wrap="square" anchor="t" lIns="0" rIns="0" tIns="0" bIns="0">
            <a:spAutoFit/>
          </a:bodyPr>
          <a:lstStyle/>
          <a:p>
            <a:r>
              <a:rPr sz="1000" b="1" i="0">
                <a:solidFill>
                  <a:srgbClr val="0D6168"/>
                </a:solidFill>
                <a:latin typeface="Calibri"/>
              </a:rPr>
              <a:t>📋  ARBEITSBLATT</a:t>
            </a:r>
          </a:p>
        </p:txBody>
      </p:sp>
      <p:sp>
        <p:nvSpPr>
          <p:cNvPr id="6" name="TextBox 5"/>
          <p:cNvSpPr txBox="1"/>
          <p:nvPr/>
        </p:nvSpPr>
        <p:spPr>
          <a:xfrm>
            <a:off x="731520" y="2286000"/>
            <a:ext cx="3657600" cy="548640"/>
          </a:xfrm>
          <a:prstGeom prst="rect">
            <a:avLst/>
          </a:prstGeom>
          <a:noFill/>
        </p:spPr>
        <p:txBody>
          <a:bodyPr wrap="square" anchor="t" lIns="0" rIns="0" tIns="0" bIns="0">
            <a:spAutoFit/>
          </a:bodyPr>
          <a:lstStyle/>
          <a:p>
            <a:r>
              <a:rPr sz="1600" b="1" i="0">
                <a:solidFill>
                  <a:srgbClr val="1A3A4A"/>
                </a:solidFill>
                <a:latin typeface="Georgia"/>
              </a:rPr>
              <a:t>Dein Jahres-Plan</a:t>
            </a:r>
          </a:p>
        </p:txBody>
      </p:sp>
      <p:sp>
        <p:nvSpPr>
          <p:cNvPr id="7" name="TextBox 6"/>
          <p:cNvSpPr txBox="1"/>
          <p:nvPr/>
        </p:nvSpPr>
        <p:spPr>
          <a:xfrm>
            <a:off x="731520" y="2880360"/>
            <a:ext cx="3566160" cy="1463040"/>
          </a:xfrm>
          <a:prstGeom prst="rect">
            <a:avLst/>
          </a:prstGeom>
          <a:noFill/>
        </p:spPr>
        <p:txBody>
          <a:bodyPr wrap="square" anchor="t" lIns="0" rIns="0" tIns="0" bIns="0">
            <a:spAutoFit/>
          </a:bodyPr>
          <a:lstStyle/>
          <a:p>
            <a:r>
              <a:rPr sz="1250" b="0" i="0">
                <a:solidFill>
                  <a:srgbClr val="2C3E50"/>
                </a:solidFill>
                <a:latin typeface="Calibri"/>
              </a:rPr>
              <a:t>Fülle deinen Jahres-Plan: Monats-Trio (Gratis/Mini/Gross) + Wochen-Themen. Grob reicht, er darf wachsen.</a:t>
            </a:r>
          </a:p>
        </p:txBody>
      </p:sp>
      <p:sp>
        <p:nvSpPr>
          <p:cNvPr id="8" name="Rectangle 7"/>
          <p:cNvSpPr/>
          <p:nvPr/>
        </p:nvSpPr>
        <p:spPr>
          <a:xfrm>
            <a:off x="46634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63440" y="1737360"/>
            <a:ext cx="3931920" cy="9144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1920240"/>
            <a:ext cx="3657600" cy="274320"/>
          </a:xfrm>
          <a:prstGeom prst="rect">
            <a:avLst/>
          </a:prstGeom>
          <a:noFill/>
        </p:spPr>
        <p:txBody>
          <a:bodyPr wrap="square" anchor="t" lIns="0" rIns="0" tIns="0" bIns="0">
            <a:spAutoFit/>
          </a:bodyPr>
          <a:lstStyle/>
          <a:p>
            <a:r>
              <a:rPr sz="1000" b="1" i="0">
                <a:solidFill>
                  <a:srgbClr val="DC822E"/>
                </a:solidFill>
                <a:latin typeface="Calibri"/>
              </a:rPr>
              <a:t>▶  ALS NÄCHSTES</a:t>
            </a:r>
          </a:p>
        </p:txBody>
      </p:sp>
      <p:sp>
        <p:nvSpPr>
          <p:cNvPr id="11" name="TextBox 10"/>
          <p:cNvSpPr txBox="1"/>
          <p:nvPr/>
        </p:nvSpPr>
        <p:spPr>
          <a:xfrm>
            <a:off x="4846320" y="2286000"/>
            <a:ext cx="3657600" cy="548640"/>
          </a:xfrm>
          <a:prstGeom prst="rect">
            <a:avLst/>
          </a:prstGeom>
          <a:noFill/>
        </p:spPr>
        <p:txBody>
          <a:bodyPr wrap="square" anchor="t" lIns="0" rIns="0" tIns="0" bIns="0">
            <a:spAutoFit/>
          </a:bodyPr>
          <a:lstStyle/>
          <a:p>
            <a:r>
              <a:rPr sz="1600" b="1" i="0">
                <a:solidFill>
                  <a:srgbClr val="1A3A4A"/>
                </a:solidFill>
                <a:latin typeface="Georgia"/>
              </a:rPr>
              <a:t>Lektion 3.4</a:t>
            </a:r>
          </a:p>
        </p:txBody>
      </p:sp>
      <p:sp>
        <p:nvSpPr>
          <p:cNvPr id="12" name="TextBox 11"/>
          <p:cNvSpPr txBox="1"/>
          <p:nvPr/>
        </p:nvSpPr>
        <p:spPr>
          <a:xfrm>
            <a:off x="4846320" y="2880360"/>
            <a:ext cx="3566160" cy="1463040"/>
          </a:xfrm>
          <a:prstGeom prst="rect">
            <a:avLst/>
          </a:prstGeom>
          <a:noFill/>
        </p:spPr>
        <p:txBody>
          <a:bodyPr wrap="square" anchor="t" lIns="0" rIns="0" tIns="0" bIns="0">
            <a:spAutoFit/>
          </a:bodyPr>
          <a:lstStyle/>
          <a:p>
            <a:r>
              <a:rPr sz="1250" b="0" i="0">
                <a:solidFill>
                  <a:srgbClr val="2C3E50"/>
                </a:solidFill>
                <a:latin typeface="Calibri"/>
              </a:rPr>
              <a:t>Monats- + Wochenplanung — vom Jahr runter in die konkrete Woche.</a:t>
            </a:r>
          </a:p>
        </p:txBody>
      </p:sp>
      <p:sp>
        <p:nvSpPr>
          <p:cNvPr id="13" name="TextBox 12"/>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3.3</a:t>
            </a:r>
          </a:p>
        </p:txBody>
      </p:sp>
      <p:sp>
        <p:nvSpPr>
          <p:cNvPr id="14" name="TextBox 13"/>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