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zoomen wir ganz weit raus, auf dein ganzes Jahr. Das klingt erstmal nach viel, aber genau das gibt dir am Ende die meiste Ruhe, weil du nie wieder morgens vor der Story stehst und nicht weisst, worüber du reden sollst.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aufs Herz, wer kennt das nicht: du stehst vor der Story und hast keine Ahnung, worüber du heute reden sollst. Das passiert immer dann, wenn du keinen Plan hast und jeden Tag neu erfinden musst. Genau das räumen wir hier weg.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gibt zwei Arten, ein Business zu führen. Die einen reagieren von Tag zu Tag und wundern sich, dass sich nie was Grosses bewegt, und die anderen schauen aufs Jahr und führen. Mama-CEO heisst führen, und das fängt mit der Vogelperspektive 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ganze Fundament steckt in zwei Fragen. Erstens: was bewerbe ich wann. Zweitens: über welche Transformation rede ich wann. Beantworte die zwei, und dein Content schreibt sich fast von selbst, weil du immer weisst, was gerade dran 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plane ich jeden einzelnen Monat: ein Gratis-Produkt, ein Mini-Produkt und ein grosses Produkt. Immer dieselben drei Stufen, jeden Monat neu gefüllt. Das gibt dir einen klaren Takt, an dem sich dein ganzer Content ausrichtet, vom Gratis-Reinholer bis zum grossen Angebot.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der wichtigste Satz der ganzen Lektion: nie steht das Produkt im Zentrum, immer die Transformation. Niemand will das Produkt, alle wollen das Ergebnis dahinter, und genau darüber redest du.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Nimm an, du verkaufst Abnehmshakes. Das Produkt ist der Shake, aber das Ziel ist, dass sie sich endlich wieder geil im Bikini fühlt. Und damit sie das erreicht, muss sie was lernen: Ernährung, Bewegung, Mindset. Genau das sind deine Überthemen, über die du in den Wochen sprichst, nicht der Shake selbst.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falls du nur ein einziges Network-Produkt hast, zum Beispiel Kosmetik: dann überlegst du dir, über welches Überthema du in welcher Woche redest. Eine Woche Hautpflege, eine Woche Ernährung für schöne Haut, eine Woche Routine. So hast du aus einem Produkt ein ganzes Jahr voller Themen, ohne dass es langweilig wird.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du irgendwas anderes planst, trägst du drei Sachen zuerst ein: deine Schulferien, deine Testwochen und deine Anlässe. Denn in den Sommerferien mit den Kindern launchst du nicht, und wenn du eine Testwoche oder einen Anlass hast, redest du schon eine Woche vorher drüber und lädst die Leute ein. Diese Fixpunkte stehen zuerst, alles andere baut sich drumherum.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zeig dir das jetzt live an meinem eigenen Notion-Jahresplan. Du siehst pro Monat mein Gratis-, Mini- und grosses Produkt, du siehst meine Ferien blau markiert, und du siehst farblich getrennt, was Mum Life Balance ist und was doTERRA. Genau so darf deiner auch aussehen, grob und ehrlich.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Genauso wichtig wie was du planst, ist was du hier weglässt. Du planst nicht das ganze Jahr im Detail, grob reicht, und du baust hier noch keine Reels und Captions. Das WIE, also wie aus dem Plan konkreter Content wird, das lernst du in der Insta-Kundenmaschine. Hier bauen wir nur das Fundament.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Fülle deinen Jahres-Plan so gut du heute kannst, er darf wachsen. In der nächsten Lektion zoomen wir wieder rein, vom Jahr in den Monat und in die Woche, mit deinen sechs Lebens-Bereichen.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6F6B"/>
        </a:solidFill>
        <a:effectLst/>
      </p:bgPr>
    </p:bg>
    <p:spTree>
      <p:nvGrpSpPr>
        <p:cNvPr id="1" name=""/>
        <p:cNvGrpSpPr/>
        <p:nvPr/>
      </p:nvGrpSpPr>
      <p:grpSpPr/>
      <p:sp>
        <p:nvSpPr>
          <p:cNvPr id="2" name="TextBox 1"/>
          <p:cNvSpPr txBox="1"/>
          <p:nvPr/>
        </p:nvSpPr>
        <p:spPr>
          <a:xfrm>
            <a:off x="914400" y="1920240"/>
            <a:ext cx="10332720" cy="914400"/>
          </a:xfrm>
          <a:prstGeom prst="rect">
            <a:avLst/>
          </a:prstGeom>
          <a:noFill/>
        </p:spPr>
        <p:txBody>
          <a:bodyPr wrap="square" anchor="t" lIns="0" rIns="0" tIns="0" bIns="0">
            <a:spAutoFit/>
          </a:bodyPr>
          <a:lstStyle/>
          <a:p>
            <a:pPr algn="l">
              <a:spcBef>
                <a:spcPts val="0"/>
              </a:spcBef>
              <a:spcAft>
                <a:spcPts val="1000"/>
              </a:spcAft>
            </a:pPr>
            <a:r>
              <a:rPr sz="8000" b="1" i="0">
                <a:solidFill>
                  <a:srgbClr val="F1ECDD"/>
                </a:solidFill>
                <a:latin typeface="Georgia"/>
              </a:rPr>
              <a:t>3.3</a:t>
            </a:r>
          </a:p>
        </p:txBody>
      </p:sp>
      <p:sp>
        <p:nvSpPr>
          <p:cNvPr id="3" name="TextBox 2"/>
          <p:cNvSpPr txBox="1"/>
          <p:nvPr/>
        </p:nvSpPr>
        <p:spPr>
          <a:xfrm>
            <a:off x="914400" y="2971800"/>
            <a:ext cx="10332720" cy="1828800"/>
          </a:xfrm>
          <a:prstGeom prst="rect">
            <a:avLst/>
          </a:prstGeom>
          <a:noFill/>
        </p:spPr>
        <p:txBody>
          <a:bodyPr wrap="square" anchor="t" lIns="0" rIns="0" tIns="0" bIns="0">
            <a:spAutoFit/>
          </a:bodyPr>
          <a:lstStyle/>
          <a:p>
            <a:pPr algn="l">
              <a:spcBef>
                <a:spcPts val="0"/>
              </a:spcBef>
              <a:spcAft>
                <a:spcPts val="1000"/>
              </a:spcAft>
            </a:pPr>
            <a:r>
              <a:rPr sz="4400" b="1" i="0">
                <a:solidFill>
                  <a:srgbClr val="FFFFFF"/>
                </a:solidFill>
                <a:latin typeface="Georgia"/>
              </a:rPr>
              <a:t>Jahres-Strategie — was kommt WANN</a:t>
            </a:r>
          </a:p>
        </p:txBody>
      </p:sp>
      <p:sp>
        <p:nvSpPr>
          <p:cNvPr id="4" name="TextBox 3"/>
          <p:cNvSpPr txBox="1"/>
          <p:nvPr/>
        </p:nvSpPr>
        <p:spPr>
          <a:xfrm>
            <a:off x="914400" y="4480560"/>
            <a:ext cx="10332720" cy="914400"/>
          </a:xfrm>
          <a:prstGeom prst="rect">
            <a:avLst/>
          </a:prstGeom>
          <a:noFill/>
        </p:spPr>
        <p:txBody>
          <a:bodyPr wrap="square" anchor="t" lIns="0" rIns="0" tIns="0" bIns="0">
            <a:spAutoFit/>
          </a:bodyPr>
          <a:lstStyle/>
          <a:p>
            <a:pPr algn="l">
              <a:spcBef>
                <a:spcPts val="0"/>
              </a:spcBef>
              <a:spcAft>
                <a:spcPts val="1000"/>
              </a:spcAft>
            </a:pPr>
            <a:r>
              <a:rPr sz="2400" b="0" i="1">
                <a:solidFill>
                  <a:srgbClr val="F1ECDD"/>
                </a:solidFill>
                <a:latin typeface="Calibri"/>
              </a:rPr>
              <a:t>Das Fundament für deinen ganzen Content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„Worüber rede ich heute?“</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Keine Ahnung, was ich heute posten soll.</a:t>
            </a:r>
          </a:p>
          <a:p>
            <a:pPr algn="l">
              <a:spcBef>
                <a:spcPts val="0"/>
              </a:spcBef>
              <a:spcAft>
                <a:spcPts val="1400"/>
              </a:spcAft>
            </a:pPr>
            <a:r>
              <a:rPr sz="2100" b="0" i="0">
                <a:solidFill>
                  <a:srgbClr val="2A2A2A"/>
                </a:solidFill>
                <a:latin typeface="Calibri"/>
              </a:rPr>
              <a:t>Wer kennt das nicht?</a:t>
            </a:r>
          </a:p>
          <a:p>
            <a:pPr algn="l">
              <a:spcBef>
                <a:spcPts val="0"/>
              </a:spcBef>
              <a:spcAft>
                <a:spcPts val="1400"/>
              </a:spcAft>
            </a:pPr>
            <a:r>
              <a:rPr sz="2000" b="0" i="1">
                <a:solidFill>
                  <a:srgbClr val="6E6E6E"/>
                </a:solidFill>
                <a:latin typeface="Calibri"/>
              </a:rPr>
              <a:t>Das passiert immer dann, wenn du keinen Plan hast und jeden Tag neu erfinden musst.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Reagieren vs. Führen</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REAGIEREN</a:t>
            </a:r>
          </a:p>
          <a:p>
            <a:pPr algn="l">
              <a:spcBef>
                <a:spcPts val="0"/>
              </a:spcBef>
              <a:spcAft>
                <a:spcPts val="1400"/>
              </a:spcAft>
            </a:pPr>
            <a:r>
              <a:rPr sz="2100" b="0" i="0">
                <a:solidFill>
                  <a:srgbClr val="2A2A2A"/>
                </a:solidFill>
                <a:latin typeface="Calibri"/>
              </a:rPr>
              <a:t>Tag zu Tag · Bauchgefühl · nichts Grosses bewegt sich</a:t>
            </a:r>
          </a:p>
          <a:p>
            <a:pPr algn="l">
              <a:spcBef>
                <a:spcPts val="0"/>
              </a:spcBef>
              <a:spcAft>
                <a:spcPts val="1400"/>
              </a:spcAft>
            </a:pPr>
            <a:r>
              <a:rPr sz="2600" b="1" i="0">
                <a:solidFill>
                  <a:srgbClr val="2A2A2A"/>
                </a:solidFill>
                <a:latin typeface="Georgia"/>
              </a:rPr>
              <a:t>FÜHREN</a:t>
            </a:r>
          </a:p>
          <a:p>
            <a:pPr algn="l">
              <a:spcBef>
                <a:spcPts val="0"/>
              </a:spcBef>
              <a:spcAft>
                <a:spcPts val="1400"/>
              </a:spcAft>
            </a:pPr>
            <a:r>
              <a:rPr sz="2100" b="0" i="0">
                <a:solidFill>
                  <a:srgbClr val="2A2A2A"/>
                </a:solidFill>
                <a:latin typeface="Calibri"/>
              </a:rPr>
              <a:t>Jahresblick · du entscheidest · das ist Mama-CEO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Das Fundament</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1.  WAS bewerbe ich WANN?</a:t>
            </a:r>
          </a:p>
          <a:p>
            <a:pPr algn="l">
              <a:spcBef>
                <a:spcPts val="0"/>
              </a:spcBef>
              <a:spcAft>
                <a:spcPts val="1400"/>
              </a:spcAft>
            </a:pPr>
            <a:r>
              <a:rPr sz="2600" b="1" i="0">
                <a:solidFill>
                  <a:srgbClr val="2A2A2A"/>
                </a:solidFill>
                <a:latin typeface="Georgia"/>
              </a:rPr>
              <a:t>2.  Über WELCHE Transformation rede ich WANN?</a:t>
            </a:r>
          </a:p>
          <a:p>
            <a:pPr algn="l">
              <a:spcBef>
                <a:spcPts val="0"/>
              </a:spcBef>
              <a:spcAft>
                <a:spcPts val="1400"/>
              </a:spcAft>
            </a:pPr>
            <a:r>
              <a:rPr sz="2000" b="0" i="1">
                <a:solidFill>
                  <a:srgbClr val="6E6E6E"/>
                </a:solidFill>
                <a:latin typeface="Calibri"/>
              </a:rPr>
              <a:t>Beantworte die zwei — dein Content schreibt sich fast von selbst.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Dein Monats-Rhythmus</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Jeden Monat dieselben drei Stufen:</a:t>
            </a:r>
          </a:p>
          <a:p>
            <a:pPr algn="l">
              <a:spcBef>
                <a:spcPts val="0"/>
              </a:spcBef>
              <a:spcAft>
                <a:spcPts val="1400"/>
              </a:spcAft>
            </a:pPr>
            <a:r>
              <a:rPr sz="2100" b="0" i="0">
                <a:solidFill>
                  <a:srgbClr val="2A2A2A"/>
                </a:solidFill>
                <a:latin typeface="Calibri"/>
              </a:rPr>
              <a:t>🎁  1 Gratis-Produkt</a:t>
            </a:r>
          </a:p>
          <a:p>
            <a:pPr algn="l">
              <a:spcBef>
                <a:spcPts val="0"/>
              </a:spcBef>
              <a:spcAft>
                <a:spcPts val="1400"/>
              </a:spcAft>
            </a:pPr>
            <a:r>
              <a:rPr sz="2100" b="0" i="0">
                <a:solidFill>
                  <a:srgbClr val="2A2A2A"/>
                </a:solidFill>
                <a:latin typeface="Calibri"/>
              </a:rPr>
              <a:t>💶  1 Mini-Produkt</a:t>
            </a:r>
          </a:p>
          <a:p>
            <a:pPr algn="l">
              <a:spcBef>
                <a:spcPts val="0"/>
              </a:spcBef>
              <a:spcAft>
                <a:spcPts val="1400"/>
              </a:spcAft>
            </a:pPr>
            <a:r>
              <a:rPr sz="2100" b="0" i="0">
                <a:solidFill>
                  <a:srgbClr val="2A2A2A"/>
                </a:solidFill>
                <a:latin typeface="Calibri"/>
              </a:rPr>
              <a:t>💎  1 grosses Produkt</a:t>
            </a:r>
          </a:p>
          <a:p>
            <a:pPr algn="l">
              <a:spcBef>
                <a:spcPts val="0"/>
              </a:spcBef>
              <a:spcAft>
                <a:spcPts val="1400"/>
              </a:spcAft>
            </a:pPr>
            <a:r>
              <a:rPr sz="2000" b="0" i="1">
                <a:solidFill>
                  <a:srgbClr val="6E6E6E"/>
                </a:solidFill>
                <a:latin typeface="Calibri"/>
              </a:rPr>
              <a:t>Ein klarer Takt, an dem sich dein ganzer Content ausrichtet.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Nie das Produkt — immer die Transformation</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Das Produkt ist das Werkzeug.</a:t>
            </a:r>
          </a:p>
          <a:p>
            <a:pPr algn="l">
              <a:spcBef>
                <a:spcPts val="0"/>
              </a:spcBef>
              <a:spcAft>
                <a:spcPts val="1400"/>
              </a:spcAft>
            </a:pPr>
            <a:r>
              <a:rPr sz="2600" b="1" i="0">
                <a:solidFill>
                  <a:srgbClr val="2A2A2A"/>
                </a:solidFill>
                <a:latin typeface="Georgia"/>
              </a:rPr>
              <a:t>Die Transformation ist das Ziel.</a:t>
            </a:r>
          </a:p>
          <a:p>
            <a:pPr algn="l">
              <a:spcBef>
                <a:spcPts val="0"/>
              </a:spcBef>
              <a:spcAft>
                <a:spcPts val="1400"/>
              </a:spcAft>
            </a:pPr>
            <a:r>
              <a:rPr sz="2000" b="0" i="1">
                <a:solidFill>
                  <a:srgbClr val="6E6E6E"/>
                </a:solidFill>
                <a:latin typeface="Calibri"/>
              </a:rPr>
              <a:t>Niemand will das Produkt — alle wollen das Ergebnis dahinter.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Beispiel: Abnehmshake</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Produkt: der Shake</a:t>
            </a:r>
          </a:p>
          <a:p>
            <a:pPr algn="l">
              <a:spcBef>
                <a:spcPts val="0"/>
              </a:spcBef>
              <a:spcAft>
                <a:spcPts val="1400"/>
              </a:spcAft>
            </a:pPr>
            <a:r>
              <a:rPr sz="2100" b="0" i="0">
                <a:solidFill>
                  <a:srgbClr val="2A2A2A"/>
                </a:solidFill>
                <a:latin typeface="Calibri"/>
              </a:rPr>
              <a:t>Ziel: sich endlich wieder geil im Bikini fühlen</a:t>
            </a:r>
          </a:p>
          <a:p>
            <a:pPr algn="l">
              <a:spcBef>
                <a:spcPts val="0"/>
              </a:spcBef>
              <a:spcAft>
                <a:spcPts val="1400"/>
              </a:spcAft>
            </a:pPr>
            <a:r>
              <a:rPr sz="2100" b="0" i="0">
                <a:solidFill>
                  <a:srgbClr val="2A2A2A"/>
                </a:solidFill>
                <a:latin typeface="Calibri"/>
              </a:rPr>
              <a:t>Überthemen: Ernährung · Bewegung · Mindset</a:t>
            </a:r>
          </a:p>
          <a:p>
            <a:pPr algn="l">
              <a:spcBef>
                <a:spcPts val="0"/>
              </a:spcBef>
              <a:spcAft>
                <a:spcPts val="1400"/>
              </a:spcAft>
            </a:pPr>
            <a:r>
              <a:rPr sz="2000" b="0" i="1">
                <a:solidFill>
                  <a:srgbClr val="6E6E6E"/>
                </a:solidFill>
                <a:latin typeface="Calibri"/>
              </a:rPr>
              <a:t>→ darüber redest du in den Wochen, nicht über den Shake.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Auch mit nur EINEM Produkt</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Beispiel Kosmetik — ein Überthema pro Woche:</a:t>
            </a:r>
          </a:p>
          <a:p>
            <a:pPr algn="l">
              <a:spcBef>
                <a:spcPts val="0"/>
              </a:spcBef>
              <a:spcAft>
                <a:spcPts val="1400"/>
              </a:spcAft>
            </a:pPr>
            <a:r>
              <a:rPr sz="2100" b="0" i="0">
                <a:solidFill>
                  <a:srgbClr val="2A2A2A"/>
                </a:solidFill>
                <a:latin typeface="Calibri"/>
              </a:rPr>
              <a:t>Woche 1: Hautpflege</a:t>
            </a:r>
          </a:p>
          <a:p>
            <a:pPr algn="l">
              <a:spcBef>
                <a:spcPts val="0"/>
              </a:spcBef>
              <a:spcAft>
                <a:spcPts val="1400"/>
              </a:spcAft>
            </a:pPr>
            <a:r>
              <a:rPr sz="2100" b="0" i="0">
                <a:solidFill>
                  <a:srgbClr val="2A2A2A"/>
                </a:solidFill>
                <a:latin typeface="Calibri"/>
              </a:rPr>
              <a:t>Woche 2: Ernährung für schöne Haut</a:t>
            </a:r>
          </a:p>
          <a:p>
            <a:pPr algn="l">
              <a:spcBef>
                <a:spcPts val="0"/>
              </a:spcBef>
              <a:spcAft>
                <a:spcPts val="1400"/>
              </a:spcAft>
            </a:pPr>
            <a:r>
              <a:rPr sz="2100" b="0" i="0">
                <a:solidFill>
                  <a:srgbClr val="2A2A2A"/>
                </a:solidFill>
                <a:latin typeface="Calibri"/>
              </a:rPr>
              <a:t>Woche 3: Routine</a:t>
            </a:r>
          </a:p>
          <a:p>
            <a:pPr algn="l">
              <a:spcBef>
                <a:spcPts val="0"/>
              </a:spcBef>
              <a:spcAft>
                <a:spcPts val="1400"/>
              </a:spcAft>
            </a:pPr>
            <a:r>
              <a:rPr sz="2000" b="0" i="1">
                <a:solidFill>
                  <a:srgbClr val="6E6E6E"/>
                </a:solidFill>
                <a:latin typeface="Calibri"/>
              </a:rPr>
              <a:t>Aus 1 Produkt ein ganzes Jahr voller Themen.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Fixpunkte ZUERST eintragen</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Schulferien</a:t>
            </a:r>
          </a:p>
          <a:p>
            <a:pPr algn="l">
              <a:spcBef>
                <a:spcPts val="0"/>
              </a:spcBef>
              <a:spcAft>
                <a:spcPts val="1400"/>
              </a:spcAft>
            </a:pPr>
            <a:r>
              <a:rPr sz="2100" b="0" i="0">
                <a:solidFill>
                  <a:srgbClr val="2A2A2A"/>
                </a:solidFill>
                <a:latin typeface="Calibri"/>
              </a:rPr>
              <a:t>Testwochen</a:t>
            </a:r>
          </a:p>
          <a:p>
            <a:pPr algn="l">
              <a:spcBef>
                <a:spcPts val="0"/>
              </a:spcBef>
              <a:spcAft>
                <a:spcPts val="1400"/>
              </a:spcAft>
            </a:pPr>
            <a:r>
              <a:rPr sz="2100" b="0" i="0">
                <a:solidFill>
                  <a:srgbClr val="2A2A2A"/>
                </a:solidFill>
                <a:latin typeface="Calibri"/>
              </a:rPr>
              <a:t>Anlässe &amp; Events</a:t>
            </a:r>
          </a:p>
          <a:p>
            <a:pPr algn="l">
              <a:spcBef>
                <a:spcPts val="0"/>
              </a:spcBef>
              <a:spcAft>
                <a:spcPts val="1400"/>
              </a:spcAft>
            </a:pPr>
            <a:r>
              <a:rPr sz="2000" b="0" i="1">
                <a:solidFill>
                  <a:srgbClr val="6E6E6E"/>
                </a:solidFill>
                <a:latin typeface="Calibri"/>
              </a:rPr>
              <a:t>Eine Woche vorher drüber reden + einladen. Alles andere baut sich drumherum.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Beispiel: mein Notion-Jahresplan</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Pro Monat: Gratis · Mini · grosses Produkt</a:t>
            </a:r>
          </a:p>
          <a:p>
            <a:pPr algn="l">
              <a:spcBef>
                <a:spcPts val="0"/>
              </a:spcBef>
              <a:spcAft>
                <a:spcPts val="1400"/>
              </a:spcAft>
            </a:pPr>
            <a:r>
              <a:rPr sz="2100" b="0" i="0">
                <a:solidFill>
                  <a:srgbClr val="2A2A2A"/>
                </a:solidFill>
                <a:latin typeface="Calibri"/>
              </a:rPr>
              <a:t>Ferien blau markiert</a:t>
            </a:r>
          </a:p>
          <a:p>
            <a:pPr algn="l">
              <a:spcBef>
                <a:spcPts val="0"/>
              </a:spcBef>
              <a:spcAft>
                <a:spcPts val="1400"/>
              </a:spcAft>
            </a:pPr>
            <a:r>
              <a:rPr sz="2100" b="0" i="0">
                <a:solidFill>
                  <a:srgbClr val="2A2A2A"/>
                </a:solidFill>
                <a:latin typeface="Calibri"/>
              </a:rPr>
              <a:t>Mum Life Balance und doTERRA farblich getrennt</a:t>
            </a:r>
          </a:p>
          <a:p>
            <a:pPr algn="l">
              <a:spcBef>
                <a:spcPts val="0"/>
              </a:spcBef>
              <a:spcAft>
                <a:spcPts val="1400"/>
              </a:spcAft>
            </a:pPr>
            <a:r>
              <a:rPr sz="1700" b="0" i="0">
                <a:solidFill>
                  <a:srgbClr val="6E6E6E"/>
                </a:solidFill>
                <a:latin typeface="Calibri"/>
              </a:rPr>
              <a:t>(hier zeige ich dir live meinen echten Jahresplan)</a:t>
            </a:r>
          </a:p>
          <a:p>
            <a:pPr algn="l">
              <a:spcBef>
                <a:spcPts val="0"/>
              </a:spcBef>
              <a:spcAft>
                <a:spcPts val="1400"/>
              </a:spcAft>
            </a:pPr>
            <a:r>
              <a:rPr sz="2000" b="0" i="1">
                <a:solidFill>
                  <a:srgbClr val="6E6E6E"/>
                </a:solidFill>
                <a:latin typeface="Calibri"/>
              </a:rPr>
              <a:t>Grob und ehrlich — so darf deiner auch sein.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Was du hier NICHT machst</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Nicht alles. Nicht im Detail.</a:t>
            </a:r>
          </a:p>
          <a:p>
            <a:pPr algn="l">
              <a:spcBef>
                <a:spcPts val="0"/>
              </a:spcBef>
              <a:spcAft>
                <a:spcPts val="1400"/>
              </a:spcAft>
            </a:pPr>
            <a:r>
              <a:rPr sz="2100" b="0" i="0">
                <a:solidFill>
                  <a:srgbClr val="2A2A2A"/>
                </a:solidFill>
                <a:latin typeface="Calibri"/>
              </a:rPr>
              <a:t>Das WIE — Reels, Captions, Umsetzung — lernst du in der Insta-Kundenmaschine.</a:t>
            </a:r>
          </a:p>
          <a:p>
            <a:pPr algn="l">
              <a:spcBef>
                <a:spcPts val="0"/>
              </a:spcBef>
              <a:spcAft>
                <a:spcPts val="1400"/>
              </a:spcAft>
            </a:pPr>
            <a:r>
              <a:rPr sz="2000" b="0" i="1">
                <a:solidFill>
                  <a:srgbClr val="6E6E6E"/>
                </a:solidFill>
                <a:latin typeface="Calibri"/>
              </a:rPr>
              <a:t>Hier baust du nur das Fundament.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6F6B"/>
        </a:solidFill>
        <a:effectLst/>
      </p:bgPr>
    </p:bg>
    <p:spTree>
      <p:nvGrpSpPr>
        <p:cNvPr id="1" name=""/>
        <p:cNvGrpSpPr/>
        <p:nvPr/>
      </p:nvGrpSpPr>
      <p:grpSpPr/>
      <p:sp>
        <p:nvSpPr>
          <p:cNvPr id="2" name="TextBox 1"/>
          <p:cNvSpPr txBox="1"/>
          <p:nvPr/>
        </p:nvSpPr>
        <p:spPr>
          <a:xfrm>
            <a:off x="1005840" y="2194560"/>
            <a:ext cx="10149840" cy="2743200"/>
          </a:xfrm>
          <a:prstGeom prst="rect">
            <a:avLst/>
          </a:prstGeom>
          <a:noFill/>
        </p:spPr>
        <p:txBody>
          <a:bodyPr wrap="square" anchor="ctr" lIns="0" rIns="0" tIns="0" bIns="0">
            <a:spAutoFit/>
          </a:bodyPr>
          <a:lstStyle/>
          <a:p>
            <a:pPr algn="l">
              <a:spcBef>
                <a:spcPts val="0"/>
              </a:spcBef>
              <a:spcAft>
                <a:spcPts val="1800"/>
              </a:spcAft>
            </a:pPr>
            <a:r>
              <a:rPr sz="2200" b="0" i="0">
                <a:solidFill>
                  <a:srgbClr val="F1ECDD"/>
                </a:solidFill>
                <a:latin typeface="Calibri"/>
              </a:rPr>
              <a:t>📋 Im Arbeitsblatt</a:t>
            </a:r>
          </a:p>
          <a:p>
            <a:pPr algn="l">
              <a:spcBef>
                <a:spcPts val="0"/>
              </a:spcBef>
              <a:spcAft>
                <a:spcPts val="1800"/>
              </a:spcAft>
            </a:pPr>
            <a:r>
              <a:rPr sz="3200" b="1" i="0">
                <a:solidFill>
                  <a:srgbClr val="FFFFFF"/>
                </a:solidFill>
                <a:latin typeface="Georgia"/>
              </a:rPr>
              <a:t>Dein Jahres-Plan: Monats-Trio + Wochen-Themen</a:t>
            </a:r>
          </a:p>
          <a:p>
            <a:pPr algn="l">
              <a:spcBef>
                <a:spcPts val="0"/>
              </a:spcBef>
              <a:spcAft>
                <a:spcPts val="1800"/>
              </a:spcAft>
            </a:pPr>
            <a:r>
              <a:rPr sz="2200" b="0" i="0">
                <a:solidFill>
                  <a:srgbClr val="F1ECDD"/>
                </a:solidFill>
                <a:latin typeface="Calibri"/>
              </a:rPr>
              <a:t>Nächste Lektion: 3.4 — Monats- + Wochenplanung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