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Willkommen in Säule 3. In den letzten zwei Wochen hast du Klarheit geschaffen, und jetzt geben wir dem Ganzen ein Zuhause, damit nichts mehr verloren geht. Das hier ist der Moment, wo aus Chaos ein System wird.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Schau kurz zurück, was du schon hast: deinen Wochenrhythmus mit den 4 Rollen, dein Hütchen-Inventar mit den 7 verbleibenden Rollen und deine Aufgaben durch den 4-Filter. Das ist viel und es ist ehrlich erarbeitet, aber es liegt noch auf Papier verstreut.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Problem mit Papier ist nicht das Papier, sondern dass es kein Zuhause hat. Du schreibst dir am Sonntag alles auf, und am Mittwoch findest du den Zettel nicht mehr, und am Sonntag drauf fängst du wieder bei null an. Genau diesen Kreislauf brechen wir jetzt.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ist der wichtigste Gedanke der ganzen Säule: du kannst keinen sinnvollen Tag planen, wenn du die Woche nicht kennst, und keine Woche, wenn du das Jahr nicht kennst. Planung läuft von oben nach unten, und genau deshalb bauen wir es in dieser Reihenfolge auf.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Stufen. Das Jahr sagt dir was überhaupt kommt. Der Monat gibt dir einen Fokus und drei Ziele. Die Woche verteilt deine sechs Lebens-Bereiche. Und der Tag zeigt dir morgens deine drei wichtigsten Aufgaben. Vier Stufen, die ineinandergreifen.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deine Wochen nicht nur aus Business bestehen, planen wir in sechs Lebens-Bereichen. Produkterstellung, Sichtbarkeit, Kundenbetreuung, Me-Time, Familie und Haushalt, und Reflexion. Jeder dieser Bereiche bekommt in deiner Woche seinen Platz, und am Ende ist nichts mehr nur im Kopf.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 passiert jetzt konkret: dein Brain Dump aus Säule 2 wandert in diese sechs Bereiche, und die wandern dann in den nächsten Lektionen nach Notion. Wir erfinden nichts Neues, wir geben deinem Erarbeiteten nur ein ordentliches Zuhause.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sortierst du jetzt deinen Brain Dump in die sechs Lebens-Bereiche, einfach als ersten Wurf. In der nächsten Lektion zeig ich dir Notion als dein Business-Brain, dann verstehst du wo das alles am Ende lebt.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nchor="t" lIns="0" rIns="0" tIns="0" bIns="0">
            <a:spAutoFit/>
          </a:bodyPr>
          <a:lstStyle/>
          <a:p>
            <a:r>
              <a:rPr sz="1100" b="1" i="0">
                <a:solidFill>
                  <a:srgbClr val="DC822E"/>
                </a:solidFill>
                <a:latin typeface="Calibri"/>
              </a:rPr>
              <a:t>SÄULE 3 — DU BAUST DIE STRUKTUR</a:t>
            </a:r>
          </a:p>
        </p:txBody>
      </p:sp>
      <p:sp>
        <p:nvSpPr>
          <p:cNvPr id="4" name="Rectangle 3"/>
          <p:cNvSpPr/>
          <p:nvPr/>
        </p:nvSpPr>
        <p:spPr>
          <a:xfrm>
            <a:off x="548640" y="96012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463040"/>
          </a:xfrm>
          <a:prstGeom prst="rect">
            <a:avLst/>
          </a:prstGeom>
          <a:noFill/>
        </p:spPr>
        <p:txBody>
          <a:bodyPr wrap="square" anchor="t" lIns="0" rIns="0" tIns="0" bIns="0">
            <a:spAutoFit/>
          </a:bodyPr>
          <a:lstStyle/>
          <a:p>
            <a:r>
              <a:rPr sz="4400" b="1" i="0">
                <a:solidFill>
                  <a:srgbClr val="1A3A4A"/>
                </a:solidFill>
                <a:latin typeface="Georgia"/>
              </a:rPr>
              <a:t>Vom Brain Dump zur Struktur</a:t>
            </a:r>
          </a:p>
        </p:txBody>
      </p:sp>
      <p:sp>
        <p:nvSpPr>
          <p:cNvPr id="6" name="TextBox 5"/>
          <p:cNvSpPr txBox="1"/>
          <p:nvPr/>
        </p:nvSpPr>
        <p:spPr>
          <a:xfrm>
            <a:off x="548640" y="2880360"/>
            <a:ext cx="7680960" cy="1280160"/>
          </a:xfrm>
          <a:prstGeom prst="rect">
            <a:avLst/>
          </a:prstGeom>
          <a:noFill/>
        </p:spPr>
        <p:txBody>
          <a:bodyPr wrap="square" anchor="t" lIns="0" rIns="0" tIns="0" bIns="0">
            <a:spAutoFit/>
          </a:bodyPr>
          <a:lstStyle/>
          <a:p>
            <a:r>
              <a:rPr sz="1800" b="0" i="0">
                <a:solidFill>
                  <a:srgbClr val="2C3E50"/>
                </a:solidFill>
                <a:latin typeface="Georgia"/>
              </a:rPr>
              <a:t>Dein Chaos kriegt ein Zuhause</a:t>
            </a:r>
          </a:p>
        </p:txBody>
      </p:sp>
      <p:sp>
        <p:nvSpPr>
          <p:cNvPr id="7" name="TextBox 6"/>
          <p:cNvSpPr txBox="1"/>
          <p:nvPr/>
        </p:nvSpPr>
        <p:spPr>
          <a:xfrm>
            <a:off x="548640" y="4572000"/>
            <a:ext cx="3657600" cy="365760"/>
          </a:xfrm>
          <a:prstGeom prst="rect">
            <a:avLst/>
          </a:prstGeom>
          <a:noFill/>
        </p:spPr>
        <p:txBody>
          <a:bodyPr wrap="square" anchor="t" lIns="0" rIns="0" tIns="0" bIns="0">
            <a:spAutoFit/>
          </a:bodyPr>
          <a:lstStyle/>
          <a:p>
            <a:r>
              <a:rPr sz="1200" b="1" i="0">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nchor="t" lIns="0" rIns="0" tIns="0" bIns="0">
            <a:spAutoFit/>
          </a:bodyPr>
          <a:lstStyle/>
          <a:p>
            <a:pPr algn="r"/>
            <a:r>
              <a:rPr sz="1100" b="0" i="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Wo du gerade stehst</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900"/>
              </a:spcAft>
            </a:pPr>
            <a:r>
              <a:rPr sz="1600" b="1" i="0">
                <a:solidFill>
                  <a:srgbClr val="12828C"/>
                </a:solidFill>
                <a:latin typeface="Calibri"/>
              </a:rPr>
              <a:t>✓  </a:t>
            </a:r>
            <a:r>
              <a:rPr sz="1600" b="0" i="0">
                <a:solidFill>
                  <a:srgbClr val="2C3E50"/>
                </a:solidFill>
                <a:latin typeface="Calibri"/>
              </a:rPr>
              <a:t>Dein Wochenrhythmus mit den 4 Rollen (Säule 1)</a:t>
            </a:r>
          </a:p>
          <a:p>
            <a:pPr>
              <a:spcBef>
                <a:spcPts val="0"/>
              </a:spcBef>
              <a:spcAft>
                <a:spcPts val="900"/>
              </a:spcAft>
            </a:pPr>
            <a:r>
              <a:rPr sz="1600" b="1" i="0">
                <a:solidFill>
                  <a:srgbClr val="12828C"/>
                </a:solidFill>
                <a:latin typeface="Calibri"/>
              </a:rPr>
              <a:t>✓  </a:t>
            </a:r>
            <a:r>
              <a:rPr sz="1600" b="0" i="0">
                <a:solidFill>
                  <a:srgbClr val="2C3E50"/>
                </a:solidFill>
                <a:latin typeface="Calibri"/>
              </a:rPr>
              <a:t>Dein Hütchen-Inventar mit den 7 Rollen (Säule 2)</a:t>
            </a:r>
          </a:p>
          <a:p>
            <a:pPr>
              <a:spcBef>
                <a:spcPts val="0"/>
              </a:spcBef>
              <a:spcAft>
                <a:spcPts val="900"/>
              </a:spcAft>
            </a:pPr>
            <a:r>
              <a:rPr sz="1600" b="1" i="0">
                <a:solidFill>
                  <a:srgbClr val="12828C"/>
                </a:solidFill>
                <a:latin typeface="Calibri"/>
              </a:rPr>
              <a:t>✓  </a:t>
            </a:r>
            <a:r>
              <a:rPr sz="1600" b="0" i="0">
                <a:solidFill>
                  <a:srgbClr val="2C3E50"/>
                </a:solidFill>
                <a:latin typeface="Calibri"/>
              </a:rPr>
              <a:t>Deine Aufgaben durch den 4-Filter (Säule 2)</a:t>
            </a:r>
          </a:p>
          <a:p>
            <a:pPr>
              <a:spcBef>
                <a:spcPts val="0"/>
              </a:spcBef>
              <a:spcAft>
                <a:spcPts val="800"/>
              </a:spcAft>
            </a:pPr>
            <a:r>
              <a:rPr sz="1400" b="0" i="1">
                <a:solidFill>
                  <a:srgbClr val="7A8A95"/>
                </a:solidFill>
                <a:latin typeface="Calibri"/>
              </a:rPr>
              <a:t>Alles da und ehrlich erarbeitet — aber noch auf Papier verstreut.</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3.1</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828C"/>
        </a:solidFill>
        <a:effectLst/>
      </p:bgPr>
    </p:bg>
    <p:spTree>
      <p:nvGrpSpPr>
        <p:cNvPr id="1" name=""/>
        <p:cNvGrpSpPr/>
        <p:nvPr/>
      </p:nvGrpSpPr>
      <p:grpSpPr/>
      <p:sp>
        <p:nvSpPr>
          <p:cNvPr id="2" name="TextBox 1"/>
          <p:cNvSpPr txBox="1"/>
          <p:nvPr/>
        </p:nvSpPr>
        <p:spPr>
          <a:xfrm>
            <a:off x="548640" y="1097280"/>
            <a:ext cx="8046720" cy="365760"/>
          </a:xfrm>
          <a:prstGeom prst="rect">
            <a:avLst/>
          </a:prstGeom>
          <a:noFill/>
        </p:spPr>
        <p:txBody>
          <a:bodyPr wrap="square" anchor="t" lIns="0" rIns="0" tIns="0" bIns="0">
            <a:spAutoFit/>
          </a:bodyPr>
          <a:lstStyle/>
          <a:p>
            <a:r>
              <a:rPr sz="1100" b="1" i="0">
                <a:solidFill>
                  <a:srgbClr val="DC822E"/>
                </a:solidFill>
                <a:latin typeface="Calibri"/>
              </a:rPr>
              <a:t>DAS PROBLEM MIT PAPIER</a:t>
            </a:r>
          </a:p>
        </p:txBody>
      </p:sp>
      <p:sp>
        <p:nvSpPr>
          <p:cNvPr id="3" name="Rectangle 2"/>
          <p:cNvSpPr/>
          <p:nvPr/>
        </p:nvSpPr>
        <p:spPr>
          <a:xfrm>
            <a:off x="548640" y="155448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920240"/>
            <a:ext cx="8046720" cy="2194560"/>
          </a:xfrm>
          <a:prstGeom prst="rect">
            <a:avLst/>
          </a:prstGeom>
          <a:noFill/>
        </p:spPr>
        <p:txBody>
          <a:bodyPr wrap="square" anchor="t" lIns="0" rIns="0" tIns="0" bIns="0">
            <a:spAutoFit/>
          </a:bodyPr>
          <a:lstStyle/>
          <a:p>
            <a:r>
              <a:rPr sz="3200" b="1" i="0">
                <a:solidFill>
                  <a:srgbClr val="F1ECDD"/>
                </a:solidFill>
                <a:latin typeface="Georgia"/>
              </a:rPr>
              <a:t>Ein Brain Dump ohne Zuhause verpufft nach 3 Tagen.</a:t>
            </a:r>
          </a:p>
        </p:txBody>
      </p:sp>
      <p:sp>
        <p:nvSpPr>
          <p:cNvPr id="5" name="TextBox 4"/>
          <p:cNvSpPr txBox="1"/>
          <p:nvPr/>
        </p:nvSpPr>
        <p:spPr>
          <a:xfrm>
            <a:off x="548640" y="3703320"/>
            <a:ext cx="8046720" cy="731520"/>
          </a:xfrm>
          <a:prstGeom prst="rect">
            <a:avLst/>
          </a:prstGeom>
          <a:noFill/>
        </p:spPr>
        <p:txBody>
          <a:bodyPr wrap="square" anchor="t" lIns="0" rIns="0" tIns="0" bIns="0">
            <a:spAutoFit/>
          </a:bodyPr>
          <a:lstStyle/>
          <a:p>
            <a:r>
              <a:rPr sz="1500" b="0" i="1">
                <a:solidFill>
                  <a:srgbClr val="F1ECDD"/>
                </a:solidFill>
                <a:latin typeface="Calibri"/>
              </a:rPr>
              <a:t>Sonntag aufgeschrieben → Mittwoch verloren → Sonntag wieder bei null.</a:t>
            </a:r>
          </a:p>
        </p:txBody>
      </p:sp>
      <p:sp>
        <p:nvSpPr>
          <p:cNvPr id="6" name="TextBox 5"/>
          <p:cNvSpPr txBox="1"/>
          <p:nvPr/>
        </p:nvSpPr>
        <p:spPr>
          <a:xfrm>
            <a:off x="457200" y="4754880"/>
            <a:ext cx="5486400" cy="274320"/>
          </a:xfrm>
          <a:prstGeom prst="rect">
            <a:avLst/>
          </a:prstGeom>
          <a:noFill/>
        </p:spPr>
        <p:txBody>
          <a:bodyPr wrap="square" anchor="t" lIns="0" rIns="0" tIns="0" bIns="0">
            <a:spAutoFit/>
          </a:bodyPr>
          <a:lstStyle/>
          <a:p>
            <a:r>
              <a:rPr sz="900" b="0" i="0">
                <a:solidFill>
                  <a:srgbClr val="F1ECDD"/>
                </a:solidFill>
                <a:latin typeface="Calibri"/>
              </a:rPr>
              <a:t>Mama-CEO · Säule 3 · Lektion 3.1</a:t>
            </a:r>
          </a:p>
        </p:txBody>
      </p:sp>
      <p:sp>
        <p:nvSpPr>
          <p:cNvPr id="7" name="TextBox 6"/>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F1ECDD"/>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Du planst von oben nach unten</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1000"/>
              </a:spcAft>
            </a:pPr>
            <a:r>
              <a:rPr sz="2100" b="1" i="0">
                <a:solidFill>
                  <a:srgbClr val="1A3A4A"/>
                </a:solidFill>
                <a:latin typeface="Georgia"/>
              </a:rPr>
              <a:t>JAHR  →  MONAT  →  WOCHE  →  TAG</a:t>
            </a:r>
          </a:p>
          <a:p>
            <a:pPr>
              <a:spcBef>
                <a:spcPts val="0"/>
              </a:spcBef>
              <a:spcAft>
                <a:spcPts val="900"/>
              </a:spcAft>
            </a:pPr>
            <a:r>
              <a:rPr sz="1600" b="0" i="0">
                <a:solidFill>
                  <a:srgbClr val="2C3E50"/>
                </a:solidFill>
                <a:latin typeface="Calibri"/>
              </a:rPr>
              <a:t>Keinen sinnvollen Tag ohne die Woche.</a:t>
            </a:r>
          </a:p>
          <a:p>
            <a:pPr>
              <a:spcBef>
                <a:spcPts val="0"/>
              </a:spcBef>
              <a:spcAft>
                <a:spcPts val="900"/>
              </a:spcAft>
            </a:pPr>
            <a:r>
              <a:rPr sz="1600" b="0" i="0">
                <a:solidFill>
                  <a:srgbClr val="2C3E50"/>
                </a:solidFill>
                <a:latin typeface="Calibri"/>
              </a:rPr>
              <a:t>Keine Woche ohne das Jahr.</a:t>
            </a:r>
          </a:p>
          <a:p>
            <a:pPr>
              <a:spcBef>
                <a:spcPts val="0"/>
              </a:spcBef>
              <a:spcAft>
                <a:spcPts val="800"/>
              </a:spcAft>
            </a:pPr>
            <a:r>
              <a:rPr sz="1400" b="0" i="1">
                <a:solidFill>
                  <a:srgbClr val="7A8A95"/>
                </a:solidFill>
                <a:latin typeface="Calibri"/>
              </a:rPr>
              <a:t>Darum bauen wir es genau in dieser Reihenfolge auf.</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3.1</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822960"/>
          </a:xfrm>
          <a:prstGeom prst="rect">
            <a:avLst/>
          </a:prstGeom>
          <a:noFill/>
        </p:spPr>
        <p:txBody>
          <a:bodyPr wrap="square" anchor="t" lIns="0" rIns="0" tIns="0" bIns="0">
            <a:spAutoFit/>
          </a:bodyPr>
          <a:lstStyle/>
          <a:p>
            <a:r>
              <a:rPr sz="3000" b="1" i="0">
                <a:solidFill>
                  <a:srgbClr val="1A3A4A"/>
                </a:solidFill>
                <a:latin typeface="Georgia"/>
              </a:rPr>
              <a:t>Die 4-Stufen-Hierarchie</a:t>
            </a:r>
          </a:p>
        </p:txBody>
      </p:sp>
      <p:sp>
        <p:nvSpPr>
          <p:cNvPr id="3" name="TextBox 2"/>
          <p:cNvSpPr txBox="1"/>
          <p:nvPr/>
        </p:nvSpPr>
        <p:spPr>
          <a:xfrm>
            <a:off x="548640" y="1371600"/>
            <a:ext cx="822960" cy="640080"/>
          </a:xfrm>
          <a:prstGeom prst="rect">
            <a:avLst/>
          </a:prstGeom>
          <a:noFill/>
        </p:spPr>
        <p:txBody>
          <a:bodyPr wrap="square" anchor="t" lIns="0" rIns="0" tIns="0" bIns="0">
            <a:spAutoFit/>
          </a:bodyPr>
          <a:lstStyle/>
          <a:p>
            <a:r>
              <a:rPr sz="2800" b="1" i="0">
                <a:solidFill>
                  <a:srgbClr val="DC822E"/>
                </a:solidFill>
                <a:latin typeface="Georgia"/>
              </a:rPr>
              <a:t>01</a:t>
            </a:r>
          </a:p>
        </p:txBody>
      </p:sp>
      <p:sp>
        <p:nvSpPr>
          <p:cNvPr id="4" name="TextBox 3"/>
          <p:cNvSpPr txBox="1"/>
          <p:nvPr/>
        </p:nvSpPr>
        <p:spPr>
          <a:xfrm>
            <a:off x="1371600" y="1408176"/>
            <a:ext cx="7223760" cy="713232"/>
          </a:xfrm>
          <a:prstGeom prst="rect">
            <a:avLst/>
          </a:prstGeom>
          <a:noFill/>
        </p:spPr>
        <p:txBody>
          <a:bodyPr wrap="square" anchor="t" lIns="0" rIns="0" tIns="0" bIns="0">
            <a:spAutoFit/>
          </a:bodyPr>
          <a:lstStyle/>
          <a:p>
            <a:r>
              <a:rPr sz="1600" b="1" i="0">
                <a:solidFill>
                  <a:srgbClr val="2C3E50"/>
                </a:solidFill>
                <a:latin typeface="Calibri"/>
              </a:rPr>
              <a:t>Jahr</a:t>
            </a:r>
          </a:p>
          <a:p>
            <a:pPr>
              <a:spcBef>
                <a:spcPts val="100"/>
              </a:spcBef>
            </a:pPr>
            <a:r>
              <a:rPr sz="1200" b="0" i="0">
                <a:solidFill>
                  <a:srgbClr val="7A8A95"/>
                </a:solidFill>
                <a:latin typeface="Calibri"/>
              </a:rPr>
              <a:t>was überhaupt kommt</a:t>
            </a:r>
          </a:p>
        </p:txBody>
      </p:sp>
      <p:sp>
        <p:nvSpPr>
          <p:cNvPr id="5" name="TextBox 4"/>
          <p:cNvSpPr txBox="1"/>
          <p:nvPr/>
        </p:nvSpPr>
        <p:spPr>
          <a:xfrm>
            <a:off x="548640" y="2084832"/>
            <a:ext cx="822960" cy="640080"/>
          </a:xfrm>
          <a:prstGeom prst="rect">
            <a:avLst/>
          </a:prstGeom>
          <a:noFill/>
        </p:spPr>
        <p:txBody>
          <a:bodyPr wrap="square" anchor="t" lIns="0" rIns="0" tIns="0" bIns="0">
            <a:spAutoFit/>
          </a:bodyPr>
          <a:lstStyle/>
          <a:p>
            <a:r>
              <a:rPr sz="2800" b="1" i="0">
                <a:solidFill>
                  <a:srgbClr val="DC822E"/>
                </a:solidFill>
                <a:latin typeface="Georgia"/>
              </a:rPr>
              <a:t>02</a:t>
            </a:r>
          </a:p>
        </p:txBody>
      </p:sp>
      <p:sp>
        <p:nvSpPr>
          <p:cNvPr id="6" name="TextBox 5"/>
          <p:cNvSpPr txBox="1"/>
          <p:nvPr/>
        </p:nvSpPr>
        <p:spPr>
          <a:xfrm>
            <a:off x="1371600" y="2121408"/>
            <a:ext cx="7223760" cy="713232"/>
          </a:xfrm>
          <a:prstGeom prst="rect">
            <a:avLst/>
          </a:prstGeom>
          <a:noFill/>
        </p:spPr>
        <p:txBody>
          <a:bodyPr wrap="square" anchor="t" lIns="0" rIns="0" tIns="0" bIns="0">
            <a:spAutoFit/>
          </a:bodyPr>
          <a:lstStyle/>
          <a:p>
            <a:r>
              <a:rPr sz="1600" b="1" i="0">
                <a:solidFill>
                  <a:srgbClr val="2C3E50"/>
                </a:solidFill>
                <a:latin typeface="Calibri"/>
              </a:rPr>
              <a:t>Monat</a:t>
            </a:r>
          </a:p>
          <a:p>
            <a:pPr>
              <a:spcBef>
                <a:spcPts val="100"/>
              </a:spcBef>
            </a:pPr>
            <a:r>
              <a:rPr sz="1200" b="0" i="0">
                <a:solidFill>
                  <a:srgbClr val="7A8A95"/>
                </a:solidFill>
                <a:latin typeface="Calibri"/>
              </a:rPr>
              <a:t>1 Fokus + 3 Ziele</a:t>
            </a:r>
          </a:p>
        </p:txBody>
      </p:sp>
      <p:sp>
        <p:nvSpPr>
          <p:cNvPr id="7" name="TextBox 6"/>
          <p:cNvSpPr txBox="1"/>
          <p:nvPr/>
        </p:nvSpPr>
        <p:spPr>
          <a:xfrm>
            <a:off x="548640" y="2798064"/>
            <a:ext cx="822960" cy="640080"/>
          </a:xfrm>
          <a:prstGeom prst="rect">
            <a:avLst/>
          </a:prstGeom>
          <a:noFill/>
        </p:spPr>
        <p:txBody>
          <a:bodyPr wrap="square" anchor="t" lIns="0" rIns="0" tIns="0" bIns="0">
            <a:spAutoFit/>
          </a:bodyPr>
          <a:lstStyle/>
          <a:p>
            <a:r>
              <a:rPr sz="2800" b="1" i="0">
                <a:solidFill>
                  <a:srgbClr val="DC822E"/>
                </a:solidFill>
                <a:latin typeface="Georgia"/>
              </a:rPr>
              <a:t>03</a:t>
            </a:r>
          </a:p>
        </p:txBody>
      </p:sp>
      <p:sp>
        <p:nvSpPr>
          <p:cNvPr id="8" name="TextBox 7"/>
          <p:cNvSpPr txBox="1"/>
          <p:nvPr/>
        </p:nvSpPr>
        <p:spPr>
          <a:xfrm>
            <a:off x="1371600" y="2834640"/>
            <a:ext cx="7223760" cy="713232"/>
          </a:xfrm>
          <a:prstGeom prst="rect">
            <a:avLst/>
          </a:prstGeom>
          <a:noFill/>
        </p:spPr>
        <p:txBody>
          <a:bodyPr wrap="square" anchor="t" lIns="0" rIns="0" tIns="0" bIns="0">
            <a:spAutoFit/>
          </a:bodyPr>
          <a:lstStyle/>
          <a:p>
            <a:r>
              <a:rPr sz="1600" b="1" i="0">
                <a:solidFill>
                  <a:srgbClr val="2C3E50"/>
                </a:solidFill>
                <a:latin typeface="Calibri"/>
              </a:rPr>
              <a:t>Woche</a:t>
            </a:r>
          </a:p>
          <a:p>
            <a:pPr>
              <a:spcBef>
                <a:spcPts val="100"/>
              </a:spcBef>
            </a:pPr>
            <a:r>
              <a:rPr sz="1200" b="0" i="0">
                <a:solidFill>
                  <a:srgbClr val="7A8A95"/>
                </a:solidFill>
                <a:latin typeface="Calibri"/>
              </a:rPr>
              <a:t>deine Lebens-Bereiche verteilt</a:t>
            </a:r>
          </a:p>
        </p:txBody>
      </p:sp>
      <p:sp>
        <p:nvSpPr>
          <p:cNvPr id="9" name="TextBox 8"/>
          <p:cNvSpPr txBox="1"/>
          <p:nvPr/>
        </p:nvSpPr>
        <p:spPr>
          <a:xfrm>
            <a:off x="548640" y="3511296"/>
            <a:ext cx="822960" cy="640080"/>
          </a:xfrm>
          <a:prstGeom prst="rect">
            <a:avLst/>
          </a:prstGeom>
          <a:noFill/>
        </p:spPr>
        <p:txBody>
          <a:bodyPr wrap="square" anchor="t" lIns="0" rIns="0" tIns="0" bIns="0">
            <a:spAutoFit/>
          </a:bodyPr>
          <a:lstStyle/>
          <a:p>
            <a:r>
              <a:rPr sz="2800" b="1" i="0">
                <a:solidFill>
                  <a:srgbClr val="DC822E"/>
                </a:solidFill>
                <a:latin typeface="Georgia"/>
              </a:rPr>
              <a:t>04</a:t>
            </a:r>
          </a:p>
        </p:txBody>
      </p:sp>
      <p:sp>
        <p:nvSpPr>
          <p:cNvPr id="10" name="TextBox 9"/>
          <p:cNvSpPr txBox="1"/>
          <p:nvPr/>
        </p:nvSpPr>
        <p:spPr>
          <a:xfrm>
            <a:off x="1371600" y="3547872"/>
            <a:ext cx="7223760" cy="713232"/>
          </a:xfrm>
          <a:prstGeom prst="rect">
            <a:avLst/>
          </a:prstGeom>
          <a:noFill/>
        </p:spPr>
        <p:txBody>
          <a:bodyPr wrap="square" anchor="t" lIns="0" rIns="0" tIns="0" bIns="0">
            <a:spAutoFit/>
          </a:bodyPr>
          <a:lstStyle/>
          <a:p>
            <a:r>
              <a:rPr sz="1600" b="1" i="0">
                <a:solidFill>
                  <a:srgbClr val="2C3E50"/>
                </a:solidFill>
                <a:latin typeface="Calibri"/>
              </a:rPr>
              <a:t>Tag</a:t>
            </a:r>
          </a:p>
          <a:p>
            <a:pPr>
              <a:spcBef>
                <a:spcPts val="100"/>
              </a:spcBef>
            </a:pPr>
            <a:r>
              <a:rPr sz="1200" b="0" i="0">
                <a:solidFill>
                  <a:srgbClr val="7A8A95"/>
                </a:solidFill>
                <a:latin typeface="Calibri"/>
              </a:rPr>
              <a:t>deine 3 wichtigsten Aufgaben</a:t>
            </a:r>
          </a:p>
        </p:txBody>
      </p:sp>
      <p:sp>
        <p:nvSpPr>
          <p:cNvPr id="11" name="TextBox 10"/>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3.1</a:t>
            </a:r>
          </a:p>
        </p:txBody>
      </p:sp>
      <p:sp>
        <p:nvSpPr>
          <p:cNvPr id="12" name="TextBox 11"/>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Die 6 Lebens-Bereiche</a:t>
            </a:r>
          </a:p>
        </p:txBody>
      </p:sp>
      <p:sp>
        <p:nvSpPr>
          <p:cNvPr id="3" name="TextBox 2"/>
          <p:cNvSpPr txBox="1"/>
          <p:nvPr/>
        </p:nvSpPr>
        <p:spPr>
          <a:xfrm>
            <a:off x="548640" y="1234440"/>
            <a:ext cx="8046720" cy="457200"/>
          </a:xfrm>
          <a:prstGeom prst="rect">
            <a:avLst/>
          </a:prstGeom>
          <a:noFill/>
        </p:spPr>
        <p:txBody>
          <a:bodyPr wrap="square" anchor="t" lIns="0" rIns="0" tIns="0" bIns="0">
            <a:spAutoFit/>
          </a:bodyPr>
          <a:lstStyle/>
          <a:p>
            <a:r>
              <a:rPr sz="1300" b="0" i="0">
                <a:solidFill>
                  <a:srgbClr val="7A8A95"/>
                </a:solidFill>
                <a:latin typeface="Calibri"/>
              </a:rPr>
              <a:t>Damit deine Wochen nicht nur aus Business bestehen.</a:t>
            </a:r>
          </a:p>
        </p:txBody>
      </p:sp>
      <p:sp>
        <p:nvSpPr>
          <p:cNvPr id="4" name="TextBox 3"/>
          <p:cNvSpPr txBox="1"/>
          <p:nvPr/>
        </p:nvSpPr>
        <p:spPr>
          <a:xfrm>
            <a:off x="548640" y="1783080"/>
            <a:ext cx="8046720" cy="2788920"/>
          </a:xfrm>
          <a:prstGeom prst="rect">
            <a:avLst/>
          </a:prstGeom>
          <a:noFill/>
        </p:spPr>
        <p:txBody>
          <a:bodyPr wrap="square" anchor="t" lIns="0" rIns="0" tIns="0" bIns="0">
            <a:spAutoFit/>
          </a:bodyPr>
          <a:lstStyle/>
          <a:p>
            <a:pPr>
              <a:spcBef>
                <a:spcPts val="0"/>
              </a:spcBef>
              <a:spcAft>
                <a:spcPts val="900"/>
              </a:spcAft>
            </a:pPr>
            <a:r>
              <a:rPr sz="1600" b="1" i="0">
                <a:solidFill>
                  <a:srgbClr val="DC822E"/>
                </a:solidFill>
                <a:latin typeface="Calibri"/>
              </a:rPr>
              <a:t>▪  </a:t>
            </a:r>
            <a:r>
              <a:rPr sz="1600" b="0" i="0">
                <a:solidFill>
                  <a:srgbClr val="2C3E50"/>
                </a:solidFill>
                <a:latin typeface="Calibri"/>
              </a:rPr>
              <a:t>🛍  Produkterstellung</a:t>
            </a:r>
          </a:p>
          <a:p>
            <a:pPr>
              <a:spcBef>
                <a:spcPts val="0"/>
              </a:spcBef>
              <a:spcAft>
                <a:spcPts val="900"/>
              </a:spcAft>
            </a:pPr>
            <a:r>
              <a:rPr sz="1600" b="1" i="0">
                <a:solidFill>
                  <a:srgbClr val="DC822E"/>
                </a:solidFill>
                <a:latin typeface="Calibri"/>
              </a:rPr>
              <a:t>▪  </a:t>
            </a:r>
            <a:r>
              <a:rPr sz="1600" b="0" i="0">
                <a:solidFill>
                  <a:srgbClr val="2C3E50"/>
                </a:solidFill>
                <a:latin typeface="Calibri"/>
              </a:rPr>
              <a:t>📱  Sichtbarkeit / Content</a:t>
            </a:r>
          </a:p>
          <a:p>
            <a:pPr>
              <a:spcBef>
                <a:spcPts val="0"/>
              </a:spcBef>
              <a:spcAft>
                <a:spcPts val="900"/>
              </a:spcAft>
            </a:pPr>
            <a:r>
              <a:rPr sz="1600" b="1" i="0">
                <a:solidFill>
                  <a:srgbClr val="DC822E"/>
                </a:solidFill>
                <a:latin typeface="Calibri"/>
              </a:rPr>
              <a:t>▪  </a:t>
            </a:r>
            <a:r>
              <a:rPr sz="1600" b="0" i="0">
                <a:solidFill>
                  <a:srgbClr val="2C3E50"/>
                </a:solidFill>
                <a:latin typeface="Calibri"/>
              </a:rPr>
              <a:t>💬  Kundenbetreuung</a:t>
            </a:r>
          </a:p>
          <a:p>
            <a:pPr>
              <a:spcBef>
                <a:spcPts val="0"/>
              </a:spcBef>
              <a:spcAft>
                <a:spcPts val="900"/>
              </a:spcAft>
            </a:pPr>
            <a:r>
              <a:rPr sz="1600" b="1" i="0">
                <a:solidFill>
                  <a:srgbClr val="DC822E"/>
                </a:solidFill>
                <a:latin typeface="Calibri"/>
              </a:rPr>
              <a:t>▪  </a:t>
            </a:r>
            <a:r>
              <a:rPr sz="1600" b="0" i="0">
                <a:solidFill>
                  <a:srgbClr val="2C3E50"/>
                </a:solidFill>
                <a:latin typeface="Calibri"/>
              </a:rPr>
              <a:t>🧘  Me-Time</a:t>
            </a:r>
          </a:p>
          <a:p>
            <a:pPr>
              <a:spcBef>
                <a:spcPts val="0"/>
              </a:spcBef>
              <a:spcAft>
                <a:spcPts val="900"/>
              </a:spcAft>
            </a:pPr>
            <a:r>
              <a:rPr sz="1600" b="1" i="0">
                <a:solidFill>
                  <a:srgbClr val="DC822E"/>
                </a:solidFill>
                <a:latin typeface="Calibri"/>
              </a:rPr>
              <a:t>▪  </a:t>
            </a:r>
            <a:r>
              <a:rPr sz="1600" b="0" i="0">
                <a:solidFill>
                  <a:srgbClr val="2C3E50"/>
                </a:solidFill>
                <a:latin typeface="Calibri"/>
              </a:rPr>
              <a:t>👨‍👩‍👧‍👦  Familie + Haushalt</a:t>
            </a:r>
          </a:p>
          <a:p>
            <a:pPr>
              <a:spcBef>
                <a:spcPts val="0"/>
              </a:spcBef>
              <a:spcAft>
                <a:spcPts val="900"/>
              </a:spcAft>
            </a:pPr>
            <a:r>
              <a:rPr sz="1600" b="1" i="0">
                <a:solidFill>
                  <a:srgbClr val="DC822E"/>
                </a:solidFill>
                <a:latin typeface="Calibri"/>
              </a:rPr>
              <a:t>▪  </a:t>
            </a:r>
            <a:r>
              <a:rPr sz="1600" b="0" i="0">
                <a:solidFill>
                  <a:srgbClr val="2C3E50"/>
                </a:solidFill>
                <a:latin typeface="Calibri"/>
              </a:rPr>
              <a:t>📊  Reflexion</a:t>
            </a:r>
          </a:p>
        </p:txBody>
      </p:sp>
      <p:sp>
        <p:nvSpPr>
          <p:cNvPr id="5" name="TextBox 4"/>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3.1</a:t>
            </a:r>
          </a:p>
        </p:txBody>
      </p:sp>
      <p:sp>
        <p:nvSpPr>
          <p:cNvPr id="6" name="TextBox 5"/>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Dein Brain Dump wandert ins System</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1000"/>
              </a:spcAft>
            </a:pPr>
            <a:r>
              <a:rPr sz="2100" b="1" i="0">
                <a:solidFill>
                  <a:srgbClr val="1A3A4A"/>
                </a:solidFill>
                <a:latin typeface="Georgia"/>
              </a:rPr>
              <a:t>Hütchen-Inventar → 6 Lebens-Bereiche → Notion</a:t>
            </a:r>
          </a:p>
          <a:p>
            <a:pPr>
              <a:spcBef>
                <a:spcPts val="0"/>
              </a:spcBef>
              <a:spcAft>
                <a:spcPts val="900"/>
              </a:spcAft>
            </a:pPr>
            <a:r>
              <a:rPr sz="1600" b="0" i="0">
                <a:solidFill>
                  <a:srgbClr val="2C3E50"/>
                </a:solidFill>
                <a:latin typeface="Calibri"/>
              </a:rPr>
              <a:t>Wir erfinden nichts Neues.</a:t>
            </a:r>
          </a:p>
          <a:p>
            <a:pPr>
              <a:spcBef>
                <a:spcPts val="0"/>
              </a:spcBef>
              <a:spcAft>
                <a:spcPts val="800"/>
              </a:spcAft>
            </a:pPr>
            <a:r>
              <a:rPr sz="1400" b="0" i="1">
                <a:solidFill>
                  <a:srgbClr val="7A8A95"/>
                </a:solidFill>
                <a:latin typeface="Calibri"/>
              </a:rPr>
              <a:t>Wir geben deinem Erarbeiteten nur ein ordentliches Zuhause.</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3.1</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822960"/>
          </a:xfrm>
          <a:prstGeom prst="rect">
            <a:avLst/>
          </a:prstGeom>
          <a:noFill/>
        </p:spPr>
        <p:txBody>
          <a:bodyPr wrap="square" anchor="t" lIns="0" rIns="0" tIns="0" bIns="0">
            <a:spAutoFit/>
          </a:bodyPr>
          <a:lstStyle/>
          <a:p>
            <a:r>
              <a:rPr sz="3000" b="1" i="0">
                <a:solidFill>
                  <a:srgbClr val="1A3A4A"/>
                </a:solidFill>
                <a:latin typeface="Georgia"/>
              </a:rPr>
              <a:t>Dein nächster Schritt</a:t>
            </a:r>
          </a:p>
        </p:txBody>
      </p:sp>
      <p:sp>
        <p:nvSpPr>
          <p:cNvPr id="3" name="Rectangle 2"/>
          <p:cNvSpPr/>
          <p:nvPr/>
        </p:nvSpPr>
        <p:spPr>
          <a:xfrm>
            <a:off x="548640" y="1737360"/>
            <a:ext cx="3931920" cy="2743200"/>
          </a:xfrm>
          <a:prstGeom prst="rect">
            <a:avLst/>
          </a:prstGeom>
          <a:solidFill>
            <a:srgbClr val="F1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37360"/>
            <a:ext cx="3931920" cy="91440"/>
          </a:xfrm>
          <a:prstGeom prst="rect">
            <a:avLst/>
          </a:prstGeom>
          <a:solidFill>
            <a:srgbClr val="12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3657600" cy="274320"/>
          </a:xfrm>
          <a:prstGeom prst="rect">
            <a:avLst/>
          </a:prstGeom>
          <a:noFill/>
        </p:spPr>
        <p:txBody>
          <a:bodyPr wrap="square" anchor="t" lIns="0" rIns="0" tIns="0" bIns="0">
            <a:spAutoFit/>
          </a:bodyPr>
          <a:lstStyle/>
          <a:p>
            <a:r>
              <a:rPr sz="1000" b="1" i="0">
                <a:solidFill>
                  <a:srgbClr val="0D6168"/>
                </a:solidFill>
                <a:latin typeface="Calibri"/>
              </a:rPr>
              <a:t>📋  ARBEITSBLATT</a:t>
            </a:r>
          </a:p>
        </p:txBody>
      </p:sp>
      <p:sp>
        <p:nvSpPr>
          <p:cNvPr id="6" name="TextBox 5"/>
          <p:cNvSpPr txBox="1"/>
          <p:nvPr/>
        </p:nvSpPr>
        <p:spPr>
          <a:xfrm>
            <a:off x="731520" y="2286000"/>
            <a:ext cx="3657600" cy="548640"/>
          </a:xfrm>
          <a:prstGeom prst="rect">
            <a:avLst/>
          </a:prstGeom>
          <a:noFill/>
        </p:spPr>
        <p:txBody>
          <a:bodyPr wrap="square" anchor="t" lIns="0" rIns="0" tIns="0" bIns="0">
            <a:spAutoFit/>
          </a:bodyPr>
          <a:lstStyle/>
          <a:p>
            <a:r>
              <a:rPr sz="1600" b="1" i="0">
                <a:solidFill>
                  <a:srgbClr val="1A3A4A"/>
                </a:solidFill>
                <a:latin typeface="Georgia"/>
              </a:rPr>
              <a:t>Brain Dump sortieren</a:t>
            </a:r>
          </a:p>
        </p:txBody>
      </p:sp>
      <p:sp>
        <p:nvSpPr>
          <p:cNvPr id="7" name="TextBox 6"/>
          <p:cNvSpPr txBox="1"/>
          <p:nvPr/>
        </p:nvSpPr>
        <p:spPr>
          <a:xfrm>
            <a:off x="731520" y="2880360"/>
            <a:ext cx="3566160" cy="1463040"/>
          </a:xfrm>
          <a:prstGeom prst="rect">
            <a:avLst/>
          </a:prstGeom>
          <a:noFill/>
        </p:spPr>
        <p:txBody>
          <a:bodyPr wrap="square" anchor="t" lIns="0" rIns="0" tIns="0" bIns="0">
            <a:spAutoFit/>
          </a:bodyPr>
          <a:lstStyle/>
          <a:p>
            <a:r>
              <a:rPr sz="1250" b="0" i="0">
                <a:solidFill>
                  <a:srgbClr val="2C3E50"/>
                </a:solidFill>
                <a:latin typeface="Calibri"/>
              </a:rPr>
              <a:t>Sortier deinen Brain Dump aus Säule 2 in die 6 Lebens-Bereiche — einfach als ersten Wurf.</a:t>
            </a:r>
          </a:p>
        </p:txBody>
      </p:sp>
      <p:sp>
        <p:nvSpPr>
          <p:cNvPr id="8" name="Rectangle 7"/>
          <p:cNvSpPr/>
          <p:nvPr/>
        </p:nvSpPr>
        <p:spPr>
          <a:xfrm>
            <a:off x="4663440" y="1737360"/>
            <a:ext cx="3931920" cy="2743200"/>
          </a:xfrm>
          <a:prstGeom prst="rect">
            <a:avLst/>
          </a:prstGeom>
          <a:solidFill>
            <a:srgbClr val="F1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63440" y="1737360"/>
            <a:ext cx="3931920" cy="9144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1920240"/>
            <a:ext cx="3657600" cy="274320"/>
          </a:xfrm>
          <a:prstGeom prst="rect">
            <a:avLst/>
          </a:prstGeom>
          <a:noFill/>
        </p:spPr>
        <p:txBody>
          <a:bodyPr wrap="square" anchor="t" lIns="0" rIns="0" tIns="0" bIns="0">
            <a:spAutoFit/>
          </a:bodyPr>
          <a:lstStyle/>
          <a:p>
            <a:r>
              <a:rPr sz="1000" b="1" i="0">
                <a:solidFill>
                  <a:srgbClr val="DC822E"/>
                </a:solidFill>
                <a:latin typeface="Calibri"/>
              </a:rPr>
              <a:t>▶  ALS NÄCHSTES</a:t>
            </a:r>
          </a:p>
        </p:txBody>
      </p:sp>
      <p:sp>
        <p:nvSpPr>
          <p:cNvPr id="11" name="TextBox 10"/>
          <p:cNvSpPr txBox="1"/>
          <p:nvPr/>
        </p:nvSpPr>
        <p:spPr>
          <a:xfrm>
            <a:off x="4846320" y="2286000"/>
            <a:ext cx="3657600" cy="548640"/>
          </a:xfrm>
          <a:prstGeom prst="rect">
            <a:avLst/>
          </a:prstGeom>
          <a:noFill/>
        </p:spPr>
        <p:txBody>
          <a:bodyPr wrap="square" anchor="t" lIns="0" rIns="0" tIns="0" bIns="0">
            <a:spAutoFit/>
          </a:bodyPr>
          <a:lstStyle/>
          <a:p>
            <a:r>
              <a:rPr sz="1600" b="1" i="0">
                <a:solidFill>
                  <a:srgbClr val="1A3A4A"/>
                </a:solidFill>
                <a:latin typeface="Georgia"/>
              </a:rPr>
              <a:t>Lektion 3.2</a:t>
            </a:r>
          </a:p>
        </p:txBody>
      </p:sp>
      <p:sp>
        <p:nvSpPr>
          <p:cNvPr id="12" name="TextBox 11"/>
          <p:cNvSpPr txBox="1"/>
          <p:nvPr/>
        </p:nvSpPr>
        <p:spPr>
          <a:xfrm>
            <a:off x="4846320" y="2880360"/>
            <a:ext cx="3566160" cy="1463040"/>
          </a:xfrm>
          <a:prstGeom prst="rect">
            <a:avLst/>
          </a:prstGeom>
          <a:noFill/>
        </p:spPr>
        <p:txBody>
          <a:bodyPr wrap="square" anchor="t" lIns="0" rIns="0" tIns="0" bIns="0">
            <a:spAutoFit/>
          </a:bodyPr>
          <a:lstStyle/>
          <a:p>
            <a:r>
              <a:rPr sz="1250" b="0" i="0">
                <a:solidFill>
                  <a:srgbClr val="2C3E50"/>
                </a:solidFill>
                <a:latin typeface="Calibri"/>
              </a:rPr>
              <a:t>Notion als Business-Brain — du siehst, wo das alles am Ende lebt.</a:t>
            </a:r>
          </a:p>
        </p:txBody>
      </p:sp>
      <p:sp>
        <p:nvSpPr>
          <p:cNvPr id="13" name="TextBox 12"/>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3.1</a:t>
            </a:r>
          </a:p>
        </p:txBody>
      </p:sp>
      <p:sp>
        <p:nvSpPr>
          <p:cNvPr id="14" name="TextBox 13"/>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