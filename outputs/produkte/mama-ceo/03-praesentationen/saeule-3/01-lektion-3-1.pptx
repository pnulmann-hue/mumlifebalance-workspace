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in Säule 3. In den letzten zwei Wochen hast du Klarheit geschaffen, und jetzt geben wir dem Ganzen ein Zuhause, damit nichts mehr verloren geht. Das hier ist der Moment, wo aus Chaos ein System wird.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Schau kurz zurück, was du schon hast: deinen Wochenrhythmus mit den 4 Rollen, dein Hütchen-Inventar mit den 7 verbleibenden Rollen und deine Aufgaben durch den 4-Filter. Das ist viel und es ist ehrlich erarbeitet, aber es liegt noch auf Papier verstreut.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Problem mit Papier ist nicht das Papier, sondern dass es kein Zuhause hat. Du schreibst dir am Sonntag alles auf, und am Mittwoch findest du den Zettel nicht mehr, und am Sonntag drauf fängst du wieder bei null an. Genau diesen Kreislauf brechen wir jetzt.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ist der wichtigste Gedanke der ganzen Säule: du kannst keinen sinnvollen Tag planen, wenn du die Woche nicht kennst, und keine Woche, wenn du das Jahr nicht kennst. Planung läuft von oben nach unten, und genau deshalb bauen wir es in dieser Reihenfolge auf.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Stufen. Das Jahr sagt dir was überhaupt kommt. Der Monat gibt dir einen Fokus und drei Ziele. Die Woche verteilt deine sechs Lebens-Bereiche. Und der Tag zeigt dir morgens deine drei wichtigsten Aufgaben. Vier Stufen, die ineinandergreifen.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deine Wochen nicht nur aus Business bestehen, planen wir in sechs Lebens-Bereichen. Produkterstellung, Sichtbarkeit, Kundenbetreuung, Me-Time, Familie und Haushalt, und Reflexion. Jeder dieser Bereiche bekommt in deiner Woche seinen Platz, und am Ende ist nichts mehr nur im Kopf.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passiert jetzt konkret: dein Brain Dump aus Säule 2 wandert in diese sechs Bereiche, und die wandern dann in den nächsten Lektionen nach Notion. Wir erfinden nichts Neues, wir geben deinem Erarbeiteten nur ein ordentliches Zuhause.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sortierst du jetzt deinen Brain Dump in die sechs Lebens-Bereiche, einfach als ersten Wurf. In der nächsten Lektion zeig ich dir Notion als dein Business-Brain, dann verstehst du wo das alles am Ende lebt.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914400" y="1920240"/>
            <a:ext cx="10332720" cy="914400"/>
          </a:xfrm>
          <a:prstGeom prst="rect">
            <a:avLst/>
          </a:prstGeom>
          <a:noFill/>
        </p:spPr>
        <p:txBody>
          <a:bodyPr wrap="square" anchor="t" lIns="0" rIns="0" tIns="0" bIns="0">
            <a:spAutoFit/>
          </a:bodyPr>
          <a:lstStyle/>
          <a:p>
            <a:pPr algn="l">
              <a:spcBef>
                <a:spcPts val="0"/>
              </a:spcBef>
              <a:spcAft>
                <a:spcPts val="1000"/>
              </a:spcAft>
            </a:pPr>
            <a:r>
              <a:rPr sz="8000" b="1" i="0">
                <a:solidFill>
                  <a:srgbClr val="F1ECDD"/>
                </a:solidFill>
                <a:latin typeface="Georgia"/>
              </a:rPr>
              <a:t>3.1</a:t>
            </a:r>
          </a:p>
        </p:txBody>
      </p:sp>
      <p:sp>
        <p:nvSpPr>
          <p:cNvPr id="3" name="TextBox 2"/>
          <p:cNvSpPr txBox="1"/>
          <p:nvPr/>
        </p:nvSpPr>
        <p:spPr>
          <a:xfrm>
            <a:off x="914400" y="2971800"/>
            <a:ext cx="10332720" cy="1828800"/>
          </a:xfrm>
          <a:prstGeom prst="rect">
            <a:avLst/>
          </a:prstGeom>
          <a:noFill/>
        </p:spPr>
        <p:txBody>
          <a:bodyPr wrap="square" anchor="t" lIns="0" rIns="0" tIns="0" bIns="0">
            <a:spAutoFit/>
          </a:bodyPr>
          <a:lstStyle/>
          <a:p>
            <a:pPr algn="l">
              <a:spcBef>
                <a:spcPts val="0"/>
              </a:spcBef>
              <a:spcAft>
                <a:spcPts val="1000"/>
              </a:spcAft>
            </a:pPr>
            <a:r>
              <a:rPr sz="4400" b="1" i="0">
                <a:solidFill>
                  <a:srgbClr val="FFFFFF"/>
                </a:solidFill>
                <a:latin typeface="Georgia"/>
              </a:rPr>
              <a:t>Vom Brain Dump zur Struktur</a:t>
            </a:r>
          </a:p>
        </p:txBody>
      </p:sp>
      <p:sp>
        <p:nvSpPr>
          <p:cNvPr id="4" name="TextBox 3"/>
          <p:cNvSpPr txBox="1"/>
          <p:nvPr/>
        </p:nvSpPr>
        <p:spPr>
          <a:xfrm>
            <a:off x="914400" y="4480560"/>
            <a:ext cx="10332720" cy="914400"/>
          </a:xfrm>
          <a:prstGeom prst="rect">
            <a:avLst/>
          </a:prstGeom>
          <a:noFill/>
        </p:spPr>
        <p:txBody>
          <a:bodyPr wrap="square" anchor="t" lIns="0" rIns="0" tIns="0" bIns="0">
            <a:spAutoFit/>
          </a:bodyPr>
          <a:lstStyle/>
          <a:p>
            <a:pPr algn="l">
              <a:spcBef>
                <a:spcPts val="0"/>
              </a:spcBef>
              <a:spcAft>
                <a:spcPts val="1000"/>
              </a:spcAft>
            </a:pPr>
            <a:r>
              <a:rPr sz="2400" b="0" i="1">
                <a:solidFill>
                  <a:srgbClr val="F1ECDD"/>
                </a:solidFill>
                <a:latin typeface="Calibri"/>
              </a:rPr>
              <a:t>Dein Chaos kriegt ein Zuhause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Wo du gerade stehst</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E7D57"/>
                </a:solidFill>
                <a:latin typeface="Calibri"/>
              </a:rPr>
              <a:t>✓  Dein Wochenrhythmus mit den 4 Rollen (Säule 1)</a:t>
            </a:r>
          </a:p>
          <a:p>
            <a:pPr algn="l">
              <a:spcBef>
                <a:spcPts val="0"/>
              </a:spcBef>
              <a:spcAft>
                <a:spcPts val="1400"/>
              </a:spcAft>
            </a:pPr>
            <a:r>
              <a:rPr sz="2100" b="0" i="0">
                <a:solidFill>
                  <a:srgbClr val="2E7D57"/>
                </a:solidFill>
                <a:latin typeface="Calibri"/>
              </a:rPr>
              <a:t>✓  Dein Hütchen-Inventar mit den 7 Rollen (Säule 2)</a:t>
            </a:r>
          </a:p>
          <a:p>
            <a:pPr algn="l">
              <a:spcBef>
                <a:spcPts val="0"/>
              </a:spcBef>
              <a:spcAft>
                <a:spcPts val="1400"/>
              </a:spcAft>
            </a:pPr>
            <a:r>
              <a:rPr sz="2100" b="0" i="0">
                <a:solidFill>
                  <a:srgbClr val="2E7D57"/>
                </a:solidFill>
                <a:latin typeface="Calibri"/>
              </a:rPr>
              <a:t>✓  Deine Aufgaben durch den 4-Filter (Säule 2)</a:t>
            </a:r>
          </a:p>
          <a:p>
            <a:pPr algn="l">
              <a:spcBef>
                <a:spcPts val="0"/>
              </a:spcBef>
              <a:spcAft>
                <a:spcPts val="1400"/>
              </a:spcAft>
            </a:pPr>
            <a:r>
              <a:rPr sz="2000" b="0" i="1">
                <a:solidFill>
                  <a:srgbClr val="6E6E6E"/>
                </a:solidFill>
                <a:latin typeface="Calibri"/>
              </a:rPr>
              <a:t>Alles da und ehrlich erarbeitet — aber noch auf Papier verstreut.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Das Problem mit Papier</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Ein Brain Dump ohne Zuhause verpufft nach 3 Tagen.</a:t>
            </a:r>
          </a:p>
          <a:p>
            <a:pPr algn="l">
              <a:spcBef>
                <a:spcPts val="0"/>
              </a:spcBef>
              <a:spcAft>
                <a:spcPts val="1400"/>
              </a:spcAft>
            </a:pPr>
            <a:r>
              <a:rPr sz="2100" b="0" i="0">
                <a:solidFill>
                  <a:srgbClr val="2A2A2A"/>
                </a:solidFill>
                <a:latin typeface="Calibri"/>
              </a:rPr>
              <a:t>Sonntag aufgeschrieben → Mittwoch den Zettel verloren → Sonntag wieder bei null.</a:t>
            </a:r>
          </a:p>
          <a:p>
            <a:pPr algn="l">
              <a:spcBef>
                <a:spcPts val="0"/>
              </a:spcBef>
              <a:spcAft>
                <a:spcPts val="1400"/>
              </a:spcAft>
            </a:pPr>
            <a:r>
              <a:rPr sz="2000" b="0" i="1">
                <a:solidFill>
                  <a:srgbClr val="6E6E6E"/>
                </a:solidFill>
                <a:latin typeface="Calibri"/>
              </a:rPr>
              <a:t>Genau diesen Kreislauf brechen wir jetzt.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Du planst von oben nach unten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JAHR  →  MONAT  →  WOCHE  →  TAG</a:t>
            </a:r>
          </a:p>
          <a:p>
            <a:pPr algn="l">
              <a:spcBef>
                <a:spcPts val="0"/>
              </a:spcBef>
              <a:spcAft>
                <a:spcPts val="1400"/>
              </a:spcAft>
            </a:pPr>
            <a:r>
              <a:rPr sz="2100" b="0" i="0">
                <a:solidFill>
                  <a:srgbClr val="2A2A2A"/>
                </a:solidFill>
                <a:latin typeface="Calibri"/>
              </a:rPr>
              <a:t>Keinen sinnvollen Tag ohne die Woche.</a:t>
            </a:r>
          </a:p>
          <a:p>
            <a:pPr algn="l">
              <a:spcBef>
                <a:spcPts val="0"/>
              </a:spcBef>
              <a:spcAft>
                <a:spcPts val="1400"/>
              </a:spcAft>
            </a:pPr>
            <a:r>
              <a:rPr sz="2100" b="0" i="0">
                <a:solidFill>
                  <a:srgbClr val="2A2A2A"/>
                </a:solidFill>
                <a:latin typeface="Calibri"/>
              </a:rPr>
              <a:t>Keine Woche ohne das Jahr.</a:t>
            </a:r>
          </a:p>
          <a:p>
            <a:pPr algn="l">
              <a:spcBef>
                <a:spcPts val="0"/>
              </a:spcBef>
              <a:spcAft>
                <a:spcPts val="1400"/>
              </a:spcAft>
            </a:pPr>
            <a:r>
              <a:rPr sz="2000" b="0" i="1">
                <a:solidFill>
                  <a:srgbClr val="6E6E6E"/>
                </a:solidFill>
                <a:latin typeface="Calibri"/>
              </a:rPr>
              <a:t>Darum bauen wir es genau in dieser Reihenfolge auf.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Die 4-Stufen-Hierarchie</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JAHR — was überhaupt kommt</a:t>
            </a:r>
          </a:p>
          <a:p>
            <a:pPr algn="l">
              <a:spcBef>
                <a:spcPts val="0"/>
              </a:spcBef>
              <a:spcAft>
                <a:spcPts val="1400"/>
              </a:spcAft>
            </a:pPr>
            <a:r>
              <a:rPr sz="2100" b="0" i="0">
                <a:solidFill>
                  <a:srgbClr val="2A2A2A"/>
                </a:solidFill>
                <a:latin typeface="Calibri"/>
              </a:rPr>
              <a:t>MONAT — 1 Fokus + 3 Ziele</a:t>
            </a:r>
          </a:p>
          <a:p>
            <a:pPr algn="l">
              <a:spcBef>
                <a:spcPts val="0"/>
              </a:spcBef>
              <a:spcAft>
                <a:spcPts val="1400"/>
              </a:spcAft>
            </a:pPr>
            <a:r>
              <a:rPr sz="2100" b="0" i="0">
                <a:solidFill>
                  <a:srgbClr val="2A2A2A"/>
                </a:solidFill>
                <a:latin typeface="Calibri"/>
              </a:rPr>
              <a:t>WOCHE — deine Lebens-Bereiche verteilt</a:t>
            </a:r>
          </a:p>
          <a:p>
            <a:pPr algn="l">
              <a:spcBef>
                <a:spcPts val="0"/>
              </a:spcBef>
              <a:spcAft>
                <a:spcPts val="1400"/>
              </a:spcAft>
            </a:pPr>
            <a:r>
              <a:rPr sz="2100" b="0" i="0">
                <a:solidFill>
                  <a:srgbClr val="2A2A2A"/>
                </a:solidFill>
                <a:latin typeface="Calibri"/>
              </a:rPr>
              <a:t>TAG — deine 3 wichtigsten Aufgaben</a:t>
            </a:r>
          </a:p>
          <a:p>
            <a:pPr algn="l">
              <a:spcBef>
                <a:spcPts val="0"/>
              </a:spcBef>
              <a:spcAft>
                <a:spcPts val="1400"/>
              </a:spcAft>
            </a:pPr>
            <a:r>
              <a:rPr sz="2000" b="0" i="1">
                <a:solidFill>
                  <a:srgbClr val="6E6E6E"/>
                </a:solidFill>
                <a:latin typeface="Calibri"/>
              </a:rPr>
              <a:t>Vier Stufen, die ineinandergreifen.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Die 6 Lebens-Bereiche</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  Produkterstellung</a:t>
            </a:r>
          </a:p>
          <a:p>
            <a:pPr algn="l">
              <a:spcBef>
                <a:spcPts val="0"/>
              </a:spcBef>
              <a:spcAft>
                <a:spcPts val="1400"/>
              </a:spcAft>
            </a:pPr>
            <a:r>
              <a:rPr sz="2100" b="0" i="0">
                <a:solidFill>
                  <a:srgbClr val="2A2A2A"/>
                </a:solidFill>
                <a:latin typeface="Calibri"/>
              </a:rPr>
              <a:t>📱  Sichtbarkeit / Content</a:t>
            </a:r>
          </a:p>
          <a:p>
            <a:pPr algn="l">
              <a:spcBef>
                <a:spcPts val="0"/>
              </a:spcBef>
              <a:spcAft>
                <a:spcPts val="1400"/>
              </a:spcAft>
            </a:pPr>
            <a:r>
              <a:rPr sz="2100" b="0" i="0">
                <a:solidFill>
                  <a:srgbClr val="2A2A2A"/>
                </a:solidFill>
                <a:latin typeface="Calibri"/>
              </a:rPr>
              <a:t>💬  Kundenbetreuung</a:t>
            </a:r>
          </a:p>
          <a:p>
            <a:pPr algn="l">
              <a:spcBef>
                <a:spcPts val="0"/>
              </a:spcBef>
              <a:spcAft>
                <a:spcPts val="1400"/>
              </a:spcAft>
            </a:pPr>
            <a:r>
              <a:rPr sz="2100" b="0" i="0">
                <a:solidFill>
                  <a:srgbClr val="2A2A2A"/>
                </a:solidFill>
                <a:latin typeface="Calibri"/>
              </a:rPr>
              <a:t>🧘  Me-Time</a:t>
            </a:r>
          </a:p>
          <a:p>
            <a:pPr algn="l">
              <a:spcBef>
                <a:spcPts val="0"/>
              </a:spcBef>
              <a:spcAft>
                <a:spcPts val="1400"/>
              </a:spcAft>
            </a:pPr>
            <a:r>
              <a:rPr sz="2100" b="0" i="0">
                <a:solidFill>
                  <a:srgbClr val="2A2A2A"/>
                </a:solidFill>
                <a:latin typeface="Calibri"/>
              </a:rPr>
              <a:t>👨‍👩‍👧‍👦  Familie + Haushalt</a:t>
            </a:r>
          </a:p>
          <a:p>
            <a:pPr algn="l">
              <a:spcBef>
                <a:spcPts val="0"/>
              </a:spcBef>
              <a:spcAft>
                <a:spcPts val="1400"/>
              </a:spcAft>
            </a:pPr>
            <a:r>
              <a:rPr sz="2100" b="0" i="0">
                <a:solidFill>
                  <a:srgbClr val="2A2A2A"/>
                </a:solidFill>
                <a:latin typeface="Calibri"/>
              </a:rPr>
              <a:t>📊  Reflexion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Dein Brain Dump wandert ins System</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Hütchen-Inventar (S2)  →  6 Lebens-Bereiche  →  Notion</a:t>
            </a:r>
          </a:p>
          <a:p>
            <a:pPr algn="l">
              <a:spcBef>
                <a:spcPts val="0"/>
              </a:spcBef>
              <a:spcAft>
                <a:spcPts val="1400"/>
              </a:spcAft>
            </a:pPr>
            <a:r>
              <a:rPr sz="2100" b="0" i="0">
                <a:solidFill>
                  <a:srgbClr val="2A2A2A"/>
                </a:solidFill>
                <a:latin typeface="Calibri"/>
              </a:rPr>
              <a:t>Wir erfinden nichts Neues.</a:t>
            </a:r>
          </a:p>
          <a:p>
            <a:pPr algn="l">
              <a:spcBef>
                <a:spcPts val="0"/>
              </a:spcBef>
              <a:spcAft>
                <a:spcPts val="1400"/>
              </a:spcAft>
            </a:pPr>
            <a:r>
              <a:rPr sz="2000" b="0" i="1">
                <a:solidFill>
                  <a:srgbClr val="6E6E6E"/>
                </a:solidFill>
                <a:latin typeface="Calibri"/>
              </a:rPr>
              <a:t>Wir geben deinem Erarbeiteten nur ein ordentliches Zuhause.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1005840" y="2194560"/>
            <a:ext cx="10149840" cy="2743200"/>
          </a:xfrm>
          <a:prstGeom prst="rect">
            <a:avLst/>
          </a:prstGeom>
          <a:noFill/>
        </p:spPr>
        <p:txBody>
          <a:bodyPr wrap="square" anchor="ctr" lIns="0" rIns="0" tIns="0" bIns="0">
            <a:spAutoFit/>
          </a:bodyPr>
          <a:lstStyle/>
          <a:p>
            <a:pPr algn="l">
              <a:spcBef>
                <a:spcPts val="0"/>
              </a:spcBef>
              <a:spcAft>
                <a:spcPts val="1800"/>
              </a:spcAft>
            </a:pPr>
            <a:r>
              <a:rPr sz="2200" b="0" i="0">
                <a:solidFill>
                  <a:srgbClr val="F1ECDD"/>
                </a:solidFill>
                <a:latin typeface="Calibri"/>
              </a:rPr>
              <a:t>📋 Im Arbeitsblatt</a:t>
            </a:r>
          </a:p>
          <a:p>
            <a:pPr algn="l">
              <a:spcBef>
                <a:spcPts val="0"/>
              </a:spcBef>
              <a:spcAft>
                <a:spcPts val="1800"/>
              </a:spcAft>
            </a:pPr>
            <a:r>
              <a:rPr sz="3200" b="1" i="0">
                <a:solidFill>
                  <a:srgbClr val="FFFFFF"/>
                </a:solidFill>
                <a:latin typeface="Georgia"/>
              </a:rPr>
              <a:t>Sortier deinen Brain Dump in die 6 Lebens-Bereiche</a:t>
            </a:r>
          </a:p>
          <a:p>
            <a:pPr algn="l">
              <a:spcBef>
                <a:spcPts val="0"/>
              </a:spcBef>
              <a:spcAft>
                <a:spcPts val="1800"/>
              </a:spcAft>
            </a:pPr>
            <a:r>
              <a:rPr sz="2200" b="0" i="0">
                <a:solidFill>
                  <a:srgbClr val="F1ECDD"/>
                </a:solidFill>
                <a:latin typeface="Calibri"/>
              </a:rPr>
              <a:t>Nächste Lektion: 3.2 — Notion als Business-Brain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