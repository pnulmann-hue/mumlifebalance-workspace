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1 Min. Willkommen, schön bist du da. Ich bin Patricia, 4-fach-Mama aus dem Appenzellerland. In den nächsten 90 Minuten geben wir dir zurück, was du gerade verlierst: deine Zeit. Mein Plan: Ich zeig dir live, wie ich mit KI-Assistenten 18 Stunden die Woche reichen — und ich bau das genau hier vor deinen Augen auf.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3 Min. Ich erzähl dir kurz wo ich vor zwei Jahren stand. Ich war Sachbearbeiterin in der Sozialverwaltung. Hab den Job geliebt — aber jeden Sonntagabend hatte ich Bauchschmerzen vor Montag. Mama-Logistik. Wer holt das Kind ab wenn's krank wird. Mit 4 Kindern konnte ich nicht regulär arbeiten gehen, weil die Kinderbetreuung mehr kostete als mein Lohn. Ich war im Hamsterrad. Genau wie du vielleicht gerade auch.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3 Min. Mai 2019 ist meine Schwester gestorben. Mit 44. Das hat mir die Augen geöffnet — eine Mutter darf ein eigenes Leben leben. Seitdem läuft was. Aber erst Mai 2025 hab ich kapiert: ich brauche kein neues Mindset, ich brauche ein neues System. Ich hab aufgehört, manuell zu arbeiten. Hab angefangen, mir KI-Mitarbeiter zu bauen. Heute hab ich 13. Solo. Ohne Tech-Hintergrund. 18 Stunden die Woche. Kein Monat ohne Verkauf seit Mai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1 Min. Ich bekomm jeden Tag dieselben drei Fragen in die DMs. Wie finde ich Kunden. Wo soll ich anfangen. Was poste ich jetzt. Du auch? Schreib mir kurz im Chat ein 'J' wenn du das kennst.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3 Min. Lass mich raten. Du arbeitest noch in deinem alten Job. Dein Mann denkt dein Business ist ein Instagram-Hobby. Du machst alles selbst. Und einmal pro Woche fragst du dich: oh shit, wie viel hab ich noch auf dem Konto. Du bist nicht faul. Du hast nur ein System-Problem. Genau 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2 Min. Das ist keine Bali-Coachin-Behauptung. Das ist eine Studie aus diesem Jahr. 58% der Unternehmerinnen die KI einsetzen, sparen 20 Stunden pro Monat. 20 Stunden. Das sind 5 Stunden pro Woche, die du zurück hättest. Für deine Kinder, für dich, für die wichtigen Sachen — nicht für Posts schreiben.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3 Min. Andere zeigen dir KI fürs Business. Andere zeigen dir KI fürs Privat-Leben. Mama-CEO ist das einzige Programm, das beides verbindet. Warum? Weil dein Mental Load auch beides ist. Du hast nicht 2 Köpfe — einen für Business und einen für Familie. Du hast EINEN Kopf, und der ist voll.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1 Min. Jetzt kommt das Herzstück. Ich zeig dir zwei Bots, die ich täglich nutze. Beide hab ich selbst gebaut. Mit Claude Code. Ohne Tech-Vorwissen. Wenn ich das kann, kannst du das auch. Lass die Bildschirm-Aufnahme auf dich wirken — schreib mit, was dich interessiert.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Während dieser 30 Min: Bildschirm-Sharing aktivieren. Demo 1 = /mealplan, dann Demo 2 = Brand-Voice-Bot. Slide bleibt als Backup falls Bildschirm-Share crasht.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1 Min. Das hast du gerade live gesehen. Familien-Bot. Brand-Voice-Bot. In Minuten. SELBST GEBAUT. Wenn ich das kann mit 4 Kindern und ohne IT-Hintergrund — du kannst das auch. Genau das zeig ich dir in den 8 Wochen Mama-CEO.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2 Min. Du brauchst nicht 100 Tools. Du brauchst 3 Bausteine. Erstens deinen Wochenrhythmus, damit du weisst wann du Zeit hast. Zweitens deine Strukturen, damit dir nichts mehr durch die Lappen geht. Drittens deine Tools mit KI, damit du nicht mehr alles selbst machst. Das ist Mama-CEO.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2 Min. Mama-CEO sind 8 Wochen. 5 Säulen. 22 kurze Lektionen — keine die länger ist als 15 Minuten, weil du keine Zeit für 60-Minuten-Filme hast. 4 Live-Termine direkt mit mir. Telegram-Gruppe. 3 echte Boni — keine zusammengewürfelten Standard-Templates. Lass mich dir die 5 Säulen kurz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1.5 Min. Säule 1: Du verstehst zuerst, wann du wirklich Zeit hast. Power-Zeiten finden, 4 Rollen verteilen, dein Wochenrhythmus steht. Plus: was bringt dein Business wirklich vorwärts? 3 Säulen — Plattform, Produkt, Verkauf. Alle drei müssen laufen.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1.5 Min. Säule 2 läuft parallel zu Säule 1. Weil eine Mama mit 'Ich-bin-nicht-genug'-Glaubenssatz keinen Wochenrhythmus baut. Du brauchst BEIDES gleichzeitig. Brain Dump. Hütchen sortieren. Was kann weg. Und ein Sonntag-Reset, der dich aus dem Hamsterrad holt.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1.5 Min. Säule 3: Aus dem Brain Dump entsteht ein System. Aufgaben auf Tage und Wochen verteilen — nie zu viel an einem Tag. Notion als dein Business Brain. Ich zeig dir mein Setup. Plus: was läuft trotzdem, wenn ein Kind krank ist? 50%-Plan.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1.5 Min. Säule 4: Hier wird's konkret. KI-Mitarbeiter bauen. Ich zeig dir mein Cockpit-Bot Setup. Mein Kochassistent. Du baust den, den DU brauchst — kein Schema F. Plus die Entscheidungs-Logik: wann tust du, wann delegierst 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1.5 Min. Säule 5: jetzt skalierst du klug. Mama-CEO-Matrix: was bleibt deins, was geht zur KI, was raus muss. 90-Tage-Plan. Und ganz wichtig: was JETZT noch NICHT dran ist — Insta-Verkauf-Tiefe, eigene Produkte erstellen, Team aufbauen. Das kommt im nächsten Programm.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2 Min. Drei Boni. Alle drei sind meine echten Tools, die ich täglich nutze. Kein zusammengewürfelter Standard-Mist. Mein Cockpit-Bot, der mir morgens den Tag bringt. Familien-Bot für Mental-Load. Und mein Notion-Workspace als duplizierbares Template — du fängst nicht bei Null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3 Min. Pricing-Logik. Heute Earlybird 249. Drei Tage. Bis Samstag 23 Uhr 59. Danach 333 bis Sonntag 31. Mai. Beim 2. Mal — Herbst 2026 — sind's 444. Warum? Weil die Boni dann ausgebaut sind und ich beim 2. Mal weiss, wo's bei euch hakt. Wer JETZT einsteigt, zahlt am wenigsten und hat mich am nähesten dran in den 4 Live-Terminen.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2 Min. Eine kurze Sortier-Übung. JA wenn du seit mindestens 6 Monaten im Network bist und schon Kundinnen hattest. Wenn du dein Thema schon grob weisst. NEIN wenn du noch gar nicht weisst was du anbietest — dann geh erst in die Instagram-Kundenmaschine. NEIN wenn du 6-stellig in 6 Monaten willst — das versprech ich nicht. Und NEIN wenn du seit Jahren Kurse buchst und nichts umsetzt. Mama-CEO ist für Frauen, die TUN.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Sprechzeit: 1 Min. Cart ist offen. Earlybird läuft 72 Stunden. 15 Plätze. Wer jetzt klickt, zahlt 249 statt 333. Den Link siehst du im Chat. Lass uns kurz Fragen sammeln — schreibt im Chat, ich beantworte 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Während Q&amp;A läuft Slide 22 als Hintergrund. Patricia geht auf alle Fragen ein. 5 Backup-Q&amp;A vorbereitet (siehe 06-webinar-pitch-slides.md). Closing: Danke, dass du dabei warst. Wer im Earlybird kauft — bis Samstag 23 Uhr 59 — bekommt das Replay permanent UND 15 Minuten 1:1-Audio mit mir. Cart-Link ist im Chat. Bis Mi 1. Juni dann live im Programm. Mach das Beste aus deinen 18 Stunden die Woche. Funktionieren war gestern.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DD"/>
        </a:solidFill>
      </p:bgPr>
    </p:bg>
    <p:spTree>
      <p:nvGrpSpPr>
        <p:cNvPr id="1" name=""/>
        <p:cNvGrpSpPr/>
        <p:nvPr/>
      </p:nvGrpSpPr>
      <p:grpSpPr>
        <a:xfrm>
          <a:off x="0" y="0"/>
          <a:ext cx="0" cy="0"/>
          <a:chOff x="0" y="0"/>
          <a:chExt cx="0" cy="0"/>
        </a:xfrm>
      </p:grpSpPr>
      <p:sp>
        <p:nvSpPr>
          <p:cNvPr id="2" name="Text 0"/>
          <p:cNvSpPr/>
          <p:nvPr/>
        </p:nvSpPr>
        <p:spPr>
          <a:xfrm>
            <a:off x="914400" y="1097280"/>
            <a:ext cx="10362895" cy="457200"/>
          </a:xfrm>
          <a:prstGeom prst="rect">
            <a:avLst/>
          </a:prstGeom>
          <a:noFill/>
          <a:ln/>
        </p:spPr>
        <p:txBody>
          <a:bodyPr wrap="square" lIns="0" tIns="0" rIns="0" bIns="0" rtlCol="0" anchor="ctr"/>
          <a:lstStyle/>
          <a:p>
            <a:pPr algn="ctr" indent="0" marL="0">
              <a:buNone/>
            </a:pPr>
            <a:r>
              <a:rPr lang="en-US" sz="1400" b="1" spc="600" kern="0" dirty="0">
                <a:solidFill>
                  <a:srgbClr val="12828C"/>
                </a:solidFill>
                <a:latin typeface="Source Sans 3" pitchFamily="34" charset="0"/>
                <a:ea typeface="Source Sans 3" pitchFamily="34" charset="-122"/>
                <a:cs typeface="Source Sans 3" pitchFamily="34" charset="-120"/>
              </a:rPr>
              <a:t>Live-Webinar · 20. Mai 2026 · 09:00</a:t>
            </a:r>
            <a:endParaRPr lang="en-US" sz="1400" dirty="0"/>
          </a:p>
        </p:txBody>
      </p:sp>
      <p:sp>
        <p:nvSpPr>
          <p:cNvPr id="3" name="Text 1"/>
          <p:cNvSpPr/>
          <p:nvPr/>
        </p:nvSpPr>
        <p:spPr>
          <a:xfrm>
            <a:off x="914400" y="1828800"/>
            <a:ext cx="10362895" cy="822960"/>
          </a:xfrm>
          <a:prstGeom prst="rect">
            <a:avLst/>
          </a:prstGeom>
          <a:noFill/>
          <a:ln/>
        </p:spPr>
        <p:txBody>
          <a:bodyPr wrap="square" lIns="0" tIns="0" rIns="0" bIns="0" rtlCol="0" anchor="ctr"/>
          <a:lstStyle/>
          <a:p>
            <a:pPr algn="ctr" indent="0" marL="0">
              <a:buNone/>
            </a:pPr>
            <a:r>
              <a:rPr lang="en-US" sz="5600" b="1" dirty="0">
                <a:solidFill>
                  <a:srgbClr val="29556D"/>
                </a:solidFill>
                <a:latin typeface="Philosopher" pitchFamily="34" charset="0"/>
                <a:ea typeface="Philosopher" pitchFamily="34" charset="-122"/>
                <a:cs typeface="Philosopher" pitchFamily="34" charset="-120"/>
              </a:rPr>
              <a:t>In 90 Min:</a:t>
            </a:r>
            <a:endParaRPr lang="en-US" sz="5600" dirty="0"/>
          </a:p>
        </p:txBody>
      </p:sp>
      <p:sp>
        <p:nvSpPr>
          <p:cNvPr id="4" name="Text 2"/>
          <p:cNvSpPr/>
          <p:nvPr/>
        </p:nvSpPr>
        <p:spPr>
          <a:xfrm>
            <a:off x="914400" y="2651760"/>
            <a:ext cx="10362895" cy="1463040"/>
          </a:xfrm>
          <a:prstGeom prst="rect">
            <a:avLst/>
          </a:prstGeom>
          <a:noFill/>
          <a:ln/>
        </p:spPr>
        <p:txBody>
          <a:bodyPr wrap="square" lIns="0" tIns="0" rIns="0" bIns="0" rtlCol="0" anchor="ctr"/>
          <a:lstStyle/>
          <a:p>
            <a:pPr algn="ctr" indent="0" marL="0">
              <a:buNone/>
            </a:pPr>
            <a:r>
              <a:rPr lang="en-US" sz="4800" b="1" dirty="0">
                <a:solidFill>
                  <a:srgbClr val="29556D"/>
                </a:solidFill>
                <a:latin typeface="Philosopher" pitchFamily="34" charset="0"/>
                <a:ea typeface="Philosopher" pitchFamily="34" charset="-122"/>
                <a:cs typeface="Philosopher" pitchFamily="34" charset="-120"/>
              </a:rPr>
              <a:t>Dein Mama-Leben mit KI-Assistenten umkrempeln.</a:t>
            </a:r>
            <a:endParaRPr lang="en-US" sz="4800" dirty="0"/>
          </a:p>
        </p:txBody>
      </p:sp>
      <p:sp>
        <p:nvSpPr>
          <p:cNvPr id="5" name="Text 3"/>
          <p:cNvSpPr/>
          <p:nvPr/>
        </p:nvSpPr>
        <p:spPr>
          <a:xfrm>
            <a:off x="914400" y="4297680"/>
            <a:ext cx="10362895" cy="548640"/>
          </a:xfrm>
          <a:prstGeom prst="rect">
            <a:avLst/>
          </a:prstGeom>
          <a:noFill/>
          <a:ln/>
        </p:spPr>
        <p:txBody>
          <a:bodyPr wrap="square" lIns="0" tIns="0" rIns="0" bIns="0" rtlCol="0" anchor="ctr"/>
          <a:lstStyle/>
          <a:p>
            <a:pPr algn="ctr" indent="0" marL="0">
              <a:buNone/>
            </a:pPr>
            <a:r>
              <a:rPr lang="en-US" sz="2200" i="1" dirty="0">
                <a:solidFill>
                  <a:srgbClr val="12828C"/>
                </a:solidFill>
                <a:latin typeface="Philosopher" pitchFamily="34" charset="0"/>
                <a:ea typeface="Philosopher" pitchFamily="34" charset="-122"/>
                <a:cs typeface="Philosopher" pitchFamily="34" charset="-120"/>
              </a:rPr>
              <a:t>Mental Load abgeben · Zeit fürs Business zurück gewinnen.</a:t>
            </a:r>
            <a:endParaRPr lang="en-US" sz="2200" dirty="0"/>
          </a:p>
        </p:txBody>
      </p:sp>
      <p:sp>
        <p:nvSpPr>
          <p:cNvPr id="6" name="Shape 4"/>
          <p:cNvSpPr/>
          <p:nvPr/>
        </p:nvSpPr>
        <p:spPr>
          <a:xfrm>
            <a:off x="5181448" y="5120640"/>
            <a:ext cx="1828800" cy="54864"/>
          </a:xfrm>
          <a:prstGeom prst="rect">
            <a:avLst/>
          </a:prstGeom>
          <a:solidFill>
            <a:srgbClr val="DC822E"/>
          </a:solidFill>
          <a:ln w="12700">
            <a:solidFill>
              <a:srgbClr val="DC822E"/>
            </a:solidFill>
            <a:prstDash val="solid"/>
          </a:ln>
        </p:spPr>
      </p:sp>
      <p:sp>
        <p:nvSpPr>
          <p:cNvPr id="7" name="Text 5"/>
          <p:cNvSpPr/>
          <p:nvPr/>
        </p:nvSpPr>
        <p:spPr>
          <a:xfrm>
            <a:off x="914400" y="5943600"/>
            <a:ext cx="10362895" cy="365760"/>
          </a:xfrm>
          <a:prstGeom prst="rect">
            <a:avLst/>
          </a:prstGeom>
          <a:noFill/>
          <a:ln/>
        </p:spPr>
        <p:txBody>
          <a:bodyPr wrap="square" lIns="0" tIns="0" rIns="0" bIns="0" rtlCol="0" anchor="ctr"/>
          <a:lstStyle/>
          <a:p>
            <a:pPr algn="ctr" indent="0" marL="0">
              <a:buNone/>
            </a:pPr>
            <a:r>
              <a:rPr lang="en-US" sz="1600" i="1" dirty="0">
                <a:solidFill>
                  <a:srgbClr val="5A6B7A"/>
                </a:solidFill>
                <a:latin typeface="Philosopher" pitchFamily="34" charset="0"/>
                <a:ea typeface="Philosopher" pitchFamily="34" charset="-122"/>
                <a:cs typeface="Philosopher" pitchFamily="34" charset="-120"/>
              </a:rPr>
              <a:t>— Patricia · Mum Life Balance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548640"/>
            <a:ext cx="10362895" cy="365760"/>
          </a:xfrm>
          <a:prstGeom prst="rect">
            <a:avLst/>
          </a:prstGeom>
          <a:noFill/>
          <a:ln/>
        </p:spPr>
        <p:txBody>
          <a:bodyPr wrap="square" lIns="0" tIns="0" rIns="0" bIns="0" rtlCol="0" anchor="ctr"/>
          <a:lstStyle/>
          <a:p>
            <a:pPr algn="l" indent="0" marL="0">
              <a:buNone/>
            </a:pPr>
            <a:r>
              <a:rPr lang="en-US" sz="1400" b="1" spc="500" kern="0" dirty="0">
                <a:solidFill>
                  <a:srgbClr val="DC822E"/>
                </a:solidFill>
                <a:latin typeface="Source Sans 3" pitchFamily="34" charset="0"/>
                <a:ea typeface="Source Sans 3" pitchFamily="34" charset="-122"/>
                <a:cs typeface="Source Sans 3" pitchFamily="34" charset="-120"/>
              </a:rPr>
              <a:t>2023 — wo ich war</a:t>
            </a:r>
            <a:endParaRPr lang="en-US" sz="1400" dirty="0"/>
          </a:p>
        </p:txBody>
      </p:sp>
      <p:sp>
        <p:nvSpPr>
          <p:cNvPr id="3" name="Text 1"/>
          <p:cNvSpPr/>
          <p:nvPr/>
        </p:nvSpPr>
        <p:spPr>
          <a:xfrm>
            <a:off x="914400" y="1097280"/>
            <a:ext cx="10362895" cy="1645920"/>
          </a:xfrm>
          <a:prstGeom prst="rect">
            <a:avLst/>
          </a:prstGeom>
          <a:noFill/>
          <a:ln/>
        </p:spPr>
        <p:txBody>
          <a:bodyPr wrap="square" lIns="0" tIns="0" rIns="0" bIns="0" rtlCol="0" anchor="t"/>
          <a:lstStyle/>
          <a:p>
            <a:pPr algn="l" indent="0" marL="0">
              <a:buNone/>
            </a:pPr>
            <a:r>
              <a:rPr lang="en-US" sz="5600" b="1" dirty="0">
                <a:solidFill>
                  <a:srgbClr val="29556D"/>
                </a:solidFill>
                <a:latin typeface="Philosopher" pitchFamily="34" charset="0"/>
                <a:ea typeface="Philosopher" pitchFamily="34" charset="-122"/>
                <a:cs typeface="Philosopher" pitchFamily="34" charset="-120"/>
              </a:rPr>
              <a:t>Ich war gefangen.</a:t>
            </a:r>
            <a:endParaRPr lang="en-US" sz="5600" dirty="0"/>
          </a:p>
        </p:txBody>
      </p:sp>
      <p:sp>
        <p:nvSpPr>
          <p:cNvPr id="4" name="Text 2"/>
          <p:cNvSpPr/>
          <p:nvPr/>
        </p:nvSpPr>
        <p:spPr>
          <a:xfrm>
            <a:off x="914400" y="3017520"/>
            <a:ext cx="10362895" cy="1371600"/>
          </a:xfrm>
          <a:prstGeom prst="rect">
            <a:avLst/>
          </a:prstGeom>
          <a:noFill/>
          <a:ln/>
        </p:spPr>
        <p:txBody>
          <a:bodyPr wrap="square" lIns="0" tIns="0" rIns="0" bIns="0" rtlCol="0" anchor="ctr"/>
          <a:lstStyle/>
          <a:p>
            <a:pPr indent="0" marL="0">
              <a:spcAft>
                <a:spcPts val="600"/>
              </a:spcAft>
              <a:buNone/>
            </a:pPr>
            <a:r>
              <a:rPr lang="en-US" sz="2200" dirty="0">
                <a:solidFill>
                  <a:srgbClr val="0C1C30"/>
                </a:solidFill>
                <a:latin typeface="Source Sans 3" pitchFamily="34" charset="0"/>
                <a:ea typeface="Source Sans 3" pitchFamily="34" charset="-122"/>
                <a:cs typeface="Source Sans 3" pitchFamily="34" charset="-120"/>
              </a:rPr>
              <a:t>4 Kinder. Vollzeit-Job in der Sozialverwaltung.</a:t>
            </a:r>
            <a:endParaRPr lang="en-US" sz="2200" dirty="0"/>
          </a:p>
          <a:p>
            <a:pPr indent="0" marL="0">
              <a:spcAft>
                <a:spcPts val="600"/>
              </a:spcAft>
              <a:buNone/>
            </a:pPr>
            <a:r>
              <a:rPr lang="en-US" sz="2200" dirty="0">
                <a:solidFill>
                  <a:srgbClr val="0C1C30"/>
                </a:solidFill>
                <a:latin typeface="Source Sans 3" pitchFamily="34" charset="0"/>
                <a:ea typeface="Source Sans 3" pitchFamily="34" charset="-122"/>
                <a:cs typeface="Source Sans 3" pitchFamily="34" charset="-120"/>
              </a:rPr>
              <a:t>Sonntagabend Bauchschmerzen vor Montag.</a:t>
            </a:r>
            <a:endParaRPr lang="en-US" sz="2200" dirty="0"/>
          </a:p>
          <a:p>
            <a:pPr indent="0" marL="0">
              <a:spcAft>
                <a:spcPts val="600"/>
              </a:spcAft>
              <a:buNone/>
            </a:pPr>
            <a:r>
              <a:rPr lang="en-US" sz="2200" dirty="0">
                <a:solidFill>
                  <a:srgbClr val="0C1C30"/>
                </a:solidFill>
                <a:latin typeface="Source Sans 3" pitchFamily="34" charset="0"/>
                <a:ea typeface="Source Sans 3" pitchFamily="34" charset="-122"/>
                <a:cs typeface="Source Sans 3" pitchFamily="34" charset="-120"/>
              </a:rPr>
              <a:t>Mama-Logistik-Discos jeden Morgen.</a:t>
            </a:r>
            <a:endParaRPr lang="en-US" sz="2200" dirty="0"/>
          </a:p>
        </p:txBody>
      </p:sp>
      <p:sp>
        <p:nvSpPr>
          <p:cNvPr id="5" name="Shape 3"/>
          <p:cNvSpPr/>
          <p:nvPr/>
        </p:nvSpPr>
        <p:spPr>
          <a:xfrm>
            <a:off x="914400" y="4663440"/>
            <a:ext cx="91440" cy="1280160"/>
          </a:xfrm>
          <a:prstGeom prst="rect">
            <a:avLst/>
          </a:prstGeom>
          <a:solidFill>
            <a:srgbClr val="DC822E"/>
          </a:solidFill>
          <a:ln w="12700">
            <a:solidFill>
              <a:srgbClr val="DC822E"/>
            </a:solidFill>
            <a:prstDash val="solid"/>
          </a:ln>
        </p:spPr>
      </p:sp>
      <p:sp>
        <p:nvSpPr>
          <p:cNvPr id="6" name="Text 4"/>
          <p:cNvSpPr/>
          <p:nvPr/>
        </p:nvSpPr>
        <p:spPr>
          <a:xfrm>
            <a:off x="1280160" y="4663440"/>
            <a:ext cx="9905695" cy="822960"/>
          </a:xfrm>
          <a:prstGeom prst="rect">
            <a:avLst/>
          </a:prstGeom>
          <a:noFill/>
          <a:ln/>
        </p:spPr>
        <p:txBody>
          <a:bodyPr wrap="square" lIns="0" tIns="0" rIns="0" bIns="0" rtlCol="0" anchor="ctr"/>
          <a:lstStyle/>
          <a:p>
            <a:pPr algn="l" indent="0" marL="0">
              <a:buNone/>
            </a:pPr>
            <a:r>
              <a:rPr lang="en-US" sz="2800" i="1" dirty="0">
                <a:solidFill>
                  <a:srgbClr val="DC822E"/>
                </a:solidFill>
                <a:latin typeface="Philosopher" pitchFamily="34" charset="0"/>
                <a:ea typeface="Philosopher" pitchFamily="34" charset="-122"/>
                <a:cs typeface="Philosopher" pitchFamily="34" charset="-120"/>
              </a:rPr>
              <a:t>„Oh, hoffentlich kann ich morgen arbeiten gehen."</a:t>
            </a:r>
            <a:endParaRPr lang="en-US" sz="2800" dirty="0"/>
          </a:p>
        </p:txBody>
      </p:sp>
      <p:sp>
        <p:nvSpPr>
          <p:cNvPr id="7" name="Text 5"/>
          <p:cNvSpPr/>
          <p:nvPr/>
        </p:nvSpPr>
        <p:spPr>
          <a:xfrm>
            <a:off x="1280160" y="5486400"/>
            <a:ext cx="9905695" cy="457200"/>
          </a:xfrm>
          <a:prstGeom prst="rect">
            <a:avLst/>
          </a:prstGeom>
          <a:noFill/>
          <a:ln/>
        </p:spPr>
        <p:txBody>
          <a:bodyPr wrap="square" lIns="0" tIns="0" rIns="0" bIns="0" rtlCol="0" anchor="ctr"/>
          <a:lstStyle/>
          <a:p>
            <a:pPr algn="l" indent="0" marL="0">
              <a:buNone/>
            </a:pPr>
            <a:r>
              <a:rPr lang="en-US" sz="1600" i="1" dirty="0">
                <a:solidFill>
                  <a:srgbClr val="5A6B7A"/>
                </a:solidFill>
                <a:latin typeface="Source Sans 3" pitchFamily="34" charset="0"/>
                <a:ea typeface="Source Sans 3" pitchFamily="34" charset="-122"/>
                <a:cs typeface="Source Sans 3" pitchFamily="34" charset="-120"/>
              </a:rPr>
              <a:t>Der Satz, den ich mir jeden Sonntag selbst sagte.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914400" y="1097280"/>
            <a:ext cx="10362895" cy="457200"/>
          </a:xfrm>
          <a:prstGeom prst="rect">
            <a:avLst/>
          </a:prstGeom>
          <a:noFill/>
          <a:ln/>
        </p:spPr>
        <p:txBody>
          <a:bodyPr wrap="square" lIns="0" tIns="0" rIns="0" bIns="0" rtlCol="0" anchor="ctr"/>
          <a:lstStyle/>
          <a:p>
            <a:pPr algn="l" indent="0" marL="0">
              <a:buNone/>
            </a:pPr>
            <a:r>
              <a:rPr lang="en-US" sz="1400" b="1" spc="600" kern="0" dirty="0">
                <a:solidFill>
                  <a:srgbClr val="F5E555"/>
                </a:solidFill>
                <a:latin typeface="Source Sans 3" pitchFamily="34" charset="0"/>
                <a:ea typeface="Source Sans 3" pitchFamily="34" charset="-122"/>
                <a:cs typeface="Source Sans 3" pitchFamily="34" charset="-120"/>
              </a:rPr>
              <a:t>Mai 2025 — der Wendepunkt</a:t>
            </a:r>
            <a:endParaRPr lang="en-US" sz="1400" dirty="0"/>
          </a:p>
        </p:txBody>
      </p:sp>
      <p:sp>
        <p:nvSpPr>
          <p:cNvPr id="3" name="Text 1"/>
          <p:cNvSpPr/>
          <p:nvPr/>
        </p:nvSpPr>
        <p:spPr>
          <a:xfrm>
            <a:off x="914400" y="1828800"/>
            <a:ext cx="10362895" cy="914400"/>
          </a:xfrm>
          <a:prstGeom prst="rect">
            <a:avLst/>
          </a:prstGeom>
          <a:noFill/>
          <a:ln/>
        </p:spPr>
        <p:txBody>
          <a:bodyPr wrap="square" lIns="0" tIns="0" rIns="0" bIns="0" rtlCol="0" anchor="ctr"/>
          <a:lstStyle/>
          <a:p>
            <a:pPr algn="l" indent="0" marL="0">
              <a:buNone/>
            </a:pPr>
            <a:r>
              <a:rPr lang="en-US" sz="4400" b="1" dirty="0">
                <a:solidFill>
                  <a:srgbClr val="F1ECDD"/>
                </a:solidFill>
                <a:latin typeface="Philosopher" pitchFamily="34" charset="0"/>
                <a:ea typeface="Philosopher" pitchFamily="34" charset="-122"/>
                <a:cs typeface="Philosopher" pitchFamily="34" charset="-120"/>
              </a:rPr>
              <a:t>Meine Schwester ist mit 44 gestorben.</a:t>
            </a:r>
            <a:endParaRPr lang="en-US" sz="4400" dirty="0"/>
          </a:p>
        </p:txBody>
      </p:sp>
      <p:sp>
        <p:nvSpPr>
          <p:cNvPr id="4" name="Text 2"/>
          <p:cNvSpPr/>
          <p:nvPr/>
        </p:nvSpPr>
        <p:spPr>
          <a:xfrm>
            <a:off x="914400" y="2743200"/>
            <a:ext cx="10362895" cy="640080"/>
          </a:xfrm>
          <a:prstGeom prst="rect">
            <a:avLst/>
          </a:prstGeom>
          <a:noFill/>
          <a:ln/>
        </p:spPr>
        <p:txBody>
          <a:bodyPr wrap="square" lIns="0" tIns="0" rIns="0" bIns="0" rtlCol="0" anchor="ctr"/>
          <a:lstStyle/>
          <a:p>
            <a:pPr algn="l" indent="0" marL="0">
              <a:buNone/>
            </a:pPr>
            <a:r>
              <a:rPr lang="en-US" sz="2800" dirty="0">
                <a:solidFill>
                  <a:srgbClr val="F1ECDD"/>
                </a:solidFill>
                <a:latin typeface="Philosopher" pitchFamily="34" charset="0"/>
                <a:ea typeface="Philosopher" pitchFamily="34" charset="-122"/>
                <a:cs typeface="Philosopher" pitchFamily="34" charset="-120"/>
              </a:rPr>
              <a:t>Da hab ich verstanden:</a:t>
            </a:r>
            <a:endParaRPr lang="en-US" sz="2800" dirty="0"/>
          </a:p>
        </p:txBody>
      </p:sp>
      <p:sp>
        <p:nvSpPr>
          <p:cNvPr id="5" name="Text 3"/>
          <p:cNvSpPr/>
          <p:nvPr/>
        </p:nvSpPr>
        <p:spPr>
          <a:xfrm>
            <a:off x="914400" y="3657600"/>
            <a:ext cx="10362895" cy="914400"/>
          </a:xfrm>
          <a:prstGeom prst="rect">
            <a:avLst/>
          </a:prstGeom>
          <a:noFill/>
          <a:ln/>
        </p:spPr>
        <p:txBody>
          <a:bodyPr wrap="square" lIns="0" tIns="0" rIns="0" bIns="0" rtlCol="0" anchor="ctr"/>
          <a:lstStyle/>
          <a:p>
            <a:pPr algn="l" indent="0" marL="0">
              <a:buNone/>
            </a:pPr>
            <a:r>
              <a:rPr lang="en-US" sz="3600" b="1" i="1" dirty="0">
                <a:solidFill>
                  <a:srgbClr val="F5E555"/>
                </a:solidFill>
                <a:latin typeface="Philosopher" pitchFamily="34" charset="0"/>
                <a:ea typeface="Philosopher" pitchFamily="34" charset="-122"/>
                <a:cs typeface="Philosopher" pitchFamily="34" charset="-120"/>
              </a:rPr>
              <a:t>„Eine Mutter darf ein eigenes Leben leben."</a:t>
            </a:r>
            <a:endParaRPr lang="en-US" sz="3600" dirty="0"/>
          </a:p>
        </p:txBody>
      </p:sp>
      <p:sp>
        <p:nvSpPr>
          <p:cNvPr id="6" name="Text 4"/>
          <p:cNvSpPr/>
          <p:nvPr/>
        </p:nvSpPr>
        <p:spPr>
          <a:xfrm>
            <a:off x="914400" y="5120640"/>
            <a:ext cx="10362895" cy="914400"/>
          </a:xfrm>
          <a:prstGeom prst="rect">
            <a:avLst/>
          </a:prstGeom>
          <a:noFill/>
          <a:ln/>
        </p:spPr>
        <p:txBody>
          <a:bodyPr wrap="square" lIns="0" tIns="0" rIns="0" bIns="0" rtlCol="0" anchor="ctr"/>
          <a:lstStyle/>
          <a:p>
            <a:pPr indent="0" marL="0">
              <a:spcAft>
                <a:spcPts val="400"/>
              </a:spcAft>
              <a:buNone/>
            </a:pPr>
            <a:r>
              <a:rPr lang="en-US" sz="1800" dirty="0">
                <a:solidFill>
                  <a:srgbClr val="F1ECDD"/>
                </a:solidFill>
                <a:latin typeface="Source Sans 3" pitchFamily="34" charset="0"/>
                <a:ea typeface="Source Sans 3" pitchFamily="34" charset="-122"/>
                <a:cs typeface="Source Sans 3" pitchFamily="34" charset="-120"/>
              </a:rPr>
              <a:t>Seitdem läuft mein Business mit System + KI.</a:t>
            </a:r>
            <a:endParaRPr lang="en-US" sz="1800" dirty="0"/>
          </a:p>
          <a:p>
            <a:pPr indent="0" marL="0">
              <a:spcAft>
                <a:spcPts val="400"/>
              </a:spcAft>
              <a:buNone/>
            </a:pPr>
            <a:r>
              <a:rPr lang="en-US" sz="1800" dirty="0">
                <a:solidFill>
                  <a:srgbClr val="F1ECDD"/>
                </a:solidFill>
                <a:latin typeface="Source Sans 3" pitchFamily="34" charset="0"/>
                <a:ea typeface="Source Sans 3" pitchFamily="34" charset="-122"/>
                <a:cs typeface="Source Sans 3" pitchFamily="34" charset="-120"/>
              </a:rPr>
              <a:t>4 Kinder. 18h pro Woche. Kein Monat ohne Verkauf.</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CDD"/>
        </a:solidFill>
      </p:bgPr>
    </p:bg>
    <p:spTree>
      <p:nvGrpSpPr>
        <p:cNvPr id="1" name=""/>
        <p:cNvGrpSpPr/>
        <p:nvPr/>
      </p:nvGrpSpPr>
      <p:grpSpPr>
        <a:xfrm>
          <a:off x="0" y="0"/>
          <a:ext cx="0" cy="0"/>
          <a:chOff x="0" y="0"/>
          <a:chExt cx="0" cy="0"/>
        </a:xfrm>
      </p:grpSpPr>
      <p:sp>
        <p:nvSpPr>
          <p:cNvPr id="2" name="Text 0"/>
          <p:cNvSpPr/>
          <p:nvPr/>
        </p:nvSpPr>
        <p:spPr>
          <a:xfrm>
            <a:off x="914400" y="731520"/>
            <a:ext cx="10362895" cy="1645920"/>
          </a:xfrm>
          <a:prstGeom prst="rect">
            <a:avLst/>
          </a:prstGeom>
          <a:noFill/>
          <a:ln/>
        </p:spPr>
        <p:txBody>
          <a:bodyPr wrap="square" lIns="0" tIns="0" rIns="0" bIns="0" rtlCol="0" anchor="t"/>
          <a:lstStyle/>
          <a:p>
            <a:pPr algn="ctr" indent="0" marL="0">
              <a:buNone/>
            </a:pPr>
            <a:r>
              <a:rPr lang="en-US" sz="3200" b="1" dirty="0">
                <a:solidFill>
                  <a:srgbClr val="29556D"/>
                </a:solidFill>
                <a:latin typeface="Philosopher" pitchFamily="34" charset="0"/>
                <a:ea typeface="Philosopher" pitchFamily="34" charset="-122"/>
                <a:cs typeface="Philosopher" pitchFamily="34" charset="-120"/>
              </a:rPr>
              <a:t>Drei Fragen, die ich jeden Tag in die DMs kriege:</a:t>
            </a:r>
            <a:endParaRPr lang="en-US" sz="3200" dirty="0"/>
          </a:p>
        </p:txBody>
      </p:sp>
      <p:sp>
        <p:nvSpPr>
          <p:cNvPr id="3" name="Shape 1"/>
          <p:cNvSpPr/>
          <p:nvPr/>
        </p:nvSpPr>
        <p:spPr>
          <a:xfrm>
            <a:off x="1828800" y="2286000"/>
            <a:ext cx="91440" cy="822960"/>
          </a:xfrm>
          <a:prstGeom prst="rect">
            <a:avLst/>
          </a:prstGeom>
          <a:solidFill>
            <a:srgbClr val="DC822E"/>
          </a:solidFill>
          <a:ln w="12700">
            <a:solidFill>
              <a:srgbClr val="DC822E"/>
            </a:solidFill>
            <a:prstDash val="solid"/>
          </a:ln>
        </p:spPr>
      </p:sp>
      <p:sp>
        <p:nvSpPr>
          <p:cNvPr id="4" name="Text 2"/>
          <p:cNvSpPr/>
          <p:nvPr/>
        </p:nvSpPr>
        <p:spPr>
          <a:xfrm>
            <a:off x="2194560" y="2286000"/>
            <a:ext cx="8534095" cy="822960"/>
          </a:xfrm>
          <a:prstGeom prst="rect">
            <a:avLst/>
          </a:prstGeom>
          <a:noFill/>
          <a:ln/>
        </p:spPr>
        <p:txBody>
          <a:bodyPr wrap="square" lIns="0" tIns="0" rIns="0" bIns="0" rtlCol="0" anchor="ctr"/>
          <a:lstStyle/>
          <a:p>
            <a:pPr indent="0" marL="0">
              <a:buNone/>
            </a:pPr>
            <a:r>
              <a:rPr lang="en-US" sz="3200" i="1" dirty="0">
                <a:solidFill>
                  <a:srgbClr val="12828C"/>
                </a:solidFill>
                <a:latin typeface="Philosopher" pitchFamily="34" charset="0"/>
                <a:ea typeface="Philosopher" pitchFamily="34" charset="-122"/>
                <a:cs typeface="Philosopher" pitchFamily="34" charset="-120"/>
              </a:rPr>
              <a:t>„Wie finde ich Kunden?"</a:t>
            </a:r>
            <a:endParaRPr lang="en-US" sz="3200" dirty="0"/>
          </a:p>
        </p:txBody>
      </p:sp>
      <p:sp>
        <p:nvSpPr>
          <p:cNvPr id="5" name="Shape 3"/>
          <p:cNvSpPr/>
          <p:nvPr/>
        </p:nvSpPr>
        <p:spPr>
          <a:xfrm>
            <a:off x="1828800" y="3383280"/>
            <a:ext cx="91440" cy="822960"/>
          </a:xfrm>
          <a:prstGeom prst="rect">
            <a:avLst/>
          </a:prstGeom>
          <a:solidFill>
            <a:srgbClr val="DC822E"/>
          </a:solidFill>
          <a:ln w="12700">
            <a:solidFill>
              <a:srgbClr val="DC822E"/>
            </a:solidFill>
            <a:prstDash val="solid"/>
          </a:ln>
        </p:spPr>
      </p:sp>
      <p:sp>
        <p:nvSpPr>
          <p:cNvPr id="6" name="Text 4"/>
          <p:cNvSpPr/>
          <p:nvPr/>
        </p:nvSpPr>
        <p:spPr>
          <a:xfrm>
            <a:off x="2194560" y="3383280"/>
            <a:ext cx="8534095" cy="822960"/>
          </a:xfrm>
          <a:prstGeom prst="rect">
            <a:avLst/>
          </a:prstGeom>
          <a:noFill/>
          <a:ln/>
        </p:spPr>
        <p:txBody>
          <a:bodyPr wrap="square" lIns="0" tIns="0" rIns="0" bIns="0" rtlCol="0" anchor="ctr"/>
          <a:lstStyle/>
          <a:p>
            <a:pPr indent="0" marL="0">
              <a:buNone/>
            </a:pPr>
            <a:r>
              <a:rPr lang="en-US" sz="3200" i="1" dirty="0">
                <a:solidFill>
                  <a:srgbClr val="12828C"/>
                </a:solidFill>
                <a:latin typeface="Philosopher" pitchFamily="34" charset="0"/>
                <a:ea typeface="Philosopher" pitchFamily="34" charset="-122"/>
                <a:cs typeface="Philosopher" pitchFamily="34" charset="-120"/>
              </a:rPr>
              <a:t>„Wo soll ich überhaupt anfangen?"</a:t>
            </a:r>
            <a:endParaRPr lang="en-US" sz="3200" dirty="0"/>
          </a:p>
        </p:txBody>
      </p:sp>
      <p:sp>
        <p:nvSpPr>
          <p:cNvPr id="7" name="Shape 5"/>
          <p:cNvSpPr/>
          <p:nvPr/>
        </p:nvSpPr>
        <p:spPr>
          <a:xfrm>
            <a:off x="1828800" y="4480560"/>
            <a:ext cx="91440" cy="822960"/>
          </a:xfrm>
          <a:prstGeom prst="rect">
            <a:avLst/>
          </a:prstGeom>
          <a:solidFill>
            <a:srgbClr val="DC822E"/>
          </a:solidFill>
          <a:ln w="12700">
            <a:solidFill>
              <a:srgbClr val="DC822E"/>
            </a:solidFill>
            <a:prstDash val="solid"/>
          </a:ln>
        </p:spPr>
      </p:sp>
      <p:sp>
        <p:nvSpPr>
          <p:cNvPr id="8" name="Text 6"/>
          <p:cNvSpPr/>
          <p:nvPr/>
        </p:nvSpPr>
        <p:spPr>
          <a:xfrm>
            <a:off x="2194560" y="4480560"/>
            <a:ext cx="8534095" cy="822960"/>
          </a:xfrm>
          <a:prstGeom prst="rect">
            <a:avLst/>
          </a:prstGeom>
          <a:noFill/>
          <a:ln/>
        </p:spPr>
        <p:txBody>
          <a:bodyPr wrap="square" lIns="0" tIns="0" rIns="0" bIns="0" rtlCol="0" anchor="ctr"/>
          <a:lstStyle/>
          <a:p>
            <a:pPr indent="0" marL="0">
              <a:buNone/>
            </a:pPr>
            <a:r>
              <a:rPr lang="en-US" sz="3200" i="1" dirty="0">
                <a:solidFill>
                  <a:srgbClr val="12828C"/>
                </a:solidFill>
                <a:latin typeface="Philosopher" pitchFamily="34" charset="0"/>
                <a:ea typeface="Philosopher" pitchFamily="34" charset="-122"/>
                <a:cs typeface="Philosopher" pitchFamily="34" charset="-120"/>
              </a:rPr>
              <a:t>„Was poste ich jetzt?"</a:t>
            </a:r>
            <a:endParaRPr lang="en-US" sz="3200" dirty="0"/>
          </a:p>
        </p:txBody>
      </p:sp>
      <p:sp>
        <p:nvSpPr>
          <p:cNvPr id="9" name="Text 7"/>
          <p:cNvSpPr/>
          <p:nvPr/>
        </p:nvSpPr>
        <p:spPr>
          <a:xfrm>
            <a:off x="914400" y="5852160"/>
            <a:ext cx="10362895" cy="457200"/>
          </a:xfrm>
          <a:prstGeom prst="rect">
            <a:avLst/>
          </a:prstGeom>
          <a:noFill/>
          <a:ln/>
        </p:spPr>
        <p:txBody>
          <a:bodyPr wrap="square" lIns="0" tIns="0" rIns="0" bIns="0" rtlCol="0" anchor="ctr"/>
          <a:lstStyle/>
          <a:p>
            <a:pPr algn="ctr" indent="0" marL="0">
              <a:buNone/>
            </a:pPr>
            <a:r>
              <a:rPr lang="en-US" sz="1600" i="1" dirty="0">
                <a:solidFill>
                  <a:srgbClr val="5A6B7A"/>
                </a:solidFill>
                <a:latin typeface="Source Sans 3" pitchFamily="34" charset="0"/>
                <a:ea typeface="Source Sans 3" pitchFamily="34" charset="-122"/>
                <a:cs typeface="Source Sans 3" pitchFamily="34" charset="-120"/>
              </a:rPr>
              <a:t>Von Mamas im Network. Seit Jahren dabei. Viele Follower. Null Anfragen.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640080"/>
            <a:ext cx="10362895" cy="1645920"/>
          </a:xfrm>
          <a:prstGeom prst="rect">
            <a:avLst/>
          </a:prstGeom>
          <a:noFill/>
          <a:ln/>
        </p:spPr>
        <p:txBody>
          <a:bodyPr wrap="square" lIns="0" tIns="0" rIns="0" bIns="0" rtlCol="0" anchor="t"/>
          <a:lstStyle/>
          <a:p>
            <a:pPr algn="ctr" indent="0" marL="0">
              <a:buNone/>
            </a:pPr>
            <a:r>
              <a:rPr lang="en-US" sz="4200" b="1" dirty="0">
                <a:solidFill>
                  <a:srgbClr val="29556D"/>
                </a:solidFill>
                <a:latin typeface="Philosopher" pitchFamily="34" charset="0"/>
                <a:ea typeface="Philosopher" pitchFamily="34" charset="-122"/>
                <a:cs typeface="Philosopher" pitchFamily="34" charset="-120"/>
              </a:rPr>
              <a:t>Du bist nicht faul.</a:t>
            </a:r>
            <a:endParaRPr lang="en-US" sz="4200" dirty="0"/>
          </a:p>
        </p:txBody>
      </p:sp>
      <p:sp>
        <p:nvSpPr>
          <p:cNvPr id="3" name="Text 1"/>
          <p:cNvSpPr/>
          <p:nvPr/>
        </p:nvSpPr>
        <p:spPr>
          <a:xfrm>
            <a:off x="914400" y="1463040"/>
            <a:ext cx="10362895" cy="640080"/>
          </a:xfrm>
          <a:prstGeom prst="rect">
            <a:avLst/>
          </a:prstGeom>
          <a:noFill/>
          <a:ln/>
        </p:spPr>
        <p:txBody>
          <a:bodyPr wrap="square" lIns="0" tIns="0" rIns="0" bIns="0" rtlCol="0" anchor="ctr"/>
          <a:lstStyle/>
          <a:p>
            <a:pPr algn="ctr" indent="0" marL="0">
              <a:buNone/>
            </a:pPr>
            <a:r>
              <a:rPr lang="en-US" sz="3000" i="1" dirty="0">
                <a:solidFill>
                  <a:srgbClr val="DC822E"/>
                </a:solidFill>
                <a:latin typeface="Philosopher" pitchFamily="34" charset="0"/>
                <a:ea typeface="Philosopher" pitchFamily="34" charset="-122"/>
                <a:cs typeface="Philosopher" pitchFamily="34" charset="-120"/>
              </a:rPr>
              <a:t>Du hast nur kein System.</a:t>
            </a:r>
            <a:endParaRPr lang="en-US" sz="3000" dirty="0"/>
          </a:p>
        </p:txBody>
      </p:sp>
      <p:sp>
        <p:nvSpPr>
          <p:cNvPr id="4" name="Text 2"/>
          <p:cNvSpPr/>
          <p:nvPr/>
        </p:nvSpPr>
        <p:spPr>
          <a:xfrm>
            <a:off x="914400" y="2743200"/>
            <a:ext cx="914400" cy="914400"/>
          </a:xfrm>
          <a:prstGeom prst="rect">
            <a:avLst/>
          </a:prstGeom>
          <a:noFill/>
          <a:ln/>
        </p:spPr>
        <p:txBody>
          <a:bodyPr wrap="square" lIns="0" tIns="0" rIns="0" bIns="0" rtlCol="0" anchor="t"/>
          <a:lstStyle/>
          <a:p>
            <a:pPr algn="l" indent="0" marL="0">
              <a:buNone/>
            </a:pPr>
            <a:r>
              <a:rPr lang="en-US" sz="4800" b="1" dirty="0">
                <a:solidFill>
                  <a:srgbClr val="DC822E"/>
                </a:solidFill>
                <a:latin typeface="Philosopher" pitchFamily="34" charset="0"/>
                <a:ea typeface="Philosopher" pitchFamily="34" charset="-122"/>
                <a:cs typeface="Philosopher" pitchFamily="34" charset="-120"/>
              </a:rPr>
              <a:t>01</a:t>
            </a:r>
            <a:endParaRPr lang="en-US" sz="4800" dirty="0"/>
          </a:p>
        </p:txBody>
      </p:sp>
      <p:sp>
        <p:nvSpPr>
          <p:cNvPr id="5" name="Text 3"/>
          <p:cNvSpPr/>
          <p:nvPr/>
        </p:nvSpPr>
        <p:spPr>
          <a:xfrm>
            <a:off x="2011680" y="2880360"/>
            <a:ext cx="3931920" cy="1188720"/>
          </a:xfrm>
          <a:prstGeom prst="rect">
            <a:avLst/>
          </a:prstGeom>
          <a:noFill/>
          <a:ln/>
        </p:spPr>
        <p:txBody>
          <a:bodyPr wrap="square" lIns="0" tIns="0" rIns="0" bIns="0" rtlCol="0" anchor="t"/>
          <a:lstStyle/>
          <a:p>
            <a:pPr algn="l" indent="0" marL="0">
              <a:buNone/>
            </a:pPr>
            <a:r>
              <a:rPr lang="en-US" sz="1600" dirty="0">
                <a:solidFill>
                  <a:srgbClr val="0C1C30"/>
                </a:solidFill>
                <a:latin typeface="Source Sans 3" pitchFamily="34" charset="0"/>
                <a:ea typeface="Source Sans 3" pitchFamily="34" charset="-122"/>
                <a:cs typeface="Source Sans 3" pitchFamily="34" charset="-120"/>
              </a:rPr>
              <a:t>Du arbeitest noch 60–80% in deinem alten Job.</a:t>
            </a:r>
            <a:endParaRPr lang="en-US" sz="1600" dirty="0"/>
          </a:p>
        </p:txBody>
      </p:sp>
      <p:sp>
        <p:nvSpPr>
          <p:cNvPr id="6" name="Text 4"/>
          <p:cNvSpPr/>
          <p:nvPr/>
        </p:nvSpPr>
        <p:spPr>
          <a:xfrm>
            <a:off x="6400800" y="2743200"/>
            <a:ext cx="914400" cy="914400"/>
          </a:xfrm>
          <a:prstGeom prst="rect">
            <a:avLst/>
          </a:prstGeom>
          <a:noFill/>
          <a:ln/>
        </p:spPr>
        <p:txBody>
          <a:bodyPr wrap="square" lIns="0" tIns="0" rIns="0" bIns="0" rtlCol="0" anchor="t"/>
          <a:lstStyle/>
          <a:p>
            <a:pPr algn="l" indent="0" marL="0">
              <a:buNone/>
            </a:pPr>
            <a:r>
              <a:rPr lang="en-US" sz="4800" b="1" dirty="0">
                <a:solidFill>
                  <a:srgbClr val="DC822E"/>
                </a:solidFill>
                <a:latin typeface="Philosopher" pitchFamily="34" charset="0"/>
                <a:ea typeface="Philosopher" pitchFamily="34" charset="-122"/>
                <a:cs typeface="Philosopher" pitchFamily="34" charset="-120"/>
              </a:rPr>
              <a:t>02</a:t>
            </a:r>
            <a:endParaRPr lang="en-US" sz="4800" dirty="0"/>
          </a:p>
        </p:txBody>
      </p:sp>
      <p:sp>
        <p:nvSpPr>
          <p:cNvPr id="7" name="Text 5"/>
          <p:cNvSpPr/>
          <p:nvPr/>
        </p:nvSpPr>
        <p:spPr>
          <a:xfrm>
            <a:off x="7498080" y="2880360"/>
            <a:ext cx="3931920" cy="1188720"/>
          </a:xfrm>
          <a:prstGeom prst="rect">
            <a:avLst/>
          </a:prstGeom>
          <a:noFill/>
          <a:ln/>
        </p:spPr>
        <p:txBody>
          <a:bodyPr wrap="square" lIns="0" tIns="0" rIns="0" bIns="0" rtlCol="0" anchor="t"/>
          <a:lstStyle/>
          <a:p>
            <a:pPr algn="l" indent="0" marL="0">
              <a:buNone/>
            </a:pPr>
            <a:r>
              <a:rPr lang="en-US" sz="1600" dirty="0">
                <a:solidFill>
                  <a:srgbClr val="0C1C30"/>
                </a:solidFill>
                <a:latin typeface="Source Sans 3" pitchFamily="34" charset="0"/>
                <a:ea typeface="Source Sans 3" pitchFamily="34" charset="-122"/>
                <a:cs typeface="Source Sans 3" pitchFamily="34" charset="-120"/>
              </a:rPr>
              <a:t>Dein Mann schaut dein Business als Hobby an.</a:t>
            </a:r>
            <a:endParaRPr lang="en-US" sz="1600" dirty="0"/>
          </a:p>
        </p:txBody>
      </p:sp>
      <p:sp>
        <p:nvSpPr>
          <p:cNvPr id="8" name="Text 6"/>
          <p:cNvSpPr/>
          <p:nvPr/>
        </p:nvSpPr>
        <p:spPr>
          <a:xfrm>
            <a:off x="914400" y="4297680"/>
            <a:ext cx="914400" cy="914400"/>
          </a:xfrm>
          <a:prstGeom prst="rect">
            <a:avLst/>
          </a:prstGeom>
          <a:noFill/>
          <a:ln/>
        </p:spPr>
        <p:txBody>
          <a:bodyPr wrap="square" lIns="0" tIns="0" rIns="0" bIns="0" rtlCol="0" anchor="t"/>
          <a:lstStyle/>
          <a:p>
            <a:pPr algn="l" indent="0" marL="0">
              <a:buNone/>
            </a:pPr>
            <a:r>
              <a:rPr lang="en-US" sz="4800" b="1" dirty="0">
                <a:solidFill>
                  <a:srgbClr val="DC822E"/>
                </a:solidFill>
                <a:latin typeface="Philosopher" pitchFamily="34" charset="0"/>
                <a:ea typeface="Philosopher" pitchFamily="34" charset="-122"/>
                <a:cs typeface="Philosopher" pitchFamily="34" charset="-120"/>
              </a:rPr>
              <a:t>03</a:t>
            </a:r>
            <a:endParaRPr lang="en-US" sz="4800" dirty="0"/>
          </a:p>
        </p:txBody>
      </p:sp>
      <p:sp>
        <p:nvSpPr>
          <p:cNvPr id="9" name="Text 7"/>
          <p:cNvSpPr/>
          <p:nvPr/>
        </p:nvSpPr>
        <p:spPr>
          <a:xfrm>
            <a:off x="2011680" y="4434840"/>
            <a:ext cx="3931920" cy="1188720"/>
          </a:xfrm>
          <a:prstGeom prst="rect">
            <a:avLst/>
          </a:prstGeom>
          <a:noFill/>
          <a:ln/>
        </p:spPr>
        <p:txBody>
          <a:bodyPr wrap="square" lIns="0" tIns="0" rIns="0" bIns="0" rtlCol="0" anchor="t"/>
          <a:lstStyle/>
          <a:p>
            <a:pPr algn="l" indent="0" marL="0">
              <a:buNone/>
            </a:pPr>
            <a:r>
              <a:rPr lang="en-US" sz="1600" dirty="0">
                <a:solidFill>
                  <a:srgbClr val="0C1C30"/>
                </a:solidFill>
                <a:latin typeface="Source Sans 3" pitchFamily="34" charset="0"/>
                <a:ea typeface="Source Sans 3" pitchFamily="34" charset="-122"/>
                <a:cs typeface="Source Sans 3" pitchFamily="34" charset="-120"/>
              </a:rPr>
              <a:t>Du machst alles selbst — bis 22 Uhr.</a:t>
            </a:r>
            <a:endParaRPr lang="en-US" sz="1600" dirty="0"/>
          </a:p>
        </p:txBody>
      </p:sp>
      <p:sp>
        <p:nvSpPr>
          <p:cNvPr id="10" name="Text 8"/>
          <p:cNvSpPr/>
          <p:nvPr/>
        </p:nvSpPr>
        <p:spPr>
          <a:xfrm>
            <a:off x="6400800" y="4297680"/>
            <a:ext cx="914400" cy="914400"/>
          </a:xfrm>
          <a:prstGeom prst="rect">
            <a:avLst/>
          </a:prstGeom>
          <a:noFill/>
          <a:ln/>
        </p:spPr>
        <p:txBody>
          <a:bodyPr wrap="square" lIns="0" tIns="0" rIns="0" bIns="0" rtlCol="0" anchor="t"/>
          <a:lstStyle/>
          <a:p>
            <a:pPr algn="l" indent="0" marL="0">
              <a:buNone/>
            </a:pPr>
            <a:r>
              <a:rPr lang="en-US" sz="4800" b="1" dirty="0">
                <a:solidFill>
                  <a:srgbClr val="DC822E"/>
                </a:solidFill>
                <a:latin typeface="Philosopher" pitchFamily="34" charset="0"/>
                <a:ea typeface="Philosopher" pitchFamily="34" charset="-122"/>
                <a:cs typeface="Philosopher" pitchFamily="34" charset="-120"/>
              </a:rPr>
              <a:t>04</a:t>
            </a:r>
            <a:endParaRPr lang="en-US" sz="4800" dirty="0"/>
          </a:p>
        </p:txBody>
      </p:sp>
      <p:sp>
        <p:nvSpPr>
          <p:cNvPr id="11" name="Text 9"/>
          <p:cNvSpPr/>
          <p:nvPr/>
        </p:nvSpPr>
        <p:spPr>
          <a:xfrm>
            <a:off x="7498080" y="4434840"/>
            <a:ext cx="3931920" cy="1188720"/>
          </a:xfrm>
          <a:prstGeom prst="rect">
            <a:avLst/>
          </a:prstGeom>
          <a:noFill/>
          <a:ln/>
        </p:spPr>
        <p:txBody>
          <a:bodyPr wrap="square" lIns="0" tIns="0" rIns="0" bIns="0" rtlCol="0" anchor="t"/>
          <a:lstStyle/>
          <a:p>
            <a:pPr algn="l" indent="0" marL="0">
              <a:buNone/>
            </a:pPr>
            <a:r>
              <a:rPr lang="en-US" sz="1600" dirty="0">
                <a:solidFill>
                  <a:srgbClr val="0C1C30"/>
                </a:solidFill>
                <a:latin typeface="Source Sans 3" pitchFamily="34" charset="0"/>
                <a:ea typeface="Source Sans 3" pitchFamily="34" charset="-122"/>
                <a:cs typeface="Source Sans 3" pitchFamily="34" charset="-120"/>
              </a:rPr>
              <a:t>„Diesen Monat können wir nicht auswärts essen."</a:t>
            </a:r>
            <a:endParaRPr lang="en-US" sz="1600" dirty="0"/>
          </a:p>
        </p:txBody>
      </p:sp>
      <p:sp>
        <p:nvSpPr>
          <p:cNvPr id="12" name="Text 10"/>
          <p:cNvSpPr/>
          <p:nvPr/>
        </p:nvSpPr>
        <p:spPr>
          <a:xfrm>
            <a:off x="914400" y="6035040"/>
            <a:ext cx="10362895" cy="457200"/>
          </a:xfrm>
          <a:prstGeom prst="rect">
            <a:avLst/>
          </a:prstGeom>
          <a:noFill/>
          <a:ln/>
        </p:spPr>
        <p:txBody>
          <a:bodyPr wrap="square" lIns="0" tIns="0" rIns="0" bIns="0" rtlCol="0" anchor="ctr"/>
          <a:lstStyle/>
          <a:p>
            <a:pPr algn="ctr" indent="0" marL="0">
              <a:buNone/>
            </a:pPr>
            <a:r>
              <a:rPr lang="en-US" sz="1400" i="1" dirty="0">
                <a:solidFill>
                  <a:srgbClr val="5A6B7A"/>
                </a:solidFill>
                <a:latin typeface="Source Sans 3" pitchFamily="34" charset="0"/>
                <a:ea typeface="Source Sans 3" pitchFamily="34" charset="-122"/>
                <a:cs typeface="Source Sans 3" pitchFamily="34" charset="-120"/>
              </a:rPr>
              <a:t>Du steckst im Hamsterrad. Das ist System-Problem, nicht Disziplin-Problem.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9556D"/>
        </a:solidFill>
      </p:bgPr>
    </p:bg>
    <p:spTree>
      <p:nvGrpSpPr>
        <p:cNvPr id="1" name=""/>
        <p:cNvGrpSpPr/>
        <p:nvPr/>
      </p:nvGrpSpPr>
      <p:grpSpPr>
        <a:xfrm>
          <a:off x="0" y="0"/>
          <a:ext cx="0" cy="0"/>
          <a:chOff x="0" y="0"/>
          <a:chExt cx="0" cy="0"/>
        </a:xfrm>
      </p:grpSpPr>
      <p:sp>
        <p:nvSpPr>
          <p:cNvPr id="2" name="Text 0"/>
          <p:cNvSpPr/>
          <p:nvPr/>
        </p:nvSpPr>
        <p:spPr>
          <a:xfrm>
            <a:off x="914400" y="914400"/>
            <a:ext cx="10362895" cy="457200"/>
          </a:xfrm>
          <a:prstGeom prst="rect">
            <a:avLst/>
          </a:prstGeom>
          <a:noFill/>
          <a:ln/>
        </p:spPr>
        <p:txBody>
          <a:bodyPr wrap="square" lIns="0" tIns="0" rIns="0" bIns="0" rtlCol="0" anchor="ctr"/>
          <a:lstStyle/>
          <a:p>
            <a:pPr algn="ctr" indent="0" marL="0">
              <a:buNone/>
            </a:pPr>
            <a:r>
              <a:rPr lang="en-US" sz="1400" b="1" spc="800" kern="0" dirty="0">
                <a:solidFill>
                  <a:srgbClr val="F5E555"/>
                </a:solidFill>
                <a:latin typeface="Source Sans 3" pitchFamily="34" charset="0"/>
                <a:ea typeface="Source Sans 3" pitchFamily="34" charset="-122"/>
                <a:cs typeface="Source Sans 3" pitchFamily="34" charset="-120"/>
              </a:rPr>
              <a:t>WAS DATEN ZEIGEN 2026</a:t>
            </a:r>
            <a:endParaRPr lang="en-US" sz="1400" dirty="0"/>
          </a:p>
        </p:txBody>
      </p:sp>
      <p:sp>
        <p:nvSpPr>
          <p:cNvPr id="3" name="Text 1"/>
          <p:cNvSpPr/>
          <p:nvPr/>
        </p:nvSpPr>
        <p:spPr>
          <a:xfrm>
            <a:off x="914400" y="1828800"/>
            <a:ext cx="10362895" cy="2286000"/>
          </a:xfrm>
          <a:prstGeom prst="rect">
            <a:avLst/>
          </a:prstGeom>
          <a:noFill/>
          <a:ln/>
        </p:spPr>
        <p:txBody>
          <a:bodyPr wrap="square" lIns="0" tIns="0" rIns="0" bIns="0" rtlCol="0" anchor="ctr"/>
          <a:lstStyle/>
          <a:p>
            <a:pPr algn="ctr" indent="0" marL="0">
              <a:buNone/>
            </a:pPr>
            <a:r>
              <a:rPr lang="en-US" sz="20000" b="1" dirty="0">
                <a:solidFill>
                  <a:srgbClr val="F1ECDD"/>
                </a:solidFill>
                <a:latin typeface="Philosopher" pitchFamily="34" charset="0"/>
                <a:ea typeface="Philosopher" pitchFamily="34" charset="-122"/>
                <a:cs typeface="Philosopher" pitchFamily="34" charset="-120"/>
              </a:rPr>
              <a:t>58 %</a:t>
            </a:r>
            <a:endParaRPr lang="en-US" sz="20000" dirty="0"/>
          </a:p>
        </p:txBody>
      </p:sp>
      <p:sp>
        <p:nvSpPr>
          <p:cNvPr id="4" name="Text 2"/>
          <p:cNvSpPr/>
          <p:nvPr/>
        </p:nvSpPr>
        <p:spPr>
          <a:xfrm>
            <a:off x="914400" y="4389120"/>
            <a:ext cx="10362895" cy="640080"/>
          </a:xfrm>
          <a:prstGeom prst="rect">
            <a:avLst/>
          </a:prstGeom>
          <a:noFill/>
          <a:ln/>
        </p:spPr>
        <p:txBody>
          <a:bodyPr wrap="square" lIns="0" tIns="0" rIns="0" bIns="0" rtlCol="0" anchor="ctr"/>
          <a:lstStyle/>
          <a:p>
            <a:pPr algn="ctr" indent="0" marL="0">
              <a:buNone/>
            </a:pPr>
            <a:r>
              <a:rPr lang="en-US" sz="2600" i="1" dirty="0">
                <a:solidFill>
                  <a:srgbClr val="F5E555"/>
                </a:solidFill>
                <a:latin typeface="Philosopher" pitchFamily="34" charset="0"/>
                <a:ea typeface="Philosopher" pitchFamily="34" charset="-122"/>
                <a:cs typeface="Philosopher" pitchFamily="34" charset="-120"/>
              </a:rPr>
              <a:t>der Unternehmerinnen mit KI-Assistenten</a:t>
            </a:r>
            <a:endParaRPr lang="en-US" sz="2600" dirty="0"/>
          </a:p>
        </p:txBody>
      </p:sp>
      <p:sp>
        <p:nvSpPr>
          <p:cNvPr id="5" name="Text 3"/>
          <p:cNvSpPr/>
          <p:nvPr/>
        </p:nvSpPr>
        <p:spPr>
          <a:xfrm>
            <a:off x="914400" y="5029200"/>
            <a:ext cx="10362895" cy="640080"/>
          </a:xfrm>
          <a:prstGeom prst="rect">
            <a:avLst/>
          </a:prstGeom>
          <a:noFill/>
          <a:ln/>
        </p:spPr>
        <p:txBody>
          <a:bodyPr wrap="square" lIns="0" tIns="0" rIns="0" bIns="0" rtlCol="0" anchor="ctr"/>
          <a:lstStyle/>
          <a:p>
            <a:pPr algn="ctr" indent="0" marL="0">
              <a:buNone/>
            </a:pPr>
            <a:r>
              <a:rPr lang="en-US" sz="2600" i="1" dirty="0">
                <a:solidFill>
                  <a:srgbClr val="F5E555"/>
                </a:solidFill>
                <a:latin typeface="Philosopher" pitchFamily="34" charset="0"/>
                <a:ea typeface="Philosopher" pitchFamily="34" charset="-122"/>
                <a:cs typeface="Philosopher" pitchFamily="34" charset="-120"/>
              </a:rPr>
              <a:t>sparen 20+ Stunden pro Monat.</a:t>
            </a:r>
            <a:endParaRPr lang="en-US" sz="2600" dirty="0"/>
          </a:p>
        </p:txBody>
      </p:sp>
      <p:sp>
        <p:nvSpPr>
          <p:cNvPr id="6" name="Text 4"/>
          <p:cNvSpPr/>
          <p:nvPr/>
        </p:nvSpPr>
        <p:spPr>
          <a:xfrm>
            <a:off x="914400" y="6217920"/>
            <a:ext cx="10362895" cy="365760"/>
          </a:xfrm>
          <a:prstGeom prst="rect">
            <a:avLst/>
          </a:prstGeom>
          <a:noFill/>
          <a:ln/>
        </p:spPr>
        <p:txBody>
          <a:bodyPr wrap="square" lIns="0" tIns="0" rIns="0" bIns="0" rtlCol="0" anchor="ctr"/>
          <a:lstStyle/>
          <a:p>
            <a:pPr algn="ctr" indent="0" marL="0">
              <a:buNone/>
            </a:pPr>
            <a:r>
              <a:rPr lang="en-US" sz="1200" dirty="0">
                <a:solidFill>
                  <a:srgbClr val="F1ECDD"/>
                </a:solidFill>
                <a:latin typeface="Source Sans 3" pitchFamily="34" charset="0"/>
                <a:ea typeface="Source Sans 3" pitchFamily="34" charset="-122"/>
                <a:cs typeface="Source Sans 3" pitchFamily="34" charset="-120"/>
              </a:rPr>
              <a:t>Quelle: KMU-Tech-Report 2026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CDD"/>
        </a:solidFill>
      </p:bgPr>
    </p:bg>
    <p:spTree>
      <p:nvGrpSpPr>
        <p:cNvPr id="1" name=""/>
        <p:cNvGrpSpPr/>
        <p:nvPr/>
      </p:nvGrpSpPr>
      <p:grpSpPr>
        <a:xfrm>
          <a:off x="0" y="0"/>
          <a:ext cx="0" cy="0"/>
          <a:chOff x="0" y="0"/>
          <a:chExt cx="0" cy="0"/>
        </a:xfrm>
      </p:grpSpPr>
      <p:sp>
        <p:nvSpPr>
          <p:cNvPr id="2" name="Text 0"/>
          <p:cNvSpPr/>
          <p:nvPr/>
        </p:nvSpPr>
        <p:spPr>
          <a:xfrm>
            <a:off x="914400" y="640080"/>
            <a:ext cx="10362895" cy="1645920"/>
          </a:xfrm>
          <a:prstGeom prst="rect">
            <a:avLst/>
          </a:prstGeom>
          <a:noFill/>
          <a:ln/>
        </p:spPr>
        <p:txBody>
          <a:bodyPr wrap="square" lIns="0" tIns="0" rIns="0" bIns="0" rtlCol="0" anchor="t"/>
          <a:lstStyle/>
          <a:p>
            <a:pPr algn="ctr" indent="0" marL="0">
              <a:buNone/>
            </a:pPr>
            <a:r>
              <a:rPr lang="en-US" sz="3200" b="1" dirty="0">
                <a:solidFill>
                  <a:srgbClr val="29556D"/>
                </a:solidFill>
                <a:latin typeface="Philosopher" pitchFamily="34" charset="0"/>
                <a:ea typeface="Philosopher" pitchFamily="34" charset="-122"/>
                <a:cs typeface="Philosopher" pitchFamily="34" charset="-120"/>
              </a:rPr>
              <a:t>Was du sonst findest — und was fehlt.</a:t>
            </a:r>
            <a:endParaRPr lang="en-US" sz="3200" dirty="0"/>
          </a:p>
        </p:txBody>
      </p:sp>
      <p:sp>
        <p:nvSpPr>
          <p:cNvPr id="3" name="Shape 1"/>
          <p:cNvSpPr/>
          <p:nvPr/>
        </p:nvSpPr>
        <p:spPr>
          <a:xfrm>
            <a:off x="914400" y="2194560"/>
            <a:ext cx="3474720" cy="3291840"/>
          </a:xfrm>
          <a:prstGeom prst="rect">
            <a:avLst/>
          </a:prstGeom>
          <a:solidFill>
            <a:srgbClr val="FFFFFF"/>
          </a:solidFill>
          <a:ln w="12700">
            <a:solidFill>
              <a:srgbClr val="E5E5E5"/>
            </a:solidFill>
            <a:prstDash val="solid"/>
          </a:ln>
        </p:spPr>
      </p:sp>
      <p:sp>
        <p:nvSpPr>
          <p:cNvPr id="4" name="Text 2"/>
          <p:cNvSpPr/>
          <p:nvPr/>
        </p:nvSpPr>
        <p:spPr>
          <a:xfrm>
            <a:off x="914400" y="2286000"/>
            <a:ext cx="3474720" cy="548640"/>
          </a:xfrm>
          <a:prstGeom prst="rect">
            <a:avLst/>
          </a:prstGeom>
          <a:noFill/>
          <a:ln/>
        </p:spPr>
        <p:txBody>
          <a:bodyPr wrap="square" lIns="0" tIns="0" rIns="0" bIns="0" rtlCol="0" anchor="ctr"/>
          <a:lstStyle/>
          <a:p>
            <a:pPr algn="ctr" indent="0" marL="0">
              <a:buNone/>
            </a:pPr>
            <a:r>
              <a:rPr lang="en-US" sz="2000" b="1" dirty="0">
                <a:solidFill>
                  <a:srgbClr val="29556D"/>
                </a:solidFill>
                <a:latin typeface="Philosopher" pitchFamily="34" charset="0"/>
                <a:ea typeface="Philosopher" pitchFamily="34" charset="-122"/>
                <a:cs typeface="Philosopher" pitchFamily="34" charset="-120"/>
              </a:rPr>
              <a:t>KI fürs Business</a:t>
            </a:r>
            <a:endParaRPr lang="en-US" sz="2000" dirty="0"/>
          </a:p>
        </p:txBody>
      </p:sp>
      <p:sp>
        <p:nvSpPr>
          <p:cNvPr id="5" name="Text 3"/>
          <p:cNvSpPr/>
          <p:nvPr/>
        </p:nvSpPr>
        <p:spPr>
          <a:xfrm>
            <a:off x="1188720" y="3017520"/>
            <a:ext cx="3108960" cy="2286000"/>
          </a:xfrm>
          <a:prstGeom prst="rect">
            <a:avLst/>
          </a:prstGeom>
          <a:noFill/>
          <a:ln/>
        </p:spPr>
        <p:txBody>
          <a:bodyPr wrap="square" lIns="0" tIns="0" rIns="0" bIns="0" rtlCol="0" anchor="ctr"/>
          <a:lstStyle/>
          <a:p>
            <a:pPr indent="0" marL="0">
              <a:spcAft>
                <a:spcPts val="800"/>
              </a:spcAft>
              <a:buNone/>
            </a:pPr>
            <a:r>
              <a:rPr lang="en-US" sz="1500" dirty="0">
                <a:solidFill>
                  <a:srgbClr val="0C1C30"/>
                </a:solidFill>
                <a:latin typeface="Source Sans 3" pitchFamily="34" charset="0"/>
                <a:ea typeface="Source Sans 3" pitchFamily="34" charset="-122"/>
                <a:cs typeface="Source Sans 3" pitchFamily="34" charset="-120"/>
              </a:rPr>
              <a:t>✓ Content erstellen</a:t>
            </a:r>
            <a:endParaRPr lang="en-US" sz="1500" dirty="0"/>
          </a:p>
          <a:p>
            <a:pPr indent="0" marL="0">
              <a:spcAft>
                <a:spcPts val="800"/>
              </a:spcAft>
              <a:buNone/>
            </a:pPr>
            <a:r>
              <a:rPr lang="en-US" sz="1500" dirty="0">
                <a:solidFill>
                  <a:srgbClr val="0C1C30"/>
                </a:solidFill>
                <a:latin typeface="Source Sans 3" pitchFamily="34" charset="0"/>
                <a:ea typeface="Source Sans 3" pitchFamily="34" charset="-122"/>
                <a:cs typeface="Source Sans 3" pitchFamily="34" charset="-120"/>
              </a:rPr>
              <a:t>— Mental Load weg</a:t>
            </a:r>
            <a:endParaRPr lang="en-US" sz="1500" dirty="0"/>
          </a:p>
          <a:p>
            <a:pPr indent="0" marL="0">
              <a:spcAft>
                <a:spcPts val="800"/>
              </a:spcAft>
              <a:buNone/>
            </a:pPr>
            <a:r>
              <a:rPr lang="en-US" sz="1500" dirty="0">
                <a:solidFill>
                  <a:srgbClr val="0C1C30"/>
                </a:solidFill>
                <a:latin typeface="Source Sans 3" pitchFamily="34" charset="0"/>
                <a:ea typeface="Source Sans 3" pitchFamily="34" charset="-122"/>
                <a:cs typeface="Source Sans 3" pitchFamily="34" charset="-120"/>
              </a:rPr>
              <a:t>— Wochenrhythmus</a:t>
            </a:r>
            <a:endParaRPr lang="en-US" sz="1500" dirty="0"/>
          </a:p>
          <a:p>
            <a:pPr indent="0" marL="0">
              <a:spcAft>
                <a:spcPts val="800"/>
              </a:spcAft>
              <a:buNone/>
            </a:pPr>
            <a:r>
              <a:rPr lang="en-US" sz="1500" dirty="0">
                <a:solidFill>
                  <a:srgbClr val="0C1C30"/>
                </a:solidFill>
                <a:latin typeface="Source Sans 3" pitchFamily="34" charset="0"/>
                <a:ea typeface="Source Sans 3" pitchFamily="34" charset="-122"/>
                <a:cs typeface="Source Sans 3" pitchFamily="34" charset="-120"/>
              </a:rPr>
              <a:t>— Verbindet beides</a:t>
            </a:r>
            <a:endParaRPr lang="en-US" sz="1500" dirty="0"/>
          </a:p>
        </p:txBody>
      </p:sp>
      <p:sp>
        <p:nvSpPr>
          <p:cNvPr id="6" name="Shape 4"/>
          <p:cNvSpPr/>
          <p:nvPr/>
        </p:nvSpPr>
        <p:spPr>
          <a:xfrm>
            <a:off x="4754880" y="2194560"/>
            <a:ext cx="3474720" cy="3291840"/>
          </a:xfrm>
          <a:prstGeom prst="rect">
            <a:avLst/>
          </a:prstGeom>
          <a:solidFill>
            <a:srgbClr val="FFFFFF"/>
          </a:solidFill>
          <a:ln w="12700">
            <a:solidFill>
              <a:srgbClr val="E5E5E5"/>
            </a:solidFill>
            <a:prstDash val="solid"/>
          </a:ln>
        </p:spPr>
      </p:sp>
      <p:sp>
        <p:nvSpPr>
          <p:cNvPr id="7" name="Text 5"/>
          <p:cNvSpPr/>
          <p:nvPr/>
        </p:nvSpPr>
        <p:spPr>
          <a:xfrm>
            <a:off x="4754880" y="2286000"/>
            <a:ext cx="3474720" cy="548640"/>
          </a:xfrm>
          <a:prstGeom prst="rect">
            <a:avLst/>
          </a:prstGeom>
          <a:noFill/>
          <a:ln/>
        </p:spPr>
        <p:txBody>
          <a:bodyPr wrap="square" lIns="0" tIns="0" rIns="0" bIns="0" rtlCol="0" anchor="ctr"/>
          <a:lstStyle/>
          <a:p>
            <a:pPr algn="ctr" indent="0" marL="0">
              <a:buNone/>
            </a:pPr>
            <a:r>
              <a:rPr lang="en-US" sz="2000" b="1" dirty="0">
                <a:solidFill>
                  <a:srgbClr val="29556D"/>
                </a:solidFill>
                <a:latin typeface="Philosopher" pitchFamily="34" charset="0"/>
                <a:ea typeface="Philosopher" pitchFamily="34" charset="-122"/>
                <a:cs typeface="Philosopher" pitchFamily="34" charset="-120"/>
              </a:rPr>
              <a:t>KI fürs Privat-Leben</a:t>
            </a:r>
            <a:endParaRPr lang="en-US" sz="2000" dirty="0"/>
          </a:p>
        </p:txBody>
      </p:sp>
      <p:sp>
        <p:nvSpPr>
          <p:cNvPr id="8" name="Text 6"/>
          <p:cNvSpPr/>
          <p:nvPr/>
        </p:nvSpPr>
        <p:spPr>
          <a:xfrm>
            <a:off x="5029200" y="3017520"/>
            <a:ext cx="3108960" cy="2286000"/>
          </a:xfrm>
          <a:prstGeom prst="rect">
            <a:avLst/>
          </a:prstGeom>
          <a:noFill/>
          <a:ln/>
        </p:spPr>
        <p:txBody>
          <a:bodyPr wrap="square" lIns="0" tIns="0" rIns="0" bIns="0" rtlCol="0" anchor="ctr"/>
          <a:lstStyle/>
          <a:p>
            <a:pPr indent="0" marL="0">
              <a:spcAft>
                <a:spcPts val="800"/>
              </a:spcAft>
              <a:buNone/>
            </a:pPr>
            <a:r>
              <a:rPr lang="en-US" sz="1500" dirty="0">
                <a:solidFill>
                  <a:srgbClr val="0C1C30"/>
                </a:solidFill>
                <a:latin typeface="Source Sans 3" pitchFamily="34" charset="0"/>
                <a:ea typeface="Source Sans 3" pitchFamily="34" charset="-122"/>
                <a:cs typeface="Source Sans 3" pitchFamily="34" charset="-120"/>
              </a:rPr>
              <a:t>— Content erstellen</a:t>
            </a:r>
            <a:endParaRPr lang="en-US" sz="1500" dirty="0"/>
          </a:p>
          <a:p>
            <a:pPr indent="0" marL="0">
              <a:spcAft>
                <a:spcPts val="800"/>
              </a:spcAft>
              <a:buNone/>
            </a:pPr>
            <a:r>
              <a:rPr lang="en-US" sz="1500" dirty="0">
                <a:solidFill>
                  <a:srgbClr val="0C1C30"/>
                </a:solidFill>
                <a:latin typeface="Source Sans 3" pitchFamily="34" charset="0"/>
                <a:ea typeface="Source Sans 3" pitchFamily="34" charset="-122"/>
                <a:cs typeface="Source Sans 3" pitchFamily="34" charset="-120"/>
              </a:rPr>
              <a:t>✓ Mental Load weg</a:t>
            </a:r>
            <a:endParaRPr lang="en-US" sz="1500" dirty="0"/>
          </a:p>
          <a:p>
            <a:pPr indent="0" marL="0">
              <a:spcAft>
                <a:spcPts val="800"/>
              </a:spcAft>
              <a:buNone/>
            </a:pPr>
            <a:r>
              <a:rPr lang="en-US" sz="1500" dirty="0">
                <a:solidFill>
                  <a:srgbClr val="0C1C30"/>
                </a:solidFill>
                <a:latin typeface="Source Sans 3" pitchFamily="34" charset="0"/>
                <a:ea typeface="Source Sans 3" pitchFamily="34" charset="-122"/>
                <a:cs typeface="Source Sans 3" pitchFamily="34" charset="-120"/>
              </a:rPr>
              <a:t>— Wochenrhythmus</a:t>
            </a:r>
            <a:endParaRPr lang="en-US" sz="1500" dirty="0"/>
          </a:p>
          <a:p>
            <a:pPr indent="0" marL="0">
              <a:spcAft>
                <a:spcPts val="800"/>
              </a:spcAft>
              <a:buNone/>
            </a:pPr>
            <a:r>
              <a:rPr lang="en-US" sz="1500" dirty="0">
                <a:solidFill>
                  <a:srgbClr val="0C1C30"/>
                </a:solidFill>
                <a:latin typeface="Source Sans 3" pitchFamily="34" charset="0"/>
                <a:ea typeface="Source Sans 3" pitchFamily="34" charset="-122"/>
                <a:cs typeface="Source Sans 3" pitchFamily="34" charset="-120"/>
              </a:rPr>
              <a:t>— Verbindet beides</a:t>
            </a:r>
            <a:endParaRPr lang="en-US" sz="1500" dirty="0"/>
          </a:p>
        </p:txBody>
      </p:sp>
      <p:sp>
        <p:nvSpPr>
          <p:cNvPr id="9" name="Shape 7"/>
          <p:cNvSpPr/>
          <p:nvPr/>
        </p:nvSpPr>
        <p:spPr>
          <a:xfrm>
            <a:off x="8595360" y="2194560"/>
            <a:ext cx="3474720" cy="3291840"/>
          </a:xfrm>
          <a:prstGeom prst="rect">
            <a:avLst/>
          </a:prstGeom>
          <a:solidFill>
            <a:srgbClr val="12828C"/>
          </a:solidFill>
          <a:ln w="12700">
            <a:solidFill>
              <a:srgbClr val="12828C"/>
            </a:solidFill>
            <a:prstDash val="solid"/>
          </a:ln>
        </p:spPr>
      </p:sp>
      <p:sp>
        <p:nvSpPr>
          <p:cNvPr id="10" name="Text 8"/>
          <p:cNvSpPr/>
          <p:nvPr/>
        </p:nvSpPr>
        <p:spPr>
          <a:xfrm>
            <a:off x="8595360" y="2286000"/>
            <a:ext cx="3474720" cy="548640"/>
          </a:xfrm>
          <a:prstGeom prst="rect">
            <a:avLst/>
          </a:prstGeom>
          <a:noFill/>
          <a:ln/>
        </p:spPr>
        <p:txBody>
          <a:bodyPr wrap="square" lIns="0" tIns="0" rIns="0" bIns="0" rtlCol="0" anchor="ctr"/>
          <a:lstStyle/>
          <a:p>
            <a:pPr algn="ctr" indent="0" marL="0">
              <a:buNone/>
            </a:pPr>
            <a:r>
              <a:rPr lang="en-US" sz="2000" b="1" dirty="0">
                <a:solidFill>
                  <a:srgbClr val="F5E555"/>
                </a:solidFill>
                <a:latin typeface="Philosopher" pitchFamily="34" charset="0"/>
                <a:ea typeface="Philosopher" pitchFamily="34" charset="-122"/>
                <a:cs typeface="Philosopher" pitchFamily="34" charset="-120"/>
              </a:rPr>
              <a:t>Mama-CEO</a:t>
            </a:r>
            <a:endParaRPr lang="en-US" sz="2000" dirty="0"/>
          </a:p>
        </p:txBody>
      </p:sp>
      <p:sp>
        <p:nvSpPr>
          <p:cNvPr id="11" name="Text 9"/>
          <p:cNvSpPr/>
          <p:nvPr/>
        </p:nvSpPr>
        <p:spPr>
          <a:xfrm>
            <a:off x="8869680" y="3017520"/>
            <a:ext cx="3108960" cy="2286000"/>
          </a:xfrm>
          <a:prstGeom prst="rect">
            <a:avLst/>
          </a:prstGeom>
          <a:noFill/>
          <a:ln/>
        </p:spPr>
        <p:txBody>
          <a:bodyPr wrap="square" lIns="0" tIns="0" rIns="0" bIns="0" rtlCol="0" anchor="ctr"/>
          <a:lstStyle/>
          <a:p>
            <a:pPr indent="0" marL="0">
              <a:spcAft>
                <a:spcPts val="800"/>
              </a:spcAft>
              <a:buNone/>
            </a:pPr>
            <a:r>
              <a:rPr lang="en-US" sz="1500" dirty="0">
                <a:solidFill>
                  <a:srgbClr val="F1ECDD"/>
                </a:solidFill>
                <a:latin typeface="Source Sans 3" pitchFamily="34" charset="0"/>
                <a:ea typeface="Source Sans 3" pitchFamily="34" charset="-122"/>
                <a:cs typeface="Source Sans 3" pitchFamily="34" charset="-120"/>
              </a:rPr>
              <a:t>✓ Content erstellen</a:t>
            </a:r>
            <a:endParaRPr lang="en-US" sz="1500" dirty="0"/>
          </a:p>
          <a:p>
            <a:pPr indent="0" marL="0">
              <a:spcAft>
                <a:spcPts val="800"/>
              </a:spcAft>
              <a:buNone/>
            </a:pPr>
            <a:r>
              <a:rPr lang="en-US" sz="1500" dirty="0">
                <a:solidFill>
                  <a:srgbClr val="F1ECDD"/>
                </a:solidFill>
                <a:latin typeface="Source Sans 3" pitchFamily="34" charset="0"/>
                <a:ea typeface="Source Sans 3" pitchFamily="34" charset="-122"/>
                <a:cs typeface="Source Sans 3" pitchFamily="34" charset="-120"/>
              </a:rPr>
              <a:t>✓ Mental Load weg</a:t>
            </a:r>
            <a:endParaRPr lang="en-US" sz="1500" dirty="0"/>
          </a:p>
          <a:p>
            <a:pPr indent="0" marL="0">
              <a:spcAft>
                <a:spcPts val="800"/>
              </a:spcAft>
              <a:buNone/>
            </a:pPr>
            <a:r>
              <a:rPr lang="en-US" sz="1500" dirty="0">
                <a:solidFill>
                  <a:srgbClr val="F1ECDD"/>
                </a:solidFill>
                <a:latin typeface="Source Sans 3" pitchFamily="34" charset="0"/>
                <a:ea typeface="Source Sans 3" pitchFamily="34" charset="-122"/>
                <a:cs typeface="Source Sans 3" pitchFamily="34" charset="-120"/>
              </a:rPr>
              <a:t>✓ Wochenrhythmus</a:t>
            </a:r>
            <a:endParaRPr lang="en-US" sz="1500" dirty="0"/>
          </a:p>
          <a:p>
            <a:pPr indent="0" marL="0">
              <a:spcAft>
                <a:spcPts val="800"/>
              </a:spcAft>
              <a:buNone/>
            </a:pPr>
            <a:r>
              <a:rPr lang="en-US" sz="1500" dirty="0">
                <a:solidFill>
                  <a:srgbClr val="F1ECDD"/>
                </a:solidFill>
                <a:latin typeface="Source Sans 3" pitchFamily="34" charset="0"/>
                <a:ea typeface="Source Sans 3" pitchFamily="34" charset="-122"/>
                <a:cs typeface="Source Sans 3" pitchFamily="34" charset="-120"/>
              </a:rPr>
              <a:t>✓ Verbindet beides</a:t>
            </a:r>
            <a:endParaRPr lang="en-US" sz="1500" dirty="0"/>
          </a:p>
        </p:txBody>
      </p:sp>
      <p:sp>
        <p:nvSpPr>
          <p:cNvPr id="12" name="Text 10"/>
          <p:cNvSpPr/>
          <p:nvPr/>
        </p:nvSpPr>
        <p:spPr>
          <a:xfrm>
            <a:off x="914400" y="5760720"/>
            <a:ext cx="10362895" cy="640080"/>
          </a:xfrm>
          <a:prstGeom prst="rect">
            <a:avLst/>
          </a:prstGeom>
          <a:noFill/>
          <a:ln/>
        </p:spPr>
        <p:txBody>
          <a:bodyPr wrap="square" lIns="0" tIns="0" rIns="0" bIns="0" rtlCol="0" anchor="ctr"/>
          <a:lstStyle/>
          <a:p>
            <a:pPr algn="ctr" indent="0" marL="0">
              <a:buNone/>
            </a:pPr>
            <a:r>
              <a:rPr lang="en-US" sz="2200" i="1" dirty="0">
                <a:solidFill>
                  <a:srgbClr val="DC822E"/>
                </a:solidFill>
                <a:latin typeface="Philosopher" pitchFamily="34" charset="0"/>
                <a:ea typeface="Philosopher" pitchFamily="34" charset="-122"/>
                <a:cs typeface="Philosopher" pitchFamily="34" charset="-120"/>
              </a:rPr>
              <a:t>Mama-CEO verbindet beides — weil dein Mental Load auch beides ist.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C822E"/>
        </a:solidFill>
      </p:bgPr>
    </p:bg>
    <p:spTree>
      <p:nvGrpSpPr>
        <p:cNvPr id="1" name=""/>
        <p:cNvGrpSpPr/>
        <p:nvPr/>
      </p:nvGrpSpPr>
      <p:grpSpPr>
        <a:xfrm>
          <a:off x="0" y="0"/>
          <a:ext cx="0" cy="0"/>
          <a:chOff x="0" y="0"/>
          <a:chExt cx="0" cy="0"/>
        </a:xfrm>
      </p:grpSpPr>
      <p:sp>
        <p:nvSpPr>
          <p:cNvPr id="2" name="Text 0"/>
          <p:cNvSpPr/>
          <p:nvPr/>
        </p:nvSpPr>
        <p:spPr>
          <a:xfrm>
            <a:off x="914400" y="1371600"/>
            <a:ext cx="10362895" cy="1645920"/>
          </a:xfrm>
          <a:prstGeom prst="rect">
            <a:avLst/>
          </a:prstGeom>
          <a:noFill/>
          <a:ln/>
        </p:spPr>
        <p:txBody>
          <a:bodyPr wrap="square" lIns="0" tIns="0" rIns="0" bIns="0" rtlCol="0" anchor="t"/>
          <a:lstStyle/>
          <a:p>
            <a:pPr algn="ctr" indent="0" marL="0">
              <a:buNone/>
            </a:pPr>
            <a:r>
              <a:rPr lang="en-US" sz="6000" b="1" dirty="0">
                <a:solidFill>
                  <a:srgbClr val="FFFFFF"/>
                </a:solidFill>
                <a:latin typeface="Philosopher" pitchFamily="34" charset="0"/>
                <a:ea typeface="Philosopher" pitchFamily="34" charset="-122"/>
                <a:cs typeface="Philosopher" pitchFamily="34" charset="-120"/>
              </a:rPr>
              <a:t>Jetzt zeig ich dir's live.</a:t>
            </a:r>
            <a:endParaRPr lang="en-US" sz="6000" dirty="0"/>
          </a:p>
        </p:txBody>
      </p:sp>
      <p:sp>
        <p:nvSpPr>
          <p:cNvPr id="3" name="Text 1"/>
          <p:cNvSpPr/>
          <p:nvPr/>
        </p:nvSpPr>
        <p:spPr>
          <a:xfrm>
            <a:off x="914400" y="2743200"/>
            <a:ext cx="10362895" cy="640080"/>
          </a:xfrm>
          <a:prstGeom prst="rect">
            <a:avLst/>
          </a:prstGeom>
          <a:noFill/>
          <a:ln/>
        </p:spPr>
        <p:txBody>
          <a:bodyPr wrap="square" lIns="0" tIns="0" rIns="0" bIns="0" rtlCol="0" anchor="ctr"/>
          <a:lstStyle/>
          <a:p>
            <a:pPr algn="ctr" indent="0" marL="0">
              <a:buNone/>
            </a:pPr>
            <a:r>
              <a:rPr lang="en-US" sz="2200" i="1" dirty="0">
                <a:solidFill>
                  <a:srgbClr val="FFFFFF"/>
                </a:solidFill>
                <a:latin typeface="Source Sans 3" pitchFamily="34" charset="0"/>
                <a:ea typeface="Source Sans 3" pitchFamily="34" charset="-122"/>
                <a:cs typeface="Source Sans 3" pitchFamily="34" charset="-120"/>
              </a:rPr>
              <a:t>2 Bots. Selbst gebaut. Ohne Tech-Hintergrund.</a:t>
            </a:r>
            <a:endParaRPr lang="en-US" sz="2200" dirty="0"/>
          </a:p>
        </p:txBody>
      </p:sp>
      <p:sp>
        <p:nvSpPr>
          <p:cNvPr id="4" name="Text 2"/>
          <p:cNvSpPr/>
          <p:nvPr/>
        </p:nvSpPr>
        <p:spPr>
          <a:xfrm>
            <a:off x="914400" y="3749040"/>
            <a:ext cx="10362895" cy="2011680"/>
          </a:xfrm>
          <a:prstGeom prst="rect">
            <a:avLst/>
          </a:prstGeom>
          <a:noFill/>
          <a:ln/>
        </p:spPr>
        <p:txBody>
          <a:bodyPr wrap="square" lIns="0" tIns="0" rIns="0" bIns="0" rtlCol="0" anchor="ctr"/>
          <a:lstStyle/>
          <a:p>
            <a:pPr algn="ctr" indent="0" marL="0">
              <a:spcAft>
                <a:spcPts val="1000"/>
              </a:spcAft>
              <a:buNone/>
            </a:pPr>
            <a:r>
              <a:rPr lang="en-US" sz="2200" b="1" dirty="0">
                <a:solidFill>
                  <a:srgbClr val="FFFFFF"/>
                </a:solidFill>
                <a:latin typeface="Source Sans 3" pitchFamily="34" charset="0"/>
                <a:ea typeface="Source Sans 3" pitchFamily="34" charset="-122"/>
                <a:cs typeface="Source Sans 3" pitchFamily="34" charset="-120"/>
              </a:rPr>
              <a:t>→ Bot 1: Mein Kochassistent (17 Min)</a:t>
            </a:r>
            <a:endParaRPr lang="en-US" sz="2200" dirty="0"/>
          </a:p>
          <a:p>
            <a:pPr algn="ctr" indent="0" marL="0">
              <a:spcAft>
                <a:spcPts val="1000"/>
              </a:spcAft>
              <a:buNone/>
            </a:pPr>
            <a:r>
              <a:rPr lang="en-US" sz="2200" b="1" dirty="0">
                <a:solidFill>
                  <a:srgbClr val="FFFFFF"/>
                </a:solidFill>
                <a:latin typeface="Source Sans 3" pitchFamily="34" charset="0"/>
                <a:ea typeface="Source Sans 3" pitchFamily="34" charset="-122"/>
                <a:cs typeface="Source Sans 3" pitchFamily="34" charset="-120"/>
              </a:rPr>
              <a:t>→ Bot 2: Mein Brand-Voice-Bot (13 Min)</a:t>
            </a:r>
            <a:endParaRPr lang="en-US" sz="2200" dirty="0"/>
          </a:p>
          <a:p>
            <a:pPr algn="ctr" indent="0" marL="0">
              <a:spcAft>
                <a:spcPts val="1000"/>
              </a:spcAft>
              <a:buNone/>
            </a:pPr>
            <a:r>
              <a:rPr lang="en-US" sz="2200" b="1" dirty="0">
                <a:solidFill>
                  <a:srgbClr val="FFFFFF"/>
                </a:solidFill>
                <a:latin typeface="Source Sans 3" pitchFamily="34" charset="0"/>
                <a:ea typeface="Source Sans 3" pitchFamily="34" charset="-122"/>
                <a:cs typeface="Source Sans 3" pitchFamily="34" charset="-120"/>
              </a:rPr>
              <a:t>→ Beide hab ich SELBST mit Claude Code gebaut.</a:t>
            </a:r>
            <a:endParaRPr lang="en-US" sz="2200" dirty="0"/>
          </a:p>
        </p:txBody>
      </p:sp>
      <p:sp>
        <p:nvSpPr>
          <p:cNvPr id="5" name="Text 3"/>
          <p:cNvSpPr/>
          <p:nvPr/>
        </p:nvSpPr>
        <p:spPr>
          <a:xfrm>
            <a:off x="914400" y="6035040"/>
            <a:ext cx="10362895" cy="457200"/>
          </a:xfrm>
          <a:prstGeom prst="rect">
            <a:avLst/>
          </a:prstGeom>
          <a:noFill/>
          <a:ln/>
        </p:spPr>
        <p:txBody>
          <a:bodyPr wrap="square" lIns="0" tIns="0" rIns="0" bIns="0" rtlCol="0" anchor="ctr"/>
          <a:lstStyle/>
          <a:p>
            <a:pPr algn="ctr" indent="0" marL="0">
              <a:buNone/>
            </a:pPr>
            <a:r>
              <a:rPr lang="en-US" sz="1800" i="1" dirty="0">
                <a:solidFill>
                  <a:srgbClr val="FFFFFF"/>
                </a:solidFill>
                <a:latin typeface="Philosopher" pitchFamily="34" charset="0"/>
                <a:ea typeface="Philosopher" pitchFamily="34" charset="-122"/>
                <a:cs typeface="Philosopher" pitchFamily="34" charset="-120"/>
              </a:rPr>
              <a:t>Bring Notizblock mit. Schreib mit.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C"/>
        </a:solidFill>
      </p:bgPr>
    </p:bg>
    <p:spTree>
      <p:nvGrpSpPr>
        <p:cNvPr id="1" name=""/>
        <p:cNvGrpSpPr/>
        <p:nvPr/>
      </p:nvGrpSpPr>
      <p:grpSpPr>
        <a:xfrm>
          <a:off x="0" y="0"/>
          <a:ext cx="0" cy="0"/>
          <a:chOff x="0" y="0"/>
          <a:chExt cx="0" cy="0"/>
        </a:xfrm>
      </p:grpSpPr>
      <p:sp>
        <p:nvSpPr>
          <p:cNvPr id="2" name="Text 0"/>
          <p:cNvSpPr/>
          <p:nvPr/>
        </p:nvSpPr>
        <p:spPr>
          <a:xfrm>
            <a:off x="914400" y="731520"/>
            <a:ext cx="10362895" cy="457200"/>
          </a:xfrm>
          <a:prstGeom prst="rect">
            <a:avLst/>
          </a:prstGeom>
          <a:noFill/>
          <a:ln/>
        </p:spPr>
        <p:txBody>
          <a:bodyPr wrap="square" lIns="0" tIns="0" rIns="0" bIns="0" rtlCol="0" anchor="ctr"/>
          <a:lstStyle/>
          <a:p>
            <a:pPr algn="ctr" indent="0" marL="0">
              <a:buNone/>
            </a:pPr>
            <a:r>
              <a:rPr lang="en-US" sz="1400" b="1" spc="800" kern="0" dirty="0">
                <a:solidFill>
                  <a:srgbClr val="DC822E"/>
                </a:solidFill>
                <a:latin typeface="Source Sans 3" pitchFamily="34" charset="0"/>
                <a:ea typeface="Source Sans 3" pitchFamily="34" charset="-122"/>
                <a:cs typeface="Source Sans 3" pitchFamily="34" charset="-120"/>
              </a:rPr>
              <a:t>LIVE-DEMO</a:t>
            </a:r>
            <a:endParaRPr lang="en-US" sz="1400" dirty="0"/>
          </a:p>
        </p:txBody>
      </p:sp>
      <p:sp>
        <p:nvSpPr>
          <p:cNvPr id="3" name="Text 1"/>
          <p:cNvSpPr/>
          <p:nvPr/>
        </p:nvSpPr>
        <p:spPr>
          <a:xfrm>
            <a:off x="914400" y="1645920"/>
            <a:ext cx="10362895" cy="1097280"/>
          </a:xfrm>
          <a:prstGeom prst="rect">
            <a:avLst/>
          </a:prstGeom>
          <a:noFill/>
          <a:ln/>
        </p:spPr>
        <p:txBody>
          <a:bodyPr wrap="square" lIns="0" tIns="0" rIns="0" bIns="0" rtlCol="0" anchor="ctr"/>
          <a:lstStyle/>
          <a:p>
            <a:pPr algn="ctr" indent="0" marL="0">
              <a:buNone/>
            </a:pPr>
            <a:r>
              <a:rPr lang="en-US" sz="4000" b="1" dirty="0">
                <a:solidFill>
                  <a:srgbClr val="29556D"/>
                </a:solidFill>
                <a:latin typeface="Philosopher" pitchFamily="34" charset="0"/>
                <a:ea typeface="Philosopher" pitchFamily="34" charset="-122"/>
                <a:cs typeface="Philosopher" pitchFamily="34" charset="-120"/>
              </a:rPr>
              <a:t>[Bildschirm-Aufnahme — 30 Min]</a:t>
            </a:r>
            <a:endParaRPr lang="en-US" sz="4000" dirty="0"/>
          </a:p>
        </p:txBody>
      </p:sp>
      <p:sp>
        <p:nvSpPr>
          <p:cNvPr id="4" name="Shape 2"/>
          <p:cNvSpPr/>
          <p:nvPr/>
        </p:nvSpPr>
        <p:spPr>
          <a:xfrm>
            <a:off x="1371600" y="3200400"/>
            <a:ext cx="4389120" cy="2926080"/>
          </a:xfrm>
          <a:prstGeom prst="rect">
            <a:avLst/>
          </a:prstGeom>
          <a:solidFill>
            <a:srgbClr val="FFFFFF"/>
          </a:solidFill>
          <a:ln w="12700">
            <a:solidFill>
              <a:srgbClr val="12828C"/>
            </a:solidFill>
            <a:prstDash val="solid"/>
          </a:ln>
        </p:spPr>
      </p:sp>
      <p:sp>
        <p:nvSpPr>
          <p:cNvPr id="5" name="Text 3"/>
          <p:cNvSpPr/>
          <p:nvPr/>
        </p:nvSpPr>
        <p:spPr>
          <a:xfrm>
            <a:off x="1554480" y="3383280"/>
            <a:ext cx="4023360" cy="365760"/>
          </a:xfrm>
          <a:prstGeom prst="rect">
            <a:avLst/>
          </a:prstGeom>
          <a:noFill/>
          <a:ln/>
        </p:spPr>
        <p:txBody>
          <a:bodyPr wrap="square" lIns="0" tIns="0" rIns="0" bIns="0" rtlCol="0" anchor="ctr"/>
          <a:lstStyle/>
          <a:p>
            <a:pPr indent="0" marL="0">
              <a:buNone/>
            </a:pPr>
            <a:r>
              <a:rPr lang="en-US" sz="1300" b="1" spc="500" kern="0" dirty="0">
                <a:solidFill>
                  <a:srgbClr val="DC822E"/>
                </a:solidFill>
                <a:latin typeface="Source Sans 3" pitchFamily="34" charset="0"/>
                <a:ea typeface="Source Sans 3" pitchFamily="34" charset="-122"/>
                <a:cs typeface="Source Sans 3" pitchFamily="34" charset="-120"/>
              </a:rPr>
              <a:t>Demo 1 · 17 Min</a:t>
            </a:r>
            <a:endParaRPr lang="en-US" sz="1300" dirty="0"/>
          </a:p>
        </p:txBody>
      </p:sp>
      <p:sp>
        <p:nvSpPr>
          <p:cNvPr id="6" name="Text 4"/>
          <p:cNvSpPr/>
          <p:nvPr/>
        </p:nvSpPr>
        <p:spPr>
          <a:xfrm>
            <a:off x="1554480" y="3749040"/>
            <a:ext cx="4023360" cy="457200"/>
          </a:xfrm>
          <a:prstGeom prst="rect">
            <a:avLst/>
          </a:prstGeom>
          <a:noFill/>
          <a:ln/>
        </p:spPr>
        <p:txBody>
          <a:bodyPr wrap="square" lIns="0" tIns="0" rIns="0" bIns="0" rtlCol="0" anchor="ctr"/>
          <a:lstStyle/>
          <a:p>
            <a:pPr indent="0" marL="0">
              <a:buNone/>
            </a:pPr>
            <a:r>
              <a:rPr lang="en-US" sz="2200" b="1" dirty="0">
                <a:solidFill>
                  <a:srgbClr val="29556D"/>
                </a:solidFill>
                <a:latin typeface="Philosopher" pitchFamily="34" charset="0"/>
                <a:ea typeface="Philosopher" pitchFamily="34" charset="-122"/>
                <a:cs typeface="Philosopher" pitchFamily="34" charset="-120"/>
              </a:rPr>
              <a:t>Kochassistent</a:t>
            </a:r>
            <a:endParaRPr lang="en-US" sz="2200" dirty="0"/>
          </a:p>
        </p:txBody>
      </p:sp>
      <p:sp>
        <p:nvSpPr>
          <p:cNvPr id="7" name="Text 5"/>
          <p:cNvSpPr/>
          <p:nvPr/>
        </p:nvSpPr>
        <p:spPr>
          <a:xfrm>
            <a:off x="1554480" y="4297680"/>
            <a:ext cx="4023360" cy="1828800"/>
          </a:xfrm>
          <a:prstGeom prst="rect">
            <a:avLst/>
          </a:prstGeom>
          <a:noFill/>
          <a:ln/>
        </p:spPr>
        <p:txBody>
          <a:bodyPr wrap="square" lIns="0" tIns="0" rIns="0" bIns="0" rtlCol="0" anchor="ctr"/>
          <a:lstStyle/>
          <a:p>
            <a:pPr indent="0" marL="0">
              <a:buNone/>
            </a:pPr>
            <a:r>
              <a:rPr lang="en-US" sz="1400" dirty="0">
                <a:solidFill>
                  <a:srgbClr val="0C1C30"/>
                </a:solidFill>
                <a:latin typeface="Source Sans 3" pitchFamily="34" charset="0"/>
                <a:ea typeface="Source Sans 3" pitchFamily="34" charset="-122"/>
                <a:cs typeface="Source Sans 3" pitchFamily="34" charset="-120"/>
              </a:rPr>
              <a:t>Claude Code · /mealplan · Wochenplan + Einkaufsliste in 90 Sek.</a:t>
            </a:r>
            <a:endParaRPr lang="en-US" sz="1400" dirty="0"/>
          </a:p>
        </p:txBody>
      </p:sp>
      <p:sp>
        <p:nvSpPr>
          <p:cNvPr id="8" name="Shape 6"/>
          <p:cNvSpPr/>
          <p:nvPr/>
        </p:nvSpPr>
        <p:spPr>
          <a:xfrm>
            <a:off x="6400800" y="3200400"/>
            <a:ext cx="4389120" cy="2926080"/>
          </a:xfrm>
          <a:prstGeom prst="rect">
            <a:avLst/>
          </a:prstGeom>
          <a:solidFill>
            <a:srgbClr val="FFFFFF"/>
          </a:solidFill>
          <a:ln w="12700">
            <a:solidFill>
              <a:srgbClr val="12828C"/>
            </a:solidFill>
            <a:prstDash val="solid"/>
          </a:ln>
        </p:spPr>
      </p:sp>
      <p:sp>
        <p:nvSpPr>
          <p:cNvPr id="9" name="Text 7"/>
          <p:cNvSpPr/>
          <p:nvPr/>
        </p:nvSpPr>
        <p:spPr>
          <a:xfrm>
            <a:off x="6583680" y="3383280"/>
            <a:ext cx="4023360" cy="365760"/>
          </a:xfrm>
          <a:prstGeom prst="rect">
            <a:avLst/>
          </a:prstGeom>
          <a:noFill/>
          <a:ln/>
        </p:spPr>
        <p:txBody>
          <a:bodyPr wrap="square" lIns="0" tIns="0" rIns="0" bIns="0" rtlCol="0" anchor="ctr"/>
          <a:lstStyle/>
          <a:p>
            <a:pPr indent="0" marL="0">
              <a:buNone/>
            </a:pPr>
            <a:r>
              <a:rPr lang="en-US" sz="1300" b="1" spc="500" kern="0" dirty="0">
                <a:solidFill>
                  <a:srgbClr val="DC822E"/>
                </a:solidFill>
                <a:latin typeface="Source Sans 3" pitchFamily="34" charset="0"/>
                <a:ea typeface="Source Sans 3" pitchFamily="34" charset="-122"/>
                <a:cs typeface="Source Sans 3" pitchFamily="34" charset="-120"/>
              </a:rPr>
              <a:t>Demo 2 · 13 Min</a:t>
            </a:r>
            <a:endParaRPr lang="en-US" sz="1300" dirty="0"/>
          </a:p>
        </p:txBody>
      </p:sp>
      <p:sp>
        <p:nvSpPr>
          <p:cNvPr id="10" name="Text 8"/>
          <p:cNvSpPr/>
          <p:nvPr/>
        </p:nvSpPr>
        <p:spPr>
          <a:xfrm>
            <a:off x="6583680" y="3749040"/>
            <a:ext cx="4023360" cy="457200"/>
          </a:xfrm>
          <a:prstGeom prst="rect">
            <a:avLst/>
          </a:prstGeom>
          <a:noFill/>
          <a:ln/>
        </p:spPr>
        <p:txBody>
          <a:bodyPr wrap="square" lIns="0" tIns="0" rIns="0" bIns="0" rtlCol="0" anchor="ctr"/>
          <a:lstStyle/>
          <a:p>
            <a:pPr indent="0" marL="0">
              <a:buNone/>
            </a:pPr>
            <a:r>
              <a:rPr lang="en-US" sz="2200" b="1" dirty="0">
                <a:solidFill>
                  <a:srgbClr val="29556D"/>
                </a:solidFill>
                <a:latin typeface="Philosopher" pitchFamily="34" charset="0"/>
                <a:ea typeface="Philosopher" pitchFamily="34" charset="-122"/>
                <a:cs typeface="Philosopher" pitchFamily="34" charset="-120"/>
              </a:rPr>
              <a:t>Brand-Voice-Bot</a:t>
            </a:r>
            <a:endParaRPr lang="en-US" sz="2200" dirty="0"/>
          </a:p>
        </p:txBody>
      </p:sp>
      <p:sp>
        <p:nvSpPr>
          <p:cNvPr id="11" name="Text 9"/>
          <p:cNvSpPr/>
          <p:nvPr/>
        </p:nvSpPr>
        <p:spPr>
          <a:xfrm>
            <a:off x="6583680" y="4297680"/>
            <a:ext cx="4023360" cy="1828800"/>
          </a:xfrm>
          <a:prstGeom prst="rect">
            <a:avLst/>
          </a:prstGeom>
          <a:noFill/>
          <a:ln/>
        </p:spPr>
        <p:txBody>
          <a:bodyPr wrap="square" lIns="0" tIns="0" rIns="0" bIns="0" rtlCol="0" anchor="ctr"/>
          <a:lstStyle/>
          <a:p>
            <a:pPr indent="0" marL="0">
              <a:buNone/>
            </a:pPr>
            <a:r>
              <a:rPr lang="en-US" sz="1400" dirty="0">
                <a:solidFill>
                  <a:srgbClr val="0C1C30"/>
                </a:solidFill>
                <a:latin typeface="Source Sans 3" pitchFamily="34" charset="0"/>
                <a:ea typeface="Source Sans 3" pitchFamily="34" charset="-122"/>
                <a:cs typeface="Source Sans 3" pitchFamily="34" charset="-120"/>
              </a:rPr>
              <a:t>3 Reels-Hooks zur Schuld-Spirale, in Patricia-Stimme, in 30 Sek.</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5E66"/>
        </a:solidFill>
      </p:bgPr>
    </p:bg>
    <p:spTree>
      <p:nvGrpSpPr>
        <p:cNvPr id="1" name=""/>
        <p:cNvGrpSpPr/>
        <p:nvPr/>
      </p:nvGrpSpPr>
      <p:grpSpPr>
        <a:xfrm>
          <a:off x="0" y="0"/>
          <a:ext cx="0" cy="0"/>
          <a:chOff x="0" y="0"/>
          <a:chExt cx="0" cy="0"/>
        </a:xfrm>
      </p:grpSpPr>
      <p:sp>
        <p:nvSpPr>
          <p:cNvPr id="2" name="Text 0"/>
          <p:cNvSpPr/>
          <p:nvPr/>
        </p:nvSpPr>
        <p:spPr>
          <a:xfrm>
            <a:off x="914400" y="822960"/>
            <a:ext cx="10362895" cy="1645920"/>
          </a:xfrm>
          <a:prstGeom prst="rect">
            <a:avLst/>
          </a:prstGeom>
          <a:noFill/>
          <a:ln/>
        </p:spPr>
        <p:txBody>
          <a:bodyPr wrap="square" lIns="0" tIns="0" rIns="0" bIns="0" rtlCol="0" anchor="t"/>
          <a:lstStyle/>
          <a:p>
            <a:pPr algn="ctr" indent="0" marL="0">
              <a:buNone/>
            </a:pPr>
            <a:r>
              <a:rPr lang="en-US" sz="3600" b="1" dirty="0">
                <a:solidFill>
                  <a:srgbClr val="F1ECDD"/>
                </a:solidFill>
                <a:latin typeface="Philosopher" pitchFamily="34" charset="0"/>
                <a:ea typeface="Philosopher" pitchFamily="34" charset="-122"/>
                <a:cs typeface="Philosopher" pitchFamily="34" charset="-120"/>
              </a:rPr>
              <a:t>Was du gerade gesehen hast:</a:t>
            </a:r>
            <a:endParaRPr lang="en-US" sz="3600" dirty="0"/>
          </a:p>
        </p:txBody>
      </p:sp>
      <p:sp>
        <p:nvSpPr>
          <p:cNvPr id="3" name="Text 1"/>
          <p:cNvSpPr/>
          <p:nvPr/>
        </p:nvSpPr>
        <p:spPr>
          <a:xfrm>
            <a:off x="914400" y="2194560"/>
            <a:ext cx="10362895" cy="1828800"/>
          </a:xfrm>
          <a:prstGeom prst="rect">
            <a:avLst/>
          </a:prstGeom>
          <a:noFill/>
          <a:ln/>
        </p:spPr>
        <p:txBody>
          <a:bodyPr wrap="square" lIns="0" tIns="0" rIns="0" bIns="0" rtlCol="0" anchor="ctr"/>
          <a:lstStyle/>
          <a:p>
            <a:pPr algn="ctr" indent="0" marL="0">
              <a:spcAft>
                <a:spcPts val="800"/>
              </a:spcAft>
              <a:buNone/>
            </a:pPr>
            <a:r>
              <a:rPr lang="en-US" sz="2200" b="1" dirty="0">
                <a:solidFill>
                  <a:srgbClr val="F5E555"/>
                </a:solidFill>
                <a:latin typeface="Source Sans 3" pitchFamily="34" charset="0"/>
                <a:ea typeface="Source Sans 3" pitchFamily="34" charset="-122"/>
                <a:cs typeface="Source Sans 3" pitchFamily="34" charset="-120"/>
              </a:rPr>
              <a:t>✓ Bot 1: Familienwoche geplant in 90 Sek.</a:t>
            </a:r>
            <a:endParaRPr lang="en-US" sz="2200" dirty="0"/>
          </a:p>
          <a:p>
            <a:pPr algn="ctr" indent="0" marL="0">
              <a:spcAft>
                <a:spcPts val="800"/>
              </a:spcAft>
              <a:buNone/>
            </a:pPr>
            <a:r>
              <a:rPr lang="en-US" sz="2200" b="1" dirty="0">
                <a:solidFill>
                  <a:srgbClr val="F5E555"/>
                </a:solidFill>
                <a:latin typeface="Source Sans 3" pitchFamily="34" charset="0"/>
                <a:ea typeface="Source Sans 3" pitchFamily="34" charset="-122"/>
                <a:cs typeface="Source Sans 3" pitchFamily="34" charset="-120"/>
              </a:rPr>
              <a:t>✓ Bot 2: 3 Reels-Hooks in deiner Stimme in 30 Sek.</a:t>
            </a:r>
            <a:endParaRPr lang="en-US" sz="2200" dirty="0"/>
          </a:p>
          <a:p>
            <a:pPr algn="ctr" indent="0" marL="0">
              <a:spcAft>
                <a:spcPts val="800"/>
              </a:spcAft>
              <a:buNone/>
            </a:pPr>
            <a:r>
              <a:rPr lang="en-US" sz="2200" b="1" dirty="0">
                <a:solidFill>
                  <a:srgbClr val="F5E555"/>
                </a:solidFill>
                <a:latin typeface="Source Sans 3" pitchFamily="34" charset="0"/>
                <a:ea typeface="Source Sans 3" pitchFamily="34" charset="-122"/>
                <a:cs typeface="Source Sans 3" pitchFamily="34" charset="-120"/>
              </a:rPr>
              <a:t>✓ BEIDE SELBST GEBAUT. Ohne Tech-Hintergrund.</a:t>
            </a:r>
            <a:endParaRPr lang="en-US" sz="2200" dirty="0"/>
          </a:p>
        </p:txBody>
      </p:sp>
      <p:sp>
        <p:nvSpPr>
          <p:cNvPr id="4" name="Text 2"/>
          <p:cNvSpPr/>
          <p:nvPr/>
        </p:nvSpPr>
        <p:spPr>
          <a:xfrm>
            <a:off x="914400" y="4572000"/>
            <a:ext cx="10362895" cy="914400"/>
          </a:xfrm>
          <a:prstGeom prst="rect">
            <a:avLst/>
          </a:prstGeom>
          <a:noFill/>
          <a:ln/>
        </p:spPr>
        <p:txBody>
          <a:bodyPr wrap="square" lIns="0" tIns="0" rIns="0" bIns="0" rtlCol="0" anchor="ctr"/>
          <a:lstStyle/>
          <a:p>
            <a:pPr algn="ctr" indent="0" marL="0">
              <a:buNone/>
            </a:pPr>
            <a:r>
              <a:rPr lang="en-US" sz="3800" b="1" i="1" dirty="0">
                <a:solidFill>
                  <a:srgbClr val="DC822E"/>
                </a:solidFill>
                <a:latin typeface="Philosopher" pitchFamily="34" charset="0"/>
                <a:ea typeface="Philosopher" pitchFamily="34" charset="-122"/>
                <a:cs typeface="Philosopher" pitchFamily="34" charset="-120"/>
              </a:rPr>
              <a:t>„Wenn ich das kann, kannst du das auch."</a:t>
            </a:r>
            <a:endParaRPr lang="en-US" sz="3800" dirty="0"/>
          </a:p>
        </p:txBody>
      </p:sp>
      <p:sp>
        <p:nvSpPr>
          <p:cNvPr id="5" name="Text 3"/>
          <p:cNvSpPr/>
          <p:nvPr/>
        </p:nvSpPr>
        <p:spPr>
          <a:xfrm>
            <a:off x="914400" y="5852160"/>
            <a:ext cx="10362895" cy="457200"/>
          </a:xfrm>
          <a:prstGeom prst="rect">
            <a:avLst/>
          </a:prstGeom>
          <a:noFill/>
          <a:ln/>
        </p:spPr>
        <p:txBody>
          <a:bodyPr wrap="square" lIns="0" tIns="0" rIns="0" bIns="0" rtlCol="0" anchor="ctr"/>
          <a:lstStyle/>
          <a:p>
            <a:pPr algn="ctr" indent="0" marL="0">
              <a:buNone/>
            </a:pPr>
            <a:r>
              <a:rPr lang="en-US" sz="1600" dirty="0">
                <a:solidFill>
                  <a:srgbClr val="F1ECDD"/>
                </a:solidFill>
                <a:latin typeface="Source Sans 3" pitchFamily="34" charset="0"/>
                <a:ea typeface="Source Sans 3" pitchFamily="34" charset="-122"/>
                <a:cs typeface="Source Sans 3" pitchFamily="34" charset="-120"/>
              </a:rPr>
              <a:t>Im Programm zeig ich dir Schritt für Schritt wie.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ECDD"/>
        </a:solidFill>
      </p:bgPr>
    </p:bg>
    <p:spTree>
      <p:nvGrpSpPr>
        <p:cNvPr id="1" name=""/>
        <p:cNvGrpSpPr/>
        <p:nvPr/>
      </p:nvGrpSpPr>
      <p:grpSpPr>
        <a:xfrm>
          <a:off x="0" y="0"/>
          <a:ext cx="0" cy="0"/>
          <a:chOff x="0" y="0"/>
          <a:chExt cx="0" cy="0"/>
        </a:xfrm>
      </p:grpSpPr>
      <p:sp>
        <p:nvSpPr>
          <p:cNvPr id="2" name="Text 0"/>
          <p:cNvSpPr/>
          <p:nvPr/>
        </p:nvSpPr>
        <p:spPr>
          <a:xfrm>
            <a:off x="914400" y="640080"/>
            <a:ext cx="10362895" cy="1645920"/>
          </a:xfrm>
          <a:prstGeom prst="rect">
            <a:avLst/>
          </a:prstGeom>
          <a:noFill/>
          <a:ln/>
        </p:spPr>
        <p:txBody>
          <a:bodyPr wrap="square" lIns="0" tIns="0" rIns="0" bIns="0" rtlCol="0" anchor="t"/>
          <a:lstStyle/>
          <a:p>
            <a:pPr algn="ctr" indent="0" marL="0">
              <a:buNone/>
            </a:pPr>
            <a:r>
              <a:rPr lang="en-US" sz="4200" b="1" dirty="0">
                <a:solidFill>
                  <a:srgbClr val="29556D"/>
                </a:solidFill>
                <a:latin typeface="Philosopher" pitchFamily="34" charset="0"/>
                <a:ea typeface="Philosopher" pitchFamily="34" charset="-122"/>
                <a:cs typeface="Philosopher" pitchFamily="34" charset="-120"/>
              </a:rPr>
              <a:t>3 Bausteine. Mehr nicht.</a:t>
            </a:r>
            <a:endParaRPr lang="en-US" sz="4200" dirty="0"/>
          </a:p>
        </p:txBody>
      </p:sp>
      <p:sp>
        <p:nvSpPr>
          <p:cNvPr id="3" name="Shape 1"/>
          <p:cNvSpPr/>
          <p:nvPr/>
        </p:nvSpPr>
        <p:spPr>
          <a:xfrm>
            <a:off x="1920240" y="1828800"/>
            <a:ext cx="1280160" cy="1280160"/>
          </a:xfrm>
          <a:prstGeom prst="ellipse">
            <a:avLst/>
          </a:prstGeom>
          <a:solidFill>
            <a:srgbClr val="DC822E"/>
          </a:solidFill>
          <a:ln w="12700">
            <a:solidFill>
              <a:srgbClr val="DC822E"/>
            </a:solidFill>
            <a:prstDash val="solid"/>
          </a:ln>
        </p:spPr>
      </p:sp>
      <p:sp>
        <p:nvSpPr>
          <p:cNvPr id="4" name="Text 2"/>
          <p:cNvSpPr/>
          <p:nvPr/>
        </p:nvSpPr>
        <p:spPr>
          <a:xfrm>
            <a:off x="1920240" y="1828800"/>
            <a:ext cx="1280160" cy="1280160"/>
          </a:xfrm>
          <a:prstGeom prst="rect">
            <a:avLst/>
          </a:prstGeom>
          <a:noFill/>
          <a:ln/>
        </p:spPr>
        <p:txBody>
          <a:bodyPr wrap="square" lIns="0" tIns="0" rIns="0" bIns="0" rtlCol="0" anchor="ctr"/>
          <a:lstStyle/>
          <a:p>
            <a:pPr algn="ctr" indent="0" marL="0">
              <a:buNone/>
            </a:pPr>
            <a:r>
              <a:rPr lang="en-US" sz="3600" b="1" dirty="0">
                <a:solidFill>
                  <a:srgbClr val="FFFFFF"/>
                </a:solidFill>
                <a:latin typeface="Philosopher" pitchFamily="34" charset="0"/>
                <a:ea typeface="Philosopher" pitchFamily="34" charset="-122"/>
                <a:cs typeface="Philosopher" pitchFamily="34" charset="-120"/>
              </a:rPr>
              <a:t>01</a:t>
            </a:r>
            <a:endParaRPr lang="en-US" sz="3600" dirty="0"/>
          </a:p>
        </p:txBody>
      </p:sp>
      <p:sp>
        <p:nvSpPr>
          <p:cNvPr id="5" name="Text 3"/>
          <p:cNvSpPr/>
          <p:nvPr/>
        </p:nvSpPr>
        <p:spPr>
          <a:xfrm>
            <a:off x="548640" y="3474720"/>
            <a:ext cx="4023360" cy="640080"/>
          </a:xfrm>
          <a:prstGeom prst="rect">
            <a:avLst/>
          </a:prstGeom>
          <a:noFill/>
          <a:ln/>
        </p:spPr>
        <p:txBody>
          <a:bodyPr wrap="square" lIns="0" tIns="0" rIns="0" bIns="0" rtlCol="0" anchor="ctr"/>
          <a:lstStyle/>
          <a:p>
            <a:pPr algn="ctr" indent="0" marL="0">
              <a:buNone/>
            </a:pPr>
            <a:r>
              <a:rPr lang="en-US" sz="2600" b="1" dirty="0">
                <a:solidFill>
                  <a:srgbClr val="29556D"/>
                </a:solidFill>
                <a:latin typeface="Philosopher" pitchFamily="34" charset="0"/>
                <a:ea typeface="Philosopher" pitchFamily="34" charset="-122"/>
                <a:cs typeface="Philosopher" pitchFamily="34" charset="-120"/>
              </a:rPr>
              <a:t>Wochenrhythmus</a:t>
            </a:r>
            <a:endParaRPr lang="en-US" sz="2600" dirty="0"/>
          </a:p>
        </p:txBody>
      </p:sp>
      <p:sp>
        <p:nvSpPr>
          <p:cNvPr id="6" name="Text 4"/>
          <p:cNvSpPr/>
          <p:nvPr/>
        </p:nvSpPr>
        <p:spPr>
          <a:xfrm>
            <a:off x="548640" y="4206240"/>
            <a:ext cx="4023360" cy="1371600"/>
          </a:xfrm>
          <a:prstGeom prst="rect">
            <a:avLst/>
          </a:prstGeom>
          <a:noFill/>
          <a:ln/>
        </p:spPr>
        <p:txBody>
          <a:bodyPr wrap="square" lIns="0" tIns="0" rIns="0" bIns="0" rtlCol="0" anchor="ctr"/>
          <a:lstStyle/>
          <a:p>
            <a:pPr algn="ctr" indent="0" marL="0">
              <a:buNone/>
            </a:pPr>
            <a:r>
              <a:rPr lang="en-US" sz="1600" dirty="0">
                <a:solidFill>
                  <a:srgbClr val="0C1C30"/>
                </a:solidFill>
                <a:latin typeface="Source Sans 3" pitchFamily="34" charset="0"/>
                <a:ea typeface="Source Sans 3" pitchFamily="34" charset="-122"/>
                <a:cs typeface="Source Sans 3" pitchFamily="34" charset="-120"/>
              </a:rPr>
              <a:t>Power-Zeiten + 4 Rollen + Abend-Wand</a:t>
            </a:r>
            <a:endParaRPr lang="en-US" sz="1600" dirty="0"/>
          </a:p>
        </p:txBody>
      </p:sp>
      <p:sp>
        <p:nvSpPr>
          <p:cNvPr id="7" name="Shape 5"/>
          <p:cNvSpPr/>
          <p:nvPr/>
        </p:nvSpPr>
        <p:spPr>
          <a:xfrm>
            <a:off x="5669280" y="1828800"/>
            <a:ext cx="1280160" cy="1280160"/>
          </a:xfrm>
          <a:prstGeom prst="ellipse">
            <a:avLst/>
          </a:prstGeom>
          <a:solidFill>
            <a:srgbClr val="DC822E"/>
          </a:solidFill>
          <a:ln w="12700">
            <a:solidFill>
              <a:srgbClr val="DC822E"/>
            </a:solidFill>
            <a:prstDash val="solid"/>
          </a:ln>
        </p:spPr>
      </p:sp>
      <p:sp>
        <p:nvSpPr>
          <p:cNvPr id="8" name="Text 6"/>
          <p:cNvSpPr/>
          <p:nvPr/>
        </p:nvSpPr>
        <p:spPr>
          <a:xfrm>
            <a:off x="5669280" y="1828800"/>
            <a:ext cx="1280160" cy="1280160"/>
          </a:xfrm>
          <a:prstGeom prst="rect">
            <a:avLst/>
          </a:prstGeom>
          <a:noFill/>
          <a:ln/>
        </p:spPr>
        <p:txBody>
          <a:bodyPr wrap="square" lIns="0" tIns="0" rIns="0" bIns="0" rtlCol="0" anchor="ctr"/>
          <a:lstStyle/>
          <a:p>
            <a:pPr algn="ctr" indent="0" marL="0">
              <a:buNone/>
            </a:pPr>
            <a:r>
              <a:rPr lang="en-US" sz="3600" b="1" dirty="0">
                <a:solidFill>
                  <a:srgbClr val="FFFFFF"/>
                </a:solidFill>
                <a:latin typeface="Philosopher" pitchFamily="34" charset="0"/>
                <a:ea typeface="Philosopher" pitchFamily="34" charset="-122"/>
                <a:cs typeface="Philosopher" pitchFamily="34" charset="-120"/>
              </a:rPr>
              <a:t>02</a:t>
            </a:r>
            <a:endParaRPr lang="en-US" sz="3600" dirty="0"/>
          </a:p>
        </p:txBody>
      </p:sp>
      <p:sp>
        <p:nvSpPr>
          <p:cNvPr id="9" name="Text 7"/>
          <p:cNvSpPr/>
          <p:nvPr/>
        </p:nvSpPr>
        <p:spPr>
          <a:xfrm>
            <a:off x="4297680" y="3474720"/>
            <a:ext cx="4023360" cy="640080"/>
          </a:xfrm>
          <a:prstGeom prst="rect">
            <a:avLst/>
          </a:prstGeom>
          <a:noFill/>
          <a:ln/>
        </p:spPr>
        <p:txBody>
          <a:bodyPr wrap="square" lIns="0" tIns="0" rIns="0" bIns="0" rtlCol="0" anchor="ctr"/>
          <a:lstStyle/>
          <a:p>
            <a:pPr algn="ctr" indent="0" marL="0">
              <a:buNone/>
            </a:pPr>
            <a:r>
              <a:rPr lang="en-US" sz="2600" b="1" dirty="0">
                <a:solidFill>
                  <a:srgbClr val="29556D"/>
                </a:solidFill>
                <a:latin typeface="Philosopher" pitchFamily="34" charset="0"/>
                <a:ea typeface="Philosopher" pitchFamily="34" charset="-122"/>
                <a:cs typeface="Philosopher" pitchFamily="34" charset="-120"/>
              </a:rPr>
              <a:t>Strukturen</a:t>
            </a:r>
            <a:endParaRPr lang="en-US" sz="2600" dirty="0"/>
          </a:p>
        </p:txBody>
      </p:sp>
      <p:sp>
        <p:nvSpPr>
          <p:cNvPr id="10" name="Text 8"/>
          <p:cNvSpPr/>
          <p:nvPr/>
        </p:nvSpPr>
        <p:spPr>
          <a:xfrm>
            <a:off x="4297680" y="4206240"/>
            <a:ext cx="4023360" cy="1371600"/>
          </a:xfrm>
          <a:prstGeom prst="rect">
            <a:avLst/>
          </a:prstGeom>
          <a:noFill/>
          <a:ln/>
        </p:spPr>
        <p:txBody>
          <a:bodyPr wrap="square" lIns="0" tIns="0" rIns="0" bIns="0" rtlCol="0" anchor="ctr"/>
          <a:lstStyle/>
          <a:p>
            <a:pPr algn="ctr" indent="0" marL="0">
              <a:buNone/>
            </a:pPr>
            <a:r>
              <a:rPr lang="en-US" sz="1600" dirty="0">
                <a:solidFill>
                  <a:srgbClr val="0C1C30"/>
                </a:solidFill>
                <a:latin typeface="Source Sans 3" pitchFamily="34" charset="0"/>
                <a:ea typeface="Source Sans 3" pitchFamily="34" charset="-122"/>
                <a:cs typeface="Source Sans 3" pitchFamily="34" charset="-120"/>
              </a:rPr>
              <a:t>Notion + Hütchenmethode + Workflows</a:t>
            </a:r>
            <a:endParaRPr lang="en-US" sz="1600" dirty="0"/>
          </a:p>
        </p:txBody>
      </p:sp>
      <p:sp>
        <p:nvSpPr>
          <p:cNvPr id="11" name="Shape 9"/>
          <p:cNvSpPr/>
          <p:nvPr/>
        </p:nvSpPr>
        <p:spPr>
          <a:xfrm>
            <a:off x="9418320" y="1828800"/>
            <a:ext cx="1280160" cy="1280160"/>
          </a:xfrm>
          <a:prstGeom prst="ellipse">
            <a:avLst/>
          </a:prstGeom>
          <a:solidFill>
            <a:srgbClr val="DC822E"/>
          </a:solidFill>
          <a:ln w="12700">
            <a:solidFill>
              <a:srgbClr val="DC822E"/>
            </a:solidFill>
            <a:prstDash val="solid"/>
          </a:ln>
        </p:spPr>
      </p:sp>
      <p:sp>
        <p:nvSpPr>
          <p:cNvPr id="12" name="Text 10"/>
          <p:cNvSpPr/>
          <p:nvPr/>
        </p:nvSpPr>
        <p:spPr>
          <a:xfrm>
            <a:off x="9418320" y="1828800"/>
            <a:ext cx="1280160" cy="1280160"/>
          </a:xfrm>
          <a:prstGeom prst="rect">
            <a:avLst/>
          </a:prstGeom>
          <a:noFill/>
          <a:ln/>
        </p:spPr>
        <p:txBody>
          <a:bodyPr wrap="square" lIns="0" tIns="0" rIns="0" bIns="0" rtlCol="0" anchor="ctr"/>
          <a:lstStyle/>
          <a:p>
            <a:pPr algn="ctr" indent="0" marL="0">
              <a:buNone/>
            </a:pPr>
            <a:r>
              <a:rPr lang="en-US" sz="3600" b="1" dirty="0">
                <a:solidFill>
                  <a:srgbClr val="FFFFFF"/>
                </a:solidFill>
                <a:latin typeface="Philosopher" pitchFamily="34" charset="0"/>
                <a:ea typeface="Philosopher" pitchFamily="34" charset="-122"/>
                <a:cs typeface="Philosopher" pitchFamily="34" charset="-120"/>
              </a:rPr>
              <a:t>03</a:t>
            </a:r>
            <a:endParaRPr lang="en-US" sz="3600" dirty="0"/>
          </a:p>
        </p:txBody>
      </p:sp>
      <p:sp>
        <p:nvSpPr>
          <p:cNvPr id="13" name="Text 11"/>
          <p:cNvSpPr/>
          <p:nvPr/>
        </p:nvSpPr>
        <p:spPr>
          <a:xfrm>
            <a:off x="8046720" y="3474720"/>
            <a:ext cx="4023360" cy="640080"/>
          </a:xfrm>
          <a:prstGeom prst="rect">
            <a:avLst/>
          </a:prstGeom>
          <a:noFill/>
          <a:ln/>
        </p:spPr>
        <p:txBody>
          <a:bodyPr wrap="square" lIns="0" tIns="0" rIns="0" bIns="0" rtlCol="0" anchor="ctr"/>
          <a:lstStyle/>
          <a:p>
            <a:pPr algn="ctr" indent="0" marL="0">
              <a:buNone/>
            </a:pPr>
            <a:r>
              <a:rPr lang="en-US" sz="2600" b="1" dirty="0">
                <a:solidFill>
                  <a:srgbClr val="29556D"/>
                </a:solidFill>
                <a:latin typeface="Philosopher" pitchFamily="34" charset="0"/>
                <a:ea typeface="Philosopher" pitchFamily="34" charset="-122"/>
                <a:cs typeface="Philosopher" pitchFamily="34" charset="-120"/>
              </a:rPr>
              <a:t>Tools mit KI</a:t>
            </a:r>
            <a:endParaRPr lang="en-US" sz="2600" dirty="0"/>
          </a:p>
        </p:txBody>
      </p:sp>
      <p:sp>
        <p:nvSpPr>
          <p:cNvPr id="14" name="Text 12"/>
          <p:cNvSpPr/>
          <p:nvPr/>
        </p:nvSpPr>
        <p:spPr>
          <a:xfrm>
            <a:off x="8046720" y="4206240"/>
            <a:ext cx="4023360" cy="1371600"/>
          </a:xfrm>
          <a:prstGeom prst="rect">
            <a:avLst/>
          </a:prstGeom>
          <a:noFill/>
          <a:ln/>
        </p:spPr>
        <p:txBody>
          <a:bodyPr wrap="square" lIns="0" tIns="0" rIns="0" bIns="0" rtlCol="0" anchor="ctr"/>
          <a:lstStyle/>
          <a:p>
            <a:pPr algn="ctr" indent="0" marL="0">
              <a:buNone/>
            </a:pPr>
            <a:r>
              <a:rPr lang="en-US" sz="1600" dirty="0">
                <a:solidFill>
                  <a:srgbClr val="0C1C30"/>
                </a:solidFill>
                <a:latin typeface="Source Sans 3" pitchFamily="34" charset="0"/>
                <a:ea typeface="Source Sans 3" pitchFamily="34" charset="-122"/>
                <a:cs typeface="Source Sans 3" pitchFamily="34" charset="-120"/>
              </a:rPr>
              <a:t>Bots, die für dich mitarbeiten</a:t>
            </a:r>
            <a:endParaRPr lang="en-US" sz="1600" dirty="0"/>
          </a:p>
        </p:txBody>
      </p:sp>
      <p:sp>
        <p:nvSpPr>
          <p:cNvPr id="15" name="Text 13"/>
          <p:cNvSpPr/>
          <p:nvPr/>
        </p:nvSpPr>
        <p:spPr>
          <a:xfrm>
            <a:off x="914400" y="5943600"/>
            <a:ext cx="10362895" cy="457200"/>
          </a:xfrm>
          <a:prstGeom prst="rect">
            <a:avLst/>
          </a:prstGeom>
          <a:noFill/>
          <a:ln/>
        </p:spPr>
        <p:txBody>
          <a:bodyPr wrap="square" lIns="0" tIns="0" rIns="0" bIns="0" rtlCol="0" anchor="ctr"/>
          <a:lstStyle/>
          <a:p>
            <a:pPr algn="ctr" indent="0" marL="0">
              <a:buNone/>
            </a:pPr>
            <a:r>
              <a:rPr lang="en-US" sz="2000" i="1" dirty="0">
                <a:solidFill>
                  <a:srgbClr val="12828C"/>
                </a:solidFill>
                <a:latin typeface="Philosopher" pitchFamily="34" charset="0"/>
                <a:ea typeface="Philosopher" pitchFamily="34" charset="-122"/>
                <a:cs typeface="Philosopher" pitchFamily="34" charset="-120"/>
              </a:rPr>
              <a:t>Genau das baust du in 8 Wochen Mama-CEO.</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640080"/>
            <a:ext cx="10362895" cy="1645920"/>
          </a:xfrm>
          <a:prstGeom prst="rect">
            <a:avLst/>
          </a:prstGeom>
          <a:noFill/>
          <a:ln/>
        </p:spPr>
        <p:txBody>
          <a:bodyPr wrap="square" lIns="0" tIns="0" rIns="0" bIns="0" rtlCol="0" anchor="t"/>
          <a:lstStyle/>
          <a:p>
            <a:pPr algn="ctr" indent="0" marL="0">
              <a:buNone/>
            </a:pPr>
            <a:r>
              <a:rPr lang="en-US" sz="3200" b="1" dirty="0">
                <a:solidFill>
                  <a:srgbClr val="29556D"/>
                </a:solidFill>
                <a:latin typeface="Philosopher" pitchFamily="34" charset="0"/>
                <a:ea typeface="Philosopher" pitchFamily="34" charset="-122"/>
                <a:cs typeface="Philosopher" pitchFamily="34" charset="-120"/>
              </a:rPr>
              <a:t>Mama-CEO — 8 Wochen Live-Programm</a:t>
            </a:r>
            <a:endParaRPr lang="en-US" sz="3200" dirty="0"/>
          </a:p>
        </p:txBody>
      </p:sp>
      <p:sp>
        <p:nvSpPr>
          <p:cNvPr id="3" name="Shape 1"/>
          <p:cNvSpPr/>
          <p:nvPr/>
        </p:nvSpPr>
        <p:spPr>
          <a:xfrm>
            <a:off x="731520" y="2560320"/>
            <a:ext cx="9966960" cy="0"/>
          </a:xfrm>
          <a:prstGeom prst="line">
            <a:avLst/>
          </a:prstGeom>
          <a:noFill/>
          <a:ln w="38100">
            <a:solidFill>
              <a:srgbClr val="12828C"/>
            </a:solidFill>
            <a:prstDash val="solid"/>
          </a:ln>
        </p:spPr>
      </p:sp>
      <p:sp>
        <p:nvSpPr>
          <p:cNvPr id="4" name="Text 2"/>
          <p:cNvSpPr/>
          <p:nvPr/>
        </p:nvSpPr>
        <p:spPr>
          <a:xfrm>
            <a:off x="731520" y="2103120"/>
            <a:ext cx="2560320" cy="365760"/>
          </a:xfrm>
          <a:prstGeom prst="rect">
            <a:avLst/>
          </a:prstGeom>
          <a:noFill/>
          <a:ln/>
        </p:spPr>
        <p:txBody>
          <a:bodyPr wrap="square" lIns="0" tIns="0" rIns="0" bIns="0" rtlCol="0" anchor="ctr"/>
          <a:lstStyle/>
          <a:p>
            <a:pPr algn="ctr" indent="0" marL="0">
              <a:buNone/>
            </a:pPr>
            <a:r>
              <a:rPr lang="en-US" sz="1300" b="1" spc="500" kern="0" dirty="0">
                <a:solidFill>
                  <a:srgbClr val="DC822E"/>
                </a:solidFill>
                <a:latin typeface="Source Sans 3" pitchFamily="34" charset="0"/>
                <a:ea typeface="Source Sans 3" pitchFamily="34" charset="-122"/>
                <a:cs typeface="Source Sans 3" pitchFamily="34" charset="-120"/>
              </a:rPr>
              <a:t>W1–2</a:t>
            </a:r>
            <a:endParaRPr lang="en-US" sz="1300" dirty="0"/>
          </a:p>
        </p:txBody>
      </p:sp>
      <p:sp>
        <p:nvSpPr>
          <p:cNvPr id="5" name="Shape 3"/>
          <p:cNvSpPr/>
          <p:nvPr/>
        </p:nvSpPr>
        <p:spPr>
          <a:xfrm>
            <a:off x="1874520" y="2423160"/>
            <a:ext cx="274320" cy="274320"/>
          </a:xfrm>
          <a:prstGeom prst="ellipse">
            <a:avLst/>
          </a:prstGeom>
          <a:solidFill>
            <a:srgbClr val="DC822E"/>
          </a:solidFill>
          <a:ln w="12700">
            <a:solidFill>
              <a:srgbClr val="DC822E"/>
            </a:solidFill>
            <a:prstDash val="solid"/>
          </a:ln>
        </p:spPr>
      </p:sp>
      <p:sp>
        <p:nvSpPr>
          <p:cNvPr id="6" name="Text 4"/>
          <p:cNvSpPr/>
          <p:nvPr/>
        </p:nvSpPr>
        <p:spPr>
          <a:xfrm>
            <a:off x="731520" y="2926080"/>
            <a:ext cx="2560320" cy="457200"/>
          </a:xfrm>
          <a:prstGeom prst="rect">
            <a:avLst/>
          </a:prstGeom>
          <a:noFill/>
          <a:ln/>
        </p:spPr>
        <p:txBody>
          <a:bodyPr wrap="square" lIns="0" tIns="0" rIns="0" bIns="0" rtlCol="0" anchor="ctr"/>
          <a:lstStyle/>
          <a:p>
            <a:pPr algn="ctr" indent="0" marL="0">
              <a:buNone/>
            </a:pPr>
            <a:r>
              <a:rPr lang="en-US" sz="2200" b="1" dirty="0">
                <a:solidFill>
                  <a:srgbClr val="29556D"/>
                </a:solidFill>
                <a:latin typeface="Philosopher" pitchFamily="34" charset="0"/>
                <a:ea typeface="Philosopher" pitchFamily="34" charset="-122"/>
                <a:cs typeface="Philosopher" pitchFamily="34" charset="-120"/>
              </a:rPr>
              <a:t>Säule 1+2</a:t>
            </a:r>
            <a:endParaRPr lang="en-US" sz="2200" dirty="0"/>
          </a:p>
        </p:txBody>
      </p:sp>
      <p:sp>
        <p:nvSpPr>
          <p:cNvPr id="7" name="Text 5"/>
          <p:cNvSpPr/>
          <p:nvPr/>
        </p:nvSpPr>
        <p:spPr>
          <a:xfrm>
            <a:off x="731520" y="3383280"/>
            <a:ext cx="2560320" cy="640080"/>
          </a:xfrm>
          <a:prstGeom prst="rect">
            <a:avLst/>
          </a:prstGeom>
          <a:noFill/>
          <a:ln/>
        </p:spPr>
        <p:txBody>
          <a:bodyPr wrap="square" lIns="0" tIns="0" rIns="0" bIns="0" rtlCol="0" anchor="ctr"/>
          <a:lstStyle/>
          <a:p>
            <a:pPr algn="ctr" indent="0" marL="0">
              <a:buNone/>
            </a:pPr>
            <a:r>
              <a:rPr lang="en-US" sz="1300" dirty="0">
                <a:solidFill>
                  <a:srgbClr val="5A6B7A"/>
                </a:solidFill>
                <a:latin typeface="Source Sans 3" pitchFamily="34" charset="0"/>
                <a:ea typeface="Source Sans 3" pitchFamily="34" charset="-122"/>
                <a:cs typeface="Source Sans 3" pitchFamily="34" charset="-120"/>
              </a:rPr>
              <a:t>Energie + Mindset (parallel)</a:t>
            </a:r>
            <a:endParaRPr lang="en-US" sz="1300" dirty="0"/>
          </a:p>
        </p:txBody>
      </p:sp>
      <p:sp>
        <p:nvSpPr>
          <p:cNvPr id="8" name="Text 6"/>
          <p:cNvSpPr/>
          <p:nvPr/>
        </p:nvSpPr>
        <p:spPr>
          <a:xfrm>
            <a:off x="3474720" y="2103120"/>
            <a:ext cx="2286000" cy="365760"/>
          </a:xfrm>
          <a:prstGeom prst="rect">
            <a:avLst/>
          </a:prstGeom>
          <a:noFill/>
          <a:ln/>
        </p:spPr>
        <p:txBody>
          <a:bodyPr wrap="square" lIns="0" tIns="0" rIns="0" bIns="0" rtlCol="0" anchor="ctr"/>
          <a:lstStyle/>
          <a:p>
            <a:pPr algn="ctr" indent="0" marL="0">
              <a:buNone/>
            </a:pPr>
            <a:r>
              <a:rPr lang="en-US" sz="1300" b="1" spc="500" kern="0" dirty="0">
                <a:solidFill>
                  <a:srgbClr val="DC822E"/>
                </a:solidFill>
                <a:latin typeface="Source Sans 3" pitchFamily="34" charset="0"/>
                <a:ea typeface="Source Sans 3" pitchFamily="34" charset="-122"/>
                <a:cs typeface="Source Sans 3" pitchFamily="34" charset="-120"/>
              </a:rPr>
              <a:t>W3–4</a:t>
            </a:r>
            <a:endParaRPr lang="en-US" sz="1300" dirty="0"/>
          </a:p>
        </p:txBody>
      </p:sp>
      <p:sp>
        <p:nvSpPr>
          <p:cNvPr id="9" name="Shape 7"/>
          <p:cNvSpPr/>
          <p:nvPr/>
        </p:nvSpPr>
        <p:spPr>
          <a:xfrm>
            <a:off x="4480560" y="2423160"/>
            <a:ext cx="274320" cy="274320"/>
          </a:xfrm>
          <a:prstGeom prst="ellipse">
            <a:avLst/>
          </a:prstGeom>
          <a:solidFill>
            <a:srgbClr val="DC822E"/>
          </a:solidFill>
          <a:ln w="12700">
            <a:solidFill>
              <a:srgbClr val="DC822E"/>
            </a:solidFill>
            <a:prstDash val="solid"/>
          </a:ln>
        </p:spPr>
      </p:sp>
      <p:sp>
        <p:nvSpPr>
          <p:cNvPr id="10" name="Text 8"/>
          <p:cNvSpPr/>
          <p:nvPr/>
        </p:nvSpPr>
        <p:spPr>
          <a:xfrm>
            <a:off x="3474720" y="2926080"/>
            <a:ext cx="2286000" cy="457200"/>
          </a:xfrm>
          <a:prstGeom prst="rect">
            <a:avLst/>
          </a:prstGeom>
          <a:noFill/>
          <a:ln/>
        </p:spPr>
        <p:txBody>
          <a:bodyPr wrap="square" lIns="0" tIns="0" rIns="0" bIns="0" rtlCol="0" anchor="ctr"/>
          <a:lstStyle/>
          <a:p>
            <a:pPr algn="ctr" indent="0" marL="0">
              <a:buNone/>
            </a:pPr>
            <a:r>
              <a:rPr lang="en-US" sz="2200" b="1" dirty="0">
                <a:solidFill>
                  <a:srgbClr val="29556D"/>
                </a:solidFill>
                <a:latin typeface="Philosopher" pitchFamily="34" charset="0"/>
                <a:ea typeface="Philosopher" pitchFamily="34" charset="-122"/>
                <a:cs typeface="Philosopher" pitchFamily="34" charset="-120"/>
              </a:rPr>
              <a:t>Säule 3</a:t>
            </a:r>
            <a:endParaRPr lang="en-US" sz="2200" dirty="0"/>
          </a:p>
        </p:txBody>
      </p:sp>
      <p:sp>
        <p:nvSpPr>
          <p:cNvPr id="11" name="Text 9"/>
          <p:cNvSpPr/>
          <p:nvPr/>
        </p:nvSpPr>
        <p:spPr>
          <a:xfrm>
            <a:off x="3474720" y="3383280"/>
            <a:ext cx="2286000" cy="640080"/>
          </a:xfrm>
          <a:prstGeom prst="rect">
            <a:avLst/>
          </a:prstGeom>
          <a:noFill/>
          <a:ln/>
        </p:spPr>
        <p:txBody>
          <a:bodyPr wrap="square" lIns="0" tIns="0" rIns="0" bIns="0" rtlCol="0" anchor="ctr"/>
          <a:lstStyle/>
          <a:p>
            <a:pPr algn="ctr" indent="0" marL="0">
              <a:buNone/>
            </a:pPr>
            <a:r>
              <a:rPr lang="en-US" sz="1300" dirty="0">
                <a:solidFill>
                  <a:srgbClr val="5A6B7A"/>
                </a:solidFill>
                <a:latin typeface="Source Sans 3" pitchFamily="34" charset="0"/>
                <a:ea typeface="Source Sans 3" pitchFamily="34" charset="-122"/>
                <a:cs typeface="Source Sans 3" pitchFamily="34" charset="-120"/>
              </a:rPr>
              <a:t>System + Orga</a:t>
            </a:r>
            <a:endParaRPr lang="en-US" sz="1300" dirty="0"/>
          </a:p>
        </p:txBody>
      </p:sp>
      <p:sp>
        <p:nvSpPr>
          <p:cNvPr id="12" name="Text 10"/>
          <p:cNvSpPr/>
          <p:nvPr/>
        </p:nvSpPr>
        <p:spPr>
          <a:xfrm>
            <a:off x="5943600" y="2103120"/>
            <a:ext cx="2286000" cy="365760"/>
          </a:xfrm>
          <a:prstGeom prst="rect">
            <a:avLst/>
          </a:prstGeom>
          <a:noFill/>
          <a:ln/>
        </p:spPr>
        <p:txBody>
          <a:bodyPr wrap="square" lIns="0" tIns="0" rIns="0" bIns="0" rtlCol="0" anchor="ctr"/>
          <a:lstStyle/>
          <a:p>
            <a:pPr algn="ctr" indent="0" marL="0">
              <a:buNone/>
            </a:pPr>
            <a:r>
              <a:rPr lang="en-US" sz="1300" b="1" spc="500" kern="0" dirty="0">
                <a:solidFill>
                  <a:srgbClr val="DC822E"/>
                </a:solidFill>
                <a:latin typeface="Source Sans 3" pitchFamily="34" charset="0"/>
                <a:ea typeface="Source Sans 3" pitchFamily="34" charset="-122"/>
                <a:cs typeface="Source Sans 3" pitchFamily="34" charset="-120"/>
              </a:rPr>
              <a:t>W5–6</a:t>
            </a:r>
            <a:endParaRPr lang="en-US" sz="1300" dirty="0"/>
          </a:p>
        </p:txBody>
      </p:sp>
      <p:sp>
        <p:nvSpPr>
          <p:cNvPr id="13" name="Shape 11"/>
          <p:cNvSpPr/>
          <p:nvPr/>
        </p:nvSpPr>
        <p:spPr>
          <a:xfrm>
            <a:off x="6949440" y="2423160"/>
            <a:ext cx="274320" cy="274320"/>
          </a:xfrm>
          <a:prstGeom prst="ellipse">
            <a:avLst/>
          </a:prstGeom>
          <a:solidFill>
            <a:srgbClr val="DC822E"/>
          </a:solidFill>
          <a:ln w="12700">
            <a:solidFill>
              <a:srgbClr val="DC822E"/>
            </a:solidFill>
            <a:prstDash val="solid"/>
          </a:ln>
        </p:spPr>
      </p:sp>
      <p:sp>
        <p:nvSpPr>
          <p:cNvPr id="14" name="Text 12"/>
          <p:cNvSpPr/>
          <p:nvPr/>
        </p:nvSpPr>
        <p:spPr>
          <a:xfrm>
            <a:off x="5943600" y="2926080"/>
            <a:ext cx="2286000" cy="457200"/>
          </a:xfrm>
          <a:prstGeom prst="rect">
            <a:avLst/>
          </a:prstGeom>
          <a:noFill/>
          <a:ln/>
        </p:spPr>
        <p:txBody>
          <a:bodyPr wrap="square" lIns="0" tIns="0" rIns="0" bIns="0" rtlCol="0" anchor="ctr"/>
          <a:lstStyle/>
          <a:p>
            <a:pPr algn="ctr" indent="0" marL="0">
              <a:buNone/>
            </a:pPr>
            <a:r>
              <a:rPr lang="en-US" sz="2200" b="1" dirty="0">
                <a:solidFill>
                  <a:srgbClr val="29556D"/>
                </a:solidFill>
                <a:latin typeface="Philosopher" pitchFamily="34" charset="0"/>
                <a:ea typeface="Philosopher" pitchFamily="34" charset="-122"/>
                <a:cs typeface="Philosopher" pitchFamily="34" charset="-120"/>
              </a:rPr>
              <a:t>Säule 4</a:t>
            </a:r>
            <a:endParaRPr lang="en-US" sz="2200" dirty="0"/>
          </a:p>
        </p:txBody>
      </p:sp>
      <p:sp>
        <p:nvSpPr>
          <p:cNvPr id="15" name="Text 13"/>
          <p:cNvSpPr/>
          <p:nvPr/>
        </p:nvSpPr>
        <p:spPr>
          <a:xfrm>
            <a:off x="5943600" y="3383280"/>
            <a:ext cx="2286000" cy="640080"/>
          </a:xfrm>
          <a:prstGeom prst="rect">
            <a:avLst/>
          </a:prstGeom>
          <a:noFill/>
          <a:ln/>
        </p:spPr>
        <p:txBody>
          <a:bodyPr wrap="square" lIns="0" tIns="0" rIns="0" bIns="0" rtlCol="0" anchor="ctr"/>
          <a:lstStyle/>
          <a:p>
            <a:pPr algn="ctr" indent="0" marL="0">
              <a:buNone/>
            </a:pPr>
            <a:r>
              <a:rPr lang="en-US" sz="1300" dirty="0">
                <a:solidFill>
                  <a:srgbClr val="5A6B7A"/>
                </a:solidFill>
                <a:latin typeface="Source Sans 3" pitchFamily="34" charset="0"/>
                <a:ea typeface="Source Sans 3" pitchFamily="34" charset="-122"/>
                <a:cs typeface="Source Sans 3" pitchFamily="34" charset="-120"/>
              </a:rPr>
              <a:t>KI-Mitarbeiter</a:t>
            </a:r>
            <a:endParaRPr lang="en-US" sz="1300" dirty="0"/>
          </a:p>
        </p:txBody>
      </p:sp>
      <p:sp>
        <p:nvSpPr>
          <p:cNvPr id="16" name="Text 14"/>
          <p:cNvSpPr/>
          <p:nvPr/>
        </p:nvSpPr>
        <p:spPr>
          <a:xfrm>
            <a:off x="8412480" y="2103120"/>
            <a:ext cx="2286000" cy="365760"/>
          </a:xfrm>
          <a:prstGeom prst="rect">
            <a:avLst/>
          </a:prstGeom>
          <a:noFill/>
          <a:ln/>
        </p:spPr>
        <p:txBody>
          <a:bodyPr wrap="square" lIns="0" tIns="0" rIns="0" bIns="0" rtlCol="0" anchor="ctr"/>
          <a:lstStyle/>
          <a:p>
            <a:pPr algn="ctr" indent="0" marL="0">
              <a:buNone/>
            </a:pPr>
            <a:r>
              <a:rPr lang="en-US" sz="1300" b="1" spc="500" kern="0" dirty="0">
                <a:solidFill>
                  <a:srgbClr val="DC822E"/>
                </a:solidFill>
                <a:latin typeface="Source Sans 3" pitchFamily="34" charset="0"/>
                <a:ea typeface="Source Sans 3" pitchFamily="34" charset="-122"/>
                <a:cs typeface="Source Sans 3" pitchFamily="34" charset="-120"/>
              </a:rPr>
              <a:t>W7–8</a:t>
            </a:r>
            <a:endParaRPr lang="en-US" sz="1300" dirty="0"/>
          </a:p>
        </p:txBody>
      </p:sp>
      <p:sp>
        <p:nvSpPr>
          <p:cNvPr id="17" name="Shape 15"/>
          <p:cNvSpPr/>
          <p:nvPr/>
        </p:nvSpPr>
        <p:spPr>
          <a:xfrm>
            <a:off x="9418320" y="2423160"/>
            <a:ext cx="274320" cy="274320"/>
          </a:xfrm>
          <a:prstGeom prst="ellipse">
            <a:avLst/>
          </a:prstGeom>
          <a:solidFill>
            <a:srgbClr val="DC822E"/>
          </a:solidFill>
          <a:ln w="12700">
            <a:solidFill>
              <a:srgbClr val="DC822E"/>
            </a:solidFill>
            <a:prstDash val="solid"/>
          </a:ln>
        </p:spPr>
      </p:sp>
      <p:sp>
        <p:nvSpPr>
          <p:cNvPr id="18" name="Text 16"/>
          <p:cNvSpPr/>
          <p:nvPr/>
        </p:nvSpPr>
        <p:spPr>
          <a:xfrm>
            <a:off x="8412480" y="2926080"/>
            <a:ext cx="2286000" cy="457200"/>
          </a:xfrm>
          <a:prstGeom prst="rect">
            <a:avLst/>
          </a:prstGeom>
          <a:noFill/>
          <a:ln/>
        </p:spPr>
        <p:txBody>
          <a:bodyPr wrap="square" lIns="0" tIns="0" rIns="0" bIns="0" rtlCol="0" anchor="ctr"/>
          <a:lstStyle/>
          <a:p>
            <a:pPr algn="ctr" indent="0" marL="0">
              <a:buNone/>
            </a:pPr>
            <a:r>
              <a:rPr lang="en-US" sz="2200" b="1" dirty="0">
                <a:solidFill>
                  <a:srgbClr val="29556D"/>
                </a:solidFill>
                <a:latin typeface="Philosopher" pitchFamily="34" charset="0"/>
                <a:ea typeface="Philosopher" pitchFamily="34" charset="-122"/>
                <a:cs typeface="Philosopher" pitchFamily="34" charset="-120"/>
              </a:rPr>
              <a:t>Säule 5</a:t>
            </a:r>
            <a:endParaRPr lang="en-US" sz="2200" dirty="0"/>
          </a:p>
        </p:txBody>
      </p:sp>
      <p:sp>
        <p:nvSpPr>
          <p:cNvPr id="19" name="Text 17"/>
          <p:cNvSpPr/>
          <p:nvPr/>
        </p:nvSpPr>
        <p:spPr>
          <a:xfrm>
            <a:off x="8412480" y="3383280"/>
            <a:ext cx="2286000" cy="640080"/>
          </a:xfrm>
          <a:prstGeom prst="rect">
            <a:avLst/>
          </a:prstGeom>
          <a:noFill/>
          <a:ln/>
        </p:spPr>
        <p:txBody>
          <a:bodyPr wrap="square" lIns="0" tIns="0" rIns="0" bIns="0" rtlCol="0" anchor="ctr"/>
          <a:lstStyle/>
          <a:p>
            <a:pPr algn="ctr" indent="0" marL="0">
              <a:buNone/>
            </a:pPr>
            <a:r>
              <a:rPr lang="en-US" sz="1300" dirty="0">
                <a:solidFill>
                  <a:srgbClr val="5A6B7A"/>
                </a:solidFill>
                <a:latin typeface="Source Sans 3" pitchFamily="34" charset="0"/>
                <a:ea typeface="Source Sans 3" pitchFamily="34" charset="-122"/>
                <a:cs typeface="Source Sans 3" pitchFamily="34" charset="-120"/>
              </a:rPr>
              <a:t>Skalieren</a:t>
            </a:r>
            <a:endParaRPr lang="en-US" sz="1300" dirty="0"/>
          </a:p>
        </p:txBody>
      </p:sp>
      <p:sp>
        <p:nvSpPr>
          <p:cNvPr id="20" name="Text 18"/>
          <p:cNvSpPr/>
          <p:nvPr/>
        </p:nvSpPr>
        <p:spPr>
          <a:xfrm>
            <a:off x="914400" y="4846320"/>
            <a:ext cx="5029200" cy="457200"/>
          </a:xfrm>
          <a:prstGeom prst="rect">
            <a:avLst/>
          </a:prstGeom>
          <a:noFill/>
          <a:ln/>
        </p:spPr>
        <p:txBody>
          <a:bodyPr wrap="square" lIns="0" tIns="0" rIns="0" bIns="0" rtlCol="0" anchor="ctr"/>
          <a:lstStyle/>
          <a:p>
            <a:pPr algn="l" indent="0" marL="0">
              <a:buNone/>
            </a:pPr>
            <a:r>
              <a:rPr lang="en-US" sz="1600" dirty="0">
                <a:solidFill>
                  <a:srgbClr val="0C1C30"/>
                </a:solidFill>
                <a:latin typeface="Source Sans 3" pitchFamily="34" charset="0"/>
                <a:ea typeface="Source Sans 3" pitchFamily="34" charset="-122"/>
                <a:cs typeface="Source Sans 3" pitchFamily="34" charset="-120"/>
              </a:rPr>
              <a:t>✓ 22 Lektionen (8–15 Min)</a:t>
            </a:r>
            <a:endParaRPr lang="en-US" sz="1600" dirty="0"/>
          </a:p>
        </p:txBody>
      </p:sp>
      <p:sp>
        <p:nvSpPr>
          <p:cNvPr id="21" name="Text 19"/>
          <p:cNvSpPr/>
          <p:nvPr/>
        </p:nvSpPr>
        <p:spPr>
          <a:xfrm>
            <a:off x="6126480" y="4846320"/>
            <a:ext cx="5029200" cy="457200"/>
          </a:xfrm>
          <a:prstGeom prst="rect">
            <a:avLst/>
          </a:prstGeom>
          <a:noFill/>
          <a:ln/>
        </p:spPr>
        <p:txBody>
          <a:bodyPr wrap="square" lIns="0" tIns="0" rIns="0" bIns="0" rtlCol="0" anchor="ctr"/>
          <a:lstStyle/>
          <a:p>
            <a:pPr algn="l" indent="0" marL="0">
              <a:buNone/>
            </a:pPr>
            <a:r>
              <a:rPr lang="en-US" sz="1600" dirty="0">
                <a:solidFill>
                  <a:srgbClr val="0C1C30"/>
                </a:solidFill>
                <a:latin typeface="Source Sans 3" pitchFamily="34" charset="0"/>
                <a:ea typeface="Source Sans 3" pitchFamily="34" charset="-122"/>
                <a:cs typeface="Source Sans 3" pitchFamily="34" charset="-120"/>
              </a:rPr>
              <a:t>✓ 4 Live-Termine (alle 2 Wochen)</a:t>
            </a:r>
            <a:endParaRPr lang="en-US" sz="1600" dirty="0"/>
          </a:p>
        </p:txBody>
      </p:sp>
      <p:sp>
        <p:nvSpPr>
          <p:cNvPr id="22" name="Text 20"/>
          <p:cNvSpPr/>
          <p:nvPr/>
        </p:nvSpPr>
        <p:spPr>
          <a:xfrm>
            <a:off x="914400" y="5486400"/>
            <a:ext cx="5029200" cy="457200"/>
          </a:xfrm>
          <a:prstGeom prst="rect">
            <a:avLst/>
          </a:prstGeom>
          <a:noFill/>
          <a:ln/>
        </p:spPr>
        <p:txBody>
          <a:bodyPr wrap="square" lIns="0" tIns="0" rIns="0" bIns="0" rtlCol="0" anchor="ctr"/>
          <a:lstStyle/>
          <a:p>
            <a:pPr algn="l" indent="0" marL="0">
              <a:buNone/>
            </a:pPr>
            <a:r>
              <a:rPr lang="en-US" sz="1600" dirty="0">
                <a:solidFill>
                  <a:srgbClr val="0C1C30"/>
                </a:solidFill>
                <a:latin typeface="Source Sans 3" pitchFamily="34" charset="0"/>
                <a:ea typeface="Source Sans 3" pitchFamily="34" charset="-122"/>
                <a:cs typeface="Source Sans 3" pitchFamily="34" charset="-120"/>
              </a:rPr>
              <a:t>✓ Telegram-Gruppe (8 Wo + danach offen)</a:t>
            </a:r>
            <a:endParaRPr lang="en-US" sz="1600" dirty="0"/>
          </a:p>
        </p:txBody>
      </p:sp>
      <p:sp>
        <p:nvSpPr>
          <p:cNvPr id="23" name="Text 21"/>
          <p:cNvSpPr/>
          <p:nvPr/>
        </p:nvSpPr>
        <p:spPr>
          <a:xfrm>
            <a:off x="6126480" y="5486400"/>
            <a:ext cx="5029200" cy="457200"/>
          </a:xfrm>
          <a:prstGeom prst="rect">
            <a:avLst/>
          </a:prstGeom>
          <a:noFill/>
          <a:ln/>
        </p:spPr>
        <p:txBody>
          <a:bodyPr wrap="square" lIns="0" tIns="0" rIns="0" bIns="0" rtlCol="0" anchor="ctr"/>
          <a:lstStyle/>
          <a:p>
            <a:pPr algn="l" indent="0" marL="0">
              <a:buNone/>
            </a:pPr>
            <a:r>
              <a:rPr lang="en-US" sz="1600" dirty="0">
                <a:solidFill>
                  <a:srgbClr val="0C1C30"/>
                </a:solidFill>
                <a:latin typeface="Source Sans 3" pitchFamily="34" charset="0"/>
                <a:ea typeface="Source Sans 3" pitchFamily="34" charset="-122"/>
                <a:cs typeface="Source Sans 3" pitchFamily="34" charset="-120"/>
              </a:rPr>
              <a:t>✓ 3 Boni: Cockpit + Familien-Bot + Notion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ECDD"/>
        </a:solidFill>
      </p:bgPr>
    </p:bg>
    <p:spTree>
      <p:nvGrpSpPr>
        <p:cNvPr id="1" name=""/>
        <p:cNvGrpSpPr/>
        <p:nvPr/>
      </p:nvGrpSpPr>
      <p:grpSpPr>
        <a:xfrm>
          <a:off x="0" y="0"/>
          <a:ext cx="0" cy="0"/>
          <a:chOff x="0" y="0"/>
          <a:chExt cx="0" cy="0"/>
        </a:xfrm>
      </p:grpSpPr>
      <p:sp>
        <p:nvSpPr>
          <p:cNvPr id="2" name="Text 0"/>
          <p:cNvSpPr/>
          <p:nvPr/>
        </p:nvSpPr>
        <p:spPr>
          <a:xfrm>
            <a:off x="548640" y="914400"/>
            <a:ext cx="2286000" cy="4114800"/>
          </a:xfrm>
          <a:prstGeom prst="rect">
            <a:avLst/>
          </a:prstGeom>
          <a:noFill/>
          <a:ln/>
        </p:spPr>
        <p:txBody>
          <a:bodyPr wrap="square" lIns="0" tIns="0" rIns="0" bIns="0" rtlCol="0" anchor="t"/>
          <a:lstStyle/>
          <a:p>
            <a:pPr algn="ctr" indent="0" marL="0">
              <a:buNone/>
            </a:pPr>
            <a:r>
              <a:rPr lang="en-US" sz="24000" b="1" dirty="0">
                <a:solidFill>
                  <a:srgbClr val="DC822E"/>
                </a:solidFill>
                <a:latin typeface="Philosopher" pitchFamily="34" charset="0"/>
                <a:ea typeface="Philosopher" pitchFamily="34" charset="-122"/>
                <a:cs typeface="Philosopher" pitchFamily="34" charset="-120"/>
              </a:rPr>
              <a:t>01</a:t>
            </a:r>
            <a:endParaRPr lang="en-US" sz="24000" dirty="0"/>
          </a:p>
        </p:txBody>
      </p:sp>
      <p:sp>
        <p:nvSpPr>
          <p:cNvPr id="3" name="Text 1"/>
          <p:cNvSpPr/>
          <p:nvPr/>
        </p:nvSpPr>
        <p:spPr>
          <a:xfrm>
            <a:off x="3200400" y="1097280"/>
            <a:ext cx="8076895" cy="457200"/>
          </a:xfrm>
          <a:prstGeom prst="rect">
            <a:avLst/>
          </a:prstGeom>
          <a:noFill/>
          <a:ln/>
        </p:spPr>
        <p:txBody>
          <a:bodyPr wrap="square" lIns="0" tIns="0" rIns="0" bIns="0" rtlCol="0" anchor="ctr"/>
          <a:lstStyle/>
          <a:p>
            <a:pPr algn="l" indent="0" marL="0">
              <a:buNone/>
            </a:pPr>
            <a:r>
              <a:rPr lang="en-US" sz="1400" b="1" spc="600" kern="0" dirty="0">
                <a:solidFill>
                  <a:srgbClr val="DC822E"/>
                </a:solidFill>
                <a:latin typeface="Source Sans 3" pitchFamily="34" charset="0"/>
                <a:ea typeface="Source Sans 3" pitchFamily="34" charset="-122"/>
                <a:cs typeface="Source Sans 3" pitchFamily="34" charset="-120"/>
              </a:rPr>
              <a:t>SÄULE 01 · WOCHEN 1–2</a:t>
            </a:r>
            <a:endParaRPr lang="en-US" sz="1400" dirty="0"/>
          </a:p>
        </p:txBody>
      </p:sp>
      <p:sp>
        <p:nvSpPr>
          <p:cNvPr id="4" name="Text 2"/>
          <p:cNvSpPr/>
          <p:nvPr/>
        </p:nvSpPr>
        <p:spPr>
          <a:xfrm>
            <a:off x="3200400" y="1737360"/>
            <a:ext cx="8076895" cy="1280160"/>
          </a:xfrm>
          <a:prstGeom prst="rect">
            <a:avLst/>
          </a:prstGeom>
          <a:noFill/>
          <a:ln/>
        </p:spPr>
        <p:txBody>
          <a:bodyPr wrap="square" lIns="0" tIns="0" rIns="0" bIns="0" rtlCol="0" anchor="ctr"/>
          <a:lstStyle/>
          <a:p>
            <a:pPr algn="l" indent="0" marL="0">
              <a:buNone/>
            </a:pPr>
            <a:r>
              <a:rPr lang="en-US" sz="3600" b="1" dirty="0">
                <a:solidFill>
                  <a:srgbClr val="29556D"/>
                </a:solidFill>
                <a:latin typeface="Philosopher" pitchFamily="34" charset="0"/>
                <a:ea typeface="Philosopher" pitchFamily="34" charset="-122"/>
                <a:cs typeface="Philosopher" pitchFamily="34" charset="-120"/>
              </a:rPr>
              <a:t>Du erschaffst dir die Zeit</a:t>
            </a:r>
            <a:endParaRPr lang="en-US" sz="3600" dirty="0"/>
          </a:p>
        </p:txBody>
      </p:sp>
      <p:sp>
        <p:nvSpPr>
          <p:cNvPr id="5" name="Text 3"/>
          <p:cNvSpPr/>
          <p:nvPr/>
        </p:nvSpPr>
        <p:spPr>
          <a:xfrm>
            <a:off x="3200400" y="3108960"/>
            <a:ext cx="8076895" cy="237744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0C1C30"/>
                </a:solidFill>
                <a:latin typeface="Source Sans 3" pitchFamily="34" charset="0"/>
                <a:ea typeface="Source Sans 3" pitchFamily="34" charset="-122"/>
                <a:cs typeface="Source Sans 3" pitchFamily="34" charset="-120"/>
              </a:rPr>
              <a:t>Productivity für Mamas (Pomodoro &amp; Co. — was greift)</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Deine Realität: wann hast du wirklich Zeit?</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Die 3 Säulen (Plattform · Produkt · Verkauf)</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Wochenrhythmus mit 4 Rollen aufbauen</a:t>
            </a:r>
            <a:endParaRPr lang="en-US" sz="1600" dirty="0"/>
          </a:p>
        </p:txBody>
      </p:sp>
      <p:sp>
        <p:nvSpPr>
          <p:cNvPr id="6" name="Shape 4"/>
          <p:cNvSpPr/>
          <p:nvPr/>
        </p:nvSpPr>
        <p:spPr>
          <a:xfrm>
            <a:off x="3200400" y="5669280"/>
            <a:ext cx="73152" cy="731520"/>
          </a:xfrm>
          <a:prstGeom prst="rect">
            <a:avLst/>
          </a:prstGeom>
          <a:solidFill>
            <a:srgbClr val="12828C"/>
          </a:solidFill>
          <a:ln w="12700">
            <a:solidFill>
              <a:srgbClr val="12828C"/>
            </a:solidFill>
            <a:prstDash val="solid"/>
          </a:ln>
        </p:spPr>
      </p:sp>
      <p:sp>
        <p:nvSpPr>
          <p:cNvPr id="7" name="Text 5"/>
          <p:cNvSpPr/>
          <p:nvPr/>
        </p:nvSpPr>
        <p:spPr>
          <a:xfrm>
            <a:off x="3383280" y="5669280"/>
            <a:ext cx="7894015" cy="731520"/>
          </a:xfrm>
          <a:prstGeom prst="rect">
            <a:avLst/>
          </a:prstGeom>
          <a:noFill/>
          <a:ln/>
        </p:spPr>
        <p:txBody>
          <a:bodyPr wrap="square" lIns="0" tIns="0" rIns="0" bIns="0" rtlCol="0" anchor="ctr"/>
          <a:lstStyle/>
          <a:p>
            <a:pPr indent="0" marL="0">
              <a:buNone/>
            </a:pPr>
            <a:r>
              <a:rPr lang="en-US" sz="1600" i="1" dirty="0">
                <a:solidFill>
                  <a:srgbClr val="12828C"/>
                </a:solidFill>
                <a:latin typeface="Philosopher" pitchFamily="34" charset="0"/>
                <a:ea typeface="Philosopher" pitchFamily="34" charset="-122"/>
                <a:cs typeface="Philosopher" pitchFamily="34" charset="-120"/>
              </a:rPr>
              <a:t>„Ich kenne meine Realität, weiss was zählt, habe meinen Rhythmus."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914400"/>
            <a:ext cx="2286000" cy="4114800"/>
          </a:xfrm>
          <a:prstGeom prst="rect">
            <a:avLst/>
          </a:prstGeom>
          <a:noFill/>
          <a:ln/>
        </p:spPr>
        <p:txBody>
          <a:bodyPr wrap="square" lIns="0" tIns="0" rIns="0" bIns="0" rtlCol="0" anchor="t"/>
          <a:lstStyle/>
          <a:p>
            <a:pPr algn="ctr" indent="0" marL="0">
              <a:buNone/>
            </a:pPr>
            <a:r>
              <a:rPr lang="en-US" sz="24000" b="1" dirty="0">
                <a:solidFill>
                  <a:srgbClr val="DC822E"/>
                </a:solidFill>
                <a:latin typeface="Philosopher" pitchFamily="34" charset="0"/>
                <a:ea typeface="Philosopher" pitchFamily="34" charset="-122"/>
                <a:cs typeface="Philosopher" pitchFamily="34" charset="-120"/>
              </a:rPr>
              <a:t>02</a:t>
            </a:r>
            <a:endParaRPr lang="en-US" sz="24000" dirty="0"/>
          </a:p>
        </p:txBody>
      </p:sp>
      <p:sp>
        <p:nvSpPr>
          <p:cNvPr id="3" name="Text 1"/>
          <p:cNvSpPr/>
          <p:nvPr/>
        </p:nvSpPr>
        <p:spPr>
          <a:xfrm>
            <a:off x="3200400" y="1097280"/>
            <a:ext cx="8076895" cy="457200"/>
          </a:xfrm>
          <a:prstGeom prst="rect">
            <a:avLst/>
          </a:prstGeom>
          <a:noFill/>
          <a:ln/>
        </p:spPr>
        <p:txBody>
          <a:bodyPr wrap="square" lIns="0" tIns="0" rIns="0" bIns="0" rtlCol="0" anchor="ctr"/>
          <a:lstStyle/>
          <a:p>
            <a:pPr algn="l" indent="0" marL="0">
              <a:buNone/>
            </a:pPr>
            <a:r>
              <a:rPr lang="en-US" sz="1400" b="1" spc="600" kern="0" dirty="0">
                <a:solidFill>
                  <a:srgbClr val="DC822E"/>
                </a:solidFill>
                <a:latin typeface="Source Sans 3" pitchFamily="34" charset="0"/>
                <a:ea typeface="Source Sans 3" pitchFamily="34" charset="-122"/>
                <a:cs typeface="Source Sans 3" pitchFamily="34" charset="-120"/>
              </a:rPr>
              <a:t>SÄULE 02 · WOCHEN 1–2 (parallel)</a:t>
            </a:r>
            <a:endParaRPr lang="en-US" sz="1400" dirty="0"/>
          </a:p>
        </p:txBody>
      </p:sp>
      <p:sp>
        <p:nvSpPr>
          <p:cNvPr id="4" name="Text 2"/>
          <p:cNvSpPr/>
          <p:nvPr/>
        </p:nvSpPr>
        <p:spPr>
          <a:xfrm>
            <a:off x="3200400" y="1737360"/>
            <a:ext cx="8076895" cy="1280160"/>
          </a:xfrm>
          <a:prstGeom prst="rect">
            <a:avLst/>
          </a:prstGeom>
          <a:noFill/>
          <a:ln/>
        </p:spPr>
        <p:txBody>
          <a:bodyPr wrap="square" lIns="0" tIns="0" rIns="0" bIns="0" rtlCol="0" anchor="ctr"/>
          <a:lstStyle/>
          <a:p>
            <a:pPr algn="l" indent="0" marL="0">
              <a:buNone/>
            </a:pPr>
            <a:r>
              <a:rPr lang="en-US" sz="3600" b="1" dirty="0">
                <a:solidFill>
                  <a:srgbClr val="29556D"/>
                </a:solidFill>
                <a:latin typeface="Philosopher" pitchFamily="34" charset="0"/>
                <a:ea typeface="Philosopher" pitchFamily="34" charset="-122"/>
                <a:cs typeface="Philosopher" pitchFamily="34" charset="-120"/>
              </a:rPr>
              <a:t>Du brichst aus dem Hamsterrad aus</a:t>
            </a:r>
            <a:endParaRPr lang="en-US" sz="3600" dirty="0"/>
          </a:p>
        </p:txBody>
      </p:sp>
      <p:sp>
        <p:nvSpPr>
          <p:cNvPr id="5" name="Text 3"/>
          <p:cNvSpPr/>
          <p:nvPr/>
        </p:nvSpPr>
        <p:spPr>
          <a:xfrm>
            <a:off x="3200400" y="3108960"/>
            <a:ext cx="8076895" cy="237744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0C1C30"/>
                </a:solidFill>
                <a:latin typeface="Source Sans 3" pitchFamily="34" charset="0"/>
                <a:ea typeface="Source Sans 3" pitchFamily="34" charset="-122"/>
                <a:cs typeface="Source Sans 3" pitchFamily="34" charset="-120"/>
              </a:rPr>
              <a:t>Hamsterrad-Diagnose</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Hütchenmethode (Brain Dump + Rollen sortieren)</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Was kann weg — bewusst loslassen</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5 Mama-CEO-Blockaden auflösen</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Dein Sonntag-Reset (15 Min wöchentlich)</a:t>
            </a:r>
            <a:endParaRPr lang="en-US" sz="1600" dirty="0"/>
          </a:p>
        </p:txBody>
      </p:sp>
      <p:sp>
        <p:nvSpPr>
          <p:cNvPr id="6" name="Shape 4"/>
          <p:cNvSpPr/>
          <p:nvPr/>
        </p:nvSpPr>
        <p:spPr>
          <a:xfrm>
            <a:off x="3200400" y="5669280"/>
            <a:ext cx="73152" cy="731520"/>
          </a:xfrm>
          <a:prstGeom prst="rect">
            <a:avLst/>
          </a:prstGeom>
          <a:solidFill>
            <a:srgbClr val="12828C"/>
          </a:solidFill>
          <a:ln w="12700">
            <a:solidFill>
              <a:srgbClr val="12828C"/>
            </a:solidFill>
            <a:prstDash val="solid"/>
          </a:ln>
        </p:spPr>
      </p:sp>
      <p:sp>
        <p:nvSpPr>
          <p:cNvPr id="7" name="Text 5"/>
          <p:cNvSpPr/>
          <p:nvPr/>
        </p:nvSpPr>
        <p:spPr>
          <a:xfrm>
            <a:off x="3383280" y="5669280"/>
            <a:ext cx="7894015" cy="731520"/>
          </a:xfrm>
          <a:prstGeom prst="rect">
            <a:avLst/>
          </a:prstGeom>
          <a:noFill/>
          <a:ln/>
        </p:spPr>
        <p:txBody>
          <a:bodyPr wrap="square" lIns="0" tIns="0" rIns="0" bIns="0" rtlCol="0" anchor="ctr"/>
          <a:lstStyle/>
          <a:p>
            <a:pPr indent="0" marL="0">
              <a:buNone/>
            </a:pPr>
            <a:r>
              <a:rPr lang="en-US" sz="1600" i="1" dirty="0">
                <a:solidFill>
                  <a:srgbClr val="12828C"/>
                </a:solidFill>
                <a:latin typeface="Philosopher" pitchFamily="34" charset="0"/>
                <a:ea typeface="Philosopher" pitchFamily="34" charset="-122"/>
                <a:cs typeface="Philosopher" pitchFamily="34" charset="-120"/>
              </a:rPr>
              <a:t>„Ich tue, was dran ist. Ohne Schuld."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ECDD"/>
        </a:solidFill>
      </p:bgPr>
    </p:bg>
    <p:spTree>
      <p:nvGrpSpPr>
        <p:cNvPr id="1" name=""/>
        <p:cNvGrpSpPr/>
        <p:nvPr/>
      </p:nvGrpSpPr>
      <p:grpSpPr>
        <a:xfrm>
          <a:off x="0" y="0"/>
          <a:ext cx="0" cy="0"/>
          <a:chOff x="0" y="0"/>
          <a:chExt cx="0" cy="0"/>
        </a:xfrm>
      </p:grpSpPr>
      <p:sp>
        <p:nvSpPr>
          <p:cNvPr id="2" name="Text 0"/>
          <p:cNvSpPr/>
          <p:nvPr/>
        </p:nvSpPr>
        <p:spPr>
          <a:xfrm>
            <a:off x="548640" y="914400"/>
            <a:ext cx="2286000" cy="4114800"/>
          </a:xfrm>
          <a:prstGeom prst="rect">
            <a:avLst/>
          </a:prstGeom>
          <a:noFill/>
          <a:ln/>
        </p:spPr>
        <p:txBody>
          <a:bodyPr wrap="square" lIns="0" tIns="0" rIns="0" bIns="0" rtlCol="0" anchor="t"/>
          <a:lstStyle/>
          <a:p>
            <a:pPr algn="ctr" indent="0" marL="0">
              <a:buNone/>
            </a:pPr>
            <a:r>
              <a:rPr lang="en-US" sz="24000" b="1" dirty="0">
                <a:solidFill>
                  <a:srgbClr val="DC822E"/>
                </a:solidFill>
                <a:latin typeface="Philosopher" pitchFamily="34" charset="0"/>
                <a:ea typeface="Philosopher" pitchFamily="34" charset="-122"/>
                <a:cs typeface="Philosopher" pitchFamily="34" charset="-120"/>
              </a:rPr>
              <a:t>03</a:t>
            </a:r>
            <a:endParaRPr lang="en-US" sz="24000" dirty="0"/>
          </a:p>
        </p:txBody>
      </p:sp>
      <p:sp>
        <p:nvSpPr>
          <p:cNvPr id="3" name="Text 1"/>
          <p:cNvSpPr/>
          <p:nvPr/>
        </p:nvSpPr>
        <p:spPr>
          <a:xfrm>
            <a:off x="3200400" y="1097280"/>
            <a:ext cx="8076895" cy="457200"/>
          </a:xfrm>
          <a:prstGeom prst="rect">
            <a:avLst/>
          </a:prstGeom>
          <a:noFill/>
          <a:ln/>
        </p:spPr>
        <p:txBody>
          <a:bodyPr wrap="square" lIns="0" tIns="0" rIns="0" bIns="0" rtlCol="0" anchor="ctr"/>
          <a:lstStyle/>
          <a:p>
            <a:pPr algn="l" indent="0" marL="0">
              <a:buNone/>
            </a:pPr>
            <a:r>
              <a:rPr lang="en-US" sz="1400" b="1" spc="600" kern="0" dirty="0">
                <a:solidFill>
                  <a:srgbClr val="DC822E"/>
                </a:solidFill>
                <a:latin typeface="Source Sans 3" pitchFamily="34" charset="0"/>
                <a:ea typeface="Source Sans 3" pitchFamily="34" charset="-122"/>
                <a:cs typeface="Source Sans 3" pitchFamily="34" charset="-120"/>
              </a:rPr>
              <a:t>SÄULE 03 · WOCHEN 3–4</a:t>
            </a:r>
            <a:endParaRPr lang="en-US" sz="1400" dirty="0"/>
          </a:p>
        </p:txBody>
      </p:sp>
      <p:sp>
        <p:nvSpPr>
          <p:cNvPr id="4" name="Text 2"/>
          <p:cNvSpPr/>
          <p:nvPr/>
        </p:nvSpPr>
        <p:spPr>
          <a:xfrm>
            <a:off x="3200400" y="1737360"/>
            <a:ext cx="8076895" cy="1280160"/>
          </a:xfrm>
          <a:prstGeom prst="rect">
            <a:avLst/>
          </a:prstGeom>
          <a:noFill/>
          <a:ln/>
        </p:spPr>
        <p:txBody>
          <a:bodyPr wrap="square" lIns="0" tIns="0" rIns="0" bIns="0" rtlCol="0" anchor="ctr"/>
          <a:lstStyle/>
          <a:p>
            <a:pPr algn="l" indent="0" marL="0">
              <a:buNone/>
            </a:pPr>
            <a:r>
              <a:rPr lang="en-US" sz="3600" b="1" dirty="0">
                <a:solidFill>
                  <a:srgbClr val="29556D"/>
                </a:solidFill>
                <a:latin typeface="Philosopher" pitchFamily="34" charset="0"/>
                <a:ea typeface="Philosopher" pitchFamily="34" charset="-122"/>
                <a:cs typeface="Philosopher" pitchFamily="34" charset="-120"/>
              </a:rPr>
              <a:t>Du baust die Struktur</a:t>
            </a:r>
            <a:endParaRPr lang="en-US" sz="3600" dirty="0"/>
          </a:p>
        </p:txBody>
      </p:sp>
      <p:sp>
        <p:nvSpPr>
          <p:cNvPr id="5" name="Text 3"/>
          <p:cNvSpPr/>
          <p:nvPr/>
        </p:nvSpPr>
        <p:spPr>
          <a:xfrm>
            <a:off x="3200400" y="3108960"/>
            <a:ext cx="8076895" cy="237744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0C1C30"/>
                </a:solidFill>
                <a:latin typeface="Source Sans 3" pitchFamily="34" charset="0"/>
                <a:ea typeface="Source Sans 3" pitchFamily="34" charset="-122"/>
                <a:cs typeface="Source Sans 3" pitchFamily="34" charset="-120"/>
              </a:rPr>
              <a:t>Aufgaben auf Tage/Wochen verteilen</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Die 5 Kern-Workflows dokumentieren</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Notion Business Brain aufsetzen (Live-Demo!)</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Notfall-Modus für Kinder-Kranktage</a:t>
            </a:r>
            <a:endParaRPr lang="en-US" sz="1600" dirty="0"/>
          </a:p>
        </p:txBody>
      </p:sp>
      <p:sp>
        <p:nvSpPr>
          <p:cNvPr id="6" name="Shape 4"/>
          <p:cNvSpPr/>
          <p:nvPr/>
        </p:nvSpPr>
        <p:spPr>
          <a:xfrm>
            <a:off x="3200400" y="5669280"/>
            <a:ext cx="73152" cy="731520"/>
          </a:xfrm>
          <a:prstGeom prst="rect">
            <a:avLst/>
          </a:prstGeom>
          <a:solidFill>
            <a:srgbClr val="12828C"/>
          </a:solidFill>
          <a:ln w="12700">
            <a:solidFill>
              <a:srgbClr val="12828C"/>
            </a:solidFill>
            <a:prstDash val="solid"/>
          </a:ln>
        </p:spPr>
      </p:sp>
      <p:sp>
        <p:nvSpPr>
          <p:cNvPr id="7" name="Text 5"/>
          <p:cNvSpPr/>
          <p:nvPr/>
        </p:nvSpPr>
        <p:spPr>
          <a:xfrm>
            <a:off x="3383280" y="5669280"/>
            <a:ext cx="7894015" cy="731520"/>
          </a:xfrm>
          <a:prstGeom prst="rect">
            <a:avLst/>
          </a:prstGeom>
          <a:noFill/>
          <a:ln/>
        </p:spPr>
        <p:txBody>
          <a:bodyPr wrap="square" lIns="0" tIns="0" rIns="0" bIns="0" rtlCol="0" anchor="ctr"/>
          <a:lstStyle/>
          <a:p>
            <a:pPr indent="0" marL="0">
              <a:buNone/>
            </a:pPr>
            <a:r>
              <a:rPr lang="en-US" sz="1600" i="1" dirty="0">
                <a:solidFill>
                  <a:srgbClr val="12828C"/>
                </a:solidFill>
                <a:latin typeface="Philosopher" pitchFamily="34" charset="0"/>
                <a:ea typeface="Philosopher" pitchFamily="34" charset="-122"/>
                <a:cs typeface="Philosopher" pitchFamily="34" charset="-120"/>
              </a:rPr>
              <a:t>„Ich habe Workflows, die immer gleich laufen — und einen 50%-Plan."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914400"/>
            <a:ext cx="2286000" cy="4114800"/>
          </a:xfrm>
          <a:prstGeom prst="rect">
            <a:avLst/>
          </a:prstGeom>
          <a:noFill/>
          <a:ln/>
        </p:spPr>
        <p:txBody>
          <a:bodyPr wrap="square" lIns="0" tIns="0" rIns="0" bIns="0" rtlCol="0" anchor="t"/>
          <a:lstStyle/>
          <a:p>
            <a:pPr algn="ctr" indent="0" marL="0">
              <a:buNone/>
            </a:pPr>
            <a:r>
              <a:rPr lang="en-US" sz="24000" b="1" dirty="0">
                <a:solidFill>
                  <a:srgbClr val="DC822E"/>
                </a:solidFill>
                <a:latin typeface="Philosopher" pitchFamily="34" charset="0"/>
                <a:ea typeface="Philosopher" pitchFamily="34" charset="-122"/>
                <a:cs typeface="Philosopher" pitchFamily="34" charset="-120"/>
              </a:rPr>
              <a:t>04</a:t>
            </a:r>
            <a:endParaRPr lang="en-US" sz="24000" dirty="0"/>
          </a:p>
        </p:txBody>
      </p:sp>
      <p:sp>
        <p:nvSpPr>
          <p:cNvPr id="3" name="Text 1"/>
          <p:cNvSpPr/>
          <p:nvPr/>
        </p:nvSpPr>
        <p:spPr>
          <a:xfrm>
            <a:off x="3200400" y="1097280"/>
            <a:ext cx="8076895" cy="457200"/>
          </a:xfrm>
          <a:prstGeom prst="rect">
            <a:avLst/>
          </a:prstGeom>
          <a:noFill/>
          <a:ln/>
        </p:spPr>
        <p:txBody>
          <a:bodyPr wrap="square" lIns="0" tIns="0" rIns="0" bIns="0" rtlCol="0" anchor="ctr"/>
          <a:lstStyle/>
          <a:p>
            <a:pPr algn="l" indent="0" marL="0">
              <a:buNone/>
            </a:pPr>
            <a:r>
              <a:rPr lang="en-US" sz="1400" b="1" spc="600" kern="0" dirty="0">
                <a:solidFill>
                  <a:srgbClr val="DC822E"/>
                </a:solidFill>
                <a:latin typeface="Source Sans 3" pitchFamily="34" charset="0"/>
                <a:ea typeface="Source Sans 3" pitchFamily="34" charset="-122"/>
                <a:cs typeface="Source Sans 3" pitchFamily="34" charset="-120"/>
              </a:rPr>
              <a:t>SÄULE 04 · WOCHEN 5–6</a:t>
            </a:r>
            <a:endParaRPr lang="en-US" sz="1400" dirty="0"/>
          </a:p>
        </p:txBody>
      </p:sp>
      <p:sp>
        <p:nvSpPr>
          <p:cNvPr id="4" name="Text 2"/>
          <p:cNvSpPr/>
          <p:nvPr/>
        </p:nvSpPr>
        <p:spPr>
          <a:xfrm>
            <a:off x="3200400" y="1737360"/>
            <a:ext cx="8076895" cy="1280160"/>
          </a:xfrm>
          <a:prstGeom prst="rect">
            <a:avLst/>
          </a:prstGeom>
          <a:noFill/>
          <a:ln/>
        </p:spPr>
        <p:txBody>
          <a:bodyPr wrap="square" lIns="0" tIns="0" rIns="0" bIns="0" rtlCol="0" anchor="ctr"/>
          <a:lstStyle/>
          <a:p>
            <a:pPr algn="l" indent="0" marL="0">
              <a:buNone/>
            </a:pPr>
            <a:r>
              <a:rPr lang="en-US" sz="3600" b="1" dirty="0">
                <a:solidFill>
                  <a:srgbClr val="29556D"/>
                </a:solidFill>
                <a:latin typeface="Philosopher" pitchFamily="34" charset="0"/>
                <a:ea typeface="Philosopher" pitchFamily="34" charset="-122"/>
                <a:cs typeface="Philosopher" pitchFamily="34" charset="-120"/>
              </a:rPr>
              <a:t>Du delegierst den Adminkram</a:t>
            </a:r>
            <a:endParaRPr lang="en-US" sz="3600" dirty="0"/>
          </a:p>
        </p:txBody>
      </p:sp>
      <p:sp>
        <p:nvSpPr>
          <p:cNvPr id="5" name="Text 3"/>
          <p:cNvSpPr/>
          <p:nvPr/>
        </p:nvSpPr>
        <p:spPr>
          <a:xfrm>
            <a:off x="3200400" y="3108960"/>
            <a:ext cx="8076895" cy="237744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0C1C30"/>
                </a:solidFill>
                <a:latin typeface="Source Sans 3" pitchFamily="34" charset="0"/>
                <a:ea typeface="Source Sans 3" pitchFamily="34" charset="-122"/>
                <a:cs typeface="Source Sans 3" pitchFamily="34" charset="-120"/>
              </a:rPr>
              <a:t>KI-Mythos vs. Realität — KI nur so gut wie dein Input</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Cockpit-Bot bauen (Live-Demo)</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Haushalts-Helfer bauen (Live-Demo Kochassistent)</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Welche Bots brauchst DU? (Bot-Audit)</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KI-Wochenplan: Mensch vs. KI</a:t>
            </a:r>
            <a:endParaRPr lang="en-US" sz="1600" dirty="0"/>
          </a:p>
        </p:txBody>
      </p:sp>
      <p:sp>
        <p:nvSpPr>
          <p:cNvPr id="6" name="Shape 4"/>
          <p:cNvSpPr/>
          <p:nvPr/>
        </p:nvSpPr>
        <p:spPr>
          <a:xfrm>
            <a:off x="3200400" y="5669280"/>
            <a:ext cx="73152" cy="731520"/>
          </a:xfrm>
          <a:prstGeom prst="rect">
            <a:avLst/>
          </a:prstGeom>
          <a:solidFill>
            <a:srgbClr val="12828C"/>
          </a:solidFill>
          <a:ln w="12700">
            <a:solidFill>
              <a:srgbClr val="12828C"/>
            </a:solidFill>
            <a:prstDash val="solid"/>
          </a:ln>
        </p:spPr>
      </p:sp>
      <p:sp>
        <p:nvSpPr>
          <p:cNvPr id="7" name="Text 5"/>
          <p:cNvSpPr/>
          <p:nvPr/>
        </p:nvSpPr>
        <p:spPr>
          <a:xfrm>
            <a:off x="3383280" y="5669280"/>
            <a:ext cx="7894015" cy="731520"/>
          </a:xfrm>
          <a:prstGeom prst="rect">
            <a:avLst/>
          </a:prstGeom>
          <a:noFill/>
          <a:ln/>
        </p:spPr>
        <p:txBody>
          <a:bodyPr wrap="square" lIns="0" tIns="0" rIns="0" bIns="0" rtlCol="0" anchor="ctr"/>
          <a:lstStyle/>
          <a:p>
            <a:pPr indent="0" marL="0">
              <a:buNone/>
            </a:pPr>
            <a:r>
              <a:rPr lang="en-US" sz="1600" i="1" dirty="0">
                <a:solidFill>
                  <a:srgbClr val="12828C"/>
                </a:solidFill>
                <a:latin typeface="Philosopher" pitchFamily="34" charset="0"/>
                <a:ea typeface="Philosopher" pitchFamily="34" charset="-122"/>
                <a:cs typeface="Philosopher" pitchFamily="34" charset="-120"/>
              </a:rPr>
              <a:t>„KI-Mitarbeiter nehmen mir den Adminkram ab — Business UND Haushalt."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ECDD"/>
        </a:solidFill>
      </p:bgPr>
    </p:bg>
    <p:spTree>
      <p:nvGrpSpPr>
        <p:cNvPr id="1" name=""/>
        <p:cNvGrpSpPr/>
        <p:nvPr/>
      </p:nvGrpSpPr>
      <p:grpSpPr>
        <a:xfrm>
          <a:off x="0" y="0"/>
          <a:ext cx="0" cy="0"/>
          <a:chOff x="0" y="0"/>
          <a:chExt cx="0" cy="0"/>
        </a:xfrm>
      </p:grpSpPr>
      <p:sp>
        <p:nvSpPr>
          <p:cNvPr id="2" name="Text 0"/>
          <p:cNvSpPr/>
          <p:nvPr/>
        </p:nvSpPr>
        <p:spPr>
          <a:xfrm>
            <a:off x="548640" y="914400"/>
            <a:ext cx="2286000" cy="4114800"/>
          </a:xfrm>
          <a:prstGeom prst="rect">
            <a:avLst/>
          </a:prstGeom>
          <a:noFill/>
          <a:ln/>
        </p:spPr>
        <p:txBody>
          <a:bodyPr wrap="square" lIns="0" tIns="0" rIns="0" bIns="0" rtlCol="0" anchor="t"/>
          <a:lstStyle/>
          <a:p>
            <a:pPr algn="ctr" indent="0" marL="0">
              <a:buNone/>
            </a:pPr>
            <a:r>
              <a:rPr lang="en-US" sz="24000" b="1" dirty="0">
                <a:solidFill>
                  <a:srgbClr val="DC822E"/>
                </a:solidFill>
                <a:latin typeface="Philosopher" pitchFamily="34" charset="0"/>
                <a:ea typeface="Philosopher" pitchFamily="34" charset="-122"/>
                <a:cs typeface="Philosopher" pitchFamily="34" charset="-120"/>
              </a:rPr>
              <a:t>05</a:t>
            </a:r>
            <a:endParaRPr lang="en-US" sz="24000" dirty="0"/>
          </a:p>
        </p:txBody>
      </p:sp>
      <p:sp>
        <p:nvSpPr>
          <p:cNvPr id="3" name="Text 1"/>
          <p:cNvSpPr/>
          <p:nvPr/>
        </p:nvSpPr>
        <p:spPr>
          <a:xfrm>
            <a:off x="3200400" y="1097280"/>
            <a:ext cx="8076895" cy="457200"/>
          </a:xfrm>
          <a:prstGeom prst="rect">
            <a:avLst/>
          </a:prstGeom>
          <a:noFill/>
          <a:ln/>
        </p:spPr>
        <p:txBody>
          <a:bodyPr wrap="square" lIns="0" tIns="0" rIns="0" bIns="0" rtlCol="0" anchor="ctr"/>
          <a:lstStyle/>
          <a:p>
            <a:pPr algn="l" indent="0" marL="0">
              <a:buNone/>
            </a:pPr>
            <a:r>
              <a:rPr lang="en-US" sz="1400" b="1" spc="600" kern="0" dirty="0">
                <a:solidFill>
                  <a:srgbClr val="DC822E"/>
                </a:solidFill>
                <a:latin typeface="Source Sans 3" pitchFamily="34" charset="0"/>
                <a:ea typeface="Source Sans 3" pitchFamily="34" charset="-122"/>
                <a:cs typeface="Source Sans 3" pitchFamily="34" charset="-120"/>
              </a:rPr>
              <a:t>SÄULE 05 · WOCHEN 7–8</a:t>
            </a:r>
            <a:endParaRPr lang="en-US" sz="1400" dirty="0"/>
          </a:p>
        </p:txBody>
      </p:sp>
      <p:sp>
        <p:nvSpPr>
          <p:cNvPr id="4" name="Text 2"/>
          <p:cNvSpPr/>
          <p:nvPr/>
        </p:nvSpPr>
        <p:spPr>
          <a:xfrm>
            <a:off x="3200400" y="1737360"/>
            <a:ext cx="8076895" cy="1280160"/>
          </a:xfrm>
          <a:prstGeom prst="rect">
            <a:avLst/>
          </a:prstGeom>
          <a:noFill/>
          <a:ln/>
        </p:spPr>
        <p:txBody>
          <a:bodyPr wrap="square" lIns="0" tIns="0" rIns="0" bIns="0" rtlCol="0" anchor="ctr"/>
          <a:lstStyle/>
          <a:p>
            <a:pPr algn="l" indent="0" marL="0">
              <a:buNone/>
            </a:pPr>
            <a:r>
              <a:rPr lang="en-US" sz="3600" b="1" dirty="0">
                <a:solidFill>
                  <a:srgbClr val="29556D"/>
                </a:solidFill>
                <a:latin typeface="Philosopher" pitchFamily="34" charset="0"/>
                <a:ea typeface="Philosopher" pitchFamily="34" charset="-122"/>
                <a:cs typeface="Philosopher" pitchFamily="34" charset="-120"/>
              </a:rPr>
              <a:t>Business skalieren</a:t>
            </a:r>
            <a:endParaRPr lang="en-US" sz="3600" dirty="0"/>
          </a:p>
        </p:txBody>
      </p:sp>
      <p:sp>
        <p:nvSpPr>
          <p:cNvPr id="5" name="Text 3"/>
          <p:cNvSpPr/>
          <p:nvPr/>
        </p:nvSpPr>
        <p:spPr>
          <a:xfrm>
            <a:off x="3200400" y="3108960"/>
            <a:ext cx="8076895" cy="237744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0C1C30"/>
                </a:solidFill>
                <a:latin typeface="Source Sans 3" pitchFamily="34" charset="0"/>
                <a:ea typeface="Source Sans 3" pitchFamily="34" charset="-122"/>
                <a:cs typeface="Source Sans 3" pitchFamily="34" charset="-120"/>
              </a:rPr>
              <a:t>Mama-CEO-Matrix (ich · KI · System · raus)</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Was DEINS bleibt (1:1 · Projekte · Events)</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90-Tage-Wachstums-Plan</a:t>
            </a:r>
            <a:endParaRPr lang="en-US" sz="1600" dirty="0"/>
          </a:p>
          <a:p>
            <a:pPr indent="0" marL="0">
              <a:spcAft>
                <a:spcPts val="800"/>
              </a:spcAft>
              <a:buNone/>
            </a:pPr>
            <a:r>
              <a:rPr lang="en-US" sz="1600" dirty="0">
                <a:solidFill>
                  <a:srgbClr val="0C1C30"/>
                </a:solidFill>
                <a:latin typeface="Source Sans 3" pitchFamily="34" charset="0"/>
                <a:ea typeface="Source Sans 3" pitchFamily="34" charset="-122"/>
                <a:cs typeface="Source Sans 3" pitchFamily="34" charset="-120"/>
              </a:rPr>
              <a:t>Was du JETZT NICHT machst (→ Premium-Bundle)</a:t>
            </a:r>
            <a:endParaRPr lang="en-US" sz="1600" dirty="0"/>
          </a:p>
        </p:txBody>
      </p:sp>
      <p:sp>
        <p:nvSpPr>
          <p:cNvPr id="6" name="Shape 4"/>
          <p:cNvSpPr/>
          <p:nvPr/>
        </p:nvSpPr>
        <p:spPr>
          <a:xfrm>
            <a:off x="3200400" y="5669280"/>
            <a:ext cx="73152" cy="731520"/>
          </a:xfrm>
          <a:prstGeom prst="rect">
            <a:avLst/>
          </a:prstGeom>
          <a:solidFill>
            <a:srgbClr val="12828C"/>
          </a:solidFill>
          <a:ln w="12700">
            <a:solidFill>
              <a:srgbClr val="12828C"/>
            </a:solidFill>
            <a:prstDash val="solid"/>
          </a:ln>
        </p:spPr>
      </p:sp>
      <p:sp>
        <p:nvSpPr>
          <p:cNvPr id="7" name="Text 5"/>
          <p:cNvSpPr/>
          <p:nvPr/>
        </p:nvSpPr>
        <p:spPr>
          <a:xfrm>
            <a:off x="3383280" y="5669280"/>
            <a:ext cx="7894015" cy="731520"/>
          </a:xfrm>
          <a:prstGeom prst="rect">
            <a:avLst/>
          </a:prstGeom>
          <a:noFill/>
          <a:ln/>
        </p:spPr>
        <p:txBody>
          <a:bodyPr wrap="square" lIns="0" tIns="0" rIns="0" bIns="0" rtlCol="0" anchor="ctr"/>
          <a:lstStyle/>
          <a:p>
            <a:pPr indent="0" marL="0">
              <a:buNone/>
            </a:pPr>
            <a:r>
              <a:rPr lang="en-US" sz="1600" i="1" dirty="0">
                <a:solidFill>
                  <a:srgbClr val="12828C"/>
                </a:solidFill>
                <a:latin typeface="Philosopher" pitchFamily="34" charset="0"/>
                <a:ea typeface="Philosopher" pitchFamily="34" charset="-122"/>
                <a:cs typeface="Philosopher" pitchFamily="34" charset="-120"/>
              </a:rPr>
              <a:t>„Ich weiss, was DEINS bleibt, was die KI macht, was raus muss."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5E66"/>
        </a:solidFill>
      </p:bgPr>
    </p:bg>
    <p:spTree>
      <p:nvGrpSpPr>
        <p:cNvPr id="1" name=""/>
        <p:cNvGrpSpPr/>
        <p:nvPr/>
      </p:nvGrpSpPr>
      <p:grpSpPr>
        <a:xfrm>
          <a:off x="0" y="0"/>
          <a:ext cx="0" cy="0"/>
          <a:chOff x="0" y="0"/>
          <a:chExt cx="0" cy="0"/>
        </a:xfrm>
      </p:grpSpPr>
      <p:sp>
        <p:nvSpPr>
          <p:cNvPr id="2" name="Text 0"/>
          <p:cNvSpPr/>
          <p:nvPr/>
        </p:nvSpPr>
        <p:spPr>
          <a:xfrm>
            <a:off x="914400" y="640080"/>
            <a:ext cx="10362895" cy="457200"/>
          </a:xfrm>
          <a:prstGeom prst="rect">
            <a:avLst/>
          </a:prstGeom>
          <a:noFill/>
          <a:ln/>
        </p:spPr>
        <p:txBody>
          <a:bodyPr wrap="square" lIns="0" tIns="0" rIns="0" bIns="0" rtlCol="0" anchor="ctr"/>
          <a:lstStyle/>
          <a:p>
            <a:pPr algn="ctr" indent="0" marL="0">
              <a:buNone/>
            </a:pPr>
            <a:r>
              <a:rPr lang="en-US" sz="1600" b="1" spc="600" kern="0" dirty="0">
                <a:solidFill>
                  <a:srgbClr val="F5E555"/>
                </a:solidFill>
                <a:latin typeface="Source Sans 3" pitchFamily="34" charset="0"/>
                <a:ea typeface="Source Sans 3" pitchFamily="34" charset="-122"/>
                <a:cs typeface="Source Sans 3" pitchFamily="34" charset="-120"/>
              </a:rPr>
              <a:t>3 BONI — ALLE PATRICIA-EIGEN.</a:t>
            </a:r>
            <a:endParaRPr lang="en-US" sz="1600" dirty="0"/>
          </a:p>
        </p:txBody>
      </p:sp>
      <p:sp>
        <p:nvSpPr>
          <p:cNvPr id="3" name="Text 1"/>
          <p:cNvSpPr/>
          <p:nvPr/>
        </p:nvSpPr>
        <p:spPr>
          <a:xfrm>
            <a:off x="914400" y="1280160"/>
            <a:ext cx="10362895" cy="1645920"/>
          </a:xfrm>
          <a:prstGeom prst="rect">
            <a:avLst/>
          </a:prstGeom>
          <a:noFill/>
          <a:ln/>
        </p:spPr>
        <p:txBody>
          <a:bodyPr wrap="square" lIns="0" tIns="0" rIns="0" bIns="0" rtlCol="0" anchor="t"/>
          <a:lstStyle/>
          <a:p>
            <a:pPr algn="ctr" indent="0" marL="0">
              <a:buNone/>
            </a:pPr>
            <a:r>
              <a:rPr lang="en-US" sz="2400" b="1" dirty="0">
                <a:solidFill>
                  <a:srgbClr val="F1ECDD"/>
                </a:solidFill>
                <a:latin typeface="Philosopher" pitchFamily="34" charset="0"/>
                <a:ea typeface="Philosopher" pitchFamily="34" charset="-122"/>
                <a:cs typeface="Philosopher" pitchFamily="34" charset="-120"/>
              </a:rPr>
              <a:t>Keine zusammengewürfelten Standard-Templates.</a:t>
            </a:r>
            <a:endParaRPr lang="en-US" sz="2400" dirty="0"/>
          </a:p>
        </p:txBody>
      </p:sp>
      <p:sp>
        <p:nvSpPr>
          <p:cNvPr id="4" name="Shape 2"/>
          <p:cNvSpPr/>
          <p:nvPr/>
        </p:nvSpPr>
        <p:spPr>
          <a:xfrm>
            <a:off x="548640" y="2377440"/>
            <a:ext cx="73152" cy="3108960"/>
          </a:xfrm>
          <a:prstGeom prst="rect">
            <a:avLst/>
          </a:prstGeom>
          <a:solidFill>
            <a:srgbClr val="DC822E"/>
          </a:solidFill>
          <a:ln w="12700">
            <a:solidFill>
              <a:srgbClr val="DC822E"/>
            </a:solidFill>
            <a:prstDash val="solid"/>
          </a:ln>
        </p:spPr>
      </p:sp>
      <p:sp>
        <p:nvSpPr>
          <p:cNvPr id="5" name="Text 3"/>
          <p:cNvSpPr/>
          <p:nvPr/>
        </p:nvSpPr>
        <p:spPr>
          <a:xfrm>
            <a:off x="822960" y="2377440"/>
            <a:ext cx="3657600" cy="731520"/>
          </a:xfrm>
          <a:prstGeom prst="rect">
            <a:avLst/>
          </a:prstGeom>
          <a:noFill/>
          <a:ln/>
        </p:spPr>
        <p:txBody>
          <a:bodyPr wrap="square" lIns="0" tIns="0" rIns="0" bIns="0" rtlCol="0" anchor="ctr"/>
          <a:lstStyle/>
          <a:p>
            <a:pPr algn="l" indent="0" marL="0">
              <a:buNone/>
            </a:pPr>
            <a:r>
              <a:rPr lang="en-US" sz="3600" dirty="0">
                <a:solidFill>
                  <a:srgbClr val="000000"/>
                </a:solidFill>
              </a:rPr>
              <a:t>🌅</a:t>
            </a:r>
            <a:endParaRPr lang="en-US" sz="3600" dirty="0"/>
          </a:p>
        </p:txBody>
      </p:sp>
      <p:sp>
        <p:nvSpPr>
          <p:cNvPr id="6" name="Text 4"/>
          <p:cNvSpPr/>
          <p:nvPr/>
        </p:nvSpPr>
        <p:spPr>
          <a:xfrm>
            <a:off x="822960" y="3200400"/>
            <a:ext cx="3657600" cy="365760"/>
          </a:xfrm>
          <a:prstGeom prst="rect">
            <a:avLst/>
          </a:prstGeom>
          <a:noFill/>
          <a:ln/>
        </p:spPr>
        <p:txBody>
          <a:bodyPr wrap="square" lIns="0" tIns="0" rIns="0" bIns="0" rtlCol="0" anchor="ctr"/>
          <a:lstStyle/>
          <a:p>
            <a:pPr indent="0" marL="0">
              <a:buNone/>
            </a:pPr>
            <a:r>
              <a:rPr lang="en-US" sz="1200" b="1" spc="600" kern="0" dirty="0">
                <a:solidFill>
                  <a:srgbClr val="F5E555"/>
                </a:solidFill>
                <a:latin typeface="Source Sans 3" pitchFamily="34" charset="0"/>
                <a:ea typeface="Source Sans 3" pitchFamily="34" charset="-122"/>
                <a:cs typeface="Source Sans 3" pitchFamily="34" charset="-120"/>
              </a:rPr>
              <a:t>BONUS 01</a:t>
            </a:r>
            <a:endParaRPr lang="en-US" sz="1200" dirty="0"/>
          </a:p>
        </p:txBody>
      </p:sp>
      <p:sp>
        <p:nvSpPr>
          <p:cNvPr id="7" name="Text 5"/>
          <p:cNvSpPr/>
          <p:nvPr/>
        </p:nvSpPr>
        <p:spPr>
          <a:xfrm>
            <a:off x="822960" y="3566160"/>
            <a:ext cx="3657600" cy="640080"/>
          </a:xfrm>
          <a:prstGeom prst="rect">
            <a:avLst/>
          </a:prstGeom>
          <a:noFill/>
          <a:ln/>
        </p:spPr>
        <p:txBody>
          <a:bodyPr wrap="square" lIns="0" tIns="0" rIns="0" bIns="0" rtlCol="0" anchor="ctr"/>
          <a:lstStyle/>
          <a:p>
            <a:pPr indent="0" marL="0">
              <a:buNone/>
            </a:pPr>
            <a:r>
              <a:rPr lang="en-US" sz="2200" b="1" dirty="0">
                <a:solidFill>
                  <a:srgbClr val="F1ECDD"/>
                </a:solidFill>
                <a:latin typeface="Philosopher" pitchFamily="34" charset="0"/>
                <a:ea typeface="Philosopher" pitchFamily="34" charset="-122"/>
                <a:cs typeface="Philosopher" pitchFamily="34" charset="-120"/>
              </a:rPr>
              <a:t>Cockpit-Bot</a:t>
            </a:r>
            <a:endParaRPr lang="en-US" sz="2200" dirty="0"/>
          </a:p>
        </p:txBody>
      </p:sp>
      <p:sp>
        <p:nvSpPr>
          <p:cNvPr id="8" name="Text 6"/>
          <p:cNvSpPr/>
          <p:nvPr/>
        </p:nvSpPr>
        <p:spPr>
          <a:xfrm>
            <a:off x="822960" y="4206240"/>
            <a:ext cx="3657600" cy="1371600"/>
          </a:xfrm>
          <a:prstGeom prst="rect">
            <a:avLst/>
          </a:prstGeom>
          <a:noFill/>
          <a:ln/>
        </p:spPr>
        <p:txBody>
          <a:bodyPr wrap="square" lIns="0" tIns="0" rIns="0" bIns="0" rtlCol="0" anchor="ctr"/>
          <a:lstStyle/>
          <a:p>
            <a:pPr indent="0" marL="0">
              <a:buNone/>
            </a:pPr>
            <a:r>
              <a:rPr lang="en-US" sz="1400" dirty="0">
                <a:solidFill>
                  <a:srgbClr val="F1ECDD"/>
                </a:solidFill>
                <a:latin typeface="Source Sans 3" pitchFamily="34" charset="0"/>
                <a:ea typeface="Source Sans 3" pitchFamily="34" charset="-122"/>
                <a:cs typeface="Source Sans 3" pitchFamily="34" charset="-120"/>
              </a:rPr>
              <a:t>System-Prompt + Anleitung. Strategische Planung + Reflexion + Tagesbriefing.</a:t>
            </a:r>
            <a:endParaRPr lang="en-US" sz="1400" dirty="0"/>
          </a:p>
        </p:txBody>
      </p:sp>
      <p:sp>
        <p:nvSpPr>
          <p:cNvPr id="9" name="Shape 7"/>
          <p:cNvSpPr/>
          <p:nvPr/>
        </p:nvSpPr>
        <p:spPr>
          <a:xfrm>
            <a:off x="4297680" y="2377440"/>
            <a:ext cx="73152" cy="3108960"/>
          </a:xfrm>
          <a:prstGeom prst="rect">
            <a:avLst/>
          </a:prstGeom>
          <a:solidFill>
            <a:srgbClr val="DC822E"/>
          </a:solidFill>
          <a:ln w="12700">
            <a:solidFill>
              <a:srgbClr val="DC822E"/>
            </a:solidFill>
            <a:prstDash val="solid"/>
          </a:ln>
        </p:spPr>
      </p:sp>
      <p:sp>
        <p:nvSpPr>
          <p:cNvPr id="10" name="Text 8"/>
          <p:cNvSpPr/>
          <p:nvPr/>
        </p:nvSpPr>
        <p:spPr>
          <a:xfrm>
            <a:off x="4572000" y="2377440"/>
            <a:ext cx="3657600" cy="731520"/>
          </a:xfrm>
          <a:prstGeom prst="rect">
            <a:avLst/>
          </a:prstGeom>
          <a:noFill/>
          <a:ln/>
        </p:spPr>
        <p:txBody>
          <a:bodyPr wrap="square" lIns="0" tIns="0" rIns="0" bIns="0" rtlCol="0" anchor="ctr"/>
          <a:lstStyle/>
          <a:p>
            <a:pPr algn="l" indent="0" marL="0">
              <a:buNone/>
            </a:pPr>
            <a:r>
              <a:rPr lang="en-US" sz="3600" dirty="0">
                <a:solidFill>
                  <a:srgbClr val="000000"/>
                </a:solidFill>
              </a:rPr>
              <a:t>🏠</a:t>
            </a:r>
            <a:endParaRPr lang="en-US" sz="3600" dirty="0"/>
          </a:p>
        </p:txBody>
      </p:sp>
      <p:sp>
        <p:nvSpPr>
          <p:cNvPr id="11" name="Text 9"/>
          <p:cNvSpPr/>
          <p:nvPr/>
        </p:nvSpPr>
        <p:spPr>
          <a:xfrm>
            <a:off x="4572000" y="3200400"/>
            <a:ext cx="3657600" cy="365760"/>
          </a:xfrm>
          <a:prstGeom prst="rect">
            <a:avLst/>
          </a:prstGeom>
          <a:noFill/>
          <a:ln/>
        </p:spPr>
        <p:txBody>
          <a:bodyPr wrap="square" lIns="0" tIns="0" rIns="0" bIns="0" rtlCol="0" anchor="ctr"/>
          <a:lstStyle/>
          <a:p>
            <a:pPr indent="0" marL="0">
              <a:buNone/>
            </a:pPr>
            <a:r>
              <a:rPr lang="en-US" sz="1200" b="1" spc="600" kern="0" dirty="0">
                <a:solidFill>
                  <a:srgbClr val="F5E555"/>
                </a:solidFill>
                <a:latin typeface="Source Sans 3" pitchFamily="34" charset="0"/>
                <a:ea typeface="Source Sans 3" pitchFamily="34" charset="-122"/>
                <a:cs typeface="Source Sans 3" pitchFamily="34" charset="-120"/>
              </a:rPr>
              <a:t>BONUS 02</a:t>
            </a:r>
            <a:endParaRPr lang="en-US" sz="1200" dirty="0"/>
          </a:p>
        </p:txBody>
      </p:sp>
      <p:sp>
        <p:nvSpPr>
          <p:cNvPr id="12" name="Text 10"/>
          <p:cNvSpPr/>
          <p:nvPr/>
        </p:nvSpPr>
        <p:spPr>
          <a:xfrm>
            <a:off x="4572000" y="3566160"/>
            <a:ext cx="3657600" cy="640080"/>
          </a:xfrm>
          <a:prstGeom prst="rect">
            <a:avLst/>
          </a:prstGeom>
          <a:noFill/>
          <a:ln/>
        </p:spPr>
        <p:txBody>
          <a:bodyPr wrap="square" lIns="0" tIns="0" rIns="0" bIns="0" rtlCol="0" anchor="ctr"/>
          <a:lstStyle/>
          <a:p>
            <a:pPr indent="0" marL="0">
              <a:buNone/>
            </a:pPr>
            <a:r>
              <a:rPr lang="en-US" sz="2200" b="1" dirty="0">
                <a:solidFill>
                  <a:srgbClr val="F1ECDD"/>
                </a:solidFill>
                <a:latin typeface="Philosopher" pitchFamily="34" charset="0"/>
                <a:ea typeface="Philosopher" pitchFamily="34" charset="-122"/>
                <a:cs typeface="Philosopher" pitchFamily="34" charset="-120"/>
              </a:rPr>
              <a:t>Familien-Bot</a:t>
            </a:r>
            <a:endParaRPr lang="en-US" sz="2200" dirty="0"/>
          </a:p>
        </p:txBody>
      </p:sp>
      <p:sp>
        <p:nvSpPr>
          <p:cNvPr id="13" name="Text 11"/>
          <p:cNvSpPr/>
          <p:nvPr/>
        </p:nvSpPr>
        <p:spPr>
          <a:xfrm>
            <a:off x="4572000" y="4206240"/>
            <a:ext cx="3657600" cy="1371600"/>
          </a:xfrm>
          <a:prstGeom prst="rect">
            <a:avLst/>
          </a:prstGeom>
          <a:noFill/>
          <a:ln/>
        </p:spPr>
        <p:txBody>
          <a:bodyPr wrap="square" lIns="0" tIns="0" rIns="0" bIns="0" rtlCol="0" anchor="ctr"/>
          <a:lstStyle/>
          <a:p>
            <a:pPr indent="0" marL="0">
              <a:buNone/>
            </a:pPr>
            <a:r>
              <a:rPr lang="en-US" sz="1400" dirty="0">
                <a:solidFill>
                  <a:srgbClr val="F1ECDD"/>
                </a:solidFill>
                <a:latin typeface="Source Sans 3" pitchFamily="34" charset="0"/>
                <a:ea typeface="Source Sans 3" pitchFamily="34" charset="-122"/>
                <a:cs typeface="Source Sans 3" pitchFamily="34" charset="-120"/>
              </a:rPr>
              <a:t>System-Prompt für deinen Mental-Load-Speicher. Termine, Geschenke, Reisen.</a:t>
            </a:r>
            <a:endParaRPr lang="en-US" sz="1400" dirty="0"/>
          </a:p>
        </p:txBody>
      </p:sp>
      <p:sp>
        <p:nvSpPr>
          <p:cNvPr id="14" name="Shape 12"/>
          <p:cNvSpPr/>
          <p:nvPr/>
        </p:nvSpPr>
        <p:spPr>
          <a:xfrm>
            <a:off x="8046720" y="2377440"/>
            <a:ext cx="73152" cy="3108960"/>
          </a:xfrm>
          <a:prstGeom prst="rect">
            <a:avLst/>
          </a:prstGeom>
          <a:solidFill>
            <a:srgbClr val="DC822E"/>
          </a:solidFill>
          <a:ln w="12700">
            <a:solidFill>
              <a:srgbClr val="DC822E"/>
            </a:solidFill>
            <a:prstDash val="solid"/>
          </a:ln>
        </p:spPr>
      </p:sp>
      <p:sp>
        <p:nvSpPr>
          <p:cNvPr id="15" name="Text 13"/>
          <p:cNvSpPr/>
          <p:nvPr/>
        </p:nvSpPr>
        <p:spPr>
          <a:xfrm>
            <a:off x="8321040" y="2377440"/>
            <a:ext cx="3657600" cy="731520"/>
          </a:xfrm>
          <a:prstGeom prst="rect">
            <a:avLst/>
          </a:prstGeom>
          <a:noFill/>
          <a:ln/>
        </p:spPr>
        <p:txBody>
          <a:bodyPr wrap="square" lIns="0" tIns="0" rIns="0" bIns="0" rtlCol="0" anchor="ctr"/>
          <a:lstStyle/>
          <a:p>
            <a:pPr algn="l" indent="0" marL="0">
              <a:buNone/>
            </a:pPr>
            <a:r>
              <a:rPr lang="en-US" sz="3600" dirty="0">
                <a:solidFill>
                  <a:srgbClr val="000000"/>
                </a:solidFill>
              </a:rPr>
              <a:t>📂</a:t>
            </a:r>
            <a:endParaRPr lang="en-US" sz="3600" dirty="0"/>
          </a:p>
        </p:txBody>
      </p:sp>
      <p:sp>
        <p:nvSpPr>
          <p:cNvPr id="16" name="Text 14"/>
          <p:cNvSpPr/>
          <p:nvPr/>
        </p:nvSpPr>
        <p:spPr>
          <a:xfrm>
            <a:off x="8321040" y="3200400"/>
            <a:ext cx="3657600" cy="365760"/>
          </a:xfrm>
          <a:prstGeom prst="rect">
            <a:avLst/>
          </a:prstGeom>
          <a:noFill/>
          <a:ln/>
        </p:spPr>
        <p:txBody>
          <a:bodyPr wrap="square" lIns="0" tIns="0" rIns="0" bIns="0" rtlCol="0" anchor="ctr"/>
          <a:lstStyle/>
          <a:p>
            <a:pPr indent="0" marL="0">
              <a:buNone/>
            </a:pPr>
            <a:r>
              <a:rPr lang="en-US" sz="1200" b="1" spc="600" kern="0" dirty="0">
                <a:solidFill>
                  <a:srgbClr val="F5E555"/>
                </a:solidFill>
                <a:latin typeface="Source Sans 3" pitchFamily="34" charset="0"/>
                <a:ea typeface="Source Sans 3" pitchFamily="34" charset="-122"/>
                <a:cs typeface="Source Sans 3" pitchFamily="34" charset="-120"/>
              </a:rPr>
              <a:t>BONUS 03</a:t>
            </a:r>
            <a:endParaRPr lang="en-US" sz="1200" dirty="0"/>
          </a:p>
        </p:txBody>
      </p:sp>
      <p:sp>
        <p:nvSpPr>
          <p:cNvPr id="17" name="Text 15"/>
          <p:cNvSpPr/>
          <p:nvPr/>
        </p:nvSpPr>
        <p:spPr>
          <a:xfrm>
            <a:off x="8321040" y="3566160"/>
            <a:ext cx="3657600" cy="640080"/>
          </a:xfrm>
          <a:prstGeom prst="rect">
            <a:avLst/>
          </a:prstGeom>
          <a:noFill/>
          <a:ln/>
        </p:spPr>
        <p:txBody>
          <a:bodyPr wrap="square" lIns="0" tIns="0" rIns="0" bIns="0" rtlCol="0" anchor="ctr"/>
          <a:lstStyle/>
          <a:p>
            <a:pPr indent="0" marL="0">
              <a:buNone/>
            </a:pPr>
            <a:r>
              <a:rPr lang="en-US" sz="2200" b="1" dirty="0">
                <a:solidFill>
                  <a:srgbClr val="F1ECDD"/>
                </a:solidFill>
                <a:latin typeface="Philosopher" pitchFamily="34" charset="0"/>
                <a:ea typeface="Philosopher" pitchFamily="34" charset="-122"/>
                <a:cs typeface="Philosopher" pitchFamily="34" charset="-120"/>
              </a:rPr>
              <a:t>Notion-Master-Template</a:t>
            </a:r>
            <a:endParaRPr lang="en-US" sz="2200" dirty="0"/>
          </a:p>
        </p:txBody>
      </p:sp>
      <p:sp>
        <p:nvSpPr>
          <p:cNvPr id="18" name="Text 16"/>
          <p:cNvSpPr/>
          <p:nvPr/>
        </p:nvSpPr>
        <p:spPr>
          <a:xfrm>
            <a:off x="8321040" y="4206240"/>
            <a:ext cx="3657600" cy="1371600"/>
          </a:xfrm>
          <a:prstGeom prst="rect">
            <a:avLst/>
          </a:prstGeom>
          <a:noFill/>
          <a:ln/>
        </p:spPr>
        <p:txBody>
          <a:bodyPr wrap="square" lIns="0" tIns="0" rIns="0" bIns="0" rtlCol="0" anchor="ctr"/>
          <a:lstStyle/>
          <a:p>
            <a:pPr indent="0" marL="0">
              <a:buNone/>
            </a:pPr>
            <a:r>
              <a:rPr lang="en-US" sz="1400" dirty="0">
                <a:solidFill>
                  <a:srgbClr val="F1ECDD"/>
                </a:solidFill>
                <a:latin typeface="Source Sans 3" pitchFamily="34" charset="0"/>
                <a:ea typeface="Source Sans 3" pitchFamily="34" charset="-122"/>
                <a:cs typeface="Source Sans 3" pitchFamily="34" charset="-120"/>
              </a:rPr>
              <a:t>Abgespeckte Kopie meines echten Workspaces. 4 DBs + 5 Workflows + 90-Tage-Tracker.</a:t>
            </a:r>
            <a:endParaRPr lang="en-US" sz="1400" dirty="0"/>
          </a:p>
        </p:txBody>
      </p:sp>
      <p:sp>
        <p:nvSpPr>
          <p:cNvPr id="19" name="Text 17"/>
          <p:cNvSpPr/>
          <p:nvPr/>
        </p:nvSpPr>
        <p:spPr>
          <a:xfrm>
            <a:off x="914400" y="6035040"/>
            <a:ext cx="10362895" cy="365760"/>
          </a:xfrm>
          <a:prstGeom prst="rect">
            <a:avLst/>
          </a:prstGeom>
          <a:noFill/>
          <a:ln/>
        </p:spPr>
        <p:txBody>
          <a:bodyPr wrap="square" lIns="0" tIns="0" rIns="0" bIns="0" rtlCol="0" anchor="ctr"/>
          <a:lstStyle/>
          <a:p>
            <a:pPr algn="ctr" indent="0" marL="0">
              <a:buNone/>
            </a:pPr>
            <a:r>
              <a:rPr lang="en-US" sz="1400" i="1" dirty="0">
                <a:solidFill>
                  <a:srgbClr val="F5E555"/>
                </a:solidFill>
                <a:latin typeface="Source Sans 3" pitchFamily="34" charset="0"/>
                <a:ea typeface="Source Sans 3" pitchFamily="34" charset="-122"/>
                <a:cs typeface="Source Sans 3" pitchFamily="34" charset="-120"/>
              </a:rPr>
              <a:t>Plus Claude-Code-Einrichtungs-Anleitung als Material.</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640080"/>
            <a:ext cx="10362895" cy="457200"/>
          </a:xfrm>
          <a:prstGeom prst="rect">
            <a:avLst/>
          </a:prstGeom>
          <a:noFill/>
          <a:ln/>
        </p:spPr>
        <p:txBody>
          <a:bodyPr wrap="square" lIns="0" tIns="0" rIns="0" bIns="0" rtlCol="0" anchor="ctr"/>
          <a:lstStyle/>
          <a:p>
            <a:pPr algn="ctr" indent="0" marL="0">
              <a:buNone/>
            </a:pPr>
            <a:r>
              <a:rPr lang="en-US" sz="1400" b="1" spc="600" kern="0" dirty="0">
                <a:solidFill>
                  <a:srgbClr val="12828C"/>
                </a:solidFill>
                <a:latin typeface="Source Sans 3" pitchFamily="34" charset="0"/>
                <a:ea typeface="Source Sans 3" pitchFamily="34" charset="-122"/>
                <a:cs typeface="Source Sans 3" pitchFamily="34" charset="-120"/>
              </a:rPr>
              <a:t>ERSTE RUNDE · 15 PLÄTZE</a:t>
            </a:r>
            <a:endParaRPr lang="en-US" sz="1400" dirty="0"/>
          </a:p>
        </p:txBody>
      </p:sp>
      <p:sp>
        <p:nvSpPr>
          <p:cNvPr id="3" name="Text 1"/>
          <p:cNvSpPr/>
          <p:nvPr/>
        </p:nvSpPr>
        <p:spPr>
          <a:xfrm>
            <a:off x="914400" y="1188720"/>
            <a:ext cx="10362895" cy="1645920"/>
          </a:xfrm>
          <a:prstGeom prst="rect">
            <a:avLst/>
          </a:prstGeom>
          <a:noFill/>
          <a:ln/>
        </p:spPr>
        <p:txBody>
          <a:bodyPr wrap="square" lIns="0" tIns="0" rIns="0" bIns="0" rtlCol="0" anchor="t"/>
          <a:lstStyle/>
          <a:p>
            <a:pPr algn="ctr" indent="0" marL="0">
              <a:buNone/>
            </a:pPr>
            <a:r>
              <a:rPr lang="en-US" sz="2800" b="1" dirty="0">
                <a:solidFill>
                  <a:srgbClr val="29556D"/>
                </a:solidFill>
                <a:latin typeface="Philosopher" pitchFamily="34" charset="0"/>
                <a:ea typeface="Philosopher" pitchFamily="34" charset="-122"/>
                <a:cs typeface="Philosopher" pitchFamily="34" charset="-120"/>
              </a:rPr>
              <a:t>Komm jetzt rein — solange's noch 333 sind.</a:t>
            </a:r>
            <a:endParaRPr lang="en-US" sz="2800" dirty="0"/>
          </a:p>
        </p:txBody>
      </p:sp>
      <p:sp>
        <p:nvSpPr>
          <p:cNvPr id="4" name="Shape 2"/>
          <p:cNvSpPr/>
          <p:nvPr/>
        </p:nvSpPr>
        <p:spPr>
          <a:xfrm>
            <a:off x="548640" y="2377440"/>
            <a:ext cx="3657600" cy="3291840"/>
          </a:xfrm>
          <a:prstGeom prst="rect">
            <a:avLst/>
          </a:prstGeom>
          <a:solidFill>
            <a:srgbClr val="FFFFFF"/>
          </a:solidFill>
          <a:ln w="12700">
            <a:solidFill>
              <a:srgbClr val="E5E5E5"/>
            </a:solidFill>
            <a:prstDash val="solid"/>
          </a:ln>
        </p:spPr>
      </p:sp>
      <p:sp>
        <p:nvSpPr>
          <p:cNvPr id="5" name="Text 3"/>
          <p:cNvSpPr/>
          <p:nvPr/>
        </p:nvSpPr>
        <p:spPr>
          <a:xfrm>
            <a:off x="548640" y="2743200"/>
            <a:ext cx="3657600" cy="365760"/>
          </a:xfrm>
          <a:prstGeom prst="rect">
            <a:avLst/>
          </a:prstGeom>
          <a:noFill/>
          <a:ln/>
        </p:spPr>
        <p:txBody>
          <a:bodyPr wrap="square" lIns="0" tIns="0" rIns="0" bIns="0" rtlCol="0" anchor="ctr"/>
          <a:lstStyle/>
          <a:p>
            <a:pPr algn="ctr" indent="0" marL="0">
              <a:buNone/>
            </a:pPr>
            <a:r>
              <a:rPr lang="en-US" sz="1200" b="1" spc="500" kern="0" dirty="0">
                <a:solidFill>
                  <a:srgbClr val="12828C"/>
                </a:solidFill>
                <a:latin typeface="Source Sans 3" pitchFamily="34" charset="0"/>
                <a:ea typeface="Source Sans 3" pitchFamily="34" charset="-122"/>
                <a:cs typeface="Source Sans 3" pitchFamily="34" charset="-120"/>
              </a:rPr>
              <a:t>🔥 FRÜHBUCHER · 72H</a:t>
            </a:r>
            <a:endParaRPr lang="en-US" sz="1200" dirty="0"/>
          </a:p>
        </p:txBody>
      </p:sp>
      <p:sp>
        <p:nvSpPr>
          <p:cNvPr id="6" name="Text 4"/>
          <p:cNvSpPr/>
          <p:nvPr/>
        </p:nvSpPr>
        <p:spPr>
          <a:xfrm>
            <a:off x="548640" y="3291840"/>
            <a:ext cx="3657600" cy="1280160"/>
          </a:xfrm>
          <a:prstGeom prst="rect">
            <a:avLst/>
          </a:prstGeom>
          <a:noFill/>
          <a:ln/>
        </p:spPr>
        <p:txBody>
          <a:bodyPr wrap="square" lIns="0" tIns="0" rIns="0" bIns="0" rtlCol="0" anchor="ctr"/>
          <a:lstStyle/>
          <a:p>
            <a:pPr algn="ctr" indent="0" marL="0">
              <a:buNone/>
            </a:pPr>
            <a:r>
              <a:rPr lang="en-US" sz="5600" b="1" dirty="0">
                <a:solidFill>
                  <a:srgbClr val="29556D"/>
                </a:solidFill>
                <a:latin typeface="Philosopher" pitchFamily="34" charset="0"/>
                <a:ea typeface="Philosopher" pitchFamily="34" charset="-122"/>
                <a:cs typeface="Philosopher" pitchFamily="34" charset="-120"/>
              </a:rPr>
              <a:t>249 CHF</a:t>
            </a:r>
            <a:endParaRPr lang="en-US" sz="5600" dirty="0"/>
          </a:p>
        </p:txBody>
      </p:sp>
      <p:sp>
        <p:nvSpPr>
          <p:cNvPr id="7" name="Text 5"/>
          <p:cNvSpPr/>
          <p:nvPr/>
        </p:nvSpPr>
        <p:spPr>
          <a:xfrm>
            <a:off x="548640" y="4846320"/>
            <a:ext cx="3657600" cy="640080"/>
          </a:xfrm>
          <a:prstGeom prst="rect">
            <a:avLst/>
          </a:prstGeom>
          <a:noFill/>
          <a:ln/>
        </p:spPr>
        <p:txBody>
          <a:bodyPr wrap="square" lIns="0" tIns="0" rIns="0" bIns="0" rtlCol="0" anchor="ctr"/>
          <a:lstStyle/>
          <a:p>
            <a:pPr algn="ctr" indent="0" marL="0">
              <a:buNone/>
            </a:pPr>
            <a:r>
              <a:rPr lang="en-US" sz="1300" dirty="0">
                <a:solidFill>
                  <a:srgbClr val="5A6B7A"/>
                </a:solidFill>
                <a:latin typeface="Source Sans 3" pitchFamily="34" charset="0"/>
                <a:ea typeface="Source Sans 3" pitchFamily="34" charset="-122"/>
                <a:cs typeface="Source Sans 3" pitchFamily="34" charset="-120"/>
              </a:rPr>
              <a:t>Heute 11:00 → Sa 23.5. 23:59</a:t>
            </a:r>
            <a:endParaRPr lang="en-US" sz="1300" dirty="0"/>
          </a:p>
        </p:txBody>
      </p:sp>
      <p:sp>
        <p:nvSpPr>
          <p:cNvPr id="8" name="Shape 6"/>
          <p:cNvSpPr/>
          <p:nvPr/>
        </p:nvSpPr>
        <p:spPr>
          <a:xfrm>
            <a:off x="4297680" y="2377440"/>
            <a:ext cx="3657600" cy="3291840"/>
          </a:xfrm>
          <a:prstGeom prst="rect">
            <a:avLst/>
          </a:prstGeom>
          <a:solidFill>
            <a:srgbClr val="FFFFFF"/>
          </a:solidFill>
          <a:ln w="38100">
            <a:solidFill>
              <a:srgbClr val="DC822E"/>
            </a:solidFill>
            <a:prstDash val="solid"/>
          </a:ln>
        </p:spPr>
      </p:sp>
      <p:sp>
        <p:nvSpPr>
          <p:cNvPr id="9" name="Shape 7"/>
          <p:cNvSpPr/>
          <p:nvPr/>
        </p:nvSpPr>
        <p:spPr>
          <a:xfrm>
            <a:off x="5394960" y="2148840"/>
            <a:ext cx="1463040" cy="457200"/>
          </a:xfrm>
          <a:prstGeom prst="rect">
            <a:avLst/>
          </a:prstGeom>
          <a:solidFill>
            <a:srgbClr val="DC822E"/>
          </a:solidFill>
          <a:ln w="12700">
            <a:solidFill>
              <a:srgbClr val="DC822E"/>
            </a:solidFill>
            <a:prstDash val="solid"/>
          </a:ln>
        </p:spPr>
      </p:sp>
      <p:sp>
        <p:nvSpPr>
          <p:cNvPr id="10" name="Text 8"/>
          <p:cNvSpPr/>
          <p:nvPr/>
        </p:nvSpPr>
        <p:spPr>
          <a:xfrm>
            <a:off x="5394960" y="2148840"/>
            <a:ext cx="1463040" cy="457200"/>
          </a:xfrm>
          <a:prstGeom prst="rect">
            <a:avLst/>
          </a:prstGeom>
          <a:noFill/>
          <a:ln/>
        </p:spPr>
        <p:txBody>
          <a:bodyPr wrap="square" lIns="0" tIns="0" rIns="0" bIns="0" rtlCol="0" anchor="ctr"/>
          <a:lstStyle/>
          <a:p>
            <a:pPr algn="ctr" indent="0" marL="0">
              <a:buNone/>
            </a:pPr>
            <a:r>
              <a:rPr lang="en-US" sz="1000" b="1" spc="800" kern="0" dirty="0">
                <a:solidFill>
                  <a:srgbClr val="FFFFFF"/>
                </a:solidFill>
                <a:latin typeface="Source Sans 3" pitchFamily="34" charset="0"/>
                <a:ea typeface="Source Sans 3" pitchFamily="34" charset="-122"/>
                <a:cs typeface="Source Sans 3" pitchFamily="34" charset="-120"/>
              </a:rPr>
              <a:t>BESTE WAHL</a:t>
            </a:r>
            <a:endParaRPr lang="en-US" sz="1000" dirty="0"/>
          </a:p>
        </p:txBody>
      </p:sp>
      <p:sp>
        <p:nvSpPr>
          <p:cNvPr id="11" name="Text 9"/>
          <p:cNvSpPr/>
          <p:nvPr/>
        </p:nvSpPr>
        <p:spPr>
          <a:xfrm>
            <a:off x="4297680" y="2743200"/>
            <a:ext cx="3657600" cy="365760"/>
          </a:xfrm>
          <a:prstGeom prst="rect">
            <a:avLst/>
          </a:prstGeom>
          <a:noFill/>
          <a:ln/>
        </p:spPr>
        <p:txBody>
          <a:bodyPr wrap="square" lIns="0" tIns="0" rIns="0" bIns="0" rtlCol="0" anchor="ctr"/>
          <a:lstStyle/>
          <a:p>
            <a:pPr algn="ctr" indent="0" marL="0">
              <a:buNone/>
            </a:pPr>
            <a:r>
              <a:rPr lang="en-US" sz="1200" b="1" spc="500" kern="0" dirty="0">
                <a:solidFill>
                  <a:srgbClr val="12828C"/>
                </a:solidFill>
                <a:latin typeface="Source Sans 3" pitchFamily="34" charset="0"/>
                <a:ea typeface="Source Sans 3" pitchFamily="34" charset="-122"/>
                <a:cs typeface="Source Sans 3" pitchFamily="34" charset="-120"/>
              </a:rPr>
              <a:t>FINAL · ERSTE RUNDE</a:t>
            </a:r>
            <a:endParaRPr lang="en-US" sz="1200" dirty="0"/>
          </a:p>
        </p:txBody>
      </p:sp>
      <p:sp>
        <p:nvSpPr>
          <p:cNvPr id="12" name="Text 10"/>
          <p:cNvSpPr/>
          <p:nvPr/>
        </p:nvSpPr>
        <p:spPr>
          <a:xfrm>
            <a:off x="4297680" y="3291840"/>
            <a:ext cx="3657600" cy="1280160"/>
          </a:xfrm>
          <a:prstGeom prst="rect">
            <a:avLst/>
          </a:prstGeom>
          <a:noFill/>
          <a:ln/>
        </p:spPr>
        <p:txBody>
          <a:bodyPr wrap="square" lIns="0" tIns="0" rIns="0" bIns="0" rtlCol="0" anchor="ctr"/>
          <a:lstStyle/>
          <a:p>
            <a:pPr algn="ctr" indent="0" marL="0">
              <a:buNone/>
            </a:pPr>
            <a:r>
              <a:rPr lang="en-US" sz="5600" b="1" dirty="0">
                <a:solidFill>
                  <a:srgbClr val="29556D"/>
                </a:solidFill>
                <a:latin typeface="Philosopher" pitchFamily="34" charset="0"/>
                <a:ea typeface="Philosopher" pitchFamily="34" charset="-122"/>
                <a:cs typeface="Philosopher" pitchFamily="34" charset="-120"/>
              </a:rPr>
              <a:t>333 CHF</a:t>
            </a:r>
            <a:endParaRPr lang="en-US" sz="5600" dirty="0"/>
          </a:p>
        </p:txBody>
      </p:sp>
      <p:sp>
        <p:nvSpPr>
          <p:cNvPr id="13" name="Text 11"/>
          <p:cNvSpPr/>
          <p:nvPr/>
        </p:nvSpPr>
        <p:spPr>
          <a:xfrm>
            <a:off x="4297680" y="4846320"/>
            <a:ext cx="3657600" cy="640080"/>
          </a:xfrm>
          <a:prstGeom prst="rect">
            <a:avLst/>
          </a:prstGeom>
          <a:noFill/>
          <a:ln/>
        </p:spPr>
        <p:txBody>
          <a:bodyPr wrap="square" lIns="0" tIns="0" rIns="0" bIns="0" rtlCol="0" anchor="ctr"/>
          <a:lstStyle/>
          <a:p>
            <a:pPr algn="ctr" indent="0" marL="0">
              <a:buNone/>
            </a:pPr>
            <a:r>
              <a:rPr lang="en-US" sz="1300" dirty="0">
                <a:solidFill>
                  <a:srgbClr val="5A6B7A"/>
                </a:solidFill>
                <a:latin typeface="Source Sans 3" pitchFamily="34" charset="0"/>
                <a:ea typeface="Source Sans 3" pitchFamily="34" charset="-122"/>
                <a:cs typeface="Source Sans 3" pitchFamily="34" charset="-120"/>
              </a:rPr>
              <a:t>Ab So 24.5. → So 31.5. 23:59</a:t>
            </a:r>
            <a:endParaRPr lang="en-US" sz="1300" dirty="0"/>
          </a:p>
        </p:txBody>
      </p:sp>
      <p:sp>
        <p:nvSpPr>
          <p:cNvPr id="14" name="Shape 12"/>
          <p:cNvSpPr/>
          <p:nvPr/>
        </p:nvSpPr>
        <p:spPr>
          <a:xfrm>
            <a:off x="8046720" y="2377440"/>
            <a:ext cx="3657600" cy="3291840"/>
          </a:xfrm>
          <a:prstGeom prst="rect">
            <a:avLst/>
          </a:prstGeom>
          <a:solidFill>
            <a:srgbClr val="FFFFFF"/>
          </a:solidFill>
          <a:ln w="12700">
            <a:solidFill>
              <a:srgbClr val="E5E5E5"/>
            </a:solidFill>
            <a:prstDash val="solid"/>
          </a:ln>
        </p:spPr>
      </p:sp>
      <p:sp>
        <p:nvSpPr>
          <p:cNvPr id="15" name="Text 13"/>
          <p:cNvSpPr/>
          <p:nvPr/>
        </p:nvSpPr>
        <p:spPr>
          <a:xfrm>
            <a:off x="8046720" y="2743200"/>
            <a:ext cx="3657600" cy="365760"/>
          </a:xfrm>
          <a:prstGeom prst="rect">
            <a:avLst/>
          </a:prstGeom>
          <a:noFill/>
          <a:ln/>
        </p:spPr>
        <p:txBody>
          <a:bodyPr wrap="square" lIns="0" tIns="0" rIns="0" bIns="0" rtlCol="0" anchor="ctr"/>
          <a:lstStyle/>
          <a:p>
            <a:pPr algn="ctr" indent="0" marL="0">
              <a:buNone/>
            </a:pPr>
            <a:r>
              <a:rPr lang="en-US" sz="1200" b="1" spc="500" kern="0" dirty="0">
                <a:solidFill>
                  <a:srgbClr val="12828C"/>
                </a:solidFill>
                <a:latin typeface="Source Sans 3" pitchFamily="34" charset="0"/>
                <a:ea typeface="Source Sans 3" pitchFamily="34" charset="-122"/>
                <a:cs typeface="Source Sans 3" pitchFamily="34" charset="-120"/>
              </a:rPr>
              <a:t>RUNDE 2 · HERBST</a:t>
            </a:r>
            <a:endParaRPr lang="en-US" sz="1200" dirty="0"/>
          </a:p>
        </p:txBody>
      </p:sp>
      <p:sp>
        <p:nvSpPr>
          <p:cNvPr id="16" name="Text 14"/>
          <p:cNvSpPr/>
          <p:nvPr/>
        </p:nvSpPr>
        <p:spPr>
          <a:xfrm>
            <a:off x="8046720" y="3291840"/>
            <a:ext cx="3657600" cy="1280160"/>
          </a:xfrm>
          <a:prstGeom prst="rect">
            <a:avLst/>
          </a:prstGeom>
          <a:noFill/>
          <a:ln/>
        </p:spPr>
        <p:txBody>
          <a:bodyPr wrap="square" lIns="0" tIns="0" rIns="0" bIns="0" rtlCol="0" anchor="ctr"/>
          <a:lstStyle/>
          <a:p>
            <a:pPr algn="ctr" indent="0" marL="0">
              <a:buNone/>
            </a:pPr>
            <a:r>
              <a:rPr lang="en-US" sz="5600" b="1" dirty="0">
                <a:solidFill>
                  <a:srgbClr val="29556D"/>
                </a:solidFill>
                <a:latin typeface="Philosopher" pitchFamily="34" charset="0"/>
                <a:ea typeface="Philosopher" pitchFamily="34" charset="-122"/>
                <a:cs typeface="Philosopher" pitchFamily="34" charset="-120"/>
              </a:rPr>
              <a:t>444 CHF</a:t>
            </a:r>
            <a:endParaRPr lang="en-US" sz="5600" dirty="0"/>
          </a:p>
        </p:txBody>
      </p:sp>
      <p:sp>
        <p:nvSpPr>
          <p:cNvPr id="17" name="Text 15"/>
          <p:cNvSpPr/>
          <p:nvPr/>
        </p:nvSpPr>
        <p:spPr>
          <a:xfrm>
            <a:off x="8046720" y="4846320"/>
            <a:ext cx="3657600" cy="640080"/>
          </a:xfrm>
          <a:prstGeom prst="rect">
            <a:avLst/>
          </a:prstGeom>
          <a:noFill/>
          <a:ln/>
        </p:spPr>
        <p:txBody>
          <a:bodyPr wrap="square" lIns="0" tIns="0" rIns="0" bIns="0" rtlCol="0" anchor="ctr"/>
          <a:lstStyle/>
          <a:p>
            <a:pPr algn="ctr" indent="0" marL="0">
              <a:buNone/>
            </a:pPr>
            <a:r>
              <a:rPr lang="en-US" sz="1300" dirty="0">
                <a:solidFill>
                  <a:srgbClr val="5A6B7A"/>
                </a:solidFill>
                <a:latin typeface="Source Sans 3" pitchFamily="34" charset="0"/>
                <a:ea typeface="Source Sans 3" pitchFamily="34" charset="-122"/>
                <a:cs typeface="Source Sans 3" pitchFamily="34" charset="-120"/>
              </a:rPr>
              <a:t>Boni werden ausgebaut</a:t>
            </a:r>
            <a:endParaRPr lang="en-US" sz="1300" dirty="0"/>
          </a:p>
        </p:txBody>
      </p:sp>
      <p:sp>
        <p:nvSpPr>
          <p:cNvPr id="18" name="Text 16"/>
          <p:cNvSpPr/>
          <p:nvPr/>
        </p:nvSpPr>
        <p:spPr>
          <a:xfrm>
            <a:off x="914400" y="6126480"/>
            <a:ext cx="10362895" cy="365760"/>
          </a:xfrm>
          <a:prstGeom prst="rect">
            <a:avLst/>
          </a:prstGeom>
          <a:noFill/>
          <a:ln/>
        </p:spPr>
        <p:txBody>
          <a:bodyPr wrap="square" lIns="0" tIns="0" rIns="0" bIns="0" rtlCol="0" anchor="ctr"/>
          <a:lstStyle/>
          <a:p>
            <a:pPr algn="ctr" indent="0" marL="0">
              <a:buNone/>
            </a:pPr>
            <a:r>
              <a:rPr lang="en-US" sz="1300" dirty="0">
                <a:solidFill>
                  <a:srgbClr val="5A6B7A"/>
                </a:solidFill>
                <a:latin typeface="Source Sans 3" pitchFamily="34" charset="0"/>
                <a:ea typeface="Source Sans 3" pitchFamily="34" charset="-122"/>
                <a:cs typeface="Source Sans 3" pitchFamily="34" charset="-120"/>
              </a:rPr>
              <a:t>Programm-Start: Mo 1. Juni 2026 · Cart schliesst endgültig So 31.5.</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1ECDD"/>
        </a:solidFill>
      </p:bgPr>
    </p:bg>
    <p:spTree>
      <p:nvGrpSpPr>
        <p:cNvPr id="1" name=""/>
        <p:cNvGrpSpPr/>
        <p:nvPr/>
      </p:nvGrpSpPr>
      <p:grpSpPr>
        <a:xfrm>
          <a:off x="0" y="0"/>
          <a:ext cx="0" cy="0"/>
          <a:chOff x="0" y="0"/>
          <a:chExt cx="0" cy="0"/>
        </a:xfrm>
      </p:grpSpPr>
      <p:sp>
        <p:nvSpPr>
          <p:cNvPr id="2" name="Text 0"/>
          <p:cNvSpPr/>
          <p:nvPr/>
        </p:nvSpPr>
        <p:spPr>
          <a:xfrm>
            <a:off x="914400" y="640080"/>
            <a:ext cx="10362895" cy="1645920"/>
          </a:xfrm>
          <a:prstGeom prst="rect">
            <a:avLst/>
          </a:prstGeom>
          <a:noFill/>
          <a:ln/>
        </p:spPr>
        <p:txBody>
          <a:bodyPr wrap="square" lIns="0" tIns="0" rIns="0" bIns="0" rtlCol="0" anchor="t"/>
          <a:lstStyle/>
          <a:p>
            <a:pPr algn="ctr" indent="0" marL="0">
              <a:buNone/>
            </a:pPr>
            <a:r>
              <a:rPr lang="en-US" sz="3600" b="1" dirty="0">
                <a:solidFill>
                  <a:srgbClr val="29556D"/>
                </a:solidFill>
                <a:latin typeface="Philosopher" pitchFamily="34" charset="0"/>
                <a:ea typeface="Philosopher" pitchFamily="34" charset="-122"/>
                <a:cs typeface="Philosopher" pitchFamily="34" charset="-120"/>
              </a:rPr>
              <a:t>Bevor du klickst:</a:t>
            </a:r>
            <a:endParaRPr lang="en-US" sz="3600" dirty="0"/>
          </a:p>
        </p:txBody>
      </p:sp>
      <p:sp>
        <p:nvSpPr>
          <p:cNvPr id="3" name="Shape 1"/>
          <p:cNvSpPr/>
          <p:nvPr/>
        </p:nvSpPr>
        <p:spPr>
          <a:xfrm>
            <a:off x="731520" y="1828800"/>
            <a:ext cx="5212080" cy="4297680"/>
          </a:xfrm>
          <a:prstGeom prst="rect">
            <a:avLst/>
          </a:prstGeom>
          <a:solidFill>
            <a:srgbClr val="FFFFFF"/>
          </a:solidFill>
          <a:ln w="25400">
            <a:solidFill>
              <a:srgbClr val="12828C"/>
            </a:solidFill>
            <a:prstDash val="solid"/>
          </a:ln>
        </p:spPr>
      </p:sp>
      <p:sp>
        <p:nvSpPr>
          <p:cNvPr id="4" name="Text 2"/>
          <p:cNvSpPr/>
          <p:nvPr/>
        </p:nvSpPr>
        <p:spPr>
          <a:xfrm>
            <a:off x="914400" y="2103120"/>
            <a:ext cx="4937760" cy="548640"/>
          </a:xfrm>
          <a:prstGeom prst="rect">
            <a:avLst/>
          </a:prstGeom>
          <a:noFill/>
          <a:ln/>
        </p:spPr>
        <p:txBody>
          <a:bodyPr wrap="square" lIns="0" tIns="0" rIns="0" bIns="0" rtlCol="0" anchor="ctr"/>
          <a:lstStyle/>
          <a:p>
            <a:pPr indent="0" marL="0">
              <a:buNone/>
            </a:pPr>
            <a:r>
              <a:rPr lang="en-US" sz="2600" b="1" dirty="0">
                <a:solidFill>
                  <a:srgbClr val="12828C"/>
                </a:solidFill>
                <a:latin typeface="Philosopher" pitchFamily="34" charset="0"/>
                <a:ea typeface="Philosopher" pitchFamily="34" charset="-122"/>
                <a:cs typeface="Philosopher" pitchFamily="34" charset="-120"/>
              </a:rPr>
              <a:t>✓ JA, wenn du …</a:t>
            </a:r>
            <a:endParaRPr lang="en-US" sz="2600" dirty="0"/>
          </a:p>
        </p:txBody>
      </p:sp>
      <p:sp>
        <p:nvSpPr>
          <p:cNvPr id="5" name="Text 3"/>
          <p:cNvSpPr/>
          <p:nvPr/>
        </p:nvSpPr>
        <p:spPr>
          <a:xfrm>
            <a:off x="914400" y="2926080"/>
            <a:ext cx="4937760" cy="301752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0C1C30"/>
                </a:solidFill>
                <a:latin typeface="Source Sans 3" pitchFamily="34" charset="0"/>
                <a:ea typeface="Source Sans 3" pitchFamily="34" charset="-122"/>
                <a:cs typeface="Source Sans 3" pitchFamily="34" charset="-120"/>
              </a:rPr>
              <a:t>seit min. 6 Monaten im Network bist</a:t>
            </a:r>
            <a:endParaRPr lang="en-US" sz="1500" dirty="0"/>
          </a:p>
          <a:p>
            <a:pPr indent="0" marL="0">
              <a:spcAft>
                <a:spcPts val="1200"/>
              </a:spcAft>
              <a:buNone/>
            </a:pPr>
            <a:r>
              <a:rPr lang="en-US" sz="1500" dirty="0">
                <a:solidFill>
                  <a:srgbClr val="0C1C30"/>
                </a:solidFill>
                <a:latin typeface="Source Sans 3" pitchFamily="34" charset="0"/>
                <a:ea typeface="Source Sans 3" pitchFamily="34" charset="-122"/>
                <a:cs typeface="Source Sans 3" pitchFamily="34" charset="-120"/>
              </a:rPr>
              <a:t>dein Thema schon grob weisst</a:t>
            </a:r>
            <a:endParaRPr lang="en-US" sz="1500" dirty="0"/>
          </a:p>
          <a:p>
            <a:pPr indent="0" marL="0">
              <a:spcAft>
                <a:spcPts val="1200"/>
              </a:spcAft>
              <a:buNone/>
            </a:pPr>
            <a:r>
              <a:rPr lang="en-US" sz="1500" dirty="0">
                <a:solidFill>
                  <a:srgbClr val="0C1C30"/>
                </a:solidFill>
                <a:latin typeface="Source Sans 3" pitchFamily="34" charset="0"/>
                <a:ea typeface="Source Sans 3" pitchFamily="34" charset="-122"/>
                <a:cs typeface="Source Sans 3" pitchFamily="34" charset="-120"/>
              </a:rPr>
              <a:t>bereit bist, in 8 Wochen aktiv mitzubauen</a:t>
            </a:r>
            <a:endParaRPr lang="en-US" sz="1500" dirty="0"/>
          </a:p>
          <a:p>
            <a:pPr indent="0" marL="0">
              <a:spcAft>
                <a:spcPts val="1200"/>
              </a:spcAft>
              <a:buNone/>
            </a:pPr>
            <a:r>
              <a:rPr lang="en-US" sz="1500" dirty="0">
                <a:solidFill>
                  <a:srgbClr val="0C1C30"/>
                </a:solidFill>
                <a:latin typeface="Source Sans 3" pitchFamily="34" charset="0"/>
                <a:ea typeface="Source Sans 3" pitchFamily="34" charset="-122"/>
                <a:cs typeface="Source Sans 3" pitchFamily="34" charset="-120"/>
              </a:rPr>
              <a:t>Notion + KI einsetzen willst (egal ob du heute weisst wie)</a:t>
            </a:r>
            <a:endParaRPr lang="en-US" sz="1500" dirty="0"/>
          </a:p>
        </p:txBody>
      </p:sp>
      <p:sp>
        <p:nvSpPr>
          <p:cNvPr id="6" name="Shape 4"/>
          <p:cNvSpPr/>
          <p:nvPr/>
        </p:nvSpPr>
        <p:spPr>
          <a:xfrm>
            <a:off x="6217920" y="1828800"/>
            <a:ext cx="5212080" cy="4297680"/>
          </a:xfrm>
          <a:prstGeom prst="rect">
            <a:avLst/>
          </a:prstGeom>
          <a:solidFill>
            <a:srgbClr val="FFFFFF"/>
          </a:solidFill>
          <a:ln w="25400">
            <a:solidFill>
              <a:srgbClr val="DC822E"/>
            </a:solidFill>
            <a:prstDash val="solid"/>
          </a:ln>
        </p:spPr>
      </p:sp>
      <p:sp>
        <p:nvSpPr>
          <p:cNvPr id="7" name="Text 5"/>
          <p:cNvSpPr/>
          <p:nvPr/>
        </p:nvSpPr>
        <p:spPr>
          <a:xfrm>
            <a:off x="6400800" y="2103120"/>
            <a:ext cx="4937760" cy="548640"/>
          </a:xfrm>
          <a:prstGeom prst="rect">
            <a:avLst/>
          </a:prstGeom>
          <a:noFill/>
          <a:ln/>
        </p:spPr>
        <p:txBody>
          <a:bodyPr wrap="square" lIns="0" tIns="0" rIns="0" bIns="0" rtlCol="0" anchor="ctr"/>
          <a:lstStyle/>
          <a:p>
            <a:pPr indent="0" marL="0">
              <a:buNone/>
            </a:pPr>
            <a:r>
              <a:rPr lang="en-US" sz="2600" b="1" dirty="0">
                <a:solidFill>
                  <a:srgbClr val="DC822E"/>
                </a:solidFill>
                <a:latin typeface="Philosopher" pitchFamily="34" charset="0"/>
                <a:ea typeface="Philosopher" pitchFamily="34" charset="-122"/>
                <a:cs typeface="Philosopher" pitchFamily="34" charset="-120"/>
              </a:rPr>
              <a:t>✗ NEIN, wenn du …</a:t>
            </a:r>
            <a:endParaRPr lang="en-US" sz="2600" dirty="0"/>
          </a:p>
        </p:txBody>
      </p:sp>
      <p:sp>
        <p:nvSpPr>
          <p:cNvPr id="8" name="Text 6"/>
          <p:cNvSpPr/>
          <p:nvPr/>
        </p:nvSpPr>
        <p:spPr>
          <a:xfrm>
            <a:off x="6400800" y="2926080"/>
            <a:ext cx="4937760" cy="301752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0C1C30"/>
                </a:solidFill>
                <a:latin typeface="Source Sans 3" pitchFamily="34" charset="0"/>
                <a:ea typeface="Source Sans 3" pitchFamily="34" charset="-122"/>
                <a:cs typeface="Source Sans 3" pitchFamily="34" charset="-120"/>
              </a:rPr>
              <a:t>noch nicht weisst, was du anbietest (→ Insta-Kundenmaschine zuerst)</a:t>
            </a:r>
            <a:endParaRPr lang="en-US" sz="1500" dirty="0"/>
          </a:p>
          <a:p>
            <a:pPr indent="0" marL="0">
              <a:spcAft>
                <a:spcPts val="1200"/>
              </a:spcAft>
              <a:buNone/>
            </a:pPr>
            <a:r>
              <a:rPr lang="en-US" sz="1500" dirty="0">
                <a:solidFill>
                  <a:srgbClr val="0C1C30"/>
                </a:solidFill>
                <a:latin typeface="Source Sans 3" pitchFamily="34" charset="0"/>
                <a:ea typeface="Source Sans 3" pitchFamily="34" charset="-122"/>
                <a:cs typeface="Source Sans 3" pitchFamily="34" charset="-120"/>
              </a:rPr>
              <a:t>in 6 Monaten 6-stellig willst</a:t>
            </a:r>
            <a:endParaRPr lang="en-US" sz="1500" dirty="0"/>
          </a:p>
          <a:p>
            <a:pPr indent="0" marL="0">
              <a:spcAft>
                <a:spcPts val="1200"/>
              </a:spcAft>
              <a:buNone/>
            </a:pPr>
            <a:r>
              <a:rPr lang="en-US" sz="1500" dirty="0">
                <a:solidFill>
                  <a:srgbClr val="0C1C30"/>
                </a:solidFill>
                <a:latin typeface="Source Sans 3" pitchFamily="34" charset="0"/>
                <a:ea typeface="Source Sans 3" pitchFamily="34" charset="-122"/>
                <a:cs typeface="Source Sans 3" pitchFamily="34" charset="-120"/>
              </a:rPr>
              <a:t>erwartest, dass ich's für dich baue</a:t>
            </a:r>
            <a:endParaRPr lang="en-US" sz="1500" dirty="0"/>
          </a:p>
          <a:p>
            <a:pPr indent="0" marL="0">
              <a:spcAft>
                <a:spcPts val="1200"/>
              </a:spcAft>
              <a:buNone/>
            </a:pPr>
            <a:r>
              <a:rPr lang="en-US" sz="1500" dirty="0">
                <a:solidFill>
                  <a:srgbClr val="0C1C30"/>
                </a:solidFill>
                <a:latin typeface="Source Sans 3" pitchFamily="34" charset="0"/>
                <a:ea typeface="Source Sans 3" pitchFamily="34" charset="-122"/>
                <a:cs typeface="Source Sans 3" pitchFamily="34" charset="-120"/>
              </a:rPr>
              <a:t>seit Jahren Kurse buchst und nichts umsetzt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C822E"/>
        </a:solidFill>
      </p:bgPr>
    </p:bg>
    <p:spTree>
      <p:nvGrpSpPr>
        <p:cNvPr id="1" name=""/>
        <p:cNvGrpSpPr/>
        <p:nvPr/>
      </p:nvGrpSpPr>
      <p:grpSpPr>
        <a:xfrm>
          <a:off x="0" y="0"/>
          <a:ext cx="0" cy="0"/>
          <a:chOff x="0" y="0"/>
          <a:chExt cx="0" cy="0"/>
        </a:xfrm>
      </p:grpSpPr>
      <p:sp>
        <p:nvSpPr>
          <p:cNvPr id="2" name="Text 0"/>
          <p:cNvSpPr/>
          <p:nvPr/>
        </p:nvSpPr>
        <p:spPr>
          <a:xfrm>
            <a:off x="914400" y="914400"/>
            <a:ext cx="10362895" cy="1645920"/>
          </a:xfrm>
          <a:prstGeom prst="rect">
            <a:avLst/>
          </a:prstGeom>
          <a:noFill/>
          <a:ln/>
        </p:spPr>
        <p:txBody>
          <a:bodyPr wrap="square" lIns="0" tIns="0" rIns="0" bIns="0" rtlCol="0" anchor="t"/>
          <a:lstStyle/>
          <a:p>
            <a:pPr algn="ctr" indent="0" marL="0">
              <a:buNone/>
            </a:pPr>
            <a:r>
              <a:rPr lang="en-US" sz="6000" b="1" dirty="0">
                <a:solidFill>
                  <a:srgbClr val="FFFFFF"/>
                </a:solidFill>
                <a:latin typeface="Philosopher" pitchFamily="34" charset="0"/>
                <a:ea typeface="Philosopher" pitchFamily="34" charset="-122"/>
                <a:cs typeface="Philosopher" pitchFamily="34" charset="-120"/>
              </a:rPr>
              <a:t>Sichere dir deinen Platz.</a:t>
            </a:r>
            <a:endParaRPr lang="en-US" sz="6000" dirty="0"/>
          </a:p>
        </p:txBody>
      </p:sp>
      <p:sp>
        <p:nvSpPr>
          <p:cNvPr id="3" name="Text 1"/>
          <p:cNvSpPr/>
          <p:nvPr/>
        </p:nvSpPr>
        <p:spPr>
          <a:xfrm>
            <a:off x="914400" y="2377440"/>
            <a:ext cx="10362895" cy="1371600"/>
          </a:xfrm>
          <a:prstGeom prst="rect">
            <a:avLst/>
          </a:prstGeom>
          <a:noFill/>
          <a:ln/>
        </p:spPr>
        <p:txBody>
          <a:bodyPr wrap="square" lIns="0" tIns="0" rIns="0" bIns="0" rtlCol="0" anchor="ctr"/>
          <a:lstStyle/>
          <a:p>
            <a:pPr algn="ctr" indent="0" marL="0">
              <a:spcAft>
                <a:spcPts val="800"/>
              </a:spcAft>
              <a:buNone/>
            </a:pPr>
            <a:r>
              <a:rPr lang="en-US" sz="2400" b="1" dirty="0">
                <a:solidFill>
                  <a:srgbClr val="FFFFFF"/>
                </a:solidFill>
                <a:latin typeface="Source Sans 3" pitchFamily="34" charset="0"/>
                <a:ea typeface="Source Sans 3" pitchFamily="34" charset="-122"/>
                <a:cs typeface="Source Sans 3" pitchFamily="34" charset="-120"/>
              </a:rPr>
              <a:t>Heute, 11:00 → Sa 23.5. 23:59</a:t>
            </a:r>
            <a:endParaRPr lang="en-US" sz="2400" dirty="0"/>
          </a:p>
          <a:p>
            <a:pPr algn="ctr" indent="0" marL="0">
              <a:spcAft>
                <a:spcPts val="800"/>
              </a:spcAft>
              <a:buNone/>
            </a:pPr>
            <a:r>
              <a:rPr lang="en-US" sz="2400" b="1" dirty="0">
                <a:solidFill>
                  <a:srgbClr val="FFFFFF"/>
                </a:solidFill>
                <a:latin typeface="Source Sans 3" pitchFamily="34" charset="0"/>
                <a:ea typeface="Source Sans 3" pitchFamily="34" charset="-122"/>
                <a:cs typeface="Source Sans 3" pitchFamily="34" charset="-120"/>
              </a:rPr>
              <a:t>Earlybird CHF 249</a:t>
            </a:r>
            <a:endParaRPr lang="en-US" sz="2400" dirty="0"/>
          </a:p>
        </p:txBody>
      </p:sp>
      <p:sp>
        <p:nvSpPr>
          <p:cNvPr id="4" name="Shape 2"/>
          <p:cNvSpPr/>
          <p:nvPr/>
        </p:nvSpPr>
        <p:spPr>
          <a:xfrm>
            <a:off x="1981048" y="3931920"/>
            <a:ext cx="8229600" cy="1280160"/>
          </a:xfrm>
          <a:prstGeom prst="roundRect">
            <a:avLst>
              <a:gd name="adj" fmla="val 50000"/>
            </a:avLst>
          </a:prstGeom>
          <a:solidFill>
            <a:srgbClr val="FFFFFF"/>
          </a:solidFill>
          <a:ln w="12700">
            <a:solidFill>
              <a:srgbClr val="FFFFFF"/>
            </a:solidFill>
            <a:prstDash val="solid"/>
          </a:ln>
        </p:spPr>
      </p:sp>
      <p:sp>
        <p:nvSpPr>
          <p:cNvPr id="5" name="Text 3"/>
          <p:cNvSpPr/>
          <p:nvPr/>
        </p:nvSpPr>
        <p:spPr>
          <a:xfrm>
            <a:off x="1981048" y="3931920"/>
            <a:ext cx="8229600" cy="1280160"/>
          </a:xfrm>
          <a:prstGeom prst="rect">
            <a:avLst/>
          </a:prstGeom>
          <a:noFill/>
          <a:ln/>
        </p:spPr>
        <p:txBody>
          <a:bodyPr wrap="square" lIns="0" tIns="0" rIns="0" bIns="0" rtlCol="0" anchor="ctr"/>
          <a:lstStyle/>
          <a:p>
            <a:pPr algn="ctr" indent="0" marL="0">
              <a:buNone/>
            </a:pPr>
            <a:r>
              <a:rPr lang="en-US" sz="2800" b="1" dirty="0">
                <a:solidFill>
                  <a:srgbClr val="29556D"/>
                </a:solidFill>
                <a:latin typeface="Source Sans 3" pitchFamily="34" charset="0"/>
                <a:ea typeface="Source Sans 3" pitchFamily="34" charset="-122"/>
                <a:cs typeface="Source Sans 3" pitchFamily="34" charset="-120"/>
              </a:rPr>
              <a:t>🔗 mumlifebalance.ch/mama-ceo</a:t>
            </a:r>
            <a:endParaRPr lang="en-US" sz="2800" dirty="0"/>
          </a:p>
        </p:txBody>
      </p:sp>
      <p:sp>
        <p:nvSpPr>
          <p:cNvPr id="6" name="Text 4"/>
          <p:cNvSpPr/>
          <p:nvPr/>
        </p:nvSpPr>
        <p:spPr>
          <a:xfrm>
            <a:off x="914400" y="5852160"/>
            <a:ext cx="10362895" cy="457200"/>
          </a:xfrm>
          <a:prstGeom prst="rect">
            <a:avLst/>
          </a:prstGeom>
          <a:noFill/>
          <a:ln/>
        </p:spPr>
        <p:txBody>
          <a:bodyPr wrap="square" lIns="0" tIns="0" rIns="0" bIns="0" rtlCol="0" anchor="ctr"/>
          <a:lstStyle/>
          <a:p>
            <a:pPr algn="ctr" indent="0" marL="0">
              <a:buNone/>
            </a:pPr>
            <a:r>
              <a:rPr lang="en-US" sz="1800" i="1" dirty="0">
                <a:solidFill>
                  <a:srgbClr val="FFFFFF"/>
                </a:solidFill>
                <a:latin typeface="Philosopher" pitchFamily="34" charset="0"/>
                <a:ea typeface="Philosopher" pitchFamily="34" charset="-122"/>
                <a:cs typeface="Philosopher" pitchFamily="34" charset="-120"/>
              </a:rPr>
              <a:t>Cart-Link im Chat ab Min 60. Nur 15 Plätze.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9556D"/>
        </a:solidFill>
      </p:bgPr>
    </p:bg>
    <p:spTree>
      <p:nvGrpSpPr>
        <p:cNvPr id="1" name=""/>
        <p:cNvGrpSpPr/>
        <p:nvPr/>
      </p:nvGrpSpPr>
      <p:grpSpPr>
        <a:xfrm>
          <a:off x="0" y="0"/>
          <a:ext cx="0" cy="0"/>
          <a:chOff x="0" y="0"/>
          <a:chExt cx="0" cy="0"/>
        </a:xfrm>
      </p:grpSpPr>
      <p:sp>
        <p:nvSpPr>
          <p:cNvPr id="2" name="Text 0"/>
          <p:cNvSpPr/>
          <p:nvPr/>
        </p:nvSpPr>
        <p:spPr>
          <a:xfrm>
            <a:off x="914400" y="1097280"/>
            <a:ext cx="10362895" cy="1645920"/>
          </a:xfrm>
          <a:prstGeom prst="rect">
            <a:avLst/>
          </a:prstGeom>
          <a:noFill/>
          <a:ln/>
        </p:spPr>
        <p:txBody>
          <a:bodyPr wrap="square" lIns="0" tIns="0" rIns="0" bIns="0" rtlCol="0" anchor="t"/>
          <a:lstStyle/>
          <a:p>
            <a:pPr algn="ctr" indent="0" marL="0">
              <a:buNone/>
            </a:pPr>
            <a:r>
              <a:rPr lang="en-US" sz="5600" b="1" dirty="0">
                <a:solidFill>
                  <a:srgbClr val="F1ECDD"/>
                </a:solidFill>
                <a:latin typeface="Philosopher" pitchFamily="34" charset="0"/>
                <a:ea typeface="Philosopher" pitchFamily="34" charset="-122"/>
                <a:cs typeface="Philosopher" pitchFamily="34" charset="-120"/>
              </a:rPr>
              <a:t>Deine Fragen.</a:t>
            </a:r>
            <a:endParaRPr lang="en-US" sz="5600" dirty="0"/>
          </a:p>
        </p:txBody>
      </p:sp>
      <p:sp>
        <p:nvSpPr>
          <p:cNvPr id="3" name="Text 1"/>
          <p:cNvSpPr/>
          <p:nvPr/>
        </p:nvSpPr>
        <p:spPr>
          <a:xfrm>
            <a:off x="914400" y="2377440"/>
            <a:ext cx="10362895" cy="640080"/>
          </a:xfrm>
          <a:prstGeom prst="rect">
            <a:avLst/>
          </a:prstGeom>
          <a:noFill/>
          <a:ln/>
        </p:spPr>
        <p:txBody>
          <a:bodyPr wrap="square" lIns="0" tIns="0" rIns="0" bIns="0" rtlCol="0" anchor="ctr"/>
          <a:lstStyle/>
          <a:p>
            <a:pPr algn="ctr" indent="0" marL="0">
              <a:buNone/>
            </a:pPr>
            <a:r>
              <a:rPr lang="en-US" sz="2200" dirty="0">
                <a:solidFill>
                  <a:srgbClr val="F1ECDD"/>
                </a:solidFill>
                <a:latin typeface="Source Sans 3" pitchFamily="34" charset="0"/>
                <a:ea typeface="Source Sans 3" pitchFamily="34" charset="-122"/>
                <a:cs typeface="Source Sans 3" pitchFamily="34" charset="-120"/>
              </a:rPr>
              <a:t>Schreib im Chat — ich beantworte alle. 20 Min Zeit.</a:t>
            </a:r>
            <a:endParaRPr lang="en-US" sz="2200" dirty="0"/>
          </a:p>
        </p:txBody>
      </p:sp>
      <p:sp>
        <p:nvSpPr>
          <p:cNvPr id="4" name="Shape 2"/>
          <p:cNvSpPr/>
          <p:nvPr/>
        </p:nvSpPr>
        <p:spPr>
          <a:xfrm>
            <a:off x="5181448" y="3474720"/>
            <a:ext cx="1828800" cy="0"/>
          </a:xfrm>
          <a:prstGeom prst="line">
            <a:avLst/>
          </a:prstGeom>
          <a:noFill/>
          <a:ln w="25400">
            <a:solidFill>
              <a:srgbClr val="DC822E"/>
            </a:solidFill>
            <a:prstDash val="solid"/>
          </a:ln>
        </p:spPr>
      </p:sp>
      <p:sp>
        <p:nvSpPr>
          <p:cNvPr id="5" name="Text 3"/>
          <p:cNvSpPr/>
          <p:nvPr/>
        </p:nvSpPr>
        <p:spPr>
          <a:xfrm>
            <a:off x="914400" y="4114800"/>
            <a:ext cx="10362895" cy="1371600"/>
          </a:xfrm>
          <a:prstGeom prst="rect">
            <a:avLst/>
          </a:prstGeom>
          <a:noFill/>
          <a:ln/>
        </p:spPr>
        <p:txBody>
          <a:bodyPr wrap="square" lIns="0" tIns="0" rIns="0" bIns="0" rtlCol="0" anchor="ctr"/>
          <a:lstStyle/>
          <a:p>
            <a:pPr algn="ctr" indent="0" marL="0">
              <a:buNone/>
            </a:pPr>
            <a:r>
              <a:rPr lang="en-US" sz="4400" b="1" i="1" dirty="0">
                <a:solidFill>
                  <a:srgbClr val="DC822E"/>
                </a:solidFill>
                <a:latin typeface="Philosopher" pitchFamily="34" charset="0"/>
                <a:ea typeface="Philosopher" pitchFamily="34" charset="-122"/>
                <a:cs typeface="Philosopher" pitchFamily="34" charset="-120"/>
              </a:rPr>
              <a:t>„Funktionieren war gestern."</a:t>
            </a:r>
            <a:endParaRPr lang="en-US" sz="4400" dirty="0"/>
          </a:p>
        </p:txBody>
      </p:sp>
      <p:sp>
        <p:nvSpPr>
          <p:cNvPr id="6" name="Text 4"/>
          <p:cNvSpPr/>
          <p:nvPr/>
        </p:nvSpPr>
        <p:spPr>
          <a:xfrm>
            <a:off x="914400" y="5852160"/>
            <a:ext cx="10362895" cy="365760"/>
          </a:xfrm>
          <a:prstGeom prst="rect">
            <a:avLst/>
          </a:prstGeom>
          <a:noFill/>
          <a:ln/>
        </p:spPr>
        <p:txBody>
          <a:bodyPr wrap="square" lIns="0" tIns="0" rIns="0" bIns="0" rtlCol="0" anchor="ctr"/>
          <a:lstStyle/>
          <a:p>
            <a:pPr algn="ctr" indent="0" marL="0">
              <a:buNone/>
            </a:pPr>
            <a:r>
              <a:rPr lang="en-US" sz="1800" i="1" dirty="0">
                <a:solidFill>
                  <a:srgbClr val="F1ECDD"/>
                </a:solidFill>
                <a:latin typeface="Philosopher" pitchFamily="34" charset="0"/>
                <a:ea typeface="Philosopher" pitchFamily="34" charset="-122"/>
                <a:cs typeface="Philosopher" pitchFamily="34" charset="-120"/>
              </a:rPr>
              <a:t>— Patricia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Mama-CEO Webinar — 20. Mai 2026</dc:title>
  <dc:subject>PptxGenJS Presentation</dc:subject>
  <dc:creator>Patricia Nulmann</dc:creator>
  <cp:lastModifiedBy>Patricia Nulmann</cp:lastModifiedBy>
  <cp:revision>1</cp:revision>
  <dcterms:created xsi:type="dcterms:W3CDTF">2026-05-18T13:13:20Z</dcterms:created>
  <dcterms:modified xsi:type="dcterms:W3CDTF">2026-05-18T13:13:20Z</dcterms:modified>
</cp:coreProperties>
</file>