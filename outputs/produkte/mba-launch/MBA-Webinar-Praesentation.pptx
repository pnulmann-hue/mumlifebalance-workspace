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Schön, dass du da bist. Ich bin Patricia, vierfache Mama aus dem Appenzellerland. In den nächsten 40 Minuten zeig ich dir genau den Weg, mit dem ich von ‚ich poste und keiner meldet sich' zu einem eigenen Einkommen gekommen bin. Mach dir was zu trinken, nimm dir Zettel und Stift — und bleib bis zum Schluss, das Wertvollste kommt am 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 am Ende zeig ich dir, wie du mit mir weitergehen kannst, wenn du magst. Ich sag dir das lieber jetzt, als so zu tun, als wär das reiner Zufall. Wenn du nur diese 40 Minuten mitnehmen willst — völlig okay, du gehst mit echtem Wert raus. Und wenn du merkst ‚das ist meins', bin ich 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 dir vor, es ist Sonntagabend, halb zehn. Die Kinder schlafen endlich, du machst den Laptop auf — und da ist eine Zahlung reingekommen. Für etwas, das DIR gehört. Nicht für ein paar Prozent Provision. Nicht, weil du jemandem hinterhergerannt bist. Sondern weil du sichtbar warst und jemand gesagt hat: ja, das will ich. Genau da wollen wir heute 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gehst heute mit drei Erkenntnissen raus, die alles verändern, wenn du sie verstehst: warum Produktposten nicht funktioniert, was stattdessen zählt, und wie das neben der Familie überhaupt geht. Ich verspreche dir keine Abkürzung ohne Arbeit — aber den kürzesten ehrlichen Weg.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fast täglich postest und trotzdem kaum Anfragen kommen. Wenn du dich zwischen tausend Tipps verzettelst. Wenn du schon Kurse gekauft hast, die du nie fertig gemacht hast. Und wenn du tief drin spürst: du willst was Eigenes, nicht nur die nächste Teamaktion.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eine schnelle Masche ohne Umsetzung suchst. Ich bin ehrlich: hier geht's ums Tun. Aber keine Sorge — ich zeig dir gleich, warum das machbar ist, auch mit vollem Alltag.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noch keine grosse Reichweite hast. Wenn du technisch echt kein Profi bist. Wenn dein Tag eigentlich schon randvoll ist. Ich hatte all das — und zeig dir gleich, wie's trotzdem geht.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damit du weisst, wer da spricht: Ich mach das aus dem Appenzellerland, mit vier Kindern, in rund 18 Stunden die Woche. Kein Bali, kein Team von zehn Leuten. Eine Mama, ein Laptop, ein paar KI-Helfer. Und heute begleite ich andere Mamas genau auf diesem Weg.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 das war nicht immer so. Es gab diesen einen Abend am Küchentisch, da hab ich gedacht: oh nein, so wird das nie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hab 2018 im Network angefangen und einfach gemacht, was alle machen: schöne Produktbilder posten, erzählen, wie toll das Produkt ist. Und dann hab ich gewartet. Kein Like. Keine Nachricht. Einfach Stille. Und irgendwann fragst du dich leise, ob du vielleicht einfach nicht gemacht bist dafür.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sag dir, woran mich das erinnert hat. Als mein Ältestes zur Welt kam — mein Ältestes ist heute 13 — war ich völlig unerfahren. Ich hab mich vor allem ausgeliefert und hilflos gefühlt. Niemand hatte mir einen Plan in die Hand gedrückt. Genau so hat sich mein Business-Start angefühlt: mittendrin, ohne Plan, und hoffen, dass ich's irgendwie richtig mach.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dann kam der Punkt, wo ich mich das erste Mal wirklich gezeigt hab. Weisst du, was passiert ist? Jemand hat mein Story-Foto kopiert, mir einen Schnäuzer draufgemalt und es im Dorf-WhatsApp rumgeschickt. Ich hätte heulen können. Aber genau da hab ich beschlossen: ich mach trotzdem weiter. Sichtbar werden ist mutig — und genau das trennt die, bei denen's läuft, von denen, die zuschauen.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den Unterschied gemacht hat, war nicht der eine geniale Reel-Hack. Es war die Kombination aus allem: Ich hab endlich verstanden, WEM ich wobei helfe. Ich hab mir was Eigenes gebaut. Und ich hab mir ein System geschaffen, das neben vier Kindern trägt. Heute verdiene ich seit Monaten konstant mehrfach vierstellig — und schlaf mit gutem Gewissen durch, weil ich weiss: was ich mache, ergibt Sinn und hat Zukunft.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hab lange gebraucht, um das zu sortieren. Du nicht — denn ich pack dir die drei Schritte jetzt in 10 Minuten zusammen. Das ist meine ganze Strategie.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 Atempause und Überleitung. Jetzt wird's konkret — die drei Schritte, in der richtigen Reihenfolge.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mich eine Mama fragt ‚wo fang ich an', sag ich immer: es sind drei Dinge, und sie müssen in der richtigen Reihenfolge kommen. Kriegst du die Reihenfolge falsch, verzettelst du dich — und genau da hängen die meisten 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 dir dein Business als Haus vor. Dein Thema ist das Fundament. Das ganze Haus bist DU. Und dein Produkt — dein Öl, deine Creme, was auch immer — ist nur ein Zimmer darin. Die Leute folgen dir wegen dir, nicht wegen einem Produkt, das tausend andere auch verkaufen. Das ist der erste Denkfehler, den wir drehen.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Schritt eins: Auf Instagram hörst du auf, Produktbilder zu posten. Niemand wacht morgens auf und denkt ‚ich hätte gern ein ätherisches Öl'. Aber ganz viele wachen auf und denken ‚ich bin so erschöpft' oder ‚ich krieg meinen Alltag nicht auf die Reihe'. Du zeigst, dass du GENAU dieses Problem verstehst und löst. Das WIE — welche Posts, welche Hooks — lernst du später. Heute geht's ums Prinzip.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wenn das steht, kippt alles: Du rennst nicht mehr der warmen Liste hinterher. Fremde Menschen schreiben DICH an. Aus ‚blamier ich mich?' wird ‚die kennt sich aus'. Aus Scham wird Stolz.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Schritt zwei: Dein Network-Produkt ist immer nur ein Teil der Lösung für deine Kundin — nie die ganze. Du baust ein eigenes Angebot drumherum. Erst ein kleines Geschenk, dann ein Miniangebot, dann was Grösseres — eine Treppe, die deine Leute Stück für Stück mitnimmt. Das WIE bauen wir später. Das WAS ist: du besitzt endlich etwas Eigenes.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das steht, verkaufst du, während du am Spielplatz sitzt. Dein Einsatz zahlt sich endlich an DIR aus, nicht nur in ein paar Prozent Provision. Und wenn sich im Network mal alles ändert — dein Standbein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Schritt drei, der, an dem die meisten Mamas scheitern: die Zeit. Du brauchst keinen 5-Uhr-Aufsteh-Wahnsinn. Du brauchst zwei, drei fokussierte Fenster pro Woche — und du gibst den ganzen Adminkram und das Schreiben an die KI ab. Ich hab da heute ein ganzes KI-Team im Rücken.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das steht, läuft dein Business zwischen Znüni und Abholzeit — und du bist trotzdem präsent für deine Kinder. Du zerreisst dich nicht mehr zwischen schlechtem Gewissen hier und schlechtem Gewissen 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jetzt der wichtigste Satz: Die Reihenfolge ist alles. Die meisten machen alle drei gleichzeitig — oder in der falschen Reihenfolge — und ertrinken. Erst Sichtbarkeit. Dann dein Angebot. Dann Zeit und System. Jede Stufe macht die nächste erst möglich. Genau das ist der Unterschied zwischen ‚ich hab zehn Kurse gekauft und nichts umgesetzt' und ‚es läuft'.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Du kennst jetzt den ganzen Weg — das WAS. Und ganz ehrlich: das WIE, Schritt für Schritt, ist Arbeit. Allein zusammengesucht dauert das ewig, und man verzettelt sich genau da wieder. Ich hab Jahre gebraucht. Du musst das nicht. Genau dafür hab ich etwas gebaut.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Übergang zur Academy — der wichtigste Teil. Nimm dir hier bewusst Zeit, nicht durchhetzen.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drei ehrliche Fragen: Wär es dir ein paar fokussierte Stunden wert, wenn du danach diesen roten Faden hast? Willst du dir das alles allein zusammensuchen — oder die Abkürzung nehmen? Und willst du das allein durchziehen — oder mit jemandem an der Seite, bis es läuft?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Genau dafür hab ich die Mum Business Academy gebaut — kurz MBA. Alles, was ich mir am Anfang so sehr gewünscht hätte, an einem 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kriegst drei Kurse, die genau in der Reihenfolge aufeinander aufbauen, die ich dir gezeigt hab. Plus PIA, deine KI-Mentorin. Plus eine Community. Plus Live-Calls mit mir, ein ganzes Jahr 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erste Kurs macht dich sichtbar: dein Thema, dein Profil, deine Hooks, Beiträge und Stories, die verkaufen. Damit aus ‚keiner reagiert' wird ‚fremde Menschen schreiben mich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zweite schafft dir die Zeit: deine Powerzeiten, dein System, deine KI-Mitarbeiter. Damit dein Business läuft, ohne dass du dich zerreisst.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dritte baut dein eigenes Angebot: dein erstes digitales Produkt mit KI, deine Produkttreppe, dein Funnel. Einkommen, das nicht am Vergütungsplan hängt.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das Herzstück, das es sonst nirgends gibt: PIA. Deine KI-Mentorin, die jeden Tag mit dir arbeitet — Bio, Hooks, fertige Posts, Stories, dein Leadmagnet, ganze Content-Wochen, in deiner Stimme. Du sitzt nie mehr vor dem leeren Blatt.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du bist nicht allein. Zweimal im Monat kommen wir live zusammen — ein Experten-Thema und deine Fragen. Dazwischen trägt dich die Community. Genau die Begleitung, die mir am Anfang gefehlt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das Beste: Die MBA ist kein Regal, das du einmal durchklickst. Es kommt laufend mehr Wissen rund um Mama und Business dazu, auch über die Kursthemen hinaus. Du kommst in einen Raum, der mit dir wächst.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Rechnen wir kurz ehrlich zusammen: Jeder der drei Kurse kostet einzeln 333 Franken. Nur die Kurse sind also schon rund tausend. Und die Live-Calls, PIA und die Community sind da noch gar nicht dabei.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zahlst aber nicht den vollen Wert. Weil du in der allerersten Runde dabei bist und sie mitgestaltest, kommst du als Pioneer für 997 rein — für alles zusammen. Später kostet die MBA 1347.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damit's machbar ist: Du kannst in bis zu sechs Raten zahlen, ohne dass es teurer wird. Und wenn du einen meiner Kurse schon einzeln hast — schreib mir, ich rechne dir den vollen Preis an. Du zahlst nichts doppelt.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geb dir bewusst keine Geld-zurück-Garantie, und ich sag dir ehrlich warum: digitale Inhalte sind zu leicht kopiert. Was du stattdessen kriegst, ist mehr wert: mich und die anderen Mamas zweimal im Monat im Call, bis es bei dir läuft. Du bist damit nicht allein — das ist meine Art von Sicherheit.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ehrliche Dinge: Ich öffne bewusst nur für eine kleine Runde, weil ich wirklich nah dran sein will bei jeder Einzelnen. Und dein Pioneer-Preis läuft ab jetzt genau zwei Tage — zwei Tage, nachdem du dieses Webinar gesehen hast. Danach ist die MBA nur noch zum regulären Preis von 1347 zu haben, nicht mehr für 997. Kein Countdown-Trick, einfach die Wahrheit: der Frühbucher-Vorteil ist für die, die jetzt entscheiden.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weil du's nicht nur von mir hören sollst, hör kurz drei Frauen, die schon dabei sind. Die eine sagt: mir wurde auf einmal klar, ich hatte mein Business immer von mitten drin angeschaut und das grosse Ganze nie richtig gesehen. Miriam schreibt: ein einfaches und doch umfassendes Verständnis für Instagram, meine Bio ist jetzt klar. Und Andrea: meine Storyviews sind gestiegen, der Austausch mit meiner Community intensiver, weil ich mich mehr gezeigt habe — und ich bleibe definitiv dran. Genau das meine ich mit dranbleiben.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Erinnerst du dich an den Sonntagabend vom Anfang? Halb zehn, Kinder schlafen, eine Zahlung ist reingekommen für etwas, das dir gehört. Das ist keine Fantasie — das ist der Weg, den wir gerade zusammen durchgegangen sind. Die Frage ist nur, ob du ihn allein gehst oder mit mir.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MBA ist nicht für jede. Sie ist für dich, wenn du keine Ausreden mehr suchst, sondern einen Weg — und bereit bist, mit Begleitung Schritt für Schritt zu gehen. Wenn du dich da wiedererkennst, bist du genau richtig.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Wollen wir den Weg zusammen gehen? Wenn du dir denkst ‚ja, das ist meins' — dann klick jetzt auf den Link und sichere dir deinen Pioneer-Platz. Ich freu mich, dich auf der anderen Seite zu sehen.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Vielleicht geht dir noch was durch den Kopf. Keine Zeit? Genau dafür ist Mama-CEO und PIA da. Nicht technisch? Ich erklär alles in einfacher Sprache, und in den Calls fangen wir dich auf. Zu wenig Reichweite? Es geht nicht um Follower, sondern um die richtigen Menschen. Und wenn du einen Kurs schon hast — der wird angerechnet.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Danke, dass du bis zum Schluss dabei warst. Ganz gleich, wie du dich entscheidest — du gehst mit einem klaren Weg raus. Und wenn du Fragen hast, schreib mir einfach. Ich les und antworte alles selbst.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640080" y="731520"/>
            <a:ext cx="7315200" cy="320040"/>
          </a:xfrm>
          <a:prstGeom prst="rect">
            <a:avLst/>
          </a:prstGeom>
          <a:noFill/>
          <a:ln/>
        </p:spPr>
        <p:txBody>
          <a:bodyPr wrap="square" rtlCol="0" anchor="ctr"/>
          <a:lstStyle/>
          <a:p>
            <a:pPr algn="l" indent="0" marL="0">
              <a:buNone/>
            </a:pPr>
            <a:r>
              <a:rPr lang="en-US" sz="1100" b="1" spc="300" kern="0" dirty="0">
                <a:solidFill>
                  <a:srgbClr val="DC822E"/>
                </a:solidFill>
                <a:latin typeface="Calibri" pitchFamily="34" charset="0"/>
                <a:ea typeface="Calibri" pitchFamily="34" charset="-122"/>
                <a:cs typeface="Calibri" pitchFamily="34" charset="-120"/>
              </a:rPr>
              <a:t>MUM BUSINESS ACADEMY · WEBINAR</a:t>
            </a:r>
            <a:endParaRPr lang="en-US" sz="1100" dirty="0"/>
          </a:p>
        </p:txBody>
      </p:sp>
      <p:sp>
        <p:nvSpPr>
          <p:cNvPr id="3" name="Text 1"/>
          <p:cNvSpPr/>
          <p:nvPr/>
        </p:nvSpPr>
        <p:spPr>
          <a:xfrm>
            <a:off x="640080" y="1554480"/>
            <a:ext cx="10908792" cy="2743200"/>
          </a:xfrm>
          <a:prstGeom prst="rect">
            <a:avLst/>
          </a:prstGeom>
          <a:noFill/>
          <a:ln/>
        </p:spPr>
        <p:txBody>
          <a:bodyPr wrap="square" rtlCol="0" anchor="ctr"/>
          <a:lstStyle/>
          <a:p>
            <a:pPr algn="l" indent="0" marL="0">
              <a:lnSpc>
                <a:spcPts val="4600"/>
              </a:lnSpc>
              <a:buNone/>
            </a:pPr>
            <a:r>
              <a:rPr lang="en-US" sz="4000" b="1" dirty="0">
                <a:solidFill>
                  <a:srgbClr val="F4F0E6"/>
                </a:solidFill>
                <a:latin typeface="Georgia" pitchFamily="34" charset="0"/>
                <a:ea typeface="Georgia" pitchFamily="34" charset="-122"/>
                <a:cs typeface="Georgia" pitchFamily="34" charset="-120"/>
              </a:rPr>
              <a:t>Wie ich mir neben vier Kindern ein eigenes Einkommen aufgebaut habe</a:t>
            </a:r>
            <a:endParaRPr lang="en-US" sz="4000" dirty="0"/>
          </a:p>
        </p:txBody>
      </p:sp>
      <p:sp>
        <p:nvSpPr>
          <p:cNvPr id="4" name="Text 2"/>
          <p:cNvSpPr/>
          <p:nvPr/>
        </p:nvSpPr>
        <p:spPr>
          <a:xfrm>
            <a:off x="640080" y="4297680"/>
            <a:ext cx="8165592" cy="1280160"/>
          </a:xfrm>
          <a:prstGeom prst="rect">
            <a:avLst/>
          </a:prstGeom>
          <a:noFill/>
          <a:ln/>
        </p:spPr>
        <p:txBody>
          <a:bodyPr wrap="square" rtlCol="0" anchor="ctr"/>
          <a:lstStyle/>
          <a:p>
            <a:pPr algn="l" indent="0" marL="0">
              <a:buNone/>
            </a:pPr>
            <a:r>
              <a:rPr lang="en-US" sz="2000" i="1" dirty="0">
                <a:solidFill>
                  <a:srgbClr val="CFE0E3"/>
                </a:solidFill>
                <a:latin typeface="Georgia" pitchFamily="34" charset="0"/>
                <a:ea typeface="Georgia" pitchFamily="34" charset="-122"/>
                <a:cs typeface="Georgia" pitchFamily="34" charset="-120"/>
              </a:rPr>
              <a:t>— ohne 10'000 Follower und ohne mein Network vollzuspammen. Der Weg in drei Schritten, auch wenn du schon drei Kurse halb gemacht hast.</a:t>
            </a:r>
            <a:endParaRPr lang="en-US" sz="2000" dirty="0"/>
          </a:p>
        </p:txBody>
      </p:sp>
      <p:sp>
        <p:nvSpPr>
          <p:cNvPr id="5" name="Text 3"/>
          <p:cNvSpPr/>
          <p:nvPr/>
        </p:nvSpPr>
        <p:spPr>
          <a:xfrm>
            <a:off x="640080" y="6126480"/>
            <a:ext cx="10908792" cy="365760"/>
          </a:xfrm>
          <a:prstGeom prst="rect">
            <a:avLst/>
          </a:prstGeom>
          <a:noFill/>
          <a:ln/>
        </p:spPr>
        <p:txBody>
          <a:bodyPr wrap="square" rtlCol="0" anchor="ctr"/>
          <a:lstStyle/>
          <a:p>
            <a:pPr indent="0" marL="0">
              <a:buNone/>
            </a:pPr>
            <a:r>
              <a:rPr lang="en-US" sz="1100" b="1" spc="300" kern="0" dirty="0">
                <a:solidFill>
                  <a:srgbClr val="8AA1AA"/>
                </a:solidFill>
                <a:latin typeface="Calibri" pitchFamily="34" charset="0"/>
                <a:ea typeface="Calibri" pitchFamily="34" charset="-122"/>
                <a:cs typeface="Calibri" pitchFamily="34" charset="-120"/>
              </a:rPr>
              <a:t>Patricia Ulmann · vierfache Mama · Appenzellerland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5000"/>
              </a:lnSpc>
              <a:buNone/>
            </a:pPr>
            <a:r>
              <a:rPr lang="en-US" sz="4400" b="1" dirty="0">
                <a:solidFill>
                  <a:srgbClr val="F4F0E6"/>
                </a:solidFill>
                <a:latin typeface="Georgia" pitchFamily="34" charset="0"/>
                <a:ea typeface="Georgia" pitchFamily="34" charset="-122"/>
                <a:cs typeface="Georgia" pitchFamily="34" charset="-120"/>
              </a:rPr>
              <a:t>Ganz ehrlich vorweg.</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F4F0E6"/>
                </a:solidFill>
                <a:latin typeface="Georgia" pitchFamily="34" charset="0"/>
                <a:ea typeface="Georgia" pitchFamily="34" charset="-122"/>
                <a:cs typeface="Georgia" pitchFamily="34" charset="-120"/>
              </a:rPr>
              <a:t>Sonntagabend, halb zehn. Die Kinder schlafen — und eine Zahlung ist reingekommen.</a:t>
            </a:r>
            <a:endParaRPr lang="en-US" sz="3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Was du heute mitnimmst</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Warum Produktposten nicht funktioniert</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Was stattdessen zählt</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Wie das neben der Familie überhaupt geht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Das hier ist für dich, wenn…</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…du fast täglich postest und trotzdem kaum Anfragen kommen</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…du dich zwischen tausend Tipps verzettelst</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…du schon Kurse gekauft hast, die du nie fertig gemacht hast</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…du tief drin spürst: du willst was Eigenes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Nicht für dich, wenn…</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…du eine schnelle Masche ohne Umsetzung suchst. Ich bin ehrlich: hier geht's ums Tun. Aber keine Sorge — ich zeig dir gleich, warum das machbar ist, auch mit vollem Alltag.</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Und ja — es geht auch, wenn…</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…du noch keine grosse Reichweite hast</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…du technisch echt kein Profi bist</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…dein Tag eigentlich schon randvoll ist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868680"/>
            <a:ext cx="10908792" cy="914400"/>
          </a:xfrm>
          <a:prstGeom prst="rect">
            <a:avLst/>
          </a:prstGeom>
          <a:noFill/>
          <a:ln/>
        </p:spPr>
        <p:txBody>
          <a:bodyPr wrap="square" rtlCol="0" anchor="ctr"/>
          <a:lstStyle/>
          <a:p>
            <a:pPr algn="ctr" indent="0" marL="0">
              <a:buNone/>
            </a:pPr>
            <a:r>
              <a:rPr lang="en-US" sz="3300" b="1" dirty="0">
                <a:solidFill>
                  <a:srgbClr val="1C2F3A"/>
                </a:solidFill>
                <a:latin typeface="Georgia" pitchFamily="34" charset="0"/>
                <a:ea typeface="Georgia" pitchFamily="34" charset="-122"/>
                <a:cs typeface="Georgia" pitchFamily="34" charset="-120"/>
              </a:rPr>
              <a:t>Kurz zu mir</a:t>
            </a:r>
            <a:endParaRPr lang="en-US" sz="3300" dirty="0"/>
          </a:p>
        </p:txBody>
      </p:sp>
      <p:sp>
        <p:nvSpPr>
          <p:cNvPr id="3" name="Shape 1"/>
          <p:cNvSpPr/>
          <p:nvPr/>
        </p:nvSpPr>
        <p:spPr>
          <a:xfrm>
            <a:off x="640080" y="2743200"/>
            <a:ext cx="2452878" cy="1920240"/>
          </a:xfrm>
          <a:prstGeom prst="roundRect">
            <a:avLst>
              <a:gd name="adj" fmla="val 5714"/>
            </a:avLst>
          </a:prstGeom>
          <a:solidFill>
            <a:srgbClr val="FFFFFF"/>
          </a:solidFill>
          <a:ln/>
          <a:effectLst>
            <a:outerShdw sx="100000" sy="100000" kx="0" ky="0" algn="bl" rotWithShape="0" blurRad="114300" dist="38100" dir="5400000">
              <a:srgbClr val="9AA7AD">
                <a:alpha val="30000"/>
              </a:srgbClr>
            </a:outerShdw>
          </a:effectLst>
        </p:spPr>
      </p:sp>
      <p:sp>
        <p:nvSpPr>
          <p:cNvPr id="4" name="Text 2"/>
          <p:cNvSpPr/>
          <p:nvPr/>
        </p:nvSpPr>
        <p:spPr>
          <a:xfrm>
            <a:off x="777240" y="2743200"/>
            <a:ext cx="2178558" cy="1920240"/>
          </a:xfrm>
          <a:prstGeom prst="rect">
            <a:avLst/>
          </a:prstGeom>
          <a:noFill/>
          <a:ln/>
        </p:spPr>
        <p:txBody>
          <a:bodyPr wrap="square" rtlCol="0" anchor="ctr"/>
          <a:lstStyle/>
          <a:p>
            <a:pPr algn="ctr" indent="0" marL="0">
              <a:lnSpc>
                <a:spcPts val="2200"/>
              </a:lnSpc>
              <a:buNone/>
            </a:pPr>
            <a:r>
              <a:rPr lang="en-US" sz="1700" b="1" dirty="0">
                <a:solidFill>
                  <a:srgbClr val="1C2F3A"/>
                </a:solidFill>
                <a:latin typeface="Georgia" pitchFamily="34" charset="0"/>
                <a:ea typeface="Georgia" pitchFamily="34" charset="-122"/>
                <a:cs typeface="Georgia" pitchFamily="34" charset="-120"/>
              </a:rPr>
              <a:t>4 Kinder</a:t>
            </a:r>
            <a:endParaRPr lang="en-US" sz="1700" dirty="0"/>
          </a:p>
        </p:txBody>
      </p:sp>
      <p:sp>
        <p:nvSpPr>
          <p:cNvPr id="5" name="Shape 3"/>
          <p:cNvSpPr/>
          <p:nvPr/>
        </p:nvSpPr>
        <p:spPr>
          <a:xfrm>
            <a:off x="3458718" y="2743200"/>
            <a:ext cx="2452878" cy="1920240"/>
          </a:xfrm>
          <a:prstGeom prst="roundRect">
            <a:avLst>
              <a:gd name="adj" fmla="val 5714"/>
            </a:avLst>
          </a:prstGeom>
          <a:solidFill>
            <a:srgbClr val="FFFFFF"/>
          </a:solidFill>
          <a:ln/>
          <a:effectLst>
            <a:outerShdw sx="100000" sy="100000" kx="0" ky="0" algn="bl" rotWithShape="0" blurRad="114300" dist="38100" dir="5400000">
              <a:srgbClr val="9AA7AD">
                <a:alpha val="30000"/>
              </a:srgbClr>
            </a:outerShdw>
          </a:effectLst>
        </p:spPr>
      </p:sp>
      <p:sp>
        <p:nvSpPr>
          <p:cNvPr id="6" name="Text 4"/>
          <p:cNvSpPr/>
          <p:nvPr/>
        </p:nvSpPr>
        <p:spPr>
          <a:xfrm>
            <a:off x="3595878" y="2743200"/>
            <a:ext cx="2178558" cy="1920240"/>
          </a:xfrm>
          <a:prstGeom prst="rect">
            <a:avLst/>
          </a:prstGeom>
          <a:noFill/>
          <a:ln/>
        </p:spPr>
        <p:txBody>
          <a:bodyPr wrap="square" rtlCol="0" anchor="ctr"/>
          <a:lstStyle/>
          <a:p>
            <a:pPr algn="ctr" indent="0" marL="0">
              <a:lnSpc>
                <a:spcPts val="2200"/>
              </a:lnSpc>
              <a:buNone/>
            </a:pPr>
            <a:r>
              <a:rPr lang="en-US" sz="1700" b="1" dirty="0">
                <a:solidFill>
                  <a:srgbClr val="1C2F3A"/>
                </a:solidFill>
                <a:latin typeface="Georgia" pitchFamily="34" charset="0"/>
                <a:ea typeface="Georgia" pitchFamily="34" charset="-122"/>
                <a:cs typeface="Georgia" pitchFamily="34" charset="-120"/>
              </a:rPr>
              <a:t>Appenzellerland</a:t>
            </a:r>
            <a:endParaRPr lang="en-US" sz="1700" dirty="0"/>
          </a:p>
        </p:txBody>
      </p:sp>
      <p:sp>
        <p:nvSpPr>
          <p:cNvPr id="7" name="Shape 5"/>
          <p:cNvSpPr/>
          <p:nvPr/>
        </p:nvSpPr>
        <p:spPr>
          <a:xfrm>
            <a:off x="6277356" y="2743200"/>
            <a:ext cx="2452878" cy="1920240"/>
          </a:xfrm>
          <a:prstGeom prst="roundRect">
            <a:avLst>
              <a:gd name="adj" fmla="val 5714"/>
            </a:avLst>
          </a:prstGeom>
          <a:solidFill>
            <a:srgbClr val="FFFFFF"/>
          </a:solidFill>
          <a:ln/>
          <a:effectLst>
            <a:outerShdw sx="100000" sy="100000" kx="0" ky="0" algn="bl" rotWithShape="0" blurRad="114300" dist="38100" dir="5400000">
              <a:srgbClr val="9AA7AD">
                <a:alpha val="30000"/>
              </a:srgbClr>
            </a:outerShdw>
          </a:effectLst>
        </p:spPr>
      </p:sp>
      <p:sp>
        <p:nvSpPr>
          <p:cNvPr id="8" name="Text 6"/>
          <p:cNvSpPr/>
          <p:nvPr/>
        </p:nvSpPr>
        <p:spPr>
          <a:xfrm>
            <a:off x="6414516" y="2743200"/>
            <a:ext cx="2178558" cy="1920240"/>
          </a:xfrm>
          <a:prstGeom prst="rect">
            <a:avLst/>
          </a:prstGeom>
          <a:noFill/>
          <a:ln/>
        </p:spPr>
        <p:txBody>
          <a:bodyPr wrap="square" rtlCol="0" anchor="ctr"/>
          <a:lstStyle/>
          <a:p>
            <a:pPr algn="ctr" indent="0" marL="0">
              <a:lnSpc>
                <a:spcPts val="2200"/>
              </a:lnSpc>
              <a:buNone/>
            </a:pPr>
            <a:r>
              <a:rPr lang="en-US" sz="1700" b="1" dirty="0">
                <a:solidFill>
                  <a:srgbClr val="1C2F3A"/>
                </a:solidFill>
                <a:latin typeface="Georgia" pitchFamily="34" charset="0"/>
                <a:ea typeface="Georgia" pitchFamily="34" charset="-122"/>
                <a:cs typeface="Georgia" pitchFamily="34" charset="-120"/>
              </a:rPr>
              <a:t>~18 Stunden die Woche</a:t>
            </a:r>
            <a:endParaRPr lang="en-US" sz="1700" dirty="0"/>
          </a:p>
        </p:txBody>
      </p:sp>
      <p:sp>
        <p:nvSpPr>
          <p:cNvPr id="9" name="Shape 7"/>
          <p:cNvSpPr/>
          <p:nvPr/>
        </p:nvSpPr>
        <p:spPr>
          <a:xfrm>
            <a:off x="9095994" y="2743200"/>
            <a:ext cx="2452878" cy="1920240"/>
          </a:xfrm>
          <a:prstGeom prst="roundRect">
            <a:avLst>
              <a:gd name="adj" fmla="val 5714"/>
            </a:avLst>
          </a:prstGeom>
          <a:solidFill>
            <a:srgbClr val="FFFFFF"/>
          </a:solidFill>
          <a:ln/>
          <a:effectLst>
            <a:outerShdw sx="100000" sy="100000" kx="0" ky="0" algn="bl" rotWithShape="0" blurRad="114300" dist="38100" dir="5400000">
              <a:srgbClr val="9AA7AD">
                <a:alpha val="30000"/>
              </a:srgbClr>
            </a:outerShdw>
          </a:effectLst>
        </p:spPr>
      </p:sp>
      <p:sp>
        <p:nvSpPr>
          <p:cNvPr id="10" name="Text 8"/>
          <p:cNvSpPr/>
          <p:nvPr/>
        </p:nvSpPr>
        <p:spPr>
          <a:xfrm>
            <a:off x="9233154" y="2743200"/>
            <a:ext cx="2178558" cy="1920240"/>
          </a:xfrm>
          <a:prstGeom prst="rect">
            <a:avLst/>
          </a:prstGeom>
          <a:noFill/>
          <a:ln/>
        </p:spPr>
        <p:txBody>
          <a:bodyPr wrap="square" rtlCol="0" anchor="ctr"/>
          <a:lstStyle/>
          <a:p>
            <a:pPr algn="ctr" indent="0" marL="0">
              <a:lnSpc>
                <a:spcPts val="2200"/>
              </a:lnSpc>
              <a:buNone/>
            </a:pPr>
            <a:r>
              <a:rPr lang="en-US" sz="1700" b="1" dirty="0">
                <a:solidFill>
                  <a:srgbClr val="1C2F3A"/>
                </a:solidFill>
                <a:latin typeface="Georgia" pitchFamily="34" charset="0"/>
                <a:ea typeface="Georgia" pitchFamily="34" charset="-122"/>
                <a:cs typeface="Georgia" pitchFamily="34" charset="-120"/>
              </a:rPr>
              <a:t>raus aus dem Angestelltenjob</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Aber so war das nicht immer.</a:t>
            </a:r>
            <a:endParaRPr lang="en-US" sz="3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Der Anfang</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2018 — erstes Network</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Schöne Produktbilder gepostet</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Und dann: Stille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Ausgeliefert. Hilflos.</a:t>
            </a:r>
            <a:endParaRPr lang="en-US" sz="3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Sichtbar werden ist mutig.</a:t>
            </a:r>
            <a:endParaRPr lang="en-US" sz="3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Die Wende</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Nicht EIN Trick. Die Kombination aus allem: verstehen, WEM ich wobei helfe. Mir was Eigenes bauen. Ein System, das neben vier Kindern trägt.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F4F0E6"/>
                </a:solidFill>
                <a:latin typeface="Georgia" pitchFamily="34" charset="0"/>
                <a:ea typeface="Georgia" pitchFamily="34" charset="-122"/>
                <a:cs typeface="Georgia" pitchFamily="34" charset="-120"/>
              </a:rPr>
              <a:t>Und genau das zeig ich dir jetzt.</a:t>
            </a:r>
            <a:endParaRPr lang="en-US" sz="3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640080" y="2194560"/>
            <a:ext cx="10908792" cy="457200"/>
          </a:xfrm>
          <a:prstGeom prst="rect">
            <a:avLst/>
          </a:prstGeom>
          <a:noFill/>
          <a:ln/>
        </p:spPr>
        <p:txBody>
          <a:bodyPr wrap="square" rtlCol="0" anchor="ctr"/>
          <a:lstStyle/>
          <a:p>
            <a:pPr indent="0" marL="0">
              <a:buNone/>
            </a:pPr>
            <a:r>
              <a:rPr lang="en-US" sz="1400" b="1" spc="500" kern="0" dirty="0">
                <a:solidFill>
                  <a:srgbClr val="DC822E"/>
                </a:solidFill>
                <a:latin typeface="Calibri" pitchFamily="34" charset="0"/>
                <a:ea typeface="Calibri" pitchFamily="34" charset="-122"/>
                <a:cs typeface="Calibri" pitchFamily="34" charset="-120"/>
              </a:rPr>
              <a:t>PHASE 2</a:t>
            </a:r>
            <a:endParaRPr lang="en-US" sz="1400" dirty="0"/>
          </a:p>
        </p:txBody>
      </p:sp>
      <p:sp>
        <p:nvSpPr>
          <p:cNvPr id="3" name="Text 1"/>
          <p:cNvSpPr/>
          <p:nvPr/>
        </p:nvSpPr>
        <p:spPr>
          <a:xfrm>
            <a:off x="640080" y="2743200"/>
            <a:ext cx="10908792" cy="1828800"/>
          </a:xfrm>
          <a:prstGeom prst="rect">
            <a:avLst/>
          </a:prstGeom>
          <a:noFill/>
          <a:ln/>
        </p:spPr>
        <p:txBody>
          <a:bodyPr wrap="square" rtlCol="0" anchor="ctr"/>
          <a:lstStyle/>
          <a:p>
            <a:pPr indent="0" marL="0">
              <a:lnSpc>
                <a:spcPts val="5200"/>
              </a:lnSpc>
              <a:buNone/>
            </a:pPr>
            <a:r>
              <a:rPr lang="en-US" sz="4800" b="1" dirty="0">
                <a:solidFill>
                  <a:srgbClr val="F4F0E6"/>
                </a:solidFill>
                <a:latin typeface="Georgia" pitchFamily="34" charset="0"/>
                <a:ea typeface="Georgia" pitchFamily="34" charset="-122"/>
                <a:cs typeface="Georgia" pitchFamily="34" charset="-120"/>
              </a:rPr>
              <a:t>Deine Strategie — in drei Schritten</a:t>
            </a:r>
            <a:endParaRPr lang="en-US" sz="4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So denke ich über ein Mama-Business</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Es sind drei Dinge — und sie müssen in der richtigen Reihenfolge kommen. Kriegst du die Reihenfolge falsch, verzettelst du dich. Genau da hängen die meisten fest.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Dein Business ist ein Haus</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Das Fundament = dein Thema</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Das ganze Haus = DU</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Ein einzelnes Zimmer = dein Produkt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365760" y="1280160"/>
            <a:ext cx="3108960" cy="3840480"/>
          </a:xfrm>
          <a:prstGeom prst="rect">
            <a:avLst/>
          </a:prstGeom>
          <a:noFill/>
          <a:ln/>
        </p:spPr>
        <p:txBody>
          <a:bodyPr wrap="square" rtlCol="0" anchor="ctr"/>
          <a:lstStyle/>
          <a:p>
            <a:pPr algn="ctr" indent="0" marL="0">
              <a:buNone/>
            </a:pPr>
            <a:r>
              <a:rPr lang="en-US" sz="20000" b="1" dirty="0">
                <a:solidFill>
                  <a:srgbClr val="DC822E">
                    <a:alpha val="18000"/>
                  </a:srgbClr>
                </a:solidFill>
                <a:latin typeface="Georgia" pitchFamily="34" charset="0"/>
                <a:ea typeface="Georgia" pitchFamily="34" charset="-122"/>
                <a:cs typeface="Georgia" pitchFamily="34" charset="-120"/>
              </a:rPr>
              <a:t>1</a:t>
            </a:r>
            <a:endParaRPr lang="en-US" sz="20000" dirty="0"/>
          </a:p>
        </p:txBody>
      </p:sp>
      <p:sp>
        <p:nvSpPr>
          <p:cNvPr id="3" name="Text 1"/>
          <p:cNvSpPr/>
          <p:nvPr/>
        </p:nvSpPr>
        <p:spPr>
          <a:xfrm>
            <a:off x="3566160" y="1371600"/>
            <a:ext cx="7982712" cy="457200"/>
          </a:xfrm>
          <a:prstGeom prst="rect">
            <a:avLst/>
          </a:prstGeom>
          <a:noFill/>
          <a:ln/>
        </p:spPr>
        <p:txBody>
          <a:bodyPr wrap="square" rtlCol="0" anchor="ctr"/>
          <a:lstStyle/>
          <a:p>
            <a:pPr indent="0" marL="0">
              <a:buNone/>
            </a:pPr>
            <a:r>
              <a:rPr lang="en-US" sz="1300" b="1" spc="400" kern="0" dirty="0">
                <a:solidFill>
                  <a:srgbClr val="DC822E"/>
                </a:solidFill>
                <a:latin typeface="Calibri" pitchFamily="34" charset="0"/>
                <a:ea typeface="Calibri" pitchFamily="34" charset="-122"/>
                <a:cs typeface="Calibri" pitchFamily="34" charset="-120"/>
              </a:rPr>
              <a:t>Schritt 1</a:t>
            </a:r>
            <a:endParaRPr lang="en-US" sz="1300" dirty="0"/>
          </a:p>
        </p:txBody>
      </p:sp>
      <p:sp>
        <p:nvSpPr>
          <p:cNvPr id="4" name="Text 2"/>
          <p:cNvSpPr/>
          <p:nvPr/>
        </p:nvSpPr>
        <p:spPr>
          <a:xfrm>
            <a:off x="3566160" y="1828800"/>
            <a:ext cx="7982712" cy="1097280"/>
          </a:xfrm>
          <a:prstGeom prst="rect">
            <a:avLst/>
          </a:prstGeom>
          <a:noFill/>
          <a:ln/>
        </p:spPr>
        <p:txBody>
          <a:bodyPr wrap="square" rtlCol="0" anchor="ctr"/>
          <a:lstStyle/>
          <a:p>
            <a:pPr indent="0" marL="0">
              <a:lnSpc>
                <a:spcPts val="3400"/>
              </a:lnSpc>
              <a:buNone/>
            </a:pPr>
            <a:r>
              <a:rPr lang="en-US" sz="3000" b="1" dirty="0">
                <a:solidFill>
                  <a:srgbClr val="1C2F3A"/>
                </a:solidFill>
                <a:latin typeface="Georgia" pitchFamily="34" charset="0"/>
                <a:ea typeface="Georgia" pitchFamily="34" charset="-122"/>
                <a:cs typeface="Georgia" pitchFamily="34" charset="-120"/>
              </a:rPr>
              <a:t>Zeig die Lösung, nicht das Produkt</a:t>
            </a:r>
            <a:endParaRPr lang="en-US" sz="3000" dirty="0"/>
          </a:p>
        </p:txBody>
      </p:sp>
      <p:sp>
        <p:nvSpPr>
          <p:cNvPr id="5" name="Text 3"/>
          <p:cNvSpPr/>
          <p:nvPr/>
        </p:nvSpPr>
        <p:spPr>
          <a:xfrm>
            <a:off x="3566160" y="2971800"/>
            <a:ext cx="7982712" cy="1280160"/>
          </a:xfrm>
          <a:prstGeom prst="rect">
            <a:avLst/>
          </a:prstGeom>
          <a:noFill/>
          <a:ln/>
        </p:spPr>
        <p:txBody>
          <a:bodyPr wrap="square" rtlCol="0" anchor="ctr"/>
          <a:lstStyle/>
          <a:p>
            <a:pPr indent="0" marL="0">
              <a:lnSpc>
                <a:spcPts val="2500"/>
              </a:lnSpc>
              <a:buNone/>
            </a:pPr>
            <a:r>
              <a:rPr lang="en-US" sz="1700" dirty="0">
                <a:solidFill>
                  <a:srgbClr val="5A6B74"/>
                </a:solidFill>
                <a:latin typeface="Calibri" pitchFamily="34" charset="0"/>
                <a:ea typeface="Calibri" pitchFamily="34" charset="-122"/>
                <a:cs typeface="Calibri" pitchFamily="34" charset="-120"/>
              </a:rPr>
              <a:t>Auf Instagram zeigst du keine Produktbilder mehr. Du zeigst, dass du das Problem deiner Kundin verstehst und löst.</a:t>
            </a:r>
            <a:endParaRPr lang="en-US" sz="1700" dirty="0"/>
          </a:p>
        </p:txBody>
      </p:sp>
      <p:sp>
        <p:nvSpPr>
          <p:cNvPr id="6" name="Shape 4"/>
          <p:cNvSpPr/>
          <p:nvPr/>
        </p:nvSpPr>
        <p:spPr>
          <a:xfrm>
            <a:off x="3566160" y="4389120"/>
            <a:ext cx="7982712" cy="1234440"/>
          </a:xfrm>
          <a:prstGeom prst="roundRect">
            <a:avLst>
              <a:gd name="adj" fmla="val 7407"/>
            </a:avLst>
          </a:prstGeom>
          <a:solidFill>
            <a:srgbClr val="FFFFFF"/>
          </a:solidFill>
          <a:ln/>
          <a:effectLst>
            <a:outerShdw sx="100000" sy="100000" kx="0" ky="0" algn="bl" rotWithShape="0" blurRad="101600" dist="38100" dir="5400000">
              <a:srgbClr val="9AA7AD">
                <a:alpha val="35000"/>
              </a:srgbClr>
            </a:outerShdw>
          </a:effectLst>
        </p:spPr>
      </p:sp>
      <p:sp>
        <p:nvSpPr>
          <p:cNvPr id="7" name="Text 5"/>
          <p:cNvSpPr/>
          <p:nvPr/>
        </p:nvSpPr>
        <p:spPr>
          <a:xfrm>
            <a:off x="3794760" y="4526280"/>
            <a:ext cx="7525512" cy="960120"/>
          </a:xfrm>
          <a:prstGeom prst="rect">
            <a:avLst/>
          </a:prstGeom>
          <a:noFill/>
          <a:ln/>
        </p:spPr>
        <p:txBody>
          <a:bodyPr wrap="square" rtlCol="0" anchor="ctr"/>
          <a:lstStyle/>
          <a:p>
            <a:pPr algn="l" indent="0" marL="0">
              <a:lnSpc>
                <a:spcPts val="2100"/>
              </a:lnSpc>
              <a:spcAft>
                <a:spcPts val="400"/>
              </a:spcAft>
              <a:buNone/>
            </a:pPr>
            <a:r>
              <a:rPr lang="en-US" sz="1100" b="1" spc="300" kern="0" dirty="0">
                <a:solidFill>
                  <a:srgbClr val="12828C"/>
                </a:solidFill>
                <a:latin typeface="Calibri" pitchFamily="34" charset="0"/>
                <a:ea typeface="Calibri" pitchFamily="34" charset="-122"/>
                <a:cs typeface="Calibri" pitchFamily="34" charset="-120"/>
              </a:rPr>
              <a:t>WENN DAS STEHT</a:t>
            </a:r>
            <a:endParaRPr lang="en-US" sz="1100" dirty="0"/>
          </a:p>
          <a:p>
            <a:pPr algn="l" indent="0" marL="0">
              <a:lnSpc>
                <a:spcPts val="2100"/>
              </a:lnSpc>
              <a:buNone/>
            </a:pPr>
            <a:r>
              <a:rPr lang="en-US" sz="1600" i="1" dirty="0">
                <a:solidFill>
                  <a:srgbClr val="1C2F3A"/>
                </a:solidFill>
                <a:latin typeface="Georgia" pitchFamily="34" charset="0"/>
                <a:ea typeface="Georgia" pitchFamily="34" charset="-122"/>
                <a:cs typeface="Georgia" pitchFamily="34" charset="-120"/>
              </a:rPr>
              <a:t>Die richtigen Frauen melden sich von selbst bei dir.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Aus ‚blamier ich mich?' wird ‚die kennt sich aus'. Aus Scham wird Stolz.</a:t>
            </a:r>
            <a:endParaRPr lang="en-US" sz="3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365760" y="1280160"/>
            <a:ext cx="3108960" cy="3840480"/>
          </a:xfrm>
          <a:prstGeom prst="rect">
            <a:avLst/>
          </a:prstGeom>
          <a:noFill/>
          <a:ln/>
        </p:spPr>
        <p:txBody>
          <a:bodyPr wrap="square" rtlCol="0" anchor="ctr"/>
          <a:lstStyle/>
          <a:p>
            <a:pPr algn="ctr" indent="0" marL="0">
              <a:buNone/>
            </a:pPr>
            <a:r>
              <a:rPr lang="en-US" sz="20000" b="1" dirty="0">
                <a:solidFill>
                  <a:srgbClr val="DC822E">
                    <a:alpha val="18000"/>
                  </a:srgbClr>
                </a:solidFill>
                <a:latin typeface="Georgia" pitchFamily="34" charset="0"/>
                <a:ea typeface="Georgia" pitchFamily="34" charset="-122"/>
                <a:cs typeface="Georgia" pitchFamily="34" charset="-120"/>
              </a:rPr>
              <a:t>2</a:t>
            </a:r>
            <a:endParaRPr lang="en-US" sz="20000" dirty="0"/>
          </a:p>
        </p:txBody>
      </p:sp>
      <p:sp>
        <p:nvSpPr>
          <p:cNvPr id="3" name="Text 1"/>
          <p:cNvSpPr/>
          <p:nvPr/>
        </p:nvSpPr>
        <p:spPr>
          <a:xfrm>
            <a:off x="3566160" y="1371600"/>
            <a:ext cx="7982712" cy="457200"/>
          </a:xfrm>
          <a:prstGeom prst="rect">
            <a:avLst/>
          </a:prstGeom>
          <a:noFill/>
          <a:ln/>
        </p:spPr>
        <p:txBody>
          <a:bodyPr wrap="square" rtlCol="0" anchor="ctr"/>
          <a:lstStyle/>
          <a:p>
            <a:pPr indent="0" marL="0">
              <a:buNone/>
            </a:pPr>
            <a:r>
              <a:rPr lang="en-US" sz="1300" b="1" spc="400" kern="0" dirty="0">
                <a:solidFill>
                  <a:srgbClr val="DC822E"/>
                </a:solidFill>
                <a:latin typeface="Calibri" pitchFamily="34" charset="0"/>
                <a:ea typeface="Calibri" pitchFamily="34" charset="-122"/>
                <a:cs typeface="Calibri" pitchFamily="34" charset="-120"/>
              </a:rPr>
              <a:t>Schritt 2</a:t>
            </a:r>
            <a:endParaRPr lang="en-US" sz="1300" dirty="0"/>
          </a:p>
        </p:txBody>
      </p:sp>
      <p:sp>
        <p:nvSpPr>
          <p:cNvPr id="4" name="Text 2"/>
          <p:cNvSpPr/>
          <p:nvPr/>
        </p:nvSpPr>
        <p:spPr>
          <a:xfrm>
            <a:off x="3566160" y="1828800"/>
            <a:ext cx="7982712" cy="1097280"/>
          </a:xfrm>
          <a:prstGeom prst="rect">
            <a:avLst/>
          </a:prstGeom>
          <a:noFill/>
          <a:ln/>
        </p:spPr>
        <p:txBody>
          <a:bodyPr wrap="square" rtlCol="0" anchor="ctr"/>
          <a:lstStyle/>
          <a:p>
            <a:pPr indent="0" marL="0">
              <a:lnSpc>
                <a:spcPts val="3400"/>
              </a:lnSpc>
              <a:buNone/>
            </a:pPr>
            <a:r>
              <a:rPr lang="en-US" sz="3000" b="1" dirty="0">
                <a:solidFill>
                  <a:srgbClr val="1C2F3A"/>
                </a:solidFill>
                <a:latin typeface="Georgia" pitchFamily="34" charset="0"/>
                <a:ea typeface="Georgia" pitchFamily="34" charset="-122"/>
                <a:cs typeface="Georgia" pitchFamily="34" charset="-120"/>
              </a:rPr>
              <a:t>Dein eigenes Angebot</a:t>
            </a:r>
            <a:endParaRPr lang="en-US" sz="3000" dirty="0"/>
          </a:p>
        </p:txBody>
      </p:sp>
      <p:sp>
        <p:nvSpPr>
          <p:cNvPr id="5" name="Text 3"/>
          <p:cNvSpPr/>
          <p:nvPr/>
        </p:nvSpPr>
        <p:spPr>
          <a:xfrm>
            <a:off x="3566160" y="2971800"/>
            <a:ext cx="7982712" cy="1280160"/>
          </a:xfrm>
          <a:prstGeom prst="rect">
            <a:avLst/>
          </a:prstGeom>
          <a:noFill/>
          <a:ln/>
        </p:spPr>
        <p:txBody>
          <a:bodyPr wrap="square" rtlCol="0" anchor="ctr"/>
          <a:lstStyle/>
          <a:p>
            <a:pPr indent="0" marL="0">
              <a:lnSpc>
                <a:spcPts val="2500"/>
              </a:lnSpc>
              <a:buNone/>
            </a:pPr>
            <a:r>
              <a:rPr lang="en-US" sz="1700" dirty="0">
                <a:solidFill>
                  <a:srgbClr val="5A6B74"/>
                </a:solidFill>
                <a:latin typeface="Calibri" pitchFamily="34" charset="0"/>
                <a:ea typeface="Calibri" pitchFamily="34" charset="-122"/>
                <a:cs typeface="Calibri" pitchFamily="34" charset="-120"/>
              </a:rPr>
              <a:t>Dein Network-Produkt ist immer nur EIN Teil der Lösung — nie die ganze. Du baust ein eigenes Angebot drumherum: eine Treppe, die deine Leute mitnimmt.</a:t>
            </a:r>
            <a:endParaRPr lang="en-US" sz="1700" dirty="0"/>
          </a:p>
        </p:txBody>
      </p:sp>
      <p:sp>
        <p:nvSpPr>
          <p:cNvPr id="6" name="Shape 4"/>
          <p:cNvSpPr/>
          <p:nvPr/>
        </p:nvSpPr>
        <p:spPr>
          <a:xfrm>
            <a:off x="3566160" y="4389120"/>
            <a:ext cx="7982712" cy="1234440"/>
          </a:xfrm>
          <a:prstGeom prst="roundRect">
            <a:avLst>
              <a:gd name="adj" fmla="val 7407"/>
            </a:avLst>
          </a:prstGeom>
          <a:solidFill>
            <a:srgbClr val="FFFFFF"/>
          </a:solidFill>
          <a:ln/>
          <a:effectLst>
            <a:outerShdw sx="100000" sy="100000" kx="0" ky="0" algn="bl" rotWithShape="0" blurRad="101600" dist="38100" dir="5400000">
              <a:srgbClr val="9AA7AD">
                <a:alpha val="35000"/>
              </a:srgbClr>
            </a:outerShdw>
          </a:effectLst>
        </p:spPr>
      </p:sp>
      <p:sp>
        <p:nvSpPr>
          <p:cNvPr id="7" name="Text 5"/>
          <p:cNvSpPr/>
          <p:nvPr/>
        </p:nvSpPr>
        <p:spPr>
          <a:xfrm>
            <a:off x="3794760" y="4526280"/>
            <a:ext cx="7525512" cy="960120"/>
          </a:xfrm>
          <a:prstGeom prst="rect">
            <a:avLst/>
          </a:prstGeom>
          <a:noFill/>
          <a:ln/>
        </p:spPr>
        <p:txBody>
          <a:bodyPr wrap="square" rtlCol="0" anchor="ctr"/>
          <a:lstStyle/>
          <a:p>
            <a:pPr algn="l" indent="0" marL="0">
              <a:lnSpc>
                <a:spcPts val="2100"/>
              </a:lnSpc>
              <a:spcAft>
                <a:spcPts val="400"/>
              </a:spcAft>
              <a:buNone/>
            </a:pPr>
            <a:r>
              <a:rPr lang="en-US" sz="1100" b="1" spc="300" kern="0" dirty="0">
                <a:solidFill>
                  <a:srgbClr val="12828C"/>
                </a:solidFill>
                <a:latin typeface="Calibri" pitchFamily="34" charset="0"/>
                <a:ea typeface="Calibri" pitchFamily="34" charset="-122"/>
                <a:cs typeface="Calibri" pitchFamily="34" charset="-120"/>
              </a:rPr>
              <a:t>WENN DAS STEHT</a:t>
            </a:r>
            <a:endParaRPr lang="en-US" sz="1100" dirty="0"/>
          </a:p>
          <a:p>
            <a:pPr algn="l" indent="0" marL="0">
              <a:lnSpc>
                <a:spcPts val="2100"/>
              </a:lnSpc>
              <a:buNone/>
            </a:pPr>
            <a:r>
              <a:rPr lang="en-US" sz="1600" i="1" dirty="0">
                <a:solidFill>
                  <a:srgbClr val="1C2F3A"/>
                </a:solidFill>
                <a:latin typeface="Georgia" pitchFamily="34" charset="0"/>
                <a:ea typeface="Georgia" pitchFamily="34" charset="-122"/>
                <a:cs typeface="Georgia" pitchFamily="34" charset="-120"/>
              </a:rPr>
              <a:t>Dein Einkommen hängt nicht mehr nur am Vergütungsplan.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Du verkaufst, während du am Spielplatz sitzt.</a:t>
            </a:r>
            <a:endParaRPr lang="en-US" sz="3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365760" y="1280160"/>
            <a:ext cx="3108960" cy="3840480"/>
          </a:xfrm>
          <a:prstGeom prst="rect">
            <a:avLst/>
          </a:prstGeom>
          <a:noFill/>
          <a:ln/>
        </p:spPr>
        <p:txBody>
          <a:bodyPr wrap="square" rtlCol="0" anchor="ctr"/>
          <a:lstStyle/>
          <a:p>
            <a:pPr algn="ctr" indent="0" marL="0">
              <a:buNone/>
            </a:pPr>
            <a:r>
              <a:rPr lang="en-US" sz="20000" b="1" dirty="0">
                <a:solidFill>
                  <a:srgbClr val="DC822E">
                    <a:alpha val="18000"/>
                  </a:srgbClr>
                </a:solidFill>
                <a:latin typeface="Georgia" pitchFamily="34" charset="0"/>
                <a:ea typeface="Georgia" pitchFamily="34" charset="-122"/>
                <a:cs typeface="Georgia" pitchFamily="34" charset="-120"/>
              </a:rPr>
              <a:t>3</a:t>
            </a:r>
            <a:endParaRPr lang="en-US" sz="20000" dirty="0"/>
          </a:p>
        </p:txBody>
      </p:sp>
      <p:sp>
        <p:nvSpPr>
          <p:cNvPr id="3" name="Text 1"/>
          <p:cNvSpPr/>
          <p:nvPr/>
        </p:nvSpPr>
        <p:spPr>
          <a:xfrm>
            <a:off x="3566160" y="1371600"/>
            <a:ext cx="7982712" cy="457200"/>
          </a:xfrm>
          <a:prstGeom prst="rect">
            <a:avLst/>
          </a:prstGeom>
          <a:noFill/>
          <a:ln/>
        </p:spPr>
        <p:txBody>
          <a:bodyPr wrap="square" rtlCol="0" anchor="ctr"/>
          <a:lstStyle/>
          <a:p>
            <a:pPr indent="0" marL="0">
              <a:buNone/>
            </a:pPr>
            <a:r>
              <a:rPr lang="en-US" sz="1300" b="1" spc="400" kern="0" dirty="0">
                <a:solidFill>
                  <a:srgbClr val="DC822E"/>
                </a:solidFill>
                <a:latin typeface="Calibri" pitchFamily="34" charset="0"/>
                <a:ea typeface="Calibri" pitchFamily="34" charset="-122"/>
                <a:cs typeface="Calibri" pitchFamily="34" charset="-120"/>
              </a:rPr>
              <a:t>Schritt 3</a:t>
            </a:r>
            <a:endParaRPr lang="en-US" sz="1300" dirty="0"/>
          </a:p>
        </p:txBody>
      </p:sp>
      <p:sp>
        <p:nvSpPr>
          <p:cNvPr id="4" name="Text 2"/>
          <p:cNvSpPr/>
          <p:nvPr/>
        </p:nvSpPr>
        <p:spPr>
          <a:xfrm>
            <a:off x="3566160" y="1828800"/>
            <a:ext cx="7982712" cy="1097280"/>
          </a:xfrm>
          <a:prstGeom prst="rect">
            <a:avLst/>
          </a:prstGeom>
          <a:noFill/>
          <a:ln/>
        </p:spPr>
        <p:txBody>
          <a:bodyPr wrap="square" rtlCol="0" anchor="ctr"/>
          <a:lstStyle/>
          <a:p>
            <a:pPr indent="0" marL="0">
              <a:lnSpc>
                <a:spcPts val="3400"/>
              </a:lnSpc>
              <a:buNone/>
            </a:pPr>
            <a:r>
              <a:rPr lang="en-US" sz="3000" b="1" dirty="0">
                <a:solidFill>
                  <a:srgbClr val="1C2F3A"/>
                </a:solidFill>
                <a:latin typeface="Georgia" pitchFamily="34" charset="0"/>
                <a:ea typeface="Georgia" pitchFamily="34" charset="-122"/>
                <a:cs typeface="Georgia" pitchFamily="34" charset="-120"/>
              </a:rPr>
              <a:t>Zeit als Mama — Admin an die KI</a:t>
            </a:r>
            <a:endParaRPr lang="en-US" sz="3000" dirty="0"/>
          </a:p>
        </p:txBody>
      </p:sp>
      <p:sp>
        <p:nvSpPr>
          <p:cNvPr id="5" name="Text 3"/>
          <p:cNvSpPr/>
          <p:nvPr/>
        </p:nvSpPr>
        <p:spPr>
          <a:xfrm>
            <a:off x="3566160" y="2971800"/>
            <a:ext cx="7982712" cy="1280160"/>
          </a:xfrm>
          <a:prstGeom prst="rect">
            <a:avLst/>
          </a:prstGeom>
          <a:noFill/>
          <a:ln/>
        </p:spPr>
        <p:txBody>
          <a:bodyPr wrap="square" rtlCol="0" anchor="ctr"/>
          <a:lstStyle/>
          <a:p>
            <a:pPr indent="0" marL="0">
              <a:lnSpc>
                <a:spcPts val="2500"/>
              </a:lnSpc>
              <a:buNone/>
            </a:pPr>
            <a:r>
              <a:rPr lang="en-US" sz="1700" dirty="0">
                <a:solidFill>
                  <a:srgbClr val="5A6B74"/>
                </a:solidFill>
                <a:latin typeface="Calibri" pitchFamily="34" charset="0"/>
                <a:ea typeface="Calibri" pitchFamily="34" charset="-122"/>
                <a:cs typeface="Calibri" pitchFamily="34" charset="-120"/>
              </a:rPr>
              <a:t>Kein 5-Uhr-Aufsteh-Wahnsinn. Zwei, drei fokussierte Fenster pro Woche — und den ganzen Adminkram gibst du an die KI ab.</a:t>
            </a:r>
            <a:endParaRPr lang="en-US" sz="1700" dirty="0"/>
          </a:p>
        </p:txBody>
      </p:sp>
      <p:sp>
        <p:nvSpPr>
          <p:cNvPr id="6" name="Shape 4"/>
          <p:cNvSpPr/>
          <p:nvPr/>
        </p:nvSpPr>
        <p:spPr>
          <a:xfrm>
            <a:off x="3566160" y="4389120"/>
            <a:ext cx="7982712" cy="1234440"/>
          </a:xfrm>
          <a:prstGeom prst="roundRect">
            <a:avLst>
              <a:gd name="adj" fmla="val 7407"/>
            </a:avLst>
          </a:prstGeom>
          <a:solidFill>
            <a:srgbClr val="FFFFFF"/>
          </a:solidFill>
          <a:ln/>
          <a:effectLst>
            <a:outerShdw sx="100000" sy="100000" kx="0" ky="0" algn="bl" rotWithShape="0" blurRad="101600" dist="38100" dir="5400000">
              <a:srgbClr val="9AA7AD">
                <a:alpha val="35000"/>
              </a:srgbClr>
            </a:outerShdw>
          </a:effectLst>
        </p:spPr>
      </p:sp>
      <p:sp>
        <p:nvSpPr>
          <p:cNvPr id="7" name="Text 5"/>
          <p:cNvSpPr/>
          <p:nvPr/>
        </p:nvSpPr>
        <p:spPr>
          <a:xfrm>
            <a:off x="3794760" y="4526280"/>
            <a:ext cx="7525512" cy="960120"/>
          </a:xfrm>
          <a:prstGeom prst="rect">
            <a:avLst/>
          </a:prstGeom>
          <a:noFill/>
          <a:ln/>
        </p:spPr>
        <p:txBody>
          <a:bodyPr wrap="square" rtlCol="0" anchor="ctr"/>
          <a:lstStyle/>
          <a:p>
            <a:pPr algn="l" indent="0" marL="0">
              <a:lnSpc>
                <a:spcPts val="2100"/>
              </a:lnSpc>
              <a:spcAft>
                <a:spcPts val="400"/>
              </a:spcAft>
              <a:buNone/>
            </a:pPr>
            <a:r>
              <a:rPr lang="en-US" sz="1100" b="1" spc="300" kern="0" dirty="0">
                <a:solidFill>
                  <a:srgbClr val="12828C"/>
                </a:solidFill>
                <a:latin typeface="Calibri" pitchFamily="34" charset="0"/>
                <a:ea typeface="Calibri" pitchFamily="34" charset="-122"/>
                <a:cs typeface="Calibri" pitchFamily="34" charset="-120"/>
              </a:rPr>
              <a:t>WENN DAS STEHT</a:t>
            </a:r>
            <a:endParaRPr lang="en-US" sz="1100" dirty="0"/>
          </a:p>
          <a:p>
            <a:pPr algn="l" indent="0" marL="0">
              <a:lnSpc>
                <a:spcPts val="2100"/>
              </a:lnSpc>
              <a:buNone/>
            </a:pPr>
            <a:r>
              <a:rPr lang="en-US" sz="1600" i="1" dirty="0">
                <a:solidFill>
                  <a:srgbClr val="1C2F3A"/>
                </a:solidFill>
                <a:latin typeface="Georgia" pitchFamily="34" charset="0"/>
                <a:ea typeface="Georgia" pitchFamily="34" charset="-122"/>
                <a:cs typeface="Georgia" pitchFamily="34" charset="-120"/>
              </a:rPr>
              <a:t>Dein Business läuft in den Randzeiten, ohne die Familie zu fressen.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Du zerreisst dich nicht mehr zwischen schlechtem Gewissen hier und schlechtem Gewissen da.</a:t>
            </a:r>
            <a:endParaRPr lang="en-US" sz="3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5000"/>
              </a:lnSpc>
              <a:buNone/>
            </a:pPr>
            <a:r>
              <a:rPr lang="en-US" sz="4400" b="1" dirty="0">
                <a:solidFill>
                  <a:srgbClr val="F4F0E6"/>
                </a:solidFill>
                <a:latin typeface="Georgia" pitchFamily="34" charset="0"/>
                <a:ea typeface="Georgia" pitchFamily="34" charset="-122"/>
                <a:cs typeface="Georgia" pitchFamily="34" charset="-120"/>
              </a:rPr>
              <a:t>1 → 2 → 3. Eine Treppe, keine drei Baustellen.</a:t>
            </a:r>
            <a:endParaRPr lang="en-US" sz="4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Du weisst jetzt das WAS. Bleibt das WIE.</a:t>
            </a:r>
            <a:endParaRPr lang="en-US" sz="3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640080" y="2194560"/>
            <a:ext cx="10908792" cy="457200"/>
          </a:xfrm>
          <a:prstGeom prst="rect">
            <a:avLst/>
          </a:prstGeom>
          <a:noFill/>
          <a:ln/>
        </p:spPr>
        <p:txBody>
          <a:bodyPr wrap="square" rtlCol="0" anchor="ctr"/>
          <a:lstStyle/>
          <a:p>
            <a:pPr indent="0" marL="0">
              <a:buNone/>
            </a:pPr>
            <a:r>
              <a:rPr lang="en-US" sz="1400" b="1" spc="500" kern="0" dirty="0">
                <a:solidFill>
                  <a:srgbClr val="DC822E"/>
                </a:solidFill>
                <a:latin typeface="Calibri" pitchFamily="34" charset="0"/>
                <a:ea typeface="Calibri" pitchFamily="34" charset="-122"/>
                <a:cs typeface="Calibri" pitchFamily="34" charset="-120"/>
              </a:rPr>
              <a:t>PHASE 3</a:t>
            </a:r>
            <a:endParaRPr lang="en-US" sz="1400" dirty="0"/>
          </a:p>
        </p:txBody>
      </p:sp>
      <p:sp>
        <p:nvSpPr>
          <p:cNvPr id="3" name="Text 1"/>
          <p:cNvSpPr/>
          <p:nvPr/>
        </p:nvSpPr>
        <p:spPr>
          <a:xfrm>
            <a:off x="640080" y="2743200"/>
            <a:ext cx="10908792" cy="1828800"/>
          </a:xfrm>
          <a:prstGeom prst="rect">
            <a:avLst/>
          </a:prstGeom>
          <a:noFill/>
          <a:ln/>
        </p:spPr>
        <p:txBody>
          <a:bodyPr wrap="square" rtlCol="0" anchor="ctr"/>
          <a:lstStyle/>
          <a:p>
            <a:pPr indent="0" marL="0">
              <a:lnSpc>
                <a:spcPts val="5200"/>
              </a:lnSpc>
              <a:buNone/>
            </a:pPr>
            <a:r>
              <a:rPr lang="en-US" sz="4800" b="1" dirty="0">
                <a:solidFill>
                  <a:srgbClr val="F4F0E6"/>
                </a:solidFill>
                <a:latin typeface="Georgia" pitchFamily="34" charset="0"/>
                <a:ea typeface="Georgia" pitchFamily="34" charset="-122"/>
                <a:cs typeface="Georgia" pitchFamily="34" charset="-120"/>
              </a:rPr>
              <a:t>Die Mum Business Academy</a:t>
            </a:r>
            <a:endParaRPr lang="en-US" sz="4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Kurz drei ehrliche Fragen</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Wär es dir ein paar fokussierte Stunden wert, wenn du danach diesen roten Faden hast?</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Willst du dir das alles allein zusammensuchen — oder die Abkürzung nehmen?</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Willst du das allein durchziehen — oder mit jemandem an der Seite, bis es läuft?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5000"/>
              </a:lnSpc>
              <a:buNone/>
            </a:pPr>
            <a:r>
              <a:rPr lang="en-US" sz="4400" b="1" dirty="0">
                <a:solidFill>
                  <a:srgbClr val="F4F0E6"/>
                </a:solidFill>
                <a:latin typeface="Georgia" pitchFamily="34" charset="0"/>
                <a:ea typeface="Georgia" pitchFamily="34" charset="-122"/>
                <a:cs typeface="Georgia" pitchFamily="34" charset="-120"/>
              </a:rPr>
              <a:t>Die Mum Business Academy.</a:t>
            </a:r>
            <a:endParaRPr lang="en-US" sz="4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Alles an einem Ort</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3 Kurse, die aufeinander aufbauen</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PIA — deine KI-Mentorin</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Eine Community</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Live-Calls mit mir — ein ganzes Jahr</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Instagram-Kundenmaschine</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Der erste Kurs macht dich sichtbar: dein Thema, dein Profil, deine Hooks, Beiträge und Stories, die verkaufen — damit fremde Menschen dich anschreiben.</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Mama-CEO</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Der zweite schafft dir die Zeit: deine Powerzeiten, dein System, deine KI-Mitarbeiter — damit dein Business läuft, ohne dass du dich zerreisst.</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Digitale Produktwelt</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Der dritte baut dein eigenes Angebot: dein erstes digitales Produkt mit KI, deine Produkttreppe, dein Funnel — Einkommen, das dir gehört.</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PIA — deine KI-Mentorin</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Das Herzstück, das es sonst nirgends gibt: PIA arbeitet jeden Tag mit dir — Bio, Hooks, fertige Posts, Stories, dein Leadmagnet, ganze Content-Wochen, in deiner Stimme.</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Und du bist nicht allein</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Zweimal im Monat kommen wir live zusammen — ein Experten-Thema und deine Fragen. Dazwischen trägt dich die Community.</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Kein Regal, das du einmal durchklickst — ein Raum, der mit dir wächst.</a:t>
            </a:r>
            <a:endParaRPr lang="en-US" sz="3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822960"/>
          </a:xfrm>
          <a:prstGeom prst="rect">
            <a:avLst/>
          </a:prstGeom>
          <a:noFill/>
          <a:ln/>
        </p:spPr>
        <p:txBody>
          <a:bodyPr wrap="square" rtlCol="0" anchor="ctr"/>
          <a:lstStyle/>
          <a:p>
            <a:pPr algn="ctr" indent="0" marL="0">
              <a:buNone/>
            </a:pPr>
            <a:r>
              <a:rPr lang="en-US" sz="3000" b="1" dirty="0">
                <a:solidFill>
                  <a:srgbClr val="1C2F3A"/>
                </a:solidFill>
                <a:latin typeface="Georgia" pitchFamily="34" charset="0"/>
                <a:ea typeface="Georgia" pitchFamily="34" charset="-122"/>
                <a:cs typeface="Georgia" pitchFamily="34" charset="-120"/>
              </a:rPr>
              <a:t>Rechnen wir ehrlich zusammen</a:t>
            </a:r>
            <a:endParaRPr lang="en-US" sz="3000" dirty="0"/>
          </a:p>
        </p:txBody>
      </p:sp>
      <p:sp>
        <p:nvSpPr>
          <p:cNvPr id="3" name="Text 1"/>
          <p:cNvSpPr/>
          <p:nvPr/>
        </p:nvSpPr>
        <p:spPr>
          <a:xfrm>
            <a:off x="1737360" y="1920240"/>
            <a:ext cx="7068312" cy="548640"/>
          </a:xfrm>
          <a:prstGeom prst="rect">
            <a:avLst/>
          </a:prstGeom>
          <a:noFill/>
          <a:ln/>
        </p:spPr>
        <p:txBody>
          <a:bodyPr wrap="square" rtlCol="0" anchor="ctr"/>
          <a:lstStyle/>
          <a:p>
            <a:pPr algn="l" indent="0" marL="0">
              <a:buNone/>
            </a:pPr>
            <a:r>
              <a:rPr lang="en-US" sz="2000" dirty="0">
                <a:solidFill>
                  <a:srgbClr val="1C2F3A"/>
                </a:solidFill>
                <a:latin typeface="Georgia" pitchFamily="34" charset="0"/>
                <a:ea typeface="Georgia" pitchFamily="34" charset="-122"/>
                <a:cs typeface="Georgia" pitchFamily="34" charset="-120"/>
              </a:rPr>
              <a:t>Instagram-Kundenmaschine</a:t>
            </a:r>
            <a:endParaRPr lang="en-US" sz="2000" dirty="0"/>
          </a:p>
        </p:txBody>
      </p:sp>
      <p:sp>
        <p:nvSpPr>
          <p:cNvPr id="4" name="Text 2"/>
          <p:cNvSpPr/>
          <p:nvPr/>
        </p:nvSpPr>
        <p:spPr>
          <a:xfrm>
            <a:off x="8805672" y="1920240"/>
            <a:ext cx="2011680" cy="548640"/>
          </a:xfrm>
          <a:prstGeom prst="rect">
            <a:avLst/>
          </a:prstGeom>
          <a:noFill/>
          <a:ln/>
        </p:spPr>
        <p:txBody>
          <a:bodyPr wrap="square" rtlCol="0" anchor="ctr"/>
          <a:lstStyle/>
          <a:p>
            <a:pPr algn="r" indent="0" marL="0">
              <a:buNone/>
            </a:pPr>
            <a:r>
              <a:rPr lang="en-US" sz="2000" dirty="0">
                <a:solidFill>
                  <a:srgbClr val="5A6B74"/>
                </a:solidFill>
                <a:latin typeface="Georgia" pitchFamily="34" charset="0"/>
                <a:ea typeface="Georgia" pitchFamily="34" charset="-122"/>
                <a:cs typeface="Georgia" pitchFamily="34" charset="-120"/>
              </a:rPr>
              <a:t>333</a:t>
            </a:r>
            <a:endParaRPr lang="en-US" sz="2000" dirty="0"/>
          </a:p>
        </p:txBody>
      </p:sp>
      <p:sp>
        <p:nvSpPr>
          <p:cNvPr id="5" name="Shape 3"/>
          <p:cNvSpPr/>
          <p:nvPr/>
        </p:nvSpPr>
        <p:spPr>
          <a:xfrm>
            <a:off x="1737360" y="2487168"/>
            <a:ext cx="9079992" cy="0"/>
          </a:xfrm>
          <a:prstGeom prst="line">
            <a:avLst/>
          </a:prstGeom>
          <a:noFill/>
          <a:ln w="12700">
            <a:solidFill>
              <a:srgbClr val="DDD3BF"/>
            </a:solidFill>
            <a:prstDash val="solid"/>
          </a:ln>
        </p:spPr>
      </p:sp>
      <p:sp>
        <p:nvSpPr>
          <p:cNvPr id="6" name="Text 4"/>
          <p:cNvSpPr/>
          <p:nvPr/>
        </p:nvSpPr>
        <p:spPr>
          <a:xfrm>
            <a:off x="1737360" y="2578608"/>
            <a:ext cx="7068312" cy="548640"/>
          </a:xfrm>
          <a:prstGeom prst="rect">
            <a:avLst/>
          </a:prstGeom>
          <a:noFill/>
          <a:ln/>
        </p:spPr>
        <p:txBody>
          <a:bodyPr wrap="square" rtlCol="0" anchor="ctr"/>
          <a:lstStyle/>
          <a:p>
            <a:pPr algn="l" indent="0" marL="0">
              <a:buNone/>
            </a:pPr>
            <a:r>
              <a:rPr lang="en-US" sz="2000" dirty="0">
                <a:solidFill>
                  <a:srgbClr val="1C2F3A"/>
                </a:solidFill>
                <a:latin typeface="Georgia" pitchFamily="34" charset="0"/>
                <a:ea typeface="Georgia" pitchFamily="34" charset="-122"/>
                <a:cs typeface="Georgia" pitchFamily="34" charset="-120"/>
              </a:rPr>
              <a:t>Mama-CEO</a:t>
            </a:r>
            <a:endParaRPr lang="en-US" sz="2000" dirty="0"/>
          </a:p>
        </p:txBody>
      </p:sp>
      <p:sp>
        <p:nvSpPr>
          <p:cNvPr id="7" name="Text 5"/>
          <p:cNvSpPr/>
          <p:nvPr/>
        </p:nvSpPr>
        <p:spPr>
          <a:xfrm>
            <a:off x="8805672" y="2578608"/>
            <a:ext cx="2011680" cy="548640"/>
          </a:xfrm>
          <a:prstGeom prst="rect">
            <a:avLst/>
          </a:prstGeom>
          <a:noFill/>
          <a:ln/>
        </p:spPr>
        <p:txBody>
          <a:bodyPr wrap="square" rtlCol="0" anchor="ctr"/>
          <a:lstStyle/>
          <a:p>
            <a:pPr algn="r" indent="0" marL="0">
              <a:buNone/>
            </a:pPr>
            <a:r>
              <a:rPr lang="en-US" sz="2000" dirty="0">
                <a:solidFill>
                  <a:srgbClr val="5A6B74"/>
                </a:solidFill>
                <a:latin typeface="Georgia" pitchFamily="34" charset="0"/>
                <a:ea typeface="Georgia" pitchFamily="34" charset="-122"/>
                <a:cs typeface="Georgia" pitchFamily="34" charset="-120"/>
              </a:rPr>
              <a:t>333</a:t>
            </a:r>
            <a:endParaRPr lang="en-US" sz="2000" dirty="0"/>
          </a:p>
        </p:txBody>
      </p:sp>
      <p:sp>
        <p:nvSpPr>
          <p:cNvPr id="8" name="Shape 6"/>
          <p:cNvSpPr/>
          <p:nvPr/>
        </p:nvSpPr>
        <p:spPr>
          <a:xfrm>
            <a:off x="1737360" y="3145536"/>
            <a:ext cx="9079992" cy="0"/>
          </a:xfrm>
          <a:prstGeom prst="line">
            <a:avLst/>
          </a:prstGeom>
          <a:noFill/>
          <a:ln w="12700">
            <a:solidFill>
              <a:srgbClr val="DDD3BF"/>
            </a:solidFill>
            <a:prstDash val="solid"/>
          </a:ln>
        </p:spPr>
      </p:sp>
      <p:sp>
        <p:nvSpPr>
          <p:cNvPr id="9" name="Text 7"/>
          <p:cNvSpPr/>
          <p:nvPr/>
        </p:nvSpPr>
        <p:spPr>
          <a:xfrm>
            <a:off x="1737360" y="3236976"/>
            <a:ext cx="7068312" cy="548640"/>
          </a:xfrm>
          <a:prstGeom prst="rect">
            <a:avLst/>
          </a:prstGeom>
          <a:noFill/>
          <a:ln/>
        </p:spPr>
        <p:txBody>
          <a:bodyPr wrap="square" rtlCol="0" anchor="ctr"/>
          <a:lstStyle/>
          <a:p>
            <a:pPr algn="l" indent="0" marL="0">
              <a:buNone/>
            </a:pPr>
            <a:r>
              <a:rPr lang="en-US" sz="2000" dirty="0">
                <a:solidFill>
                  <a:srgbClr val="1C2F3A"/>
                </a:solidFill>
                <a:latin typeface="Georgia" pitchFamily="34" charset="0"/>
                <a:ea typeface="Georgia" pitchFamily="34" charset="-122"/>
                <a:cs typeface="Georgia" pitchFamily="34" charset="-120"/>
              </a:rPr>
              <a:t>Digitale Produktwelt</a:t>
            </a:r>
            <a:endParaRPr lang="en-US" sz="2000" dirty="0"/>
          </a:p>
        </p:txBody>
      </p:sp>
      <p:sp>
        <p:nvSpPr>
          <p:cNvPr id="10" name="Text 8"/>
          <p:cNvSpPr/>
          <p:nvPr/>
        </p:nvSpPr>
        <p:spPr>
          <a:xfrm>
            <a:off x="8805672" y="3236976"/>
            <a:ext cx="2011680" cy="548640"/>
          </a:xfrm>
          <a:prstGeom prst="rect">
            <a:avLst/>
          </a:prstGeom>
          <a:noFill/>
          <a:ln/>
        </p:spPr>
        <p:txBody>
          <a:bodyPr wrap="square" rtlCol="0" anchor="ctr"/>
          <a:lstStyle/>
          <a:p>
            <a:pPr algn="r" indent="0" marL="0">
              <a:buNone/>
            </a:pPr>
            <a:r>
              <a:rPr lang="en-US" sz="2000" dirty="0">
                <a:solidFill>
                  <a:srgbClr val="5A6B74"/>
                </a:solidFill>
                <a:latin typeface="Georgia" pitchFamily="34" charset="0"/>
                <a:ea typeface="Georgia" pitchFamily="34" charset="-122"/>
                <a:cs typeface="Georgia" pitchFamily="34" charset="-120"/>
              </a:rPr>
              <a:t>333</a:t>
            </a:r>
            <a:endParaRPr lang="en-US" sz="2000" dirty="0"/>
          </a:p>
        </p:txBody>
      </p:sp>
      <p:sp>
        <p:nvSpPr>
          <p:cNvPr id="11" name="Shape 9"/>
          <p:cNvSpPr/>
          <p:nvPr/>
        </p:nvSpPr>
        <p:spPr>
          <a:xfrm>
            <a:off x="1737360" y="3803904"/>
            <a:ext cx="9079992" cy="0"/>
          </a:xfrm>
          <a:prstGeom prst="line">
            <a:avLst/>
          </a:prstGeom>
          <a:noFill/>
          <a:ln w="12700">
            <a:solidFill>
              <a:srgbClr val="DDD3BF"/>
            </a:solidFill>
            <a:prstDash val="solid"/>
          </a:ln>
        </p:spPr>
      </p:sp>
      <p:sp>
        <p:nvSpPr>
          <p:cNvPr id="12" name="Text 10"/>
          <p:cNvSpPr/>
          <p:nvPr/>
        </p:nvSpPr>
        <p:spPr>
          <a:xfrm>
            <a:off x="1737360" y="4078224"/>
            <a:ext cx="9079992" cy="548640"/>
          </a:xfrm>
          <a:prstGeom prst="rect">
            <a:avLst/>
          </a:prstGeom>
          <a:noFill/>
          <a:ln/>
        </p:spPr>
        <p:txBody>
          <a:bodyPr wrap="square" rtlCol="0" anchor="ctr"/>
          <a:lstStyle/>
          <a:p>
            <a:pPr algn="l" indent="0" marL="0">
              <a:buNone/>
            </a:pPr>
            <a:r>
              <a:rPr lang="en-US" sz="2400" b="1" dirty="0">
                <a:solidFill>
                  <a:srgbClr val="12828C"/>
                </a:solidFill>
                <a:latin typeface="Georgia" pitchFamily="34" charset="0"/>
                <a:ea typeface="Georgia" pitchFamily="34" charset="-122"/>
                <a:cs typeface="Georgia" pitchFamily="34" charset="-120"/>
              </a:rPr>
              <a:t>Nur die Kurse: rund 1'000</a:t>
            </a:r>
            <a:endParaRPr lang="en-US" sz="2400" dirty="0"/>
          </a:p>
        </p:txBody>
      </p:sp>
      <p:sp>
        <p:nvSpPr>
          <p:cNvPr id="13" name="Text 11"/>
          <p:cNvSpPr/>
          <p:nvPr/>
        </p:nvSpPr>
        <p:spPr>
          <a:xfrm>
            <a:off x="1737360" y="4764024"/>
            <a:ext cx="9079992" cy="548640"/>
          </a:xfrm>
          <a:prstGeom prst="rect">
            <a:avLst/>
          </a:prstGeom>
          <a:noFill/>
          <a:ln/>
        </p:spPr>
        <p:txBody>
          <a:bodyPr wrap="square" rtlCol="0" anchor="ctr"/>
          <a:lstStyle/>
          <a:p>
            <a:pPr algn="l" indent="0" marL="0">
              <a:buNone/>
            </a:pPr>
            <a:r>
              <a:rPr lang="en-US" sz="1600" dirty="0">
                <a:solidFill>
                  <a:srgbClr val="5A6B74"/>
                </a:solidFill>
                <a:latin typeface="Calibri" pitchFamily="34" charset="0"/>
                <a:ea typeface="Calibri" pitchFamily="34" charset="-122"/>
                <a:cs typeface="Calibri" pitchFamily="34" charset="-120"/>
              </a:rPr>
              <a:t>+ Live-Calls, ein Jahr   + PIA   + Community</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1C30"/>
        </a:solidFill>
      </p:bgPr>
    </p:bg>
    <p:spTree>
      <p:nvGrpSpPr>
        <p:cNvPr id="1" name=""/>
        <p:cNvGrpSpPr/>
        <p:nvPr/>
      </p:nvGrpSpPr>
      <p:grpSpPr>
        <a:xfrm>
          <a:off x="0" y="0"/>
          <a:ext cx="0" cy="0"/>
          <a:chOff x="0" y="0"/>
          <a:chExt cx="0" cy="0"/>
        </a:xfrm>
      </p:grpSpPr>
      <p:sp>
        <p:nvSpPr>
          <p:cNvPr id="2" name="Shape 0"/>
          <p:cNvSpPr/>
          <p:nvPr/>
        </p:nvSpPr>
        <p:spPr>
          <a:xfrm>
            <a:off x="3200400" y="1645920"/>
            <a:ext cx="5788152" cy="3566160"/>
          </a:xfrm>
          <a:prstGeom prst="roundRect">
            <a:avLst>
              <a:gd name="adj" fmla="val 4615"/>
            </a:avLst>
          </a:prstGeom>
          <a:solidFill>
            <a:srgbClr val="DC822E"/>
          </a:solidFill>
          <a:ln/>
          <a:effectLst>
            <a:outerShdw sx="100000" sy="100000" kx="0" ky="0" algn="bl" rotWithShape="0" blurRad="177800" dist="76200" dir="5400000">
              <a:srgbClr val="000000">
                <a:alpha val="35000"/>
              </a:srgbClr>
            </a:outerShdw>
          </a:effectLst>
        </p:spPr>
      </p:sp>
      <p:sp>
        <p:nvSpPr>
          <p:cNvPr id="3" name="Text 1"/>
          <p:cNvSpPr/>
          <p:nvPr/>
        </p:nvSpPr>
        <p:spPr>
          <a:xfrm>
            <a:off x="3200400" y="2011680"/>
            <a:ext cx="5788152" cy="457200"/>
          </a:xfrm>
          <a:prstGeom prst="rect">
            <a:avLst/>
          </a:prstGeom>
          <a:noFill/>
          <a:ln/>
        </p:spPr>
        <p:txBody>
          <a:bodyPr wrap="square" rtlCol="0" anchor="ctr"/>
          <a:lstStyle/>
          <a:p>
            <a:pPr algn="ctr" indent="0" marL="0">
              <a:buNone/>
            </a:pPr>
            <a:r>
              <a:rPr lang="en-US" sz="1300" b="1" spc="400" kern="0" dirty="0">
                <a:solidFill>
                  <a:srgbClr val="FFF2E6"/>
                </a:solidFill>
                <a:latin typeface="Calibri" pitchFamily="34" charset="0"/>
                <a:ea typeface="Calibri" pitchFamily="34" charset="-122"/>
                <a:cs typeface="Calibri" pitchFamily="34" charset="-120"/>
              </a:rPr>
              <a:t>PIONEER-PREIS</a:t>
            </a:r>
            <a:endParaRPr lang="en-US" sz="1300" dirty="0"/>
          </a:p>
        </p:txBody>
      </p:sp>
      <p:sp>
        <p:nvSpPr>
          <p:cNvPr id="4" name="Text 2"/>
          <p:cNvSpPr/>
          <p:nvPr/>
        </p:nvSpPr>
        <p:spPr>
          <a:xfrm>
            <a:off x="3200400" y="2377440"/>
            <a:ext cx="5788152" cy="1828800"/>
          </a:xfrm>
          <a:prstGeom prst="rect">
            <a:avLst/>
          </a:prstGeom>
          <a:noFill/>
          <a:ln/>
        </p:spPr>
        <p:txBody>
          <a:bodyPr wrap="square"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CHF 997</a:t>
            </a:r>
            <a:endParaRPr lang="en-US" sz="7200" dirty="0"/>
          </a:p>
        </p:txBody>
      </p:sp>
      <p:sp>
        <p:nvSpPr>
          <p:cNvPr id="5" name="Text 3"/>
          <p:cNvSpPr/>
          <p:nvPr/>
        </p:nvSpPr>
        <p:spPr>
          <a:xfrm>
            <a:off x="3566160" y="4297680"/>
            <a:ext cx="5056632" cy="640080"/>
          </a:xfrm>
          <a:prstGeom prst="rect">
            <a:avLst/>
          </a:prstGeom>
          <a:noFill/>
          <a:ln/>
        </p:spPr>
        <p:txBody>
          <a:bodyPr wrap="square" rtlCol="0" anchor="ctr"/>
          <a:lstStyle/>
          <a:p>
            <a:pPr algn="ctr" indent="0" marL="0">
              <a:buNone/>
            </a:pPr>
            <a:r>
              <a:rPr lang="en-US" sz="1600" dirty="0">
                <a:solidFill>
                  <a:srgbClr val="FFF2E6"/>
                </a:solidFill>
                <a:latin typeface="Calibri" pitchFamily="34" charset="0"/>
                <a:ea typeface="Calibri" pitchFamily="34" charset="-122"/>
                <a:cs typeface="Calibri" pitchFamily="34" charset="-120"/>
              </a:rPr>
              <a:t>für alles zusammen — später kostet die MBA 1347</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Damit's machbar ist</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Bis zu 6 Raten — ohne Aufpreis</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Schon gekaufte Kurse werden voll angerechnet</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Keine Geld-zurück-Garantie — dafür Begleitung, bis es läuft</a:t>
            </a:r>
            <a:endParaRPr lang="en-US" sz="3300" dirty="0"/>
          </a:p>
        </p:txBody>
      </p:sp>
      <p:sp>
        <p:nvSpPr>
          <p:cNvPr id="3" name="Text 1"/>
          <p:cNvSpPr/>
          <p:nvPr/>
        </p:nvSpPr>
        <p:spPr>
          <a:xfrm>
            <a:off x="640080" y="2011680"/>
            <a:ext cx="9811512" cy="1371600"/>
          </a:xfrm>
          <a:prstGeom prst="rect">
            <a:avLst/>
          </a:prstGeom>
          <a:noFill/>
          <a:ln/>
        </p:spPr>
        <p:txBody>
          <a:bodyPr wrap="square" rtlCol="0" anchor="ctr"/>
          <a:lstStyle/>
          <a:p>
            <a:pPr algn="l" indent="0" marL="0">
              <a:lnSpc>
                <a:spcPts val="2700"/>
              </a:lnSpc>
              <a:buNone/>
            </a:pPr>
            <a:r>
              <a:rPr lang="en-US" sz="1800" dirty="0">
                <a:solidFill>
                  <a:srgbClr val="5A6B74"/>
                </a:solidFill>
                <a:latin typeface="Calibri" pitchFamily="34" charset="0"/>
                <a:ea typeface="Calibri" pitchFamily="34" charset="-122"/>
                <a:cs typeface="Calibri" pitchFamily="34" charset="-120"/>
              </a:rPr>
              <a:t>Digitale Inhalte sind zu leicht kopiert. Was du stattdessen kriegst, ist mehr wert: mich und die anderen Mamas zweimal im Monat im Call, bis es bei dir läuft.</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Zwei ehrliche Dinge</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Ich öffne bewusst nur für eine kleine Runde — ich will nah dran sein</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Dein Pioneer-Preis (997) läuft 2 Tage nach diesem Webinar ab — danach kostet die MBA regulär 1347</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822960"/>
          </a:xfrm>
          <a:prstGeom prst="rect">
            <a:avLst/>
          </a:prstGeom>
          <a:noFill/>
          <a:ln/>
        </p:spPr>
        <p:txBody>
          <a:bodyPr wrap="square" rtlCol="0" anchor="ctr"/>
          <a:lstStyle/>
          <a:p>
            <a:pPr algn="ctr" indent="0" marL="0">
              <a:buNone/>
            </a:pPr>
            <a:r>
              <a:rPr lang="en-US" sz="3000" b="1" dirty="0">
                <a:solidFill>
                  <a:srgbClr val="1C2F3A"/>
                </a:solidFill>
                <a:latin typeface="Georgia" pitchFamily="34" charset="0"/>
                <a:ea typeface="Georgia" pitchFamily="34" charset="-122"/>
                <a:cs typeface="Georgia" pitchFamily="34" charset="-120"/>
              </a:rPr>
              <a:t>Und weil du's nicht nur von mir hören sollst</a:t>
            </a:r>
            <a:endParaRPr lang="en-US" sz="3000" dirty="0"/>
          </a:p>
        </p:txBody>
      </p:sp>
      <p:sp>
        <p:nvSpPr>
          <p:cNvPr id="3" name="Shape 1"/>
          <p:cNvSpPr/>
          <p:nvPr/>
        </p:nvSpPr>
        <p:spPr>
          <a:xfrm>
            <a:off x="640080" y="1965960"/>
            <a:ext cx="3392424" cy="3566160"/>
          </a:xfrm>
          <a:prstGeom prst="roundRect">
            <a:avLst>
              <a:gd name="adj" fmla="val 3235"/>
            </a:avLst>
          </a:prstGeom>
          <a:solidFill>
            <a:srgbClr val="FFFFFF"/>
          </a:solidFill>
          <a:ln/>
          <a:effectLst>
            <a:outerShdw sx="100000" sy="100000" kx="0" ky="0" algn="bl" rotWithShape="0" blurRad="114300" dist="38100" dir="5400000">
              <a:srgbClr val="9AA7AD">
                <a:alpha val="30000"/>
              </a:srgbClr>
            </a:outerShdw>
          </a:effectLst>
        </p:spPr>
      </p:sp>
      <p:sp>
        <p:nvSpPr>
          <p:cNvPr id="4" name="Text 2"/>
          <p:cNvSpPr/>
          <p:nvPr/>
        </p:nvSpPr>
        <p:spPr>
          <a:xfrm>
            <a:off x="914400" y="1965960"/>
            <a:ext cx="2843784" cy="3566160"/>
          </a:xfrm>
          <a:prstGeom prst="rect">
            <a:avLst/>
          </a:prstGeom>
          <a:noFill/>
          <a:ln/>
        </p:spPr>
        <p:txBody>
          <a:bodyPr wrap="square" rtlCol="0" anchor="ctr"/>
          <a:lstStyle/>
          <a:p>
            <a:pPr algn="l" indent="0" marL="0">
              <a:lnSpc>
                <a:spcPts val="2200"/>
              </a:lnSpc>
              <a:spcAft>
                <a:spcPts val="1200"/>
              </a:spcAft>
              <a:buNone/>
            </a:pPr>
            <a:r>
              <a:rPr lang="en-US" sz="1600" i="1" dirty="0">
                <a:solidFill>
                  <a:srgbClr val="1C2F3A"/>
                </a:solidFill>
                <a:latin typeface="Georgia" pitchFamily="34" charset="0"/>
                <a:ea typeface="Georgia" pitchFamily="34" charset="-122"/>
                <a:cs typeface="Georgia" pitchFamily="34" charset="-120"/>
              </a:rPr>
              <a:t>Mir wurde auf einmal klar: Ich hatte mein Business immer von mitten drin angeschaut — und das grosse Ganze nie richtig gesehen.</a:t>
            </a:r>
            <a:endParaRPr lang="en-US" sz="1600" dirty="0"/>
          </a:p>
          <a:p>
            <a:pPr algn="l" indent="0" marL="0">
              <a:buNone/>
            </a:pPr>
            <a:r>
              <a:rPr lang="en-US" sz="1300" b="1" dirty="0">
                <a:solidFill>
                  <a:srgbClr val="12828C"/>
                </a:solidFill>
                <a:latin typeface="Calibri" pitchFamily="34" charset="0"/>
                <a:ea typeface="Calibri" pitchFamily="34" charset="-122"/>
                <a:cs typeface="Calibri" pitchFamily="34" charset="-120"/>
              </a:rPr>
              <a:t>— Teilnehmerin</a:t>
            </a:r>
            <a:endParaRPr lang="en-US" sz="1600" dirty="0"/>
          </a:p>
        </p:txBody>
      </p:sp>
      <p:sp>
        <p:nvSpPr>
          <p:cNvPr id="5" name="Shape 3"/>
          <p:cNvSpPr/>
          <p:nvPr/>
        </p:nvSpPr>
        <p:spPr>
          <a:xfrm>
            <a:off x="4398264" y="1965960"/>
            <a:ext cx="3392424" cy="3566160"/>
          </a:xfrm>
          <a:prstGeom prst="roundRect">
            <a:avLst>
              <a:gd name="adj" fmla="val 3235"/>
            </a:avLst>
          </a:prstGeom>
          <a:solidFill>
            <a:srgbClr val="FFFFFF"/>
          </a:solidFill>
          <a:ln/>
          <a:effectLst>
            <a:outerShdw sx="100000" sy="100000" kx="0" ky="0" algn="bl" rotWithShape="0" blurRad="114300" dist="38100" dir="5400000">
              <a:srgbClr val="9AA7AD">
                <a:alpha val="30000"/>
              </a:srgbClr>
            </a:outerShdw>
          </a:effectLst>
        </p:spPr>
      </p:sp>
      <p:sp>
        <p:nvSpPr>
          <p:cNvPr id="6" name="Text 4"/>
          <p:cNvSpPr/>
          <p:nvPr/>
        </p:nvSpPr>
        <p:spPr>
          <a:xfrm>
            <a:off x="4672584" y="1965960"/>
            <a:ext cx="2843784" cy="3566160"/>
          </a:xfrm>
          <a:prstGeom prst="rect">
            <a:avLst/>
          </a:prstGeom>
          <a:noFill/>
          <a:ln/>
        </p:spPr>
        <p:txBody>
          <a:bodyPr wrap="square" rtlCol="0" anchor="ctr"/>
          <a:lstStyle/>
          <a:p>
            <a:pPr algn="l" indent="0" marL="0">
              <a:lnSpc>
                <a:spcPts val="2200"/>
              </a:lnSpc>
              <a:spcAft>
                <a:spcPts val="1200"/>
              </a:spcAft>
              <a:buNone/>
            </a:pPr>
            <a:r>
              <a:rPr lang="en-US" sz="1600" i="1" dirty="0">
                <a:solidFill>
                  <a:srgbClr val="1C2F3A"/>
                </a:solidFill>
                <a:latin typeface="Georgia" pitchFamily="34" charset="0"/>
                <a:ea typeface="Georgia" pitchFamily="34" charset="-122"/>
                <a:cs typeface="Georgia" pitchFamily="34" charset="-120"/>
              </a:rPr>
              <a:t>Ein einfaches und doch umfassendes Verständnis für die Arbeit mit Instagram. Meine Bio ist jetzt klar.</a:t>
            </a:r>
            <a:endParaRPr lang="en-US" sz="1600" dirty="0"/>
          </a:p>
          <a:p>
            <a:pPr algn="l" indent="0" marL="0">
              <a:buNone/>
            </a:pPr>
            <a:r>
              <a:rPr lang="en-US" sz="1300" b="1" dirty="0">
                <a:solidFill>
                  <a:srgbClr val="12828C"/>
                </a:solidFill>
                <a:latin typeface="Calibri" pitchFamily="34" charset="0"/>
                <a:ea typeface="Calibri" pitchFamily="34" charset="-122"/>
                <a:cs typeface="Calibri" pitchFamily="34" charset="-120"/>
              </a:rPr>
              <a:t>— Miriam</a:t>
            </a:r>
            <a:endParaRPr lang="en-US" sz="1600" dirty="0"/>
          </a:p>
        </p:txBody>
      </p:sp>
      <p:sp>
        <p:nvSpPr>
          <p:cNvPr id="7" name="Shape 5"/>
          <p:cNvSpPr/>
          <p:nvPr/>
        </p:nvSpPr>
        <p:spPr>
          <a:xfrm>
            <a:off x="8156448" y="1965960"/>
            <a:ext cx="3392424" cy="3566160"/>
          </a:xfrm>
          <a:prstGeom prst="roundRect">
            <a:avLst>
              <a:gd name="adj" fmla="val 3235"/>
            </a:avLst>
          </a:prstGeom>
          <a:solidFill>
            <a:srgbClr val="FFFFFF"/>
          </a:solidFill>
          <a:ln/>
          <a:effectLst>
            <a:outerShdw sx="100000" sy="100000" kx="0" ky="0" algn="bl" rotWithShape="0" blurRad="114300" dist="38100" dir="5400000">
              <a:srgbClr val="9AA7AD">
                <a:alpha val="30000"/>
              </a:srgbClr>
            </a:outerShdw>
          </a:effectLst>
        </p:spPr>
      </p:sp>
      <p:sp>
        <p:nvSpPr>
          <p:cNvPr id="8" name="Text 6"/>
          <p:cNvSpPr/>
          <p:nvPr/>
        </p:nvSpPr>
        <p:spPr>
          <a:xfrm>
            <a:off x="8430768" y="1965960"/>
            <a:ext cx="2843784" cy="3566160"/>
          </a:xfrm>
          <a:prstGeom prst="rect">
            <a:avLst/>
          </a:prstGeom>
          <a:noFill/>
          <a:ln/>
        </p:spPr>
        <p:txBody>
          <a:bodyPr wrap="square" rtlCol="0" anchor="ctr"/>
          <a:lstStyle/>
          <a:p>
            <a:pPr algn="l" indent="0" marL="0">
              <a:lnSpc>
                <a:spcPts val="2200"/>
              </a:lnSpc>
              <a:spcAft>
                <a:spcPts val="1200"/>
              </a:spcAft>
              <a:buNone/>
            </a:pPr>
            <a:r>
              <a:rPr lang="en-US" sz="1600" i="1" dirty="0">
                <a:solidFill>
                  <a:srgbClr val="1C2F3A"/>
                </a:solidFill>
                <a:latin typeface="Georgia" pitchFamily="34" charset="0"/>
                <a:ea typeface="Georgia" pitchFamily="34" charset="-122"/>
                <a:cs typeface="Georgia" pitchFamily="34" charset="-120"/>
              </a:rPr>
              <a:t>Meine Storyviews sind gestiegen, der Austausch mit meiner Community intensiver — weil ich mich mehr gezeigt habe. Ich bleibe definitiv dran.</a:t>
            </a:r>
            <a:endParaRPr lang="en-US" sz="1600" dirty="0"/>
          </a:p>
          <a:p>
            <a:pPr algn="l" indent="0" marL="0">
              <a:buNone/>
            </a:pPr>
            <a:r>
              <a:rPr lang="en-US" sz="1300" b="1" dirty="0">
                <a:solidFill>
                  <a:srgbClr val="12828C"/>
                </a:solidFill>
                <a:latin typeface="Calibri" pitchFamily="34" charset="0"/>
                <a:ea typeface="Calibri" pitchFamily="34" charset="-122"/>
                <a:cs typeface="Calibri" pitchFamily="34" charset="-120"/>
              </a:rPr>
              <a:t>— Andrea</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Erinnerst du dich an den Sonntagabend? Das ist keine Fantasie — das ist der Weg.</a:t>
            </a:r>
            <a:endParaRPr lang="en-US" sz="3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1097280" y="2011680"/>
            <a:ext cx="9994392" cy="2834640"/>
          </a:xfrm>
          <a:prstGeom prst="rect">
            <a:avLst/>
          </a:prstGeom>
          <a:noFill/>
          <a:ln/>
        </p:spPr>
        <p:txBody>
          <a:bodyPr wrap="square" rtlCol="0" anchor="ctr"/>
          <a:lstStyle/>
          <a:p>
            <a:pPr algn="ctr" indent="0" marL="0">
              <a:lnSpc>
                <a:spcPts val="4400"/>
              </a:lnSpc>
              <a:buNone/>
            </a:pPr>
            <a:r>
              <a:rPr lang="en-US" sz="3800" b="1" dirty="0">
                <a:solidFill>
                  <a:srgbClr val="1C2F3A"/>
                </a:solidFill>
                <a:latin typeface="Georgia" pitchFamily="34" charset="0"/>
                <a:ea typeface="Georgia" pitchFamily="34" charset="-122"/>
                <a:cs typeface="Georgia" pitchFamily="34" charset="-120"/>
              </a:rPr>
              <a:t>Die MBA ist nicht für jede. Sie ist für die, die's ernst meinen.</a:t>
            </a:r>
            <a:endParaRPr lang="en-US" sz="3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1280160" y="1828800"/>
            <a:ext cx="9628632" cy="1828800"/>
          </a:xfrm>
          <a:prstGeom prst="rect">
            <a:avLst/>
          </a:prstGeom>
          <a:noFill/>
          <a:ln/>
        </p:spPr>
        <p:txBody>
          <a:bodyPr wrap="square" rtlCol="0" anchor="ctr"/>
          <a:lstStyle/>
          <a:p>
            <a:pPr algn="ctr" indent="0" marL="0">
              <a:lnSpc>
                <a:spcPts val="4600"/>
              </a:lnSpc>
              <a:buNone/>
            </a:pPr>
            <a:r>
              <a:rPr lang="en-US" sz="4000" b="1" dirty="0">
                <a:solidFill>
                  <a:srgbClr val="F4F0E6"/>
                </a:solidFill>
                <a:latin typeface="Georgia" pitchFamily="34" charset="0"/>
                <a:ea typeface="Georgia" pitchFamily="34" charset="-122"/>
                <a:cs typeface="Georgia" pitchFamily="34" charset="-120"/>
              </a:rPr>
              <a:t>Wollen wir den Weg zusammen gehen?</a:t>
            </a:r>
            <a:endParaRPr lang="en-US" sz="4000" dirty="0"/>
          </a:p>
        </p:txBody>
      </p:sp>
      <p:sp>
        <p:nvSpPr>
          <p:cNvPr id="3" name="Shape 1"/>
          <p:cNvSpPr/>
          <p:nvPr/>
        </p:nvSpPr>
        <p:spPr>
          <a:xfrm>
            <a:off x="4023360" y="4023360"/>
            <a:ext cx="4114800" cy="914400"/>
          </a:xfrm>
          <a:prstGeom prst="roundRect">
            <a:avLst>
              <a:gd name="adj" fmla="val 12000"/>
            </a:avLst>
          </a:prstGeom>
          <a:solidFill>
            <a:srgbClr val="DC822E"/>
          </a:solidFill>
          <a:ln/>
          <a:effectLst>
            <a:outerShdw sx="100000" sy="100000" kx="0" ky="0" algn="bl" rotWithShape="0" blurRad="127000" dist="50800" dir="5400000">
              <a:srgbClr val="000000">
                <a:alpha val="40000"/>
              </a:srgbClr>
            </a:outerShdw>
          </a:effectLst>
        </p:spPr>
      </p:sp>
      <p:sp>
        <p:nvSpPr>
          <p:cNvPr id="4" name="Text 2"/>
          <p:cNvSpPr/>
          <p:nvPr/>
        </p:nvSpPr>
        <p:spPr>
          <a:xfrm>
            <a:off x="4023360" y="4023360"/>
            <a:ext cx="4114800" cy="9144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Pioneer-Platz sichern</a:t>
            </a:r>
            <a:endParaRPr lang="en-US" sz="1800" dirty="0"/>
          </a:p>
        </p:txBody>
      </p:sp>
      <p:sp>
        <p:nvSpPr>
          <p:cNvPr id="5" name="Text 3"/>
          <p:cNvSpPr/>
          <p:nvPr/>
        </p:nvSpPr>
        <p:spPr>
          <a:xfrm>
            <a:off x="1280160" y="5943600"/>
            <a:ext cx="9628632" cy="457200"/>
          </a:xfrm>
          <a:prstGeom prst="rect">
            <a:avLst/>
          </a:prstGeom>
          <a:noFill/>
          <a:ln/>
        </p:spPr>
        <p:txBody>
          <a:bodyPr wrap="square" rtlCol="0" anchor="ctr"/>
          <a:lstStyle/>
          <a:p>
            <a:pPr algn="ctr" indent="0" marL="0">
              <a:buNone/>
            </a:pPr>
            <a:r>
              <a:rPr lang="en-US" sz="1200" b="1" spc="300" kern="0" dirty="0">
                <a:solidFill>
                  <a:srgbClr val="8AA1AA"/>
                </a:solidFill>
                <a:latin typeface="Calibri" pitchFamily="34" charset="0"/>
                <a:ea typeface="Calibri" pitchFamily="34" charset="-122"/>
                <a:cs typeface="Calibri" pitchFamily="34" charset="-120"/>
              </a:rPr>
              <a:t>Link einblenden · mumlifebalance.ch/mba</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0E6"/>
        </a:solidFill>
      </p:bgPr>
    </p:bg>
    <p:spTree>
      <p:nvGrpSpPr>
        <p:cNvPr id="1" name=""/>
        <p:cNvGrpSpPr/>
        <p:nvPr/>
      </p:nvGrpSpPr>
      <p:grpSpPr>
        <a:xfrm>
          <a:off x="0" y="0"/>
          <a:ext cx="0" cy="0"/>
          <a:chOff x="0" y="0"/>
          <a:chExt cx="0" cy="0"/>
        </a:xfrm>
      </p:grpSpPr>
      <p:sp>
        <p:nvSpPr>
          <p:cNvPr id="2" name="Text 0"/>
          <p:cNvSpPr/>
          <p:nvPr/>
        </p:nvSpPr>
        <p:spPr>
          <a:xfrm>
            <a:off x="640080" y="777240"/>
            <a:ext cx="10908792" cy="1005840"/>
          </a:xfrm>
          <a:prstGeom prst="rect">
            <a:avLst/>
          </a:prstGeom>
          <a:noFill/>
          <a:ln/>
        </p:spPr>
        <p:txBody>
          <a:bodyPr wrap="square" rtlCol="0" anchor="ctr"/>
          <a:lstStyle/>
          <a:p>
            <a:pPr algn="l" indent="0" marL="0">
              <a:lnSpc>
                <a:spcPts val="3800"/>
              </a:lnSpc>
              <a:buNone/>
            </a:pPr>
            <a:r>
              <a:rPr lang="en-US" sz="3300" b="1" dirty="0">
                <a:solidFill>
                  <a:srgbClr val="1C2F3A"/>
                </a:solidFill>
                <a:latin typeface="Georgia" pitchFamily="34" charset="0"/>
                <a:ea typeface="Georgia" pitchFamily="34" charset="-122"/>
                <a:cs typeface="Georgia" pitchFamily="34" charset="-120"/>
              </a:rPr>
              <a:t>Deine Fragen</a:t>
            </a:r>
            <a:endParaRPr lang="en-US" sz="3300" dirty="0"/>
          </a:p>
        </p:txBody>
      </p:sp>
      <p:sp>
        <p:nvSpPr>
          <p:cNvPr id="3" name="Text 1"/>
          <p:cNvSpPr/>
          <p:nvPr/>
        </p:nvSpPr>
        <p:spPr>
          <a:xfrm>
            <a:off x="640080" y="2011680"/>
            <a:ext cx="9994392" cy="4114800"/>
          </a:xfrm>
          <a:prstGeom prst="rect">
            <a:avLst/>
          </a:prstGeom>
          <a:noFill/>
          <a:ln/>
        </p:spPr>
        <p:txBody>
          <a:bodyPr wrap="square" rtlCol="0" anchor="t"/>
          <a:lstStyle/>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Keine Zeit? → genau dafür sind Mama-CEO und PIA da</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Nicht technisch? → einfache Sprache + Calls fangen dich auf</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Zu wenig Reichweite? → es geht um die richtigen Menschen, nicht um Follower</a:t>
            </a:r>
            <a:endParaRPr lang="en-US" sz="1800" dirty="0"/>
          </a:p>
          <a:p>
            <a:pPr algn="l" marL="254000" indent="-254000">
              <a:lnSpc>
                <a:spcPts val="2600"/>
              </a:lnSpc>
              <a:spcAft>
                <a:spcPts val="1000"/>
              </a:spcAft>
              <a:buSzPct val="100000"/>
              <a:buChar char="•"/>
            </a:pPr>
            <a:r>
              <a:rPr lang="en-US" sz="1800" dirty="0">
                <a:solidFill>
                  <a:srgbClr val="1C2F3A"/>
                </a:solidFill>
                <a:latin typeface="Calibri" pitchFamily="34" charset="0"/>
                <a:ea typeface="Calibri" pitchFamily="34" charset="-122"/>
                <a:cs typeface="Calibri" pitchFamily="34" charset="-120"/>
              </a:rPr>
              <a:t>Schon Kurse gekauft? → die werden angerechnet</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C1C30"/>
        </a:solidFill>
      </p:bgPr>
    </p:bg>
    <p:spTree>
      <p:nvGrpSpPr>
        <p:cNvPr id="1" name=""/>
        <p:cNvGrpSpPr/>
        <p:nvPr/>
      </p:nvGrpSpPr>
      <p:grpSpPr>
        <a:xfrm>
          <a:off x="0" y="0"/>
          <a:ext cx="0" cy="0"/>
          <a:chOff x="0" y="0"/>
          <a:chExt cx="0" cy="0"/>
        </a:xfrm>
      </p:grpSpPr>
      <p:sp>
        <p:nvSpPr>
          <p:cNvPr id="2" name="Text 0"/>
          <p:cNvSpPr/>
          <p:nvPr/>
        </p:nvSpPr>
        <p:spPr>
          <a:xfrm>
            <a:off x="1280160" y="1828800"/>
            <a:ext cx="9628632" cy="1828800"/>
          </a:xfrm>
          <a:prstGeom prst="rect">
            <a:avLst/>
          </a:prstGeom>
          <a:noFill/>
          <a:ln/>
        </p:spPr>
        <p:txBody>
          <a:bodyPr wrap="square" rtlCol="0" anchor="ctr"/>
          <a:lstStyle/>
          <a:p>
            <a:pPr algn="ctr" indent="0" marL="0">
              <a:lnSpc>
                <a:spcPts val="4600"/>
              </a:lnSpc>
              <a:buNone/>
            </a:pPr>
            <a:r>
              <a:rPr lang="en-US" sz="4000" b="1" dirty="0">
                <a:solidFill>
                  <a:srgbClr val="F4F0E6"/>
                </a:solidFill>
                <a:latin typeface="Georgia" pitchFamily="34" charset="0"/>
                <a:ea typeface="Georgia" pitchFamily="34" charset="-122"/>
                <a:cs typeface="Georgia" pitchFamily="34" charset="-120"/>
              </a:rPr>
              <a:t>Danke, dass du bis zum Schluss dabei warst.</a:t>
            </a:r>
            <a:endParaRPr lang="en-US" sz="4000" dirty="0"/>
          </a:p>
        </p:txBody>
      </p:sp>
      <p:sp>
        <p:nvSpPr>
          <p:cNvPr id="3" name="Shape 1"/>
          <p:cNvSpPr/>
          <p:nvPr/>
        </p:nvSpPr>
        <p:spPr>
          <a:xfrm>
            <a:off x="4023360" y="4023360"/>
            <a:ext cx="4114800" cy="914400"/>
          </a:xfrm>
          <a:prstGeom prst="roundRect">
            <a:avLst>
              <a:gd name="adj" fmla="val 12000"/>
            </a:avLst>
          </a:prstGeom>
          <a:solidFill>
            <a:srgbClr val="DC822E"/>
          </a:solidFill>
          <a:ln/>
          <a:effectLst>
            <a:outerShdw sx="100000" sy="100000" kx="0" ky="0" algn="bl" rotWithShape="0" blurRad="127000" dist="50800" dir="5400000">
              <a:srgbClr val="000000">
                <a:alpha val="40000"/>
              </a:srgbClr>
            </a:outerShdw>
          </a:effectLst>
        </p:spPr>
      </p:sp>
      <p:sp>
        <p:nvSpPr>
          <p:cNvPr id="4" name="Text 2"/>
          <p:cNvSpPr/>
          <p:nvPr/>
        </p:nvSpPr>
        <p:spPr>
          <a:xfrm>
            <a:off x="4023360" y="4023360"/>
            <a:ext cx="4114800" cy="9144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Deinen Platz sichern</a:t>
            </a:r>
            <a:endParaRPr lang="en-US" sz="1800" dirty="0"/>
          </a:p>
        </p:txBody>
      </p:sp>
      <p:sp>
        <p:nvSpPr>
          <p:cNvPr id="5" name="Text 3"/>
          <p:cNvSpPr/>
          <p:nvPr/>
        </p:nvSpPr>
        <p:spPr>
          <a:xfrm>
            <a:off x="1280160" y="5943600"/>
            <a:ext cx="9628632" cy="457200"/>
          </a:xfrm>
          <a:prstGeom prst="rect">
            <a:avLst/>
          </a:prstGeom>
          <a:noFill/>
          <a:ln/>
        </p:spPr>
        <p:txBody>
          <a:bodyPr wrap="square" rtlCol="0" anchor="ctr"/>
          <a:lstStyle/>
          <a:p>
            <a:pPr algn="ctr" indent="0" marL="0">
              <a:buNone/>
            </a:pPr>
            <a:r>
              <a:rPr lang="en-US" sz="1200" b="1" spc="300" kern="0" dirty="0">
                <a:solidFill>
                  <a:srgbClr val="8AA1AA"/>
                </a:solidFill>
                <a:latin typeface="Calibri" pitchFamily="34" charset="0"/>
                <a:ea typeface="Calibri" pitchFamily="34" charset="-122"/>
                <a:cs typeface="Calibri" pitchFamily="34" charset="-120"/>
              </a:rPr>
              <a:t>Fragen? Schreib mir — ich lese und antworte alles selbst.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MBA-Webinar — Präsentation mit Sprechtexten</dc:title>
  <dc:subject>PptxGenJS Presentation</dc:subject>
  <dc:creator>Patricia Ulmann</dc:creator>
  <cp:lastModifiedBy>Patricia Ulmann</cp:lastModifiedBy>
  <cp:revision>1</cp:revision>
  <dcterms:created xsi:type="dcterms:W3CDTF">2026-07-31T13:00:58Z</dcterms:created>
  <dcterms:modified xsi:type="dcterms:W3CDTF">2026-07-31T13:00:58Z</dcterms:modified>
</cp:coreProperties>
</file>