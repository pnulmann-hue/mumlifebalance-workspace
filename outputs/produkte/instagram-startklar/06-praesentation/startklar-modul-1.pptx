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Ziel des Moduls: Am Ende hat sie ein eingerichtetes Business-Profil mit getippter Bio, angelegten Highlights, Profilbild, Link und Zwei-Faktor-Schutz. Überprüfbar, indem man ihr Profil aufmacht.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 fangen ganz vorne an. Die allererste Frage, die mir jede Networkerin stellt, ist die hier, und meistens hängt sie zwei Wochen daran fest. Wir klären das jetzt in acht Minuten und dann ist es erledigt.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 zeig dir gleich beide Wege auf meinem Handy. Und ich sag dir ehrlich dazu, was ich selber gemacht hab und warum.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meisten Frauen wollen neu anfangen, weil sich das sauberer anfühlt. Und dann stehen sie bei null Followern und posten drei Wochen ins Leere, bis die Lust weg ist. Deine Tante, deine Nachbarin und die Mädels aus dem Turnverein sind deine ersten Zuschauerinnen, auch wenn sie nie kaufen. Nimm sie 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Archivieren ist dein Freund. Du löschst nichts. Du legst es in eine Schublade, die nur du siehst. Wenn du es in einem halben Jahr zurückwillst, holst du es mit zwei Klicks zurück.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Mach das wirklich jetzt und nicht später. Später ist der Ort, an dem Instagram-Profile sterben.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 verschenken neunzig Prozent der Networkerinnen ihre Sichtbarkeit, und zwar völlig unnötig, weil es zwei Minuten dauert das zu ändern.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 Name-Feld ist das einzige Feld ausser dem Username, das Instagram durchsucht. Wenn da nur dein Vorname steht, findet dich genau niemand, der dich nicht schon kennt. Schreib dein Thema rein und deinen Namen.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Beim Profilbild bitte kein Produktbild und kein Firmenlogo. Menschen kaufen bei Menschen. Nimm ein Bild, auf dem man dein Gesicht erkennt, wenn man das Handy auf Armlänge hält.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 hast zwei bis drei Sekunden. In der Zeit entscheidet jemand, ob er dir folgt oder weiterwischt. Diese zwei bis drei Sekunden sind deine Bio.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Wenn du den Starter-Guide gelesen hast, kennst du diese vier Zeilen schon. Jetzt tippen wir sie wirklich ein, in der Version, die du heute hast, und nicht in der perfekten Version in drei Monaten.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 jetzt mal ganz ehrlich: dein Thema wird sich noch verschieben. Meins hat sich auch verschoben, von Mental Load zu dem, was ich heute mache. Deshalb halten wir uns hier nicht auf. Wenn du bei diesem Satz wirklich feststeckst, ist das ein eigenes Thema — dafür hab ich einen eigenen kurzen Kurs. Für heute reicht die grobe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Notizen-Trick spart dir eine halbe Stunde Fluchen. Ich hab damals ewig gebraucht, bis mir das jemand gesagt 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AUFNAHME-HINWEIS: nur die automatisierte Version nennen — KEINEN persönlichen Profilcheck per Sprachnachricht versprechen (der gehört zu „Expertin statt Verkäuferin“).
Sprechtext: Den Bio-Check hab ich sowieso für alle offen — du kriegst ihn hier gleich mit dazu. Schick deine Bio durch und schau, was zurückkommt. Und wenn was schwammig bleibt, liegt das fast immer am Thema, nicht an den Worten.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Highlights sind die kleinen Kreise unter deiner Bio. Die meisten Networkerinnen haben da nichts drin oder ihren letzten Urlaub. Dabei ist das die Stelle, an der jemand nachschaut, ob du echt bist.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ist am Anfang leer, und das ist völlig in Ordnung. Du legst den Ordner trotzdem an, damit du weisst, wo die erste Rückmeldung hingehört, wenn sie kommt. Und sie kommt.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 kannst eine Story posten und sie in dem Moment ins Highlight legen, in dem sie noch keine drei Leute gesehen haben. Niemand merkt, dass du das an einem Nachmittag gemacht hast.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 brauchst am Anfang kein Linktree und nichts, was monatlich Geld kostet. Instagram lässt dich mehrere Links direkt eintragen. Fang damit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 weiss, das ist der langweiligste Punkt im ganzen Kurs. Mach ihn trotzdem. Ich kenne mehrere Frauen, denen das Konto weggenommen wurde, und eine davon hatte tausend Followerinnen und kam nie wieder rein.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Diese DMs sehen echt aus. Da steht: dein Konto verstösst gegen die Richtlinien, klick hier zur Prüfung. Du klickst nichts. Du meldest es und blockierst.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Nimm die App-Variante, wenn du die Wahl hast — sie ist sicherer als 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Geh raus aus deinem Profil, such dich selber über die Suche und schau dich an wie eine Fremde. Was siehst du in zwei bis drei Sekunden? Wenn du die Frage beantworten kannst, ist Modul eins erledigt.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4C"/>
        </a:solidFill>
      </p:bgPr>
    </p:bg>
    <p:spTree>
      <p:nvGrpSpPr>
        <p:cNvPr id="1" name=""/>
        <p:cNvGrpSpPr/>
        <p:nvPr/>
      </p:nvGrpSpPr>
      <p:grpSpPr>
        <a:xfrm>
          <a:off x="0" y="0"/>
          <a:ext cx="0" cy="0"/>
          <a:chOff x="0" y="0"/>
          <a:chExt cx="0" cy="0"/>
        </a:xfrm>
      </p:grpSpPr>
      <p:sp>
        <p:nvSpPr>
          <p:cNvPr id="2" name="Text 0"/>
          <p:cNvSpPr txBox="1"/>
          <p:nvPr/>
        </p:nvSpPr>
        <p:spPr>
          <a:xfrm>
            <a:off x="685800" y="2011680"/>
            <a:ext cx="10789920" cy="457200"/>
          </a:xfrm>
          <a:prstGeom prst="rect">
            <a:avLst/>
          </a:prstGeom>
          <a:noFill/>
          <a:ln/>
        </p:spPr>
        <p:txBody>
          <a:bodyPr wrap="square" rtlCol="0" anchor="ctr"/>
          <a:lstStyle/>
          <a:p>
            <a:pPr indent="0" marL="0">
              <a:buNone/>
            </a:pPr>
            <a:r>
              <a:rPr lang="en-US" sz="1600" b="1" spc="400" kern="0" dirty="0">
                <a:solidFill>
                  <a:srgbClr val="D6832F"/>
                </a:solidFill>
                <a:latin typeface="Calibri" pitchFamily="34" charset="0"/>
                <a:ea typeface="Calibri" pitchFamily="34" charset="-122"/>
                <a:cs typeface="Calibri" pitchFamily="34" charset="-120"/>
              </a:rPr>
              <a:t>STARTKLAR · MODUL 1</a:t>
            </a:r>
            <a:endParaRPr lang="en-US" sz="1600" dirty="0"/>
          </a:p>
        </p:txBody>
      </p:sp>
      <p:sp>
        <p:nvSpPr>
          <p:cNvPr id="3" name="Text 1"/>
          <p:cNvSpPr txBox="1"/>
          <p:nvPr/>
        </p:nvSpPr>
        <p:spPr>
          <a:xfrm>
            <a:off x="685800" y="2468880"/>
            <a:ext cx="10789920" cy="137160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Dein Profil steht</a:t>
            </a:r>
            <a:endParaRPr lang="en-US" sz="5400" dirty="0"/>
          </a:p>
        </p:txBody>
      </p:sp>
      <p:sp>
        <p:nvSpPr>
          <p:cNvPr id="4" name="Text 2"/>
          <p:cNvSpPr txBox="1"/>
          <p:nvPr/>
        </p:nvSpPr>
        <p:spPr>
          <a:xfrm>
            <a:off x="685800" y="3886200"/>
            <a:ext cx="10789920" cy="548640"/>
          </a:xfrm>
          <a:prstGeom prst="rect">
            <a:avLst/>
          </a:prstGeom>
          <a:noFill/>
          <a:ln/>
        </p:spPr>
        <p:txBody>
          <a:bodyPr wrap="square" rtlCol="0" anchor="ctr"/>
          <a:lstStyle/>
          <a:p>
            <a:pPr indent="0" marL="0">
              <a:buNone/>
            </a:pPr>
            <a:r>
              <a:rPr lang="en-US" sz="2000" i="1" dirty="0">
                <a:solidFill>
                  <a:srgbClr val="F1ECDD"/>
                </a:solidFill>
                <a:latin typeface="Calibri" pitchFamily="34" charset="0"/>
                <a:ea typeface="Calibri" pitchFamily="34" charset="-122"/>
                <a:cs typeface="Calibri" pitchFamily="34" charset="-120"/>
              </a:rPr>
              <a:t>5 Lektionen · rund 38 Minuten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365760"/>
            <a:ext cx="3291840" cy="2926080"/>
          </a:xfrm>
          <a:prstGeom prst="rect">
            <a:avLst/>
          </a:prstGeom>
          <a:noFill/>
          <a:ln/>
        </p:spPr>
        <p:txBody>
          <a:bodyPr wrap="square" lIns="0" tIns="0" rIns="0" bIns="0" rtlCol="0" anchor="t"/>
          <a:lstStyle/>
          <a:p>
            <a:pPr algn="r" indent="0" marL="0">
              <a:buNone/>
            </a:pPr>
            <a:r>
              <a:rPr lang="en-US" sz="20000" b="1" dirty="0">
                <a:solidFill>
                  <a:srgbClr val="EAF1F0"/>
                </a:solidFill>
                <a:latin typeface="Cambria" pitchFamily="34" charset="0"/>
                <a:ea typeface="Cambria" pitchFamily="34" charset="-122"/>
                <a:cs typeface="Cambria" pitchFamily="34" charset="-120"/>
              </a:rPr>
              <a:t>1.1</a:t>
            </a:r>
            <a:endParaRPr lang="en-US" sz="20000" dirty="0"/>
          </a:p>
        </p:txBody>
      </p:sp>
      <p:sp>
        <p:nvSpPr>
          <p:cNvPr id="3" name="Text 1"/>
          <p:cNvSpPr txBox="1"/>
          <p:nvPr/>
        </p:nvSpPr>
        <p:spPr>
          <a:xfrm>
            <a:off x="685800" y="777240"/>
            <a:ext cx="1920240" cy="384048"/>
          </a:xfrm>
          <a:prstGeom prst="roundRect">
            <a:avLst>
              <a:gd name="adj" fmla="val 21429"/>
            </a:avLst>
          </a:prstGeom>
          <a:solidFill>
            <a:srgbClr val="2F6F6F"/>
          </a:solid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LEKTION 1.1</a:t>
            </a:r>
            <a:endParaRPr lang="en-US" sz="1200" dirty="0"/>
          </a:p>
        </p:txBody>
      </p:sp>
      <p:sp>
        <p:nvSpPr>
          <p:cNvPr id="4" name="Text 2"/>
          <p:cNvSpPr txBox="1"/>
          <p:nvPr/>
        </p:nvSpPr>
        <p:spPr>
          <a:xfrm>
            <a:off x="685800" y="1554480"/>
            <a:ext cx="7863840" cy="2377440"/>
          </a:xfrm>
          <a:prstGeom prst="rect">
            <a:avLst/>
          </a:prstGeom>
          <a:noFill/>
          <a:ln/>
        </p:spPr>
        <p:txBody>
          <a:bodyPr wrap="square" rtlCol="0" anchor="t"/>
          <a:lstStyle/>
          <a:p>
            <a:pPr indent="0" marL="0">
              <a:buNone/>
            </a:pPr>
            <a:r>
              <a:rPr lang="en-US" sz="3800" b="1" dirty="0">
                <a:solidFill>
                  <a:srgbClr val="1E3A4C"/>
                </a:solidFill>
                <a:latin typeface="Cambria" pitchFamily="34" charset="0"/>
                <a:ea typeface="Cambria" pitchFamily="34" charset="-122"/>
                <a:cs typeface="Cambria" pitchFamily="34" charset="-120"/>
              </a:rPr>
              <a:t>Neues Konto oder dein altes umbauen?</a:t>
            </a:r>
            <a:endParaRPr lang="en-US" sz="3800" dirty="0"/>
          </a:p>
        </p:txBody>
      </p:sp>
      <p:sp>
        <p:nvSpPr>
          <p:cNvPr id="5" name="Text 3"/>
          <p:cNvSpPr txBox="1"/>
          <p:nvPr/>
        </p:nvSpPr>
        <p:spPr>
          <a:xfrm>
            <a:off x="685800" y="4114800"/>
            <a:ext cx="8412480" cy="1463040"/>
          </a:xfrm>
          <a:prstGeom prst="rect">
            <a:avLst/>
          </a:prstGeom>
          <a:noFill/>
          <a:ln/>
        </p:spPr>
        <p:txBody>
          <a:bodyPr wrap="square" rtlCol="0" anchor="t"/>
          <a:lstStyle/>
          <a:p>
            <a:pPr indent="0" marL="0">
              <a:buNone/>
            </a:pPr>
            <a:r>
              <a:rPr lang="en-US" sz="1900" i="1" dirty="0">
                <a:solidFill>
                  <a:srgbClr val="7A8B88"/>
                </a:solidFill>
                <a:latin typeface="Calibri" pitchFamily="34" charset="0"/>
                <a:ea typeface="Calibri" pitchFamily="34" charset="-122"/>
                <a:cs typeface="Calibri" pitchFamily="34" charset="-120"/>
              </a:rPr>
              <a:t>Am Ende dieser Lektion hast du dich entschieden — und die Entscheidung ist gemacht, nicht aufgeschoben.</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WAS DU LERNEN WIRST</a:t>
            </a:r>
            <a:endParaRPr lang="en-US" sz="1600" dirty="0"/>
          </a:p>
        </p:txBody>
      </p:sp>
      <p:sp>
        <p:nvSpPr>
          <p:cNvPr id="3" name="Shape 1"/>
          <p:cNvSpPr/>
          <p:nvPr/>
        </p:nvSpPr>
        <p:spPr>
          <a:xfrm>
            <a:off x="685800" y="1828800"/>
            <a:ext cx="566928" cy="566928"/>
          </a:xfrm>
          <a:prstGeom prst="ellipse">
            <a:avLst/>
          </a:prstGeom>
          <a:solidFill>
            <a:srgbClr val="D6832F"/>
          </a:solidFill>
          <a:ln/>
        </p:spPr>
      </p:sp>
      <p:sp>
        <p:nvSpPr>
          <p:cNvPr id="4" name="Text 2"/>
          <p:cNvSpPr txBox="1"/>
          <p:nvPr/>
        </p:nvSpPr>
        <p:spPr>
          <a:xfrm>
            <a:off x="685800" y="1828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1554480" y="1783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Wann ein neues Konto der bessere Weg ist</a:t>
            </a:r>
            <a:endParaRPr lang="en-US" sz="2000" dirty="0"/>
          </a:p>
        </p:txBody>
      </p:sp>
      <p:sp>
        <p:nvSpPr>
          <p:cNvPr id="6" name="Shape 4"/>
          <p:cNvSpPr/>
          <p:nvPr/>
        </p:nvSpPr>
        <p:spPr>
          <a:xfrm>
            <a:off x="685800" y="2971800"/>
            <a:ext cx="566928" cy="566928"/>
          </a:xfrm>
          <a:prstGeom prst="ellipse">
            <a:avLst/>
          </a:prstGeom>
          <a:solidFill>
            <a:srgbClr val="D6832F"/>
          </a:solidFill>
          <a:ln/>
        </p:spPr>
      </p:sp>
      <p:sp>
        <p:nvSpPr>
          <p:cNvPr id="7" name="Text 5"/>
          <p:cNvSpPr txBox="1"/>
          <p:nvPr/>
        </p:nvSpPr>
        <p:spPr>
          <a:xfrm>
            <a:off x="685800" y="2971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8" name="Text 6"/>
          <p:cNvSpPr txBox="1"/>
          <p:nvPr/>
        </p:nvSpPr>
        <p:spPr>
          <a:xfrm>
            <a:off x="1554480" y="2926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Was mit deinen alten Urlaubsbildern passiert</a:t>
            </a:r>
            <a:endParaRPr lang="en-US" sz="2000" dirty="0"/>
          </a:p>
        </p:txBody>
      </p:sp>
      <p:sp>
        <p:nvSpPr>
          <p:cNvPr id="9" name="Shape 7"/>
          <p:cNvSpPr/>
          <p:nvPr/>
        </p:nvSpPr>
        <p:spPr>
          <a:xfrm>
            <a:off x="685800" y="4114800"/>
            <a:ext cx="566928" cy="566928"/>
          </a:xfrm>
          <a:prstGeom prst="ellipse">
            <a:avLst/>
          </a:prstGeom>
          <a:solidFill>
            <a:srgbClr val="D6832F"/>
          </a:solidFill>
          <a:ln/>
        </p:spPr>
      </p:sp>
      <p:sp>
        <p:nvSpPr>
          <p:cNvPr id="10" name="Text 8"/>
          <p:cNvSpPr txBox="1"/>
          <p:nvPr/>
        </p:nvSpPr>
        <p:spPr>
          <a:xfrm>
            <a:off x="685800" y="4114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1" name="Text 9"/>
          <p:cNvSpPr txBox="1"/>
          <p:nvPr/>
        </p:nvSpPr>
        <p:spPr>
          <a:xfrm>
            <a:off x="1554480" y="4069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Warum du deine bestehenden Follower nicht verlierst</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DIE ENTSCHEIDUNGSHILFE</a:t>
            </a:r>
            <a:endParaRPr lang="en-US" sz="1600" dirty="0"/>
          </a:p>
        </p:txBody>
      </p:sp>
      <p:sp>
        <p:nvSpPr>
          <p:cNvPr id="3" name="Text 1"/>
          <p:cNvSpPr txBox="1"/>
          <p:nvPr/>
        </p:nvSpPr>
        <p:spPr>
          <a:xfrm>
            <a:off x="685800" y="1691640"/>
            <a:ext cx="10789920" cy="777240"/>
          </a:xfrm>
          <a:prstGeom prst="rect">
            <a:avLst/>
          </a:prstGeom>
          <a:noFill/>
          <a:ln/>
        </p:spPr>
        <p:txBody>
          <a:bodyPr wrap="square" rtlCol="0" anchor="ctr"/>
          <a:lstStyle/>
          <a:p>
            <a:pPr indent="0" marL="0">
              <a:buNone/>
            </a:pPr>
            <a:r>
              <a:rPr lang="en-US" sz="1900" b="1" dirty="0">
                <a:solidFill>
                  <a:srgbClr val="D6832F"/>
                </a:solidFill>
                <a:latin typeface="Calibri" pitchFamily="34" charset="0"/>
                <a:ea typeface="Calibri" pitchFamily="34" charset="-122"/>
                <a:cs typeface="Calibri" pitchFamily="34" charset="-120"/>
              </a:rPr>
              <a:t>Neues Konto,  </a:t>
            </a:r>
            <a:pPr indent="0" marL="0">
              <a:buNone/>
            </a:pPr>
            <a:r>
              <a:rPr lang="en-US" sz="1900" dirty="0">
                <a:solidFill>
                  <a:srgbClr val="33413F"/>
                </a:solidFill>
                <a:latin typeface="Calibri" pitchFamily="34" charset="0"/>
                <a:ea typeface="Calibri" pitchFamily="34" charset="-122"/>
                <a:cs typeface="Calibri" pitchFamily="34" charset="-120"/>
              </a:rPr>
              <a:t>wenn dein altes Profil voll mit Privatbildern ist und du dich dabei unwohl fühlst</a:t>
            </a:r>
            <a:endParaRPr lang="en-US" sz="1900" dirty="0"/>
          </a:p>
        </p:txBody>
      </p:sp>
      <p:sp>
        <p:nvSpPr>
          <p:cNvPr id="4" name="Text 2"/>
          <p:cNvSpPr txBox="1"/>
          <p:nvPr/>
        </p:nvSpPr>
        <p:spPr>
          <a:xfrm>
            <a:off x="685800" y="2606040"/>
            <a:ext cx="10789920" cy="777240"/>
          </a:xfrm>
          <a:prstGeom prst="rect">
            <a:avLst/>
          </a:prstGeom>
          <a:noFill/>
          <a:ln/>
        </p:spPr>
        <p:txBody>
          <a:bodyPr wrap="square" rtlCol="0" anchor="ctr"/>
          <a:lstStyle/>
          <a:p>
            <a:pPr indent="0" marL="0">
              <a:buNone/>
            </a:pPr>
            <a:r>
              <a:rPr lang="en-US" sz="1900" b="1" dirty="0">
                <a:solidFill>
                  <a:srgbClr val="D6832F"/>
                </a:solidFill>
                <a:latin typeface="Calibri" pitchFamily="34" charset="0"/>
                <a:ea typeface="Calibri" pitchFamily="34" charset="-122"/>
                <a:cs typeface="Calibri" pitchFamily="34" charset="-120"/>
              </a:rPr>
              <a:t>Umstellen,  </a:t>
            </a:r>
            <a:pPr indent="0" marL="0">
              <a:buNone/>
            </a:pPr>
            <a:r>
              <a:rPr lang="en-US" sz="1900" dirty="0">
                <a:solidFill>
                  <a:srgbClr val="33413F"/>
                </a:solidFill>
                <a:latin typeface="Calibri" pitchFamily="34" charset="0"/>
                <a:ea typeface="Calibri" pitchFamily="34" charset="-122"/>
                <a:cs typeface="Calibri" pitchFamily="34" charset="-120"/>
              </a:rPr>
              <a:t>wenn du schon Menschen drauf hast, die dich mögen</a:t>
            </a:r>
            <a:endParaRPr lang="en-US" sz="1900" dirty="0"/>
          </a:p>
        </p:txBody>
      </p:sp>
      <p:sp>
        <p:nvSpPr>
          <p:cNvPr id="5" name="Text 3"/>
          <p:cNvSpPr txBox="1"/>
          <p:nvPr/>
        </p:nvSpPr>
        <p:spPr>
          <a:xfrm>
            <a:off x="685800" y="3520440"/>
            <a:ext cx="10789920" cy="777240"/>
          </a:xfrm>
          <a:prstGeom prst="rect">
            <a:avLst/>
          </a:prstGeom>
          <a:noFill/>
          <a:ln/>
        </p:spPr>
        <p:txBody>
          <a:bodyPr wrap="square" rtlCol="0" anchor="ctr"/>
          <a:lstStyle/>
          <a:p>
            <a:pPr indent="0" marL="0">
              <a:buNone/>
            </a:pPr>
            <a:r>
              <a:rPr lang="en-US" sz="1900" b="1" dirty="0">
                <a:solidFill>
                  <a:srgbClr val="D6832F"/>
                </a:solidFill>
                <a:latin typeface="Calibri" pitchFamily="34" charset="0"/>
                <a:ea typeface="Calibri" pitchFamily="34" charset="-122"/>
                <a:cs typeface="Calibri" pitchFamily="34" charset="-120"/>
              </a:rPr>
              <a:t>Im Zweifel: umstellen.  </a:t>
            </a:r>
            <a:pPr indent="0" marL="0">
              <a:buNone/>
            </a:pPr>
            <a:r>
              <a:rPr lang="en-US" sz="1900" dirty="0">
                <a:solidFill>
                  <a:srgbClr val="33413F"/>
                </a:solidFill>
                <a:latin typeface="Calibri" pitchFamily="34" charset="0"/>
                <a:ea typeface="Calibri" pitchFamily="34" charset="-122"/>
                <a:cs typeface="Calibri" pitchFamily="34" charset="-120"/>
              </a:rPr>
              <a:t>Follower, die dich kennen, sind mehr wert als ein aufgeräumtes leeres Konto.</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3A4C"/>
        </a:solidFill>
      </p:bgPr>
    </p:bg>
    <p:spTree>
      <p:nvGrpSpPr>
        <p:cNvPr id="1" name=""/>
        <p:cNvGrpSpPr/>
        <p:nvPr/>
      </p:nvGrpSpPr>
      <p:grpSpPr>
        <a:xfrm>
          <a:off x="0" y="0"/>
          <a:ext cx="0" cy="0"/>
          <a:chOff x="0" y="0"/>
          <a:chExt cx="0" cy="0"/>
        </a:xfrm>
      </p:grpSpPr>
      <p:sp>
        <p:nvSpPr>
          <p:cNvPr id="2" name="Shape 0"/>
          <p:cNvSpPr/>
          <p:nvPr/>
        </p:nvSpPr>
        <p:spPr>
          <a:xfrm>
            <a:off x="685800" y="731520"/>
            <a:ext cx="546811" cy="1051560"/>
          </a:xfrm>
          <a:prstGeom prst="roundRect">
            <a:avLst>
              <a:gd name="adj" fmla="val 10033"/>
            </a:avLst>
          </a:prstGeom>
          <a:solidFill>
            <a:srgbClr val="D6832F"/>
          </a:solidFill>
          <a:ln/>
        </p:spPr>
      </p:sp>
      <p:sp>
        <p:nvSpPr>
          <p:cNvPr id="3" name="Shape 1"/>
          <p:cNvSpPr/>
          <p:nvPr/>
        </p:nvSpPr>
        <p:spPr>
          <a:xfrm>
            <a:off x="751417" y="868223"/>
            <a:ext cx="415577" cy="651967"/>
          </a:xfrm>
          <a:prstGeom prst="roundRect">
            <a:avLst>
              <a:gd name="adj" fmla="val 4401"/>
            </a:avLst>
          </a:prstGeom>
          <a:solidFill>
            <a:srgbClr val="FFFFFF"/>
          </a:solidFill>
          <a:ln/>
        </p:spPr>
      </p:sp>
      <p:sp>
        <p:nvSpPr>
          <p:cNvPr id="4" name="Shape 2"/>
          <p:cNvSpPr/>
          <p:nvPr/>
        </p:nvSpPr>
        <p:spPr>
          <a:xfrm>
            <a:off x="915461" y="1604315"/>
            <a:ext cx="87490" cy="87490"/>
          </a:xfrm>
          <a:prstGeom prst="ellipse">
            <a:avLst/>
          </a:prstGeom>
          <a:solidFill>
            <a:srgbClr val="FFFFFF"/>
          </a:solidFill>
          <a:ln/>
        </p:spPr>
      </p:sp>
      <p:sp>
        <p:nvSpPr>
          <p:cNvPr id="5" name="Text 3"/>
          <p:cNvSpPr txBox="1"/>
          <p:nvPr/>
        </p:nvSpPr>
        <p:spPr>
          <a:xfrm>
            <a:off x="1600200" y="731520"/>
            <a:ext cx="9875520" cy="548640"/>
          </a:xfrm>
          <a:prstGeom prst="rect">
            <a:avLst/>
          </a:prstGeom>
          <a:noFill/>
          <a:ln/>
        </p:spPr>
        <p:txBody>
          <a:bodyPr wrap="square" rtlCol="0" anchor="ctr"/>
          <a:lstStyle/>
          <a:p>
            <a:pPr indent="0" marL="0">
              <a:buNone/>
            </a:pPr>
            <a:r>
              <a:rPr lang="en-US" sz="2000" b="1" spc="300" kern="0" dirty="0">
                <a:solidFill>
                  <a:srgbClr val="D6832F"/>
                </a:solidFill>
                <a:latin typeface="Calibri" pitchFamily="34" charset="0"/>
                <a:ea typeface="Calibri" pitchFamily="34" charset="-122"/>
                <a:cs typeface="Calibri" pitchFamily="34" charset="-120"/>
              </a:rPr>
              <a:t>JETZT AM HANDY MIT</a:t>
            </a:r>
            <a:endParaRPr lang="en-US" sz="2000" dirty="0"/>
          </a:p>
        </p:txBody>
      </p:sp>
      <p:sp>
        <p:nvSpPr>
          <p:cNvPr id="6" name="Text 4"/>
          <p:cNvSpPr txBox="1"/>
          <p:nvPr/>
        </p:nvSpPr>
        <p:spPr>
          <a:xfrm>
            <a:off x="1600200" y="1234440"/>
            <a:ext cx="9875520" cy="548640"/>
          </a:xfrm>
          <a:prstGeom prst="rect">
            <a:avLst/>
          </a:prstGeom>
          <a:noFill/>
          <a:ln/>
        </p:spPr>
        <p:txBody>
          <a:bodyPr wrap="square" rtlCol="0" anchor="ctr"/>
          <a:lstStyle/>
          <a:p>
            <a:pPr indent="0" marL="0">
              <a:buNone/>
            </a:pPr>
            <a:r>
              <a:rPr lang="en-US" sz="1800" i="1" dirty="0">
                <a:solidFill>
                  <a:srgbClr val="F1ECDD"/>
                </a:solidFill>
                <a:latin typeface="Calibri" pitchFamily="34" charset="0"/>
                <a:ea typeface="Calibri" pitchFamily="34" charset="-122"/>
                <a:cs typeface="Calibri" pitchFamily="34" charset="-120"/>
              </a:rPr>
              <a:t>Weg 1: neues Konto · Weg 2: bestehendes umbauen</a:t>
            </a:r>
            <a:endParaRPr lang="en-US" sz="1800" dirty="0"/>
          </a:p>
        </p:txBody>
      </p:sp>
      <p:sp>
        <p:nvSpPr>
          <p:cNvPr id="7" name="Text 5"/>
          <p:cNvSpPr txBox="1"/>
          <p:nvPr/>
        </p:nvSpPr>
        <p:spPr>
          <a:xfrm>
            <a:off x="685800" y="228600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1417320" y="224028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Instagram öffnen → Profil unten rechts</a:t>
            </a:r>
            <a:endParaRPr lang="en-US" sz="1650" dirty="0"/>
          </a:p>
        </p:txBody>
      </p:sp>
      <p:sp>
        <p:nvSpPr>
          <p:cNvPr id="9" name="Text 7"/>
          <p:cNvSpPr txBox="1"/>
          <p:nvPr/>
        </p:nvSpPr>
        <p:spPr>
          <a:xfrm>
            <a:off x="685800" y="292608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2</a:t>
            </a:r>
            <a:endParaRPr lang="en-US" sz="1600" dirty="0"/>
          </a:p>
        </p:txBody>
      </p:sp>
      <p:sp>
        <p:nvSpPr>
          <p:cNvPr id="10" name="Text 8"/>
          <p:cNvSpPr txBox="1"/>
          <p:nvPr/>
        </p:nvSpPr>
        <p:spPr>
          <a:xfrm>
            <a:off x="1417320" y="288036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Weg 1: oben auf den Namen tippen → „Konto hinzufügen“ → „Neues Konto erstellen“</a:t>
            </a:r>
            <a:endParaRPr lang="en-US" sz="1650" dirty="0"/>
          </a:p>
        </p:txBody>
      </p:sp>
      <p:sp>
        <p:nvSpPr>
          <p:cNvPr id="11" name="Text 9"/>
          <p:cNvSpPr txBox="1"/>
          <p:nvPr/>
        </p:nvSpPr>
        <p:spPr>
          <a:xfrm>
            <a:off x="685800" y="370332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3</a:t>
            </a:r>
            <a:endParaRPr lang="en-US" sz="1600" dirty="0"/>
          </a:p>
        </p:txBody>
      </p:sp>
      <p:sp>
        <p:nvSpPr>
          <p:cNvPr id="12" name="Text 10"/>
          <p:cNvSpPr txBox="1"/>
          <p:nvPr/>
        </p:nvSpPr>
        <p:spPr>
          <a:xfrm>
            <a:off x="1417320" y="365760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Weg 2: alte Beiträge durchgehen → Privates archivieren (drei Punkte → „Archivieren“). Archiviert ≠ gelöscht.</a:t>
            </a:r>
            <a:endParaRPr lang="en-US" sz="1650" dirty="0"/>
          </a:p>
        </p:txBody>
      </p:sp>
      <p:sp>
        <p:nvSpPr>
          <p:cNvPr id="13" name="Text 11"/>
          <p:cNvSpPr txBox="1"/>
          <p:nvPr/>
        </p:nvSpPr>
        <p:spPr>
          <a:xfrm>
            <a:off x="685800" y="448056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4</a:t>
            </a:r>
            <a:endParaRPr lang="en-US" sz="1600" dirty="0"/>
          </a:p>
        </p:txBody>
      </p:sp>
      <p:sp>
        <p:nvSpPr>
          <p:cNvPr id="14" name="Text 12"/>
          <p:cNvSpPr txBox="1"/>
          <p:nvPr/>
        </p:nvSpPr>
        <p:spPr>
          <a:xfrm>
            <a:off x="1417320" y="443484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Kurz zeigen, wo das Archiv liegt und wie man etwas zurückholt</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1371600"/>
            <a:ext cx="10789920" cy="3931920"/>
          </a:xfrm>
          <a:prstGeom prst="roundRect">
            <a:avLst>
              <a:gd name="adj" fmla="val 2791"/>
            </a:avLst>
          </a:prstGeom>
          <a:solidFill>
            <a:srgbClr val="EAF1F0"/>
          </a:solidFill>
          <a:ln/>
        </p:spPr>
      </p:sp>
      <p:sp>
        <p:nvSpPr>
          <p:cNvPr id="3" name="Text 1"/>
          <p:cNvSpPr txBox="1"/>
          <p:nvPr/>
        </p:nvSpPr>
        <p:spPr>
          <a:xfrm>
            <a:off x="1234440" y="1828800"/>
            <a:ext cx="9692640" cy="457200"/>
          </a:xfrm>
          <a:prstGeom prst="rect">
            <a:avLst/>
          </a:prstGeom>
          <a:noFill/>
          <a:ln/>
        </p:spPr>
        <p:txBody>
          <a:bodyPr wrap="square" rtlCol="0" anchor="ctr"/>
          <a:lstStyle/>
          <a:p>
            <a:pPr indent="0" marL="0">
              <a:buNone/>
            </a:pPr>
            <a:r>
              <a:rPr lang="en-US" sz="1700" b="1" spc="300" kern="0" dirty="0">
                <a:solidFill>
                  <a:srgbClr val="D6832F"/>
                </a:solidFill>
                <a:latin typeface="Calibri" pitchFamily="34" charset="0"/>
                <a:ea typeface="Calibri" pitchFamily="34" charset="-122"/>
                <a:cs typeface="Calibri" pitchFamily="34" charset="-120"/>
              </a:rPr>
              <a:t>DEINE AUFGABE</a:t>
            </a:r>
            <a:endParaRPr lang="en-US" sz="1700" dirty="0"/>
          </a:p>
        </p:txBody>
      </p:sp>
      <p:sp>
        <p:nvSpPr>
          <p:cNvPr id="4" name="Text 2"/>
          <p:cNvSpPr txBox="1"/>
          <p:nvPr/>
        </p:nvSpPr>
        <p:spPr>
          <a:xfrm>
            <a:off x="1234440" y="2377440"/>
            <a:ext cx="9692640" cy="1645920"/>
          </a:xfrm>
          <a:prstGeom prst="rect">
            <a:avLst/>
          </a:prstGeom>
          <a:noFill/>
          <a:ln/>
        </p:spPr>
        <p:txBody>
          <a:bodyPr wrap="square" rtlCol="0" anchor="t"/>
          <a:lstStyle/>
          <a:p>
            <a:pPr indent="0" marL="0">
              <a:buNone/>
            </a:pPr>
            <a:r>
              <a:rPr lang="en-US" sz="2600" b="1" dirty="0">
                <a:solidFill>
                  <a:srgbClr val="1E3A4C"/>
                </a:solidFill>
                <a:latin typeface="Cambria" pitchFamily="34" charset="0"/>
                <a:ea typeface="Cambria" pitchFamily="34" charset="-122"/>
                <a:cs typeface="Cambria" pitchFamily="34" charset="-120"/>
              </a:rPr>
              <a:t>Entscheide dich jetzt. Wenn du umstellst: archiviere alles, was nicht zu dir als Unternehmerin passt.</a:t>
            </a:r>
            <a:endParaRPr lang="en-US" sz="2600" dirty="0"/>
          </a:p>
        </p:txBody>
      </p:sp>
      <p:sp>
        <p:nvSpPr>
          <p:cNvPr id="5" name="Text 3"/>
          <p:cNvSpPr txBox="1"/>
          <p:nvPr/>
        </p:nvSpPr>
        <p:spPr>
          <a:xfrm>
            <a:off x="1234440" y="4434840"/>
            <a:ext cx="4206240" cy="384048"/>
          </a:xfrm>
          <a:prstGeom prst="roundRect">
            <a:avLst>
              <a:gd name="adj" fmla="val 21429"/>
            </a:avLst>
          </a:prstGeom>
          <a:solidFill>
            <a:srgbClr val="D6832F"/>
          </a:solid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WERKSTATT · Station „Konto“</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246888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ALS NÄCHSTES</a:t>
            </a:r>
            <a:endParaRPr lang="en-US" sz="1600" dirty="0"/>
          </a:p>
        </p:txBody>
      </p:sp>
      <p:sp>
        <p:nvSpPr>
          <p:cNvPr id="3" name="Text 1"/>
          <p:cNvSpPr txBox="1"/>
          <p:nvPr/>
        </p:nvSpPr>
        <p:spPr>
          <a:xfrm>
            <a:off x="685800" y="2971800"/>
            <a:ext cx="10789920" cy="1463040"/>
          </a:xfrm>
          <a:prstGeom prst="rect">
            <a:avLst/>
          </a:prstGeom>
          <a:noFill/>
          <a:ln/>
        </p:spPr>
        <p:txBody>
          <a:bodyPr wrap="square" rtlCol="0" anchor="t"/>
          <a:lstStyle/>
          <a:p>
            <a:pPr indent="0" marL="0">
              <a:buNone/>
            </a:pPr>
            <a:r>
              <a:rPr lang="en-US" sz="3000" b="1" dirty="0">
                <a:solidFill>
                  <a:srgbClr val="1E3A4C"/>
                </a:solidFill>
                <a:latin typeface="Cambria" pitchFamily="34" charset="0"/>
                <a:ea typeface="Cambria" pitchFamily="34" charset="-122"/>
                <a:cs typeface="Cambria" pitchFamily="34" charset="-120"/>
              </a:rPr>
              <a:t>Dein Name, dein Profilbild — und das Suchfeld, das fast niemand richtig nutzt.</a:t>
            </a:r>
            <a:endParaRPr lang="en-US" sz="3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365760"/>
            <a:ext cx="3291840" cy="2926080"/>
          </a:xfrm>
          <a:prstGeom prst="rect">
            <a:avLst/>
          </a:prstGeom>
          <a:noFill/>
          <a:ln/>
        </p:spPr>
        <p:txBody>
          <a:bodyPr wrap="square" lIns="0" tIns="0" rIns="0" bIns="0" rtlCol="0" anchor="t"/>
          <a:lstStyle/>
          <a:p>
            <a:pPr algn="r" indent="0" marL="0">
              <a:buNone/>
            </a:pPr>
            <a:r>
              <a:rPr lang="en-US" sz="20000" b="1" dirty="0">
                <a:solidFill>
                  <a:srgbClr val="EAF1F0"/>
                </a:solidFill>
                <a:latin typeface="Cambria" pitchFamily="34" charset="0"/>
                <a:ea typeface="Cambria" pitchFamily="34" charset="-122"/>
                <a:cs typeface="Cambria" pitchFamily="34" charset="-120"/>
              </a:rPr>
              <a:t>1.2</a:t>
            </a:r>
            <a:endParaRPr lang="en-US" sz="20000" dirty="0"/>
          </a:p>
        </p:txBody>
      </p:sp>
      <p:sp>
        <p:nvSpPr>
          <p:cNvPr id="3" name="Text 1"/>
          <p:cNvSpPr txBox="1"/>
          <p:nvPr/>
        </p:nvSpPr>
        <p:spPr>
          <a:xfrm>
            <a:off x="685800" y="777240"/>
            <a:ext cx="1920240" cy="384048"/>
          </a:xfrm>
          <a:prstGeom prst="roundRect">
            <a:avLst>
              <a:gd name="adj" fmla="val 21429"/>
            </a:avLst>
          </a:prstGeom>
          <a:solidFill>
            <a:srgbClr val="2F6F6F"/>
          </a:solid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LEKTION 1.2</a:t>
            </a:r>
            <a:endParaRPr lang="en-US" sz="1200" dirty="0"/>
          </a:p>
        </p:txBody>
      </p:sp>
      <p:sp>
        <p:nvSpPr>
          <p:cNvPr id="4" name="Text 2"/>
          <p:cNvSpPr txBox="1"/>
          <p:nvPr/>
        </p:nvSpPr>
        <p:spPr>
          <a:xfrm>
            <a:off x="685800" y="1554480"/>
            <a:ext cx="7863840" cy="2377440"/>
          </a:xfrm>
          <a:prstGeom prst="rect">
            <a:avLst/>
          </a:prstGeom>
          <a:noFill/>
          <a:ln/>
        </p:spPr>
        <p:txBody>
          <a:bodyPr wrap="square" rtlCol="0" anchor="t"/>
          <a:lstStyle/>
          <a:p>
            <a:pPr indent="0" marL="0">
              <a:buNone/>
            </a:pPr>
            <a:r>
              <a:rPr lang="en-US" sz="3800" b="1" dirty="0">
                <a:solidFill>
                  <a:srgbClr val="1E3A4C"/>
                </a:solidFill>
                <a:latin typeface="Cambria" pitchFamily="34" charset="0"/>
                <a:ea typeface="Cambria" pitchFamily="34" charset="-122"/>
                <a:cs typeface="Cambria" pitchFamily="34" charset="-120"/>
              </a:rPr>
              <a:t>Die zwei Namensfelder — und warum nur eines gefunden wird</a:t>
            </a:r>
            <a:endParaRPr lang="en-US" sz="3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WAS DU LERNEN WIRST</a:t>
            </a:r>
            <a:endParaRPr lang="en-US" sz="1600" dirty="0"/>
          </a:p>
        </p:txBody>
      </p:sp>
      <p:sp>
        <p:nvSpPr>
          <p:cNvPr id="3" name="Shape 1"/>
          <p:cNvSpPr/>
          <p:nvPr/>
        </p:nvSpPr>
        <p:spPr>
          <a:xfrm>
            <a:off x="685800" y="1828800"/>
            <a:ext cx="566928" cy="566928"/>
          </a:xfrm>
          <a:prstGeom prst="ellipse">
            <a:avLst/>
          </a:prstGeom>
          <a:solidFill>
            <a:srgbClr val="D6832F"/>
          </a:solidFill>
          <a:ln/>
        </p:spPr>
      </p:sp>
      <p:sp>
        <p:nvSpPr>
          <p:cNvPr id="4" name="Text 2"/>
          <p:cNvSpPr txBox="1"/>
          <p:nvPr/>
        </p:nvSpPr>
        <p:spPr>
          <a:xfrm>
            <a:off x="685800" y="1828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1554480" y="1783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Der Unterschied zwischen @username und Name-Feld</a:t>
            </a:r>
            <a:endParaRPr lang="en-US" sz="2000" dirty="0"/>
          </a:p>
        </p:txBody>
      </p:sp>
      <p:sp>
        <p:nvSpPr>
          <p:cNvPr id="6" name="Shape 4"/>
          <p:cNvSpPr/>
          <p:nvPr/>
        </p:nvSpPr>
        <p:spPr>
          <a:xfrm>
            <a:off x="685800" y="2971800"/>
            <a:ext cx="566928" cy="566928"/>
          </a:xfrm>
          <a:prstGeom prst="ellipse">
            <a:avLst/>
          </a:prstGeom>
          <a:solidFill>
            <a:srgbClr val="D6832F"/>
          </a:solidFill>
          <a:ln/>
        </p:spPr>
      </p:sp>
      <p:sp>
        <p:nvSpPr>
          <p:cNvPr id="7" name="Text 5"/>
          <p:cNvSpPr txBox="1"/>
          <p:nvPr/>
        </p:nvSpPr>
        <p:spPr>
          <a:xfrm>
            <a:off x="685800" y="2971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8" name="Text 6"/>
          <p:cNvSpPr txBox="1"/>
          <p:nvPr/>
        </p:nvSpPr>
        <p:spPr>
          <a:xfrm>
            <a:off x="1554480" y="2926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Was ins Name-Feld gehört, damit dich Instagram findet</a:t>
            </a:r>
            <a:endParaRPr lang="en-US" sz="2000" dirty="0"/>
          </a:p>
        </p:txBody>
      </p:sp>
      <p:sp>
        <p:nvSpPr>
          <p:cNvPr id="9" name="Shape 7"/>
          <p:cNvSpPr/>
          <p:nvPr/>
        </p:nvSpPr>
        <p:spPr>
          <a:xfrm>
            <a:off x="685800" y="4114800"/>
            <a:ext cx="566928" cy="566928"/>
          </a:xfrm>
          <a:prstGeom prst="ellipse">
            <a:avLst/>
          </a:prstGeom>
          <a:solidFill>
            <a:srgbClr val="D6832F"/>
          </a:solidFill>
          <a:ln/>
        </p:spPr>
      </p:sp>
      <p:sp>
        <p:nvSpPr>
          <p:cNvPr id="10" name="Text 8"/>
          <p:cNvSpPr txBox="1"/>
          <p:nvPr/>
        </p:nvSpPr>
        <p:spPr>
          <a:xfrm>
            <a:off x="685800" y="4114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1" name="Text 9"/>
          <p:cNvSpPr txBox="1"/>
          <p:nvPr/>
        </p:nvSpPr>
        <p:spPr>
          <a:xfrm>
            <a:off x="1554480" y="4069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Welches Profilbild funktioniert</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DAS PRINZIP</a:t>
            </a:r>
            <a:endParaRPr lang="en-US" sz="1600" dirty="0"/>
          </a:p>
        </p:txBody>
      </p:sp>
      <p:sp>
        <p:nvSpPr>
          <p:cNvPr id="3" name="Text 1"/>
          <p:cNvSpPr txBox="1"/>
          <p:nvPr/>
        </p:nvSpPr>
        <p:spPr>
          <a:xfrm>
            <a:off x="685800" y="1691640"/>
            <a:ext cx="10789920" cy="777240"/>
          </a:xfrm>
          <a:prstGeom prst="rect">
            <a:avLst/>
          </a:prstGeom>
          <a:noFill/>
          <a:ln/>
        </p:spPr>
        <p:txBody>
          <a:bodyPr wrap="square" rtlCol="0" anchor="ctr"/>
          <a:lstStyle/>
          <a:p>
            <a:pPr indent="0" marL="0">
              <a:buNone/>
            </a:pPr>
            <a:r>
              <a:rPr lang="en-US" sz="1900" b="1" dirty="0">
                <a:solidFill>
                  <a:srgbClr val="D6832F"/>
                </a:solidFill>
                <a:latin typeface="Calibri" pitchFamily="34" charset="0"/>
                <a:ea typeface="Calibri" pitchFamily="34" charset="-122"/>
                <a:cs typeface="Calibri" pitchFamily="34" charset="-120"/>
              </a:rPr>
              <a:t>@username  </a:t>
            </a:r>
            <a:pPr indent="0" marL="0">
              <a:buNone/>
            </a:pPr>
            <a:r>
              <a:rPr lang="en-US" sz="1900" dirty="0">
                <a:solidFill>
                  <a:srgbClr val="33413F"/>
                </a:solidFill>
                <a:latin typeface="Calibri" pitchFamily="34" charset="0"/>
                <a:ea typeface="Calibri" pitchFamily="34" charset="-122"/>
                <a:cs typeface="Calibri" pitchFamily="34" charset="-120"/>
              </a:rPr>
              <a:t>= deine Adresse. Kurz, merkbar, ohne Zahlenwüste.</a:t>
            </a:r>
            <a:endParaRPr lang="en-US" sz="1900" dirty="0"/>
          </a:p>
        </p:txBody>
      </p:sp>
      <p:sp>
        <p:nvSpPr>
          <p:cNvPr id="4" name="Text 2"/>
          <p:cNvSpPr txBox="1"/>
          <p:nvPr/>
        </p:nvSpPr>
        <p:spPr>
          <a:xfrm>
            <a:off x="685800" y="2606040"/>
            <a:ext cx="10789920" cy="777240"/>
          </a:xfrm>
          <a:prstGeom prst="rect">
            <a:avLst/>
          </a:prstGeom>
          <a:noFill/>
          <a:ln/>
        </p:spPr>
        <p:txBody>
          <a:bodyPr wrap="square" rtlCol="0" anchor="ctr"/>
          <a:lstStyle/>
          <a:p>
            <a:pPr indent="0" marL="0">
              <a:buNone/>
            </a:pPr>
            <a:r>
              <a:rPr lang="en-US" sz="1900" b="1" dirty="0">
                <a:solidFill>
                  <a:srgbClr val="D6832F"/>
                </a:solidFill>
                <a:latin typeface="Calibri" pitchFamily="34" charset="0"/>
                <a:ea typeface="Calibri" pitchFamily="34" charset="-122"/>
                <a:cs typeface="Calibri" pitchFamily="34" charset="-120"/>
              </a:rPr>
              <a:t>Name-Feld  </a:t>
            </a:r>
            <a:pPr indent="0" marL="0">
              <a:buNone/>
            </a:pPr>
            <a:r>
              <a:rPr lang="en-US" sz="1900" dirty="0">
                <a:solidFill>
                  <a:srgbClr val="33413F"/>
                </a:solidFill>
                <a:latin typeface="Calibri" pitchFamily="34" charset="0"/>
                <a:ea typeface="Calibri" pitchFamily="34" charset="-122"/>
                <a:cs typeface="Calibri" pitchFamily="34" charset="-120"/>
              </a:rPr>
              <a:t>= dein Suchbegriff. Hier steht, wobei du hilfst.</a:t>
            </a:r>
            <a:endParaRPr lang="en-US" sz="1900" dirty="0"/>
          </a:p>
        </p:txBody>
      </p:sp>
      <p:sp>
        <p:nvSpPr>
          <p:cNvPr id="5" name="Text 3"/>
          <p:cNvSpPr txBox="1"/>
          <p:nvPr/>
        </p:nvSpPr>
        <p:spPr>
          <a:xfrm>
            <a:off x="685800" y="3520440"/>
            <a:ext cx="10789920" cy="777240"/>
          </a:xfrm>
          <a:prstGeom prst="rect">
            <a:avLst/>
          </a:prstGeom>
          <a:noFill/>
          <a:ln/>
        </p:spPr>
        <p:txBody>
          <a:bodyPr wrap="square" rtlCol="0" anchor="ctr"/>
          <a:lstStyle/>
          <a:p>
            <a:pPr indent="0" marL="0">
              <a:buNone/>
            </a:pPr>
            <a:r>
              <a:rPr lang="en-US" sz="1900" b="1" dirty="0">
                <a:solidFill>
                  <a:srgbClr val="D6832F"/>
                </a:solidFill>
                <a:latin typeface="Calibri" pitchFamily="34" charset="0"/>
                <a:ea typeface="Calibri" pitchFamily="34" charset="-122"/>
                <a:cs typeface="Calibri" pitchFamily="34" charset="-120"/>
              </a:rPr>
              <a:t>Beispiel:  </a:t>
            </a:r>
            <a:pPr indent="0" marL="0">
              <a:buNone/>
            </a:pPr>
            <a:r>
              <a:rPr lang="en-US" sz="1900" dirty="0">
                <a:solidFill>
                  <a:srgbClr val="33413F"/>
                </a:solidFill>
                <a:latin typeface="Calibri" pitchFamily="34" charset="0"/>
                <a:ea typeface="Calibri" pitchFamily="34" charset="-122"/>
                <a:cs typeface="Calibri" pitchFamily="34" charset="-120"/>
              </a:rPr>
              <a:t>@sandra.wellness  ·  Name-Feld: Sandra · Energie für Mamas ab 35</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3A4C"/>
        </a:solidFill>
      </p:bgPr>
    </p:bg>
    <p:spTree>
      <p:nvGrpSpPr>
        <p:cNvPr id="1" name=""/>
        <p:cNvGrpSpPr/>
        <p:nvPr/>
      </p:nvGrpSpPr>
      <p:grpSpPr>
        <a:xfrm>
          <a:off x="0" y="0"/>
          <a:ext cx="0" cy="0"/>
          <a:chOff x="0" y="0"/>
          <a:chExt cx="0" cy="0"/>
        </a:xfrm>
      </p:grpSpPr>
      <p:sp>
        <p:nvSpPr>
          <p:cNvPr id="2" name="Shape 0"/>
          <p:cNvSpPr/>
          <p:nvPr/>
        </p:nvSpPr>
        <p:spPr>
          <a:xfrm>
            <a:off x="685800" y="731520"/>
            <a:ext cx="546811" cy="1051560"/>
          </a:xfrm>
          <a:prstGeom prst="roundRect">
            <a:avLst>
              <a:gd name="adj" fmla="val 10033"/>
            </a:avLst>
          </a:prstGeom>
          <a:solidFill>
            <a:srgbClr val="D6832F"/>
          </a:solidFill>
          <a:ln/>
        </p:spPr>
      </p:sp>
      <p:sp>
        <p:nvSpPr>
          <p:cNvPr id="3" name="Shape 1"/>
          <p:cNvSpPr/>
          <p:nvPr/>
        </p:nvSpPr>
        <p:spPr>
          <a:xfrm>
            <a:off x="751417" y="868223"/>
            <a:ext cx="415577" cy="651967"/>
          </a:xfrm>
          <a:prstGeom prst="roundRect">
            <a:avLst>
              <a:gd name="adj" fmla="val 4401"/>
            </a:avLst>
          </a:prstGeom>
          <a:solidFill>
            <a:srgbClr val="FFFFFF"/>
          </a:solidFill>
          <a:ln/>
        </p:spPr>
      </p:sp>
      <p:sp>
        <p:nvSpPr>
          <p:cNvPr id="4" name="Shape 2"/>
          <p:cNvSpPr/>
          <p:nvPr/>
        </p:nvSpPr>
        <p:spPr>
          <a:xfrm>
            <a:off x="915461" y="1604315"/>
            <a:ext cx="87490" cy="87490"/>
          </a:xfrm>
          <a:prstGeom prst="ellipse">
            <a:avLst/>
          </a:prstGeom>
          <a:solidFill>
            <a:srgbClr val="FFFFFF"/>
          </a:solidFill>
          <a:ln/>
        </p:spPr>
      </p:sp>
      <p:sp>
        <p:nvSpPr>
          <p:cNvPr id="5" name="Text 3"/>
          <p:cNvSpPr txBox="1"/>
          <p:nvPr/>
        </p:nvSpPr>
        <p:spPr>
          <a:xfrm>
            <a:off x="1600200" y="731520"/>
            <a:ext cx="9875520" cy="548640"/>
          </a:xfrm>
          <a:prstGeom prst="rect">
            <a:avLst/>
          </a:prstGeom>
          <a:noFill/>
          <a:ln/>
        </p:spPr>
        <p:txBody>
          <a:bodyPr wrap="square" rtlCol="0" anchor="ctr"/>
          <a:lstStyle/>
          <a:p>
            <a:pPr indent="0" marL="0">
              <a:buNone/>
            </a:pPr>
            <a:r>
              <a:rPr lang="en-US" sz="2000" b="1" spc="300" kern="0" dirty="0">
                <a:solidFill>
                  <a:srgbClr val="D6832F"/>
                </a:solidFill>
                <a:latin typeface="Calibri" pitchFamily="34" charset="0"/>
                <a:ea typeface="Calibri" pitchFamily="34" charset="-122"/>
                <a:cs typeface="Calibri" pitchFamily="34" charset="-120"/>
              </a:rPr>
              <a:t>JETZT AM HANDY MIT</a:t>
            </a:r>
            <a:endParaRPr lang="en-US" sz="2000" dirty="0"/>
          </a:p>
        </p:txBody>
      </p:sp>
      <p:sp>
        <p:nvSpPr>
          <p:cNvPr id="6" name="Text 4"/>
          <p:cNvSpPr txBox="1"/>
          <p:nvPr/>
        </p:nvSpPr>
        <p:spPr>
          <a:xfrm>
            <a:off x="1600200" y="1234440"/>
            <a:ext cx="9875520" cy="548640"/>
          </a:xfrm>
          <a:prstGeom prst="rect">
            <a:avLst/>
          </a:prstGeom>
          <a:noFill/>
          <a:ln/>
        </p:spPr>
        <p:txBody>
          <a:bodyPr wrap="square" rtlCol="0" anchor="ctr"/>
          <a:lstStyle/>
          <a:p>
            <a:pPr indent="0" marL="0">
              <a:buNone/>
            </a:pPr>
            <a:r>
              <a:rPr lang="en-US" sz="1800" i="1" dirty="0">
                <a:solidFill>
                  <a:srgbClr val="F1ECDD"/>
                </a:solidFill>
                <a:latin typeface="Calibri" pitchFamily="34" charset="0"/>
                <a:ea typeface="Calibri" pitchFamily="34" charset="-122"/>
                <a:cs typeface="Calibri" pitchFamily="34" charset="-120"/>
              </a:rPr>
              <a:t>Profil bearbeiten → Name und Username setzen</a:t>
            </a:r>
            <a:endParaRPr lang="en-US" sz="1800" dirty="0"/>
          </a:p>
        </p:txBody>
      </p:sp>
      <p:sp>
        <p:nvSpPr>
          <p:cNvPr id="7" name="Text 5"/>
          <p:cNvSpPr txBox="1"/>
          <p:nvPr/>
        </p:nvSpPr>
        <p:spPr>
          <a:xfrm>
            <a:off x="685800" y="228600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1417320" y="224028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Profil → „Profil bearbeiten“</a:t>
            </a:r>
            <a:endParaRPr lang="en-US" sz="1650" dirty="0"/>
          </a:p>
        </p:txBody>
      </p:sp>
      <p:sp>
        <p:nvSpPr>
          <p:cNvPr id="9" name="Text 7"/>
          <p:cNvSpPr txBox="1"/>
          <p:nvPr/>
        </p:nvSpPr>
        <p:spPr>
          <a:xfrm>
            <a:off x="685800" y="292608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2</a:t>
            </a:r>
            <a:endParaRPr lang="en-US" sz="1600" dirty="0"/>
          </a:p>
        </p:txBody>
      </p:sp>
      <p:sp>
        <p:nvSpPr>
          <p:cNvPr id="10" name="Text 8"/>
          <p:cNvSpPr txBox="1"/>
          <p:nvPr/>
        </p:nvSpPr>
        <p:spPr>
          <a:xfrm>
            <a:off x="1417320" y="288036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Name-Feld tippen, Beispiel live eintippen</a:t>
            </a:r>
            <a:endParaRPr lang="en-US" sz="1650" dirty="0"/>
          </a:p>
        </p:txBody>
      </p:sp>
      <p:sp>
        <p:nvSpPr>
          <p:cNvPr id="11" name="Text 9"/>
          <p:cNvSpPr txBox="1"/>
          <p:nvPr/>
        </p:nvSpPr>
        <p:spPr>
          <a:xfrm>
            <a:off x="685800" y="356616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3</a:t>
            </a:r>
            <a:endParaRPr lang="en-US" sz="1600" dirty="0"/>
          </a:p>
        </p:txBody>
      </p:sp>
      <p:sp>
        <p:nvSpPr>
          <p:cNvPr id="12" name="Text 10"/>
          <p:cNvSpPr txBox="1"/>
          <p:nvPr/>
        </p:nvSpPr>
        <p:spPr>
          <a:xfrm>
            <a:off x="1417320" y="352044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Username ändern und die Warnung zeigen, dass man ihn nicht beliebig oft ändern kann</a:t>
            </a:r>
            <a:endParaRPr lang="en-US" sz="1650" dirty="0"/>
          </a:p>
        </p:txBody>
      </p:sp>
      <p:sp>
        <p:nvSpPr>
          <p:cNvPr id="13" name="Text 11"/>
          <p:cNvSpPr txBox="1"/>
          <p:nvPr/>
        </p:nvSpPr>
        <p:spPr>
          <a:xfrm>
            <a:off x="685800" y="434340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4</a:t>
            </a:r>
            <a:endParaRPr lang="en-US" sz="1600" dirty="0"/>
          </a:p>
        </p:txBody>
      </p:sp>
      <p:sp>
        <p:nvSpPr>
          <p:cNvPr id="14" name="Text 12"/>
          <p:cNvSpPr txBox="1"/>
          <p:nvPr/>
        </p:nvSpPr>
        <p:spPr>
          <a:xfrm>
            <a:off x="1417320" y="429768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Profilbild ändern: helles Bild, Gesicht gross genug (klein wie ein Daumennagel)</a:t>
            </a:r>
            <a:endParaRPr lang="en-US" sz="1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1371600"/>
            <a:ext cx="10789920" cy="3931920"/>
          </a:xfrm>
          <a:prstGeom prst="roundRect">
            <a:avLst>
              <a:gd name="adj" fmla="val 2791"/>
            </a:avLst>
          </a:prstGeom>
          <a:solidFill>
            <a:srgbClr val="EAF1F0"/>
          </a:solidFill>
          <a:ln/>
        </p:spPr>
      </p:sp>
      <p:sp>
        <p:nvSpPr>
          <p:cNvPr id="3" name="Text 1"/>
          <p:cNvSpPr txBox="1"/>
          <p:nvPr/>
        </p:nvSpPr>
        <p:spPr>
          <a:xfrm>
            <a:off x="1234440" y="1828800"/>
            <a:ext cx="9692640" cy="457200"/>
          </a:xfrm>
          <a:prstGeom prst="rect">
            <a:avLst/>
          </a:prstGeom>
          <a:noFill/>
          <a:ln/>
        </p:spPr>
        <p:txBody>
          <a:bodyPr wrap="square" rtlCol="0" anchor="ctr"/>
          <a:lstStyle/>
          <a:p>
            <a:pPr indent="0" marL="0">
              <a:buNone/>
            </a:pPr>
            <a:r>
              <a:rPr lang="en-US" sz="1700" b="1" spc="300" kern="0" dirty="0">
                <a:solidFill>
                  <a:srgbClr val="D6832F"/>
                </a:solidFill>
                <a:latin typeface="Calibri" pitchFamily="34" charset="0"/>
                <a:ea typeface="Calibri" pitchFamily="34" charset="-122"/>
                <a:cs typeface="Calibri" pitchFamily="34" charset="-120"/>
              </a:rPr>
              <a:t>DEINE AUFGABE</a:t>
            </a:r>
            <a:endParaRPr lang="en-US" sz="1700" dirty="0"/>
          </a:p>
        </p:txBody>
      </p:sp>
      <p:sp>
        <p:nvSpPr>
          <p:cNvPr id="4" name="Text 2"/>
          <p:cNvSpPr txBox="1"/>
          <p:nvPr/>
        </p:nvSpPr>
        <p:spPr>
          <a:xfrm>
            <a:off x="1234440" y="2377440"/>
            <a:ext cx="9692640" cy="1645920"/>
          </a:xfrm>
          <a:prstGeom prst="rect">
            <a:avLst/>
          </a:prstGeom>
          <a:noFill/>
          <a:ln/>
        </p:spPr>
        <p:txBody>
          <a:bodyPr wrap="square" rtlCol="0" anchor="t"/>
          <a:lstStyle/>
          <a:p>
            <a:pPr indent="0" marL="0">
              <a:buNone/>
            </a:pPr>
            <a:r>
              <a:rPr lang="en-US" sz="2600" b="1" dirty="0">
                <a:solidFill>
                  <a:srgbClr val="1E3A4C"/>
                </a:solidFill>
                <a:latin typeface="Cambria" pitchFamily="34" charset="0"/>
                <a:ea typeface="Cambria" pitchFamily="34" charset="-122"/>
                <a:cs typeface="Cambria" pitchFamily="34" charset="-120"/>
              </a:rPr>
              <a:t>Trag beides ein — Name-Feld und Username.</a:t>
            </a:r>
            <a:endParaRPr lang="en-US" sz="2600" dirty="0"/>
          </a:p>
        </p:txBody>
      </p:sp>
      <p:sp>
        <p:nvSpPr>
          <p:cNvPr id="5" name="Text 3"/>
          <p:cNvSpPr txBox="1"/>
          <p:nvPr/>
        </p:nvSpPr>
        <p:spPr>
          <a:xfrm>
            <a:off x="1234440" y="4434840"/>
            <a:ext cx="4206240" cy="384048"/>
          </a:xfrm>
          <a:prstGeom prst="roundRect">
            <a:avLst>
              <a:gd name="adj" fmla="val 21429"/>
            </a:avLst>
          </a:prstGeom>
          <a:solidFill>
            <a:srgbClr val="D6832F"/>
          </a:solid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WERKSTATT · Station „Namensfelder“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246888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ALS NÄCHSTES</a:t>
            </a:r>
            <a:endParaRPr lang="en-US" sz="1600" dirty="0"/>
          </a:p>
        </p:txBody>
      </p:sp>
      <p:sp>
        <p:nvSpPr>
          <p:cNvPr id="3" name="Text 1"/>
          <p:cNvSpPr txBox="1"/>
          <p:nvPr/>
        </p:nvSpPr>
        <p:spPr>
          <a:xfrm>
            <a:off x="685800" y="2971800"/>
            <a:ext cx="10789920" cy="1463040"/>
          </a:xfrm>
          <a:prstGeom prst="rect">
            <a:avLst/>
          </a:prstGeom>
          <a:noFill/>
          <a:ln/>
        </p:spPr>
        <p:txBody>
          <a:bodyPr wrap="square" rtlCol="0" anchor="t"/>
          <a:lstStyle/>
          <a:p>
            <a:pPr indent="0" marL="0">
              <a:buNone/>
            </a:pPr>
            <a:r>
              <a:rPr lang="en-US" sz="3000" b="1" dirty="0">
                <a:solidFill>
                  <a:srgbClr val="1E3A4C"/>
                </a:solidFill>
                <a:latin typeface="Cambria" pitchFamily="34" charset="0"/>
                <a:ea typeface="Cambria" pitchFamily="34" charset="-122"/>
                <a:cs typeface="Cambria" pitchFamily="34" charset="-120"/>
              </a:rPr>
              <a:t>Jetzt kommt der Teil, vor dem sich alle drücken: die Bio.</a:t>
            </a:r>
            <a:endParaRPr lang="en-US" sz="3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365760"/>
            <a:ext cx="3291840" cy="2926080"/>
          </a:xfrm>
          <a:prstGeom prst="rect">
            <a:avLst/>
          </a:prstGeom>
          <a:noFill/>
          <a:ln/>
        </p:spPr>
        <p:txBody>
          <a:bodyPr wrap="square" lIns="0" tIns="0" rIns="0" bIns="0" rtlCol="0" anchor="t"/>
          <a:lstStyle/>
          <a:p>
            <a:pPr algn="r" indent="0" marL="0">
              <a:buNone/>
            </a:pPr>
            <a:r>
              <a:rPr lang="en-US" sz="20000" b="1" dirty="0">
                <a:solidFill>
                  <a:srgbClr val="EAF1F0"/>
                </a:solidFill>
                <a:latin typeface="Cambria" pitchFamily="34" charset="0"/>
                <a:ea typeface="Cambria" pitchFamily="34" charset="-122"/>
                <a:cs typeface="Cambria" pitchFamily="34" charset="-120"/>
              </a:rPr>
              <a:t>1.3</a:t>
            </a:r>
            <a:endParaRPr lang="en-US" sz="20000" dirty="0"/>
          </a:p>
        </p:txBody>
      </p:sp>
      <p:sp>
        <p:nvSpPr>
          <p:cNvPr id="3" name="Text 1"/>
          <p:cNvSpPr txBox="1"/>
          <p:nvPr/>
        </p:nvSpPr>
        <p:spPr>
          <a:xfrm>
            <a:off x="685800" y="777240"/>
            <a:ext cx="1920240" cy="384048"/>
          </a:xfrm>
          <a:prstGeom prst="roundRect">
            <a:avLst>
              <a:gd name="adj" fmla="val 21429"/>
            </a:avLst>
          </a:prstGeom>
          <a:solidFill>
            <a:srgbClr val="2F6F6F"/>
          </a:solid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LEKTION 1.3</a:t>
            </a:r>
            <a:endParaRPr lang="en-US" sz="1200" dirty="0"/>
          </a:p>
        </p:txBody>
      </p:sp>
      <p:sp>
        <p:nvSpPr>
          <p:cNvPr id="4" name="Text 2"/>
          <p:cNvSpPr txBox="1"/>
          <p:nvPr/>
        </p:nvSpPr>
        <p:spPr>
          <a:xfrm>
            <a:off x="685800" y="1554480"/>
            <a:ext cx="7863840" cy="2377440"/>
          </a:xfrm>
          <a:prstGeom prst="rect">
            <a:avLst/>
          </a:prstGeom>
          <a:noFill/>
          <a:ln/>
        </p:spPr>
        <p:txBody>
          <a:bodyPr wrap="square" rtlCol="0" anchor="t"/>
          <a:lstStyle/>
          <a:p>
            <a:pPr indent="0" marL="0">
              <a:buNone/>
            </a:pPr>
            <a:r>
              <a:rPr lang="en-US" sz="3800" b="1" dirty="0">
                <a:solidFill>
                  <a:srgbClr val="1E3A4C"/>
                </a:solidFill>
                <a:latin typeface="Cambria" pitchFamily="34" charset="0"/>
                <a:ea typeface="Cambria" pitchFamily="34" charset="-122"/>
                <a:cs typeface="Cambria" pitchFamily="34" charset="-120"/>
              </a:rPr>
              <a:t>Vier Zeilen, die in zwei bis drei Sekunden entscheiden, ob jemand bleibt</a:t>
            </a:r>
            <a:endParaRPr lang="en-US" sz="3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WAS DU LERNEN WIRST</a:t>
            </a:r>
            <a:endParaRPr lang="en-US" sz="1600" dirty="0"/>
          </a:p>
        </p:txBody>
      </p:sp>
      <p:sp>
        <p:nvSpPr>
          <p:cNvPr id="3" name="Shape 1"/>
          <p:cNvSpPr/>
          <p:nvPr/>
        </p:nvSpPr>
        <p:spPr>
          <a:xfrm>
            <a:off x="685800" y="1828800"/>
            <a:ext cx="566928" cy="566928"/>
          </a:xfrm>
          <a:prstGeom prst="ellipse">
            <a:avLst/>
          </a:prstGeom>
          <a:solidFill>
            <a:srgbClr val="D6832F"/>
          </a:solidFill>
          <a:ln/>
        </p:spPr>
      </p:sp>
      <p:sp>
        <p:nvSpPr>
          <p:cNvPr id="4" name="Text 2"/>
          <p:cNvSpPr txBox="1"/>
          <p:nvPr/>
        </p:nvSpPr>
        <p:spPr>
          <a:xfrm>
            <a:off x="685800" y="1828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1554480" y="1783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Die vier Zeilen und was in jede gehört</a:t>
            </a:r>
            <a:endParaRPr lang="en-US" sz="2000" dirty="0"/>
          </a:p>
        </p:txBody>
      </p:sp>
      <p:sp>
        <p:nvSpPr>
          <p:cNvPr id="6" name="Shape 4"/>
          <p:cNvSpPr/>
          <p:nvPr/>
        </p:nvSpPr>
        <p:spPr>
          <a:xfrm>
            <a:off x="685800" y="2971800"/>
            <a:ext cx="566928" cy="566928"/>
          </a:xfrm>
          <a:prstGeom prst="ellipse">
            <a:avLst/>
          </a:prstGeom>
          <a:solidFill>
            <a:srgbClr val="D6832F"/>
          </a:solidFill>
          <a:ln/>
        </p:spPr>
      </p:sp>
      <p:sp>
        <p:nvSpPr>
          <p:cNvPr id="7" name="Text 5"/>
          <p:cNvSpPr txBox="1"/>
          <p:nvPr/>
        </p:nvSpPr>
        <p:spPr>
          <a:xfrm>
            <a:off x="685800" y="2971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8" name="Text 6"/>
          <p:cNvSpPr txBox="1"/>
          <p:nvPr/>
        </p:nvSpPr>
        <p:spPr>
          <a:xfrm>
            <a:off x="1554480" y="2926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Wie du einen Zeilenumbruch hinbekommst, der auf dem Handy funktioniert</a:t>
            </a:r>
            <a:endParaRPr lang="en-US" sz="2000" dirty="0"/>
          </a:p>
        </p:txBody>
      </p:sp>
      <p:sp>
        <p:nvSpPr>
          <p:cNvPr id="9" name="Shape 7"/>
          <p:cNvSpPr/>
          <p:nvPr/>
        </p:nvSpPr>
        <p:spPr>
          <a:xfrm>
            <a:off x="685800" y="4114800"/>
            <a:ext cx="566928" cy="566928"/>
          </a:xfrm>
          <a:prstGeom prst="ellipse">
            <a:avLst/>
          </a:prstGeom>
          <a:solidFill>
            <a:srgbClr val="D6832F"/>
          </a:solidFill>
          <a:ln/>
        </p:spPr>
      </p:sp>
      <p:sp>
        <p:nvSpPr>
          <p:cNvPr id="10" name="Text 8"/>
          <p:cNvSpPr txBox="1"/>
          <p:nvPr/>
        </p:nvSpPr>
        <p:spPr>
          <a:xfrm>
            <a:off x="685800" y="4114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1" name="Text 9"/>
          <p:cNvSpPr txBox="1"/>
          <p:nvPr/>
        </p:nvSpPr>
        <p:spPr>
          <a:xfrm>
            <a:off x="1554480" y="4069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Dein Platzhalter-Satz für heute</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DIE VIER ZEILEN</a:t>
            </a:r>
            <a:endParaRPr lang="en-US" sz="1600" dirty="0"/>
          </a:p>
        </p:txBody>
      </p:sp>
      <p:sp>
        <p:nvSpPr>
          <p:cNvPr id="3" name="Shape 1"/>
          <p:cNvSpPr/>
          <p:nvPr/>
        </p:nvSpPr>
        <p:spPr>
          <a:xfrm>
            <a:off x="685800" y="1737360"/>
            <a:ext cx="502920" cy="502920"/>
          </a:xfrm>
          <a:prstGeom prst="ellipse">
            <a:avLst/>
          </a:prstGeom>
          <a:solidFill>
            <a:srgbClr val="2F6F6F"/>
          </a:solidFill>
          <a:ln/>
        </p:spPr>
      </p:sp>
      <p:sp>
        <p:nvSpPr>
          <p:cNvPr id="4" name="Text 2"/>
          <p:cNvSpPr txBox="1"/>
          <p:nvPr/>
        </p:nvSpPr>
        <p:spPr>
          <a:xfrm>
            <a:off x="685800" y="17373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5" name="Text 3"/>
          <p:cNvSpPr txBox="1"/>
          <p:nvPr/>
        </p:nvSpPr>
        <p:spPr>
          <a:xfrm>
            <a:off x="1508760" y="1691640"/>
            <a:ext cx="9966960" cy="777240"/>
          </a:xfrm>
          <a:prstGeom prst="rect">
            <a:avLst/>
          </a:prstGeom>
          <a:noFill/>
          <a:ln/>
        </p:spPr>
        <p:txBody>
          <a:bodyPr wrap="square" rtlCol="0" anchor="ctr"/>
          <a:lstStyle/>
          <a:p>
            <a:pPr indent="0" marL="0">
              <a:buNone/>
            </a:pPr>
            <a:r>
              <a:rPr lang="en-US" sz="1900" dirty="0">
                <a:solidFill>
                  <a:srgbClr val="33413F"/>
                </a:solidFill>
                <a:latin typeface="Calibri" pitchFamily="34" charset="0"/>
                <a:ea typeface="Calibri" pitchFamily="34" charset="-122"/>
                <a:cs typeface="Calibri" pitchFamily="34" charset="-120"/>
              </a:rPr>
              <a:t>Wem hilfst du wobei?</a:t>
            </a:r>
            <a:endParaRPr lang="en-US" sz="1900" dirty="0"/>
          </a:p>
        </p:txBody>
      </p:sp>
      <p:sp>
        <p:nvSpPr>
          <p:cNvPr id="6" name="Shape 4"/>
          <p:cNvSpPr/>
          <p:nvPr/>
        </p:nvSpPr>
        <p:spPr>
          <a:xfrm>
            <a:off x="685800" y="2651760"/>
            <a:ext cx="502920" cy="502920"/>
          </a:xfrm>
          <a:prstGeom prst="ellipse">
            <a:avLst/>
          </a:prstGeom>
          <a:solidFill>
            <a:srgbClr val="2F6F6F"/>
          </a:solidFill>
          <a:ln/>
        </p:spPr>
      </p:sp>
      <p:sp>
        <p:nvSpPr>
          <p:cNvPr id="7" name="Text 5"/>
          <p:cNvSpPr txBox="1"/>
          <p:nvPr/>
        </p:nvSpPr>
        <p:spPr>
          <a:xfrm>
            <a:off x="685800" y="26517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8" name="Text 6"/>
          <p:cNvSpPr txBox="1"/>
          <p:nvPr/>
        </p:nvSpPr>
        <p:spPr>
          <a:xfrm>
            <a:off x="1508760" y="2606040"/>
            <a:ext cx="9966960" cy="777240"/>
          </a:xfrm>
          <a:prstGeom prst="rect">
            <a:avLst/>
          </a:prstGeom>
          <a:noFill/>
          <a:ln/>
        </p:spPr>
        <p:txBody>
          <a:bodyPr wrap="square" rtlCol="0" anchor="ctr"/>
          <a:lstStyle/>
          <a:p>
            <a:pPr indent="0" marL="0">
              <a:buNone/>
            </a:pPr>
            <a:r>
              <a:rPr lang="en-US" sz="1900" dirty="0">
                <a:solidFill>
                  <a:srgbClr val="33413F"/>
                </a:solidFill>
                <a:latin typeface="Calibri" pitchFamily="34" charset="0"/>
                <a:ea typeface="Calibri" pitchFamily="34" charset="-122"/>
                <a:cs typeface="Calibri" pitchFamily="34" charset="-120"/>
              </a:rPr>
              <a:t>Warum ausgerechnet du? (deine Erfahrung, eine Zahl, dein Leben)</a:t>
            </a:r>
            <a:endParaRPr lang="en-US" sz="1900" dirty="0"/>
          </a:p>
        </p:txBody>
      </p:sp>
      <p:sp>
        <p:nvSpPr>
          <p:cNvPr id="9" name="Shape 7"/>
          <p:cNvSpPr/>
          <p:nvPr/>
        </p:nvSpPr>
        <p:spPr>
          <a:xfrm>
            <a:off x="685800" y="3566160"/>
            <a:ext cx="502920" cy="502920"/>
          </a:xfrm>
          <a:prstGeom prst="ellipse">
            <a:avLst/>
          </a:prstGeom>
          <a:solidFill>
            <a:srgbClr val="2F6F6F"/>
          </a:solidFill>
          <a:ln/>
        </p:spPr>
      </p:sp>
      <p:sp>
        <p:nvSpPr>
          <p:cNvPr id="10" name="Text 8"/>
          <p:cNvSpPr txBox="1"/>
          <p:nvPr/>
        </p:nvSpPr>
        <p:spPr>
          <a:xfrm>
            <a:off x="685800" y="35661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1" name="Text 9"/>
          <p:cNvSpPr txBox="1"/>
          <p:nvPr/>
        </p:nvSpPr>
        <p:spPr>
          <a:xfrm>
            <a:off x="1508760" y="3520440"/>
            <a:ext cx="9966960" cy="777240"/>
          </a:xfrm>
          <a:prstGeom prst="rect">
            <a:avLst/>
          </a:prstGeom>
          <a:noFill/>
          <a:ln/>
        </p:spPr>
        <p:txBody>
          <a:bodyPr wrap="square" rtlCol="0" anchor="ctr"/>
          <a:lstStyle/>
          <a:p>
            <a:pPr indent="0" marL="0">
              <a:buNone/>
            </a:pPr>
            <a:r>
              <a:rPr lang="en-US" sz="1900" dirty="0">
                <a:solidFill>
                  <a:srgbClr val="33413F"/>
                </a:solidFill>
                <a:latin typeface="Calibri" pitchFamily="34" charset="0"/>
                <a:ea typeface="Calibri" pitchFamily="34" charset="-122"/>
                <a:cs typeface="Calibri" pitchFamily="34" charset="-120"/>
              </a:rPr>
              <a:t>Was gibt es hier zu holen?</a:t>
            </a:r>
            <a:endParaRPr lang="en-US" sz="1900" dirty="0"/>
          </a:p>
        </p:txBody>
      </p:sp>
      <p:sp>
        <p:nvSpPr>
          <p:cNvPr id="12" name="Shape 10"/>
          <p:cNvSpPr/>
          <p:nvPr/>
        </p:nvSpPr>
        <p:spPr>
          <a:xfrm>
            <a:off x="685800" y="4480560"/>
            <a:ext cx="502920" cy="502920"/>
          </a:xfrm>
          <a:prstGeom prst="ellipse">
            <a:avLst/>
          </a:prstGeom>
          <a:solidFill>
            <a:srgbClr val="2F6F6F"/>
          </a:solidFill>
          <a:ln/>
        </p:spPr>
      </p:sp>
      <p:sp>
        <p:nvSpPr>
          <p:cNvPr id="13" name="Text 11"/>
          <p:cNvSpPr txBox="1"/>
          <p:nvPr/>
        </p:nvSpPr>
        <p:spPr>
          <a:xfrm>
            <a:off x="685800" y="44805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4" name="Text 12"/>
          <p:cNvSpPr txBox="1"/>
          <p:nvPr/>
        </p:nvSpPr>
        <p:spPr>
          <a:xfrm>
            <a:off x="1508760" y="4434840"/>
            <a:ext cx="9966960" cy="777240"/>
          </a:xfrm>
          <a:prstGeom prst="rect">
            <a:avLst/>
          </a:prstGeom>
          <a:noFill/>
          <a:ln/>
        </p:spPr>
        <p:txBody>
          <a:bodyPr wrap="square" rtlCol="0" anchor="ctr"/>
          <a:lstStyle/>
          <a:p>
            <a:pPr indent="0" marL="0">
              <a:buNone/>
            </a:pPr>
            <a:r>
              <a:rPr lang="en-US" sz="1900" dirty="0">
                <a:solidFill>
                  <a:srgbClr val="33413F"/>
                </a:solidFill>
                <a:latin typeface="Calibri" pitchFamily="34" charset="0"/>
                <a:ea typeface="Calibri" pitchFamily="34" charset="-122"/>
                <a:cs typeface="Calibri" pitchFamily="34" charset="-120"/>
              </a:rPr>
              <a:t>Was soll sie jetzt tun? (ein Pfeil nach unten auf den Link)</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77724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DEIN PLATZHALTER-SATZ</a:t>
            </a:r>
            <a:endParaRPr lang="en-US" sz="1600" dirty="0"/>
          </a:p>
        </p:txBody>
      </p:sp>
      <p:sp>
        <p:nvSpPr>
          <p:cNvPr id="3" name="Text 1"/>
          <p:cNvSpPr txBox="1"/>
          <p:nvPr/>
        </p:nvSpPr>
        <p:spPr>
          <a:xfrm>
            <a:off x="685800" y="1920240"/>
            <a:ext cx="10789920" cy="1828800"/>
          </a:xfrm>
          <a:prstGeom prst="rect">
            <a:avLst/>
          </a:prstGeom>
          <a:noFill/>
          <a:ln/>
        </p:spPr>
        <p:txBody>
          <a:bodyPr wrap="square" rtlCol="0" anchor="t"/>
          <a:lstStyle/>
          <a:p>
            <a:pPr indent="0" marL="0">
              <a:buNone/>
            </a:pPr>
            <a:r>
              <a:rPr lang="en-US" sz="3400" b="1" i="1" dirty="0">
                <a:solidFill>
                  <a:srgbClr val="1E3A4C"/>
                </a:solidFill>
                <a:latin typeface="Cambria" pitchFamily="34" charset="0"/>
                <a:ea typeface="Cambria" pitchFamily="34" charset="-122"/>
                <a:cs typeface="Cambria" pitchFamily="34" charset="-120"/>
              </a:rPr>
              <a:t>„Ich helfe [wem] dabei, [was], damit [welches Gefühl].“</a:t>
            </a:r>
            <a:endParaRPr lang="en-US" sz="3400" dirty="0"/>
          </a:p>
        </p:txBody>
      </p:sp>
      <p:sp>
        <p:nvSpPr>
          <p:cNvPr id="4" name="Text 2"/>
          <p:cNvSpPr txBox="1"/>
          <p:nvPr/>
        </p:nvSpPr>
        <p:spPr>
          <a:xfrm>
            <a:off x="685800" y="4206240"/>
            <a:ext cx="10789920" cy="1097280"/>
          </a:xfrm>
          <a:prstGeom prst="rect">
            <a:avLst/>
          </a:prstGeom>
          <a:noFill/>
          <a:ln/>
        </p:spPr>
        <p:txBody>
          <a:bodyPr wrap="square" rtlCol="0" anchor="t"/>
          <a:lstStyle/>
          <a:p>
            <a:pPr indent="0" marL="0">
              <a:buNone/>
            </a:pPr>
            <a:r>
              <a:rPr lang="en-US" sz="1900" dirty="0">
                <a:solidFill>
                  <a:srgbClr val="33413F"/>
                </a:solidFill>
                <a:latin typeface="Calibri" pitchFamily="34" charset="0"/>
                <a:ea typeface="Calibri" pitchFamily="34" charset="-122"/>
                <a:cs typeface="Calibri" pitchFamily="34" charset="-120"/>
              </a:rPr>
              <a:t>Nimm die Version, die dir in zehn Minuten einfällt. Sie wird sich ändern. Das ist so vorgesehen.</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E3A4C"/>
        </a:solidFill>
      </p:bgPr>
    </p:bg>
    <p:spTree>
      <p:nvGrpSpPr>
        <p:cNvPr id="1" name=""/>
        <p:cNvGrpSpPr/>
        <p:nvPr/>
      </p:nvGrpSpPr>
      <p:grpSpPr>
        <a:xfrm>
          <a:off x="0" y="0"/>
          <a:ext cx="0" cy="0"/>
          <a:chOff x="0" y="0"/>
          <a:chExt cx="0" cy="0"/>
        </a:xfrm>
      </p:grpSpPr>
      <p:sp>
        <p:nvSpPr>
          <p:cNvPr id="2" name="Shape 0"/>
          <p:cNvSpPr/>
          <p:nvPr/>
        </p:nvSpPr>
        <p:spPr>
          <a:xfrm>
            <a:off x="685800" y="731520"/>
            <a:ext cx="546811" cy="1051560"/>
          </a:xfrm>
          <a:prstGeom prst="roundRect">
            <a:avLst>
              <a:gd name="adj" fmla="val 10033"/>
            </a:avLst>
          </a:prstGeom>
          <a:solidFill>
            <a:srgbClr val="D6832F"/>
          </a:solidFill>
          <a:ln/>
        </p:spPr>
      </p:sp>
      <p:sp>
        <p:nvSpPr>
          <p:cNvPr id="3" name="Shape 1"/>
          <p:cNvSpPr/>
          <p:nvPr/>
        </p:nvSpPr>
        <p:spPr>
          <a:xfrm>
            <a:off x="751417" y="868223"/>
            <a:ext cx="415577" cy="651967"/>
          </a:xfrm>
          <a:prstGeom prst="roundRect">
            <a:avLst>
              <a:gd name="adj" fmla="val 4401"/>
            </a:avLst>
          </a:prstGeom>
          <a:solidFill>
            <a:srgbClr val="FFFFFF"/>
          </a:solidFill>
          <a:ln/>
        </p:spPr>
      </p:sp>
      <p:sp>
        <p:nvSpPr>
          <p:cNvPr id="4" name="Shape 2"/>
          <p:cNvSpPr/>
          <p:nvPr/>
        </p:nvSpPr>
        <p:spPr>
          <a:xfrm>
            <a:off x="915461" y="1604315"/>
            <a:ext cx="87490" cy="87490"/>
          </a:xfrm>
          <a:prstGeom prst="ellipse">
            <a:avLst/>
          </a:prstGeom>
          <a:solidFill>
            <a:srgbClr val="FFFFFF"/>
          </a:solidFill>
          <a:ln/>
        </p:spPr>
      </p:sp>
      <p:sp>
        <p:nvSpPr>
          <p:cNvPr id="5" name="Text 3"/>
          <p:cNvSpPr txBox="1"/>
          <p:nvPr/>
        </p:nvSpPr>
        <p:spPr>
          <a:xfrm>
            <a:off x="1600200" y="731520"/>
            <a:ext cx="9875520" cy="548640"/>
          </a:xfrm>
          <a:prstGeom prst="rect">
            <a:avLst/>
          </a:prstGeom>
          <a:noFill/>
          <a:ln/>
        </p:spPr>
        <p:txBody>
          <a:bodyPr wrap="square" rtlCol="0" anchor="ctr"/>
          <a:lstStyle/>
          <a:p>
            <a:pPr indent="0" marL="0">
              <a:buNone/>
            </a:pPr>
            <a:r>
              <a:rPr lang="en-US" sz="2000" b="1" spc="300" kern="0" dirty="0">
                <a:solidFill>
                  <a:srgbClr val="D6832F"/>
                </a:solidFill>
                <a:latin typeface="Calibri" pitchFamily="34" charset="0"/>
                <a:ea typeface="Calibri" pitchFamily="34" charset="-122"/>
                <a:cs typeface="Calibri" pitchFamily="34" charset="-120"/>
              </a:rPr>
              <a:t>JETZT AM HANDY MIT</a:t>
            </a:r>
            <a:endParaRPr lang="en-US" sz="2000" dirty="0"/>
          </a:p>
        </p:txBody>
      </p:sp>
      <p:sp>
        <p:nvSpPr>
          <p:cNvPr id="6" name="Text 4"/>
          <p:cNvSpPr txBox="1"/>
          <p:nvPr/>
        </p:nvSpPr>
        <p:spPr>
          <a:xfrm>
            <a:off x="1600200" y="1234440"/>
            <a:ext cx="9875520" cy="548640"/>
          </a:xfrm>
          <a:prstGeom prst="rect">
            <a:avLst/>
          </a:prstGeom>
          <a:noFill/>
          <a:ln/>
        </p:spPr>
        <p:txBody>
          <a:bodyPr wrap="square" rtlCol="0" anchor="ctr"/>
          <a:lstStyle/>
          <a:p>
            <a:pPr indent="0" marL="0">
              <a:buNone/>
            </a:pPr>
            <a:r>
              <a:rPr lang="en-US" sz="1800" i="1" dirty="0">
                <a:solidFill>
                  <a:srgbClr val="F1ECDD"/>
                </a:solidFill>
                <a:latin typeface="Calibri" pitchFamily="34" charset="0"/>
                <a:ea typeface="Calibri" pitchFamily="34" charset="-122"/>
                <a:cs typeface="Calibri" pitchFamily="34" charset="-120"/>
              </a:rPr>
              <a:t>Bio tippen — mit dem Zeilenumbruch-Trick</a:t>
            </a:r>
            <a:endParaRPr lang="en-US" sz="1800" dirty="0"/>
          </a:p>
        </p:txBody>
      </p:sp>
      <p:sp>
        <p:nvSpPr>
          <p:cNvPr id="7" name="Text 5"/>
          <p:cNvSpPr txBox="1"/>
          <p:nvPr/>
        </p:nvSpPr>
        <p:spPr>
          <a:xfrm>
            <a:off x="685800" y="228600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1417320" y="224028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Profil bearbeiten → Steckbrief</a:t>
            </a:r>
            <a:endParaRPr lang="en-US" sz="1650" dirty="0"/>
          </a:p>
        </p:txBody>
      </p:sp>
      <p:sp>
        <p:nvSpPr>
          <p:cNvPr id="9" name="Text 7"/>
          <p:cNvSpPr txBox="1"/>
          <p:nvPr/>
        </p:nvSpPr>
        <p:spPr>
          <a:xfrm>
            <a:off x="685800" y="292608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2</a:t>
            </a:r>
            <a:endParaRPr lang="en-US" sz="1600" dirty="0"/>
          </a:p>
        </p:txBody>
      </p:sp>
      <p:sp>
        <p:nvSpPr>
          <p:cNvPr id="10" name="Text 8"/>
          <p:cNvSpPr txBox="1"/>
          <p:nvPr/>
        </p:nvSpPr>
        <p:spPr>
          <a:xfrm>
            <a:off x="1417320" y="288036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Zeigen: die Eingabetaste im Feld macht je nach Handy nichts</a:t>
            </a:r>
            <a:endParaRPr lang="en-US" sz="1650" dirty="0"/>
          </a:p>
        </p:txBody>
      </p:sp>
      <p:sp>
        <p:nvSpPr>
          <p:cNvPr id="11" name="Text 9"/>
          <p:cNvSpPr txBox="1"/>
          <p:nvPr/>
        </p:nvSpPr>
        <p:spPr>
          <a:xfrm>
            <a:off x="685800" y="356616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3</a:t>
            </a:r>
            <a:endParaRPr lang="en-US" sz="1600" dirty="0"/>
          </a:p>
        </p:txBody>
      </p:sp>
      <p:sp>
        <p:nvSpPr>
          <p:cNvPr id="12" name="Text 10"/>
          <p:cNvSpPr txBox="1"/>
          <p:nvPr/>
        </p:nvSpPr>
        <p:spPr>
          <a:xfrm>
            <a:off x="1417320" y="352044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Trick: Text in der Notizen-App schreiben, Zeilenumbrüche setzen, kopieren, in die Bio einfügen</a:t>
            </a:r>
            <a:endParaRPr lang="en-US" sz="1650" dirty="0"/>
          </a:p>
        </p:txBody>
      </p:sp>
      <p:sp>
        <p:nvSpPr>
          <p:cNvPr id="13" name="Text 11"/>
          <p:cNvSpPr txBox="1"/>
          <p:nvPr/>
        </p:nvSpPr>
        <p:spPr>
          <a:xfrm>
            <a:off x="685800" y="434340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4</a:t>
            </a:r>
            <a:endParaRPr lang="en-US" sz="1600" dirty="0"/>
          </a:p>
        </p:txBody>
      </p:sp>
      <p:sp>
        <p:nvSpPr>
          <p:cNvPr id="14" name="Text 12"/>
          <p:cNvSpPr txBox="1"/>
          <p:nvPr/>
        </p:nvSpPr>
        <p:spPr>
          <a:xfrm>
            <a:off x="1417320" y="429768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Zeichenzahl im Blick behalten und zeigen, wie sie sich füllt</a:t>
            </a:r>
            <a:endParaRPr lang="en-US" sz="1650" dirty="0"/>
          </a:p>
        </p:txBody>
      </p:sp>
      <p:sp>
        <p:nvSpPr>
          <p:cNvPr id="15" name="Text 13"/>
          <p:cNvSpPr txBox="1"/>
          <p:nvPr/>
        </p:nvSpPr>
        <p:spPr>
          <a:xfrm>
            <a:off x="685800" y="498348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5</a:t>
            </a:r>
            <a:endParaRPr lang="en-US" sz="1600" dirty="0"/>
          </a:p>
        </p:txBody>
      </p:sp>
      <p:sp>
        <p:nvSpPr>
          <p:cNvPr id="16" name="Text 14"/>
          <p:cNvSpPr txBox="1"/>
          <p:nvPr/>
        </p:nvSpPr>
        <p:spPr>
          <a:xfrm>
            <a:off x="1417320" y="493776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Fertige Bio auf dem Profil anschauen</a:t>
            </a:r>
            <a:endParaRPr lang="en-US" sz="1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DEIN BIO-CHECK</a:t>
            </a:r>
            <a:endParaRPr lang="en-US" sz="1600" dirty="0"/>
          </a:p>
        </p:txBody>
      </p:sp>
      <p:sp>
        <p:nvSpPr>
          <p:cNvPr id="3" name="Text 1"/>
          <p:cNvSpPr txBox="1"/>
          <p:nvPr/>
        </p:nvSpPr>
        <p:spPr>
          <a:xfrm>
            <a:off x="685800" y="1691640"/>
            <a:ext cx="10789920" cy="777240"/>
          </a:xfrm>
          <a:prstGeom prst="rect">
            <a:avLst/>
          </a:prstGeom>
          <a:noFill/>
          <a:ln/>
        </p:spPr>
        <p:txBody>
          <a:bodyPr wrap="square" rtlCol="0" anchor="ctr"/>
          <a:lstStyle/>
          <a:p>
            <a:pPr indent="0" marL="0">
              <a:buNone/>
            </a:pPr>
            <a:r>
              <a:rPr lang="en-US" sz="1900" dirty="0">
                <a:solidFill>
                  <a:srgbClr val="33413F"/>
                </a:solidFill>
                <a:latin typeface="Calibri" pitchFamily="34" charset="0"/>
                <a:ea typeface="Calibri" pitchFamily="34" charset="-122"/>
                <a:cs typeface="Calibri" pitchFamily="34" charset="-120"/>
              </a:rPr>
              <a:t>Bio steht? Dann lass sie durch meinen Bio-Check laufen. Du bekommst zurück, was schon zieht und was noch schwammig ist.</a:t>
            </a:r>
            <a:endParaRPr lang="en-US" sz="1900" dirty="0"/>
          </a:p>
        </p:txBody>
      </p:sp>
      <p:sp>
        <p:nvSpPr>
          <p:cNvPr id="4" name="Text 2"/>
          <p:cNvSpPr txBox="1"/>
          <p:nvPr/>
        </p:nvSpPr>
        <p:spPr>
          <a:xfrm>
            <a:off x="685800" y="5852160"/>
            <a:ext cx="10789920" cy="548640"/>
          </a:xfrm>
          <a:prstGeom prst="rect">
            <a:avLst/>
          </a:prstGeom>
          <a:noFill/>
          <a:ln/>
        </p:spPr>
        <p:txBody>
          <a:bodyPr wrap="square" rtlCol="0" anchor="ctr"/>
          <a:lstStyle/>
          <a:p>
            <a:pPr indent="0" marL="0">
              <a:buNone/>
            </a:pPr>
            <a:r>
              <a:rPr lang="en-US" sz="1500" i="1" dirty="0">
                <a:solidFill>
                  <a:srgbClr val="7A8B88"/>
                </a:solidFill>
                <a:latin typeface="Calibri" pitchFamily="34" charset="0"/>
                <a:ea typeface="Calibri" pitchFamily="34" charset="-122"/>
                <a:cs typeface="Calibri" pitchFamily="34" charset="-120"/>
              </a:rPr>
              <a:t>Link im Kursbereich · auch in der Werkstatt bei Station „Bio“</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1371600"/>
            <a:ext cx="10789920" cy="3931920"/>
          </a:xfrm>
          <a:prstGeom prst="roundRect">
            <a:avLst>
              <a:gd name="adj" fmla="val 2791"/>
            </a:avLst>
          </a:prstGeom>
          <a:solidFill>
            <a:srgbClr val="EAF1F0"/>
          </a:solidFill>
          <a:ln/>
        </p:spPr>
      </p:sp>
      <p:sp>
        <p:nvSpPr>
          <p:cNvPr id="3" name="Text 1"/>
          <p:cNvSpPr txBox="1"/>
          <p:nvPr/>
        </p:nvSpPr>
        <p:spPr>
          <a:xfrm>
            <a:off x="1234440" y="1828800"/>
            <a:ext cx="9692640" cy="457200"/>
          </a:xfrm>
          <a:prstGeom prst="rect">
            <a:avLst/>
          </a:prstGeom>
          <a:noFill/>
          <a:ln/>
        </p:spPr>
        <p:txBody>
          <a:bodyPr wrap="square" rtlCol="0" anchor="ctr"/>
          <a:lstStyle/>
          <a:p>
            <a:pPr indent="0" marL="0">
              <a:buNone/>
            </a:pPr>
            <a:r>
              <a:rPr lang="en-US" sz="1700" b="1" spc="300" kern="0" dirty="0">
                <a:solidFill>
                  <a:srgbClr val="D6832F"/>
                </a:solidFill>
                <a:latin typeface="Calibri" pitchFamily="34" charset="0"/>
                <a:ea typeface="Calibri" pitchFamily="34" charset="-122"/>
                <a:cs typeface="Calibri" pitchFamily="34" charset="-120"/>
              </a:rPr>
              <a:t>DEINE AUFGABE</a:t>
            </a:r>
            <a:endParaRPr lang="en-US" sz="1700" dirty="0"/>
          </a:p>
        </p:txBody>
      </p:sp>
      <p:sp>
        <p:nvSpPr>
          <p:cNvPr id="4" name="Text 2"/>
          <p:cNvSpPr txBox="1"/>
          <p:nvPr/>
        </p:nvSpPr>
        <p:spPr>
          <a:xfrm>
            <a:off x="1234440" y="2377440"/>
            <a:ext cx="9692640" cy="1645920"/>
          </a:xfrm>
          <a:prstGeom prst="rect">
            <a:avLst/>
          </a:prstGeom>
          <a:noFill/>
          <a:ln/>
        </p:spPr>
        <p:txBody>
          <a:bodyPr wrap="square" rtlCol="0" anchor="t"/>
          <a:lstStyle/>
          <a:p>
            <a:pPr indent="0" marL="0">
              <a:buNone/>
            </a:pPr>
            <a:r>
              <a:rPr lang="en-US" sz="2600" b="1" dirty="0">
                <a:solidFill>
                  <a:srgbClr val="1E3A4C"/>
                </a:solidFill>
                <a:latin typeface="Cambria" pitchFamily="34" charset="0"/>
                <a:ea typeface="Cambria" pitchFamily="34" charset="-122"/>
                <a:cs typeface="Cambria" pitchFamily="34" charset="-120"/>
              </a:rPr>
              <a:t>Bio steht auf deinem Profil. Vorher durch die Werkstatt.</a:t>
            </a:r>
            <a:endParaRPr lang="en-US" sz="2600" dirty="0"/>
          </a:p>
        </p:txBody>
      </p:sp>
      <p:sp>
        <p:nvSpPr>
          <p:cNvPr id="5" name="Text 3"/>
          <p:cNvSpPr txBox="1"/>
          <p:nvPr/>
        </p:nvSpPr>
        <p:spPr>
          <a:xfrm>
            <a:off x="1234440" y="4434840"/>
            <a:ext cx="4206240" cy="384048"/>
          </a:xfrm>
          <a:prstGeom prst="roundRect">
            <a:avLst>
              <a:gd name="adj" fmla="val 21429"/>
            </a:avLst>
          </a:prstGeom>
          <a:solidFill>
            <a:srgbClr val="D6832F"/>
          </a:solid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WERKSTATT · Station „Bio“</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246888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ALS NÄCHSTES</a:t>
            </a:r>
            <a:endParaRPr lang="en-US" sz="1600" dirty="0"/>
          </a:p>
        </p:txBody>
      </p:sp>
      <p:sp>
        <p:nvSpPr>
          <p:cNvPr id="3" name="Text 1"/>
          <p:cNvSpPr txBox="1"/>
          <p:nvPr/>
        </p:nvSpPr>
        <p:spPr>
          <a:xfrm>
            <a:off x="685800" y="2971800"/>
            <a:ext cx="10789920" cy="1463040"/>
          </a:xfrm>
          <a:prstGeom prst="rect">
            <a:avLst/>
          </a:prstGeom>
          <a:noFill/>
          <a:ln/>
        </p:spPr>
        <p:txBody>
          <a:bodyPr wrap="square" rtlCol="0" anchor="t"/>
          <a:lstStyle/>
          <a:p>
            <a:pPr indent="0" marL="0">
              <a:buNone/>
            </a:pPr>
            <a:r>
              <a:rPr lang="en-US" sz="3000" b="1" dirty="0">
                <a:solidFill>
                  <a:srgbClr val="1E3A4C"/>
                </a:solidFill>
                <a:latin typeface="Cambria" pitchFamily="34" charset="0"/>
                <a:ea typeface="Cambria" pitchFamily="34" charset="-122"/>
                <a:cs typeface="Cambria" pitchFamily="34" charset="-120"/>
              </a:rPr>
              <a:t>Als Nächstes bauen wir dein Schaufenster: Highlights und dein Link.</a:t>
            </a:r>
            <a:endParaRPr lang="en-US" sz="3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365760"/>
            <a:ext cx="3291840" cy="2926080"/>
          </a:xfrm>
          <a:prstGeom prst="rect">
            <a:avLst/>
          </a:prstGeom>
          <a:noFill/>
          <a:ln/>
        </p:spPr>
        <p:txBody>
          <a:bodyPr wrap="square" lIns="0" tIns="0" rIns="0" bIns="0" rtlCol="0" anchor="t"/>
          <a:lstStyle/>
          <a:p>
            <a:pPr algn="r" indent="0" marL="0">
              <a:buNone/>
            </a:pPr>
            <a:r>
              <a:rPr lang="en-US" sz="20000" b="1" dirty="0">
                <a:solidFill>
                  <a:srgbClr val="EAF1F0"/>
                </a:solidFill>
                <a:latin typeface="Cambria" pitchFamily="34" charset="0"/>
                <a:ea typeface="Cambria" pitchFamily="34" charset="-122"/>
                <a:cs typeface="Cambria" pitchFamily="34" charset="-120"/>
              </a:rPr>
              <a:t>1.4</a:t>
            </a:r>
            <a:endParaRPr lang="en-US" sz="20000" dirty="0"/>
          </a:p>
        </p:txBody>
      </p:sp>
      <p:sp>
        <p:nvSpPr>
          <p:cNvPr id="3" name="Text 1"/>
          <p:cNvSpPr txBox="1"/>
          <p:nvPr/>
        </p:nvSpPr>
        <p:spPr>
          <a:xfrm>
            <a:off x="685800" y="777240"/>
            <a:ext cx="1920240" cy="384048"/>
          </a:xfrm>
          <a:prstGeom prst="roundRect">
            <a:avLst>
              <a:gd name="adj" fmla="val 21429"/>
            </a:avLst>
          </a:prstGeom>
          <a:solidFill>
            <a:srgbClr val="2F6F6F"/>
          </a:solid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LEKTION 1.4</a:t>
            </a:r>
            <a:endParaRPr lang="en-US" sz="1200" dirty="0"/>
          </a:p>
        </p:txBody>
      </p:sp>
      <p:sp>
        <p:nvSpPr>
          <p:cNvPr id="4" name="Text 2"/>
          <p:cNvSpPr txBox="1"/>
          <p:nvPr/>
        </p:nvSpPr>
        <p:spPr>
          <a:xfrm>
            <a:off x="685800" y="1554480"/>
            <a:ext cx="7863840" cy="2377440"/>
          </a:xfrm>
          <a:prstGeom prst="rect">
            <a:avLst/>
          </a:prstGeom>
          <a:noFill/>
          <a:ln/>
        </p:spPr>
        <p:txBody>
          <a:bodyPr wrap="square" rtlCol="0" anchor="t"/>
          <a:lstStyle/>
          <a:p>
            <a:pPr indent="0" marL="0">
              <a:buNone/>
            </a:pPr>
            <a:r>
              <a:rPr lang="en-US" sz="3800" b="1" dirty="0">
                <a:solidFill>
                  <a:srgbClr val="1E3A4C"/>
                </a:solidFill>
                <a:latin typeface="Cambria" pitchFamily="34" charset="0"/>
                <a:ea typeface="Cambria" pitchFamily="34" charset="-122"/>
                <a:cs typeface="Cambria" pitchFamily="34" charset="-120"/>
              </a:rPr>
              <a:t>Dein Schaufenster in zwanzig Minuten</a:t>
            </a:r>
            <a:endParaRPr lang="en-US" sz="3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WAS DU LERNEN WIRST</a:t>
            </a:r>
            <a:endParaRPr lang="en-US" sz="1600" dirty="0"/>
          </a:p>
        </p:txBody>
      </p:sp>
      <p:sp>
        <p:nvSpPr>
          <p:cNvPr id="3" name="Shape 1"/>
          <p:cNvSpPr/>
          <p:nvPr/>
        </p:nvSpPr>
        <p:spPr>
          <a:xfrm>
            <a:off x="685800" y="1828800"/>
            <a:ext cx="566928" cy="566928"/>
          </a:xfrm>
          <a:prstGeom prst="ellipse">
            <a:avLst/>
          </a:prstGeom>
          <a:solidFill>
            <a:srgbClr val="D6832F"/>
          </a:solidFill>
          <a:ln/>
        </p:spPr>
      </p:sp>
      <p:sp>
        <p:nvSpPr>
          <p:cNvPr id="4" name="Text 2"/>
          <p:cNvSpPr txBox="1"/>
          <p:nvPr/>
        </p:nvSpPr>
        <p:spPr>
          <a:xfrm>
            <a:off x="685800" y="1828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1554480" y="1783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Die fünf Ordner, die reichen</a:t>
            </a:r>
            <a:endParaRPr lang="en-US" sz="2000" dirty="0"/>
          </a:p>
        </p:txBody>
      </p:sp>
      <p:sp>
        <p:nvSpPr>
          <p:cNvPr id="6" name="Shape 4"/>
          <p:cNvSpPr/>
          <p:nvPr/>
        </p:nvSpPr>
        <p:spPr>
          <a:xfrm>
            <a:off x="685800" y="2971800"/>
            <a:ext cx="566928" cy="566928"/>
          </a:xfrm>
          <a:prstGeom prst="ellipse">
            <a:avLst/>
          </a:prstGeom>
          <a:solidFill>
            <a:srgbClr val="D6832F"/>
          </a:solidFill>
          <a:ln/>
        </p:spPr>
      </p:sp>
      <p:sp>
        <p:nvSpPr>
          <p:cNvPr id="7" name="Text 5"/>
          <p:cNvSpPr txBox="1"/>
          <p:nvPr/>
        </p:nvSpPr>
        <p:spPr>
          <a:xfrm>
            <a:off x="685800" y="2971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8" name="Text 6"/>
          <p:cNvSpPr txBox="1"/>
          <p:nvPr/>
        </p:nvSpPr>
        <p:spPr>
          <a:xfrm>
            <a:off x="1554480" y="2926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Wie du sie füllst, wenn du noch nie eine Story gepostet hast</a:t>
            </a:r>
            <a:endParaRPr lang="en-US" sz="2000" dirty="0"/>
          </a:p>
        </p:txBody>
      </p:sp>
      <p:sp>
        <p:nvSpPr>
          <p:cNvPr id="9" name="Shape 7"/>
          <p:cNvSpPr/>
          <p:nvPr/>
        </p:nvSpPr>
        <p:spPr>
          <a:xfrm>
            <a:off x="685800" y="4114800"/>
            <a:ext cx="566928" cy="566928"/>
          </a:xfrm>
          <a:prstGeom prst="ellipse">
            <a:avLst/>
          </a:prstGeom>
          <a:solidFill>
            <a:srgbClr val="D6832F"/>
          </a:solidFill>
          <a:ln/>
        </p:spPr>
      </p:sp>
      <p:sp>
        <p:nvSpPr>
          <p:cNvPr id="10" name="Text 8"/>
          <p:cNvSpPr txBox="1"/>
          <p:nvPr/>
        </p:nvSpPr>
        <p:spPr>
          <a:xfrm>
            <a:off x="685800" y="4114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1" name="Text 9"/>
          <p:cNvSpPr txBox="1"/>
          <p:nvPr/>
        </p:nvSpPr>
        <p:spPr>
          <a:xfrm>
            <a:off x="1554480" y="4069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Ein Link oder mehrere — ohne Zusatztool</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DIE FÜNF ORDNER</a:t>
            </a:r>
            <a:endParaRPr lang="en-US" sz="1600" dirty="0"/>
          </a:p>
        </p:txBody>
      </p:sp>
      <p:sp>
        <p:nvSpPr>
          <p:cNvPr id="3" name="Text 1"/>
          <p:cNvSpPr txBox="1"/>
          <p:nvPr/>
        </p:nvSpPr>
        <p:spPr>
          <a:xfrm>
            <a:off x="685800" y="1691640"/>
            <a:ext cx="10789920" cy="777240"/>
          </a:xfrm>
          <a:prstGeom prst="rect">
            <a:avLst/>
          </a:prstGeom>
          <a:noFill/>
          <a:ln/>
        </p:spPr>
        <p:txBody>
          <a:bodyPr wrap="square" rtlCol="0" anchor="ctr"/>
          <a:lstStyle/>
          <a:p>
            <a:pPr indent="0" marL="0">
              <a:buNone/>
            </a:pPr>
            <a:r>
              <a:rPr lang="en-US" sz="1900" b="1" dirty="0">
                <a:solidFill>
                  <a:srgbClr val="D6832F"/>
                </a:solidFill>
                <a:latin typeface="Calibri" pitchFamily="34" charset="0"/>
                <a:ea typeface="Calibri" pitchFamily="34" charset="-122"/>
                <a:cs typeface="Calibri" pitchFamily="34" charset="-120"/>
              </a:rPr>
              <a:t>•  </a:t>
            </a:r>
            <a:pPr indent="0" marL="0">
              <a:buNone/>
            </a:pPr>
            <a:r>
              <a:rPr lang="en-US" sz="1900" dirty="0">
                <a:solidFill>
                  <a:srgbClr val="33413F"/>
                </a:solidFill>
                <a:latin typeface="Calibri" pitchFamily="34" charset="0"/>
                <a:ea typeface="Calibri" pitchFamily="34" charset="-122"/>
                <a:cs typeface="Calibri" pitchFamily="34" charset="-120"/>
              </a:rPr>
              <a:t>Über mich</a:t>
            </a:r>
            <a:endParaRPr lang="en-US" sz="1900" dirty="0"/>
          </a:p>
        </p:txBody>
      </p:sp>
      <p:sp>
        <p:nvSpPr>
          <p:cNvPr id="4" name="Text 2"/>
          <p:cNvSpPr txBox="1"/>
          <p:nvPr/>
        </p:nvSpPr>
        <p:spPr>
          <a:xfrm>
            <a:off x="685800" y="2606040"/>
            <a:ext cx="10789920" cy="777240"/>
          </a:xfrm>
          <a:prstGeom prst="rect">
            <a:avLst/>
          </a:prstGeom>
          <a:noFill/>
          <a:ln/>
        </p:spPr>
        <p:txBody>
          <a:bodyPr wrap="square" rtlCol="0" anchor="ctr"/>
          <a:lstStyle/>
          <a:p>
            <a:pPr indent="0" marL="0">
              <a:buNone/>
            </a:pPr>
            <a:r>
              <a:rPr lang="en-US" sz="1900" b="1" dirty="0">
                <a:solidFill>
                  <a:srgbClr val="D6832F"/>
                </a:solidFill>
                <a:latin typeface="Calibri" pitchFamily="34" charset="0"/>
                <a:ea typeface="Calibri" pitchFamily="34" charset="-122"/>
                <a:cs typeface="Calibri" pitchFamily="34" charset="-120"/>
              </a:rPr>
              <a:t>•  </a:t>
            </a:r>
            <a:pPr indent="0" marL="0">
              <a:buNone/>
            </a:pPr>
            <a:r>
              <a:rPr lang="en-US" sz="1900" dirty="0">
                <a:solidFill>
                  <a:srgbClr val="33413F"/>
                </a:solidFill>
                <a:latin typeface="Calibri" pitchFamily="34" charset="0"/>
                <a:ea typeface="Calibri" pitchFamily="34" charset="-122"/>
                <a:cs typeface="Calibri" pitchFamily="34" charset="-120"/>
              </a:rPr>
              <a:t>Mein Thema</a:t>
            </a:r>
            <a:endParaRPr lang="en-US" sz="1900" dirty="0"/>
          </a:p>
        </p:txBody>
      </p:sp>
      <p:sp>
        <p:nvSpPr>
          <p:cNvPr id="5" name="Text 3"/>
          <p:cNvSpPr txBox="1"/>
          <p:nvPr/>
        </p:nvSpPr>
        <p:spPr>
          <a:xfrm>
            <a:off x="685800" y="3520440"/>
            <a:ext cx="10789920" cy="777240"/>
          </a:xfrm>
          <a:prstGeom prst="rect">
            <a:avLst/>
          </a:prstGeom>
          <a:noFill/>
          <a:ln/>
        </p:spPr>
        <p:txBody>
          <a:bodyPr wrap="square" rtlCol="0" anchor="ctr"/>
          <a:lstStyle/>
          <a:p>
            <a:pPr indent="0" marL="0">
              <a:buNone/>
            </a:pPr>
            <a:r>
              <a:rPr lang="en-US" sz="1900" b="1" dirty="0">
                <a:solidFill>
                  <a:srgbClr val="D6832F"/>
                </a:solidFill>
                <a:latin typeface="Calibri" pitchFamily="34" charset="0"/>
                <a:ea typeface="Calibri" pitchFamily="34" charset="-122"/>
                <a:cs typeface="Calibri" pitchFamily="34" charset="-120"/>
              </a:rPr>
              <a:t>•  </a:t>
            </a:r>
            <a:pPr indent="0" marL="0">
              <a:buNone/>
            </a:pPr>
            <a:r>
              <a:rPr lang="en-US" sz="1900" dirty="0">
                <a:solidFill>
                  <a:srgbClr val="33413F"/>
                </a:solidFill>
                <a:latin typeface="Calibri" pitchFamily="34" charset="0"/>
                <a:ea typeface="Calibri" pitchFamily="34" charset="-122"/>
                <a:cs typeface="Calibri" pitchFamily="34" charset="-120"/>
              </a:rPr>
              <a:t>Feedback</a:t>
            </a:r>
            <a:endParaRPr lang="en-US" sz="1900" dirty="0"/>
          </a:p>
        </p:txBody>
      </p:sp>
      <p:sp>
        <p:nvSpPr>
          <p:cNvPr id="6" name="Text 4"/>
          <p:cNvSpPr txBox="1"/>
          <p:nvPr/>
        </p:nvSpPr>
        <p:spPr>
          <a:xfrm>
            <a:off x="685800" y="4434840"/>
            <a:ext cx="10789920" cy="777240"/>
          </a:xfrm>
          <a:prstGeom prst="rect">
            <a:avLst/>
          </a:prstGeom>
          <a:noFill/>
          <a:ln/>
        </p:spPr>
        <p:txBody>
          <a:bodyPr wrap="square" rtlCol="0" anchor="ctr"/>
          <a:lstStyle/>
          <a:p>
            <a:pPr indent="0" marL="0">
              <a:buNone/>
            </a:pPr>
            <a:r>
              <a:rPr lang="en-US" sz="1900" b="1" dirty="0">
                <a:solidFill>
                  <a:srgbClr val="D6832F"/>
                </a:solidFill>
                <a:latin typeface="Calibri" pitchFamily="34" charset="0"/>
                <a:ea typeface="Calibri" pitchFamily="34" charset="-122"/>
                <a:cs typeface="Calibri" pitchFamily="34" charset="-120"/>
              </a:rPr>
              <a:t>•  </a:t>
            </a:r>
            <a:pPr indent="0" marL="0">
              <a:buNone/>
            </a:pPr>
            <a:r>
              <a:rPr lang="en-US" sz="1900" dirty="0">
                <a:solidFill>
                  <a:srgbClr val="33413F"/>
                </a:solidFill>
                <a:latin typeface="Calibri" pitchFamily="34" charset="0"/>
                <a:ea typeface="Calibri" pitchFamily="34" charset="-122"/>
                <a:cs typeface="Calibri" pitchFamily="34" charset="-120"/>
              </a:rPr>
              <a:t>Gratis für dich</a:t>
            </a:r>
            <a:endParaRPr lang="en-US" sz="1900" dirty="0"/>
          </a:p>
        </p:txBody>
      </p:sp>
      <p:sp>
        <p:nvSpPr>
          <p:cNvPr id="7" name="Text 5"/>
          <p:cNvSpPr txBox="1"/>
          <p:nvPr/>
        </p:nvSpPr>
        <p:spPr>
          <a:xfrm>
            <a:off x="685800" y="5349240"/>
            <a:ext cx="10789920" cy="777240"/>
          </a:xfrm>
          <a:prstGeom prst="rect">
            <a:avLst/>
          </a:prstGeom>
          <a:noFill/>
          <a:ln/>
        </p:spPr>
        <p:txBody>
          <a:bodyPr wrap="square" rtlCol="0" anchor="ctr"/>
          <a:lstStyle/>
          <a:p>
            <a:pPr indent="0" marL="0">
              <a:buNone/>
            </a:pPr>
            <a:r>
              <a:rPr lang="en-US" sz="1900" b="1" dirty="0">
                <a:solidFill>
                  <a:srgbClr val="D6832F"/>
                </a:solidFill>
                <a:latin typeface="Calibri" pitchFamily="34" charset="0"/>
                <a:ea typeface="Calibri" pitchFamily="34" charset="-122"/>
                <a:cs typeface="Calibri" pitchFamily="34" charset="-120"/>
              </a:rPr>
              <a:t>•  </a:t>
            </a:r>
            <a:pPr indent="0" marL="0">
              <a:buNone/>
            </a:pPr>
            <a:r>
              <a:rPr lang="en-US" sz="1900" dirty="0">
                <a:solidFill>
                  <a:srgbClr val="33413F"/>
                </a:solidFill>
                <a:latin typeface="Calibri" pitchFamily="34" charset="0"/>
                <a:ea typeface="Calibri" pitchFamily="34" charset="-122"/>
                <a:cs typeface="Calibri" pitchFamily="34" charset="-120"/>
              </a:rPr>
              <a:t>Mein Angebot</a:t>
            </a:r>
            <a:endParaRPr lang="en-US" sz="1900" dirty="0"/>
          </a:p>
        </p:txBody>
      </p:sp>
      <p:sp>
        <p:nvSpPr>
          <p:cNvPr id="8" name="Text 6"/>
          <p:cNvSpPr txBox="1"/>
          <p:nvPr/>
        </p:nvSpPr>
        <p:spPr>
          <a:xfrm>
            <a:off x="685800" y="5852160"/>
            <a:ext cx="10789920" cy="548640"/>
          </a:xfrm>
          <a:prstGeom prst="rect">
            <a:avLst/>
          </a:prstGeom>
          <a:noFill/>
          <a:ln/>
        </p:spPr>
        <p:txBody>
          <a:bodyPr wrap="square" rtlCol="0" anchor="ctr"/>
          <a:lstStyle/>
          <a:p>
            <a:pPr indent="0" marL="0">
              <a:buNone/>
            </a:pPr>
            <a:r>
              <a:rPr lang="en-US" sz="1500" i="1" dirty="0">
                <a:solidFill>
                  <a:srgbClr val="7A8B88"/>
                </a:solidFill>
                <a:latin typeface="Calibri" pitchFamily="34" charset="0"/>
                <a:ea typeface="Calibri" pitchFamily="34" charset="-122"/>
                <a:cs typeface="Calibri" pitchFamily="34" charset="-120"/>
              </a:rPr>
              <a:t>Mehr braucht am Anfang niemand. Wirklich niemand.</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DAS HENNE-EI-PROBLEM</a:t>
            </a:r>
            <a:endParaRPr lang="en-US" sz="1600" dirty="0"/>
          </a:p>
        </p:txBody>
      </p:sp>
      <p:sp>
        <p:nvSpPr>
          <p:cNvPr id="3" name="Text 1"/>
          <p:cNvSpPr txBox="1"/>
          <p:nvPr/>
        </p:nvSpPr>
        <p:spPr>
          <a:xfrm>
            <a:off x="685800" y="1691640"/>
            <a:ext cx="10789920" cy="777240"/>
          </a:xfrm>
          <a:prstGeom prst="rect">
            <a:avLst/>
          </a:prstGeom>
          <a:noFill/>
          <a:ln/>
        </p:spPr>
        <p:txBody>
          <a:bodyPr wrap="square" rtlCol="0" anchor="ctr"/>
          <a:lstStyle/>
          <a:p>
            <a:pPr indent="0" marL="0">
              <a:buNone/>
            </a:pPr>
            <a:r>
              <a:rPr lang="en-US" sz="1900" dirty="0">
                <a:solidFill>
                  <a:srgbClr val="33413F"/>
                </a:solidFill>
                <a:latin typeface="Calibri" pitchFamily="34" charset="0"/>
                <a:ea typeface="Calibri" pitchFamily="34" charset="-122"/>
                <a:cs typeface="Calibri" pitchFamily="34" charset="-120"/>
              </a:rPr>
              <a:t>Für ein Highlight brauchst du eine Story. Für eine Story brauchst du Mut.</a:t>
            </a:r>
            <a:endParaRPr lang="en-US" sz="1900" dirty="0"/>
          </a:p>
        </p:txBody>
      </p:sp>
      <p:sp>
        <p:nvSpPr>
          <p:cNvPr id="4" name="Text 2"/>
          <p:cNvSpPr txBox="1"/>
          <p:nvPr/>
        </p:nvSpPr>
        <p:spPr>
          <a:xfrm>
            <a:off x="685800" y="2606040"/>
            <a:ext cx="10789920" cy="777240"/>
          </a:xfrm>
          <a:prstGeom prst="rect">
            <a:avLst/>
          </a:prstGeom>
          <a:noFill/>
          <a:ln/>
        </p:spPr>
        <p:txBody>
          <a:bodyPr wrap="square" rtlCol="0" anchor="ctr"/>
          <a:lstStyle/>
          <a:p>
            <a:pPr indent="0" marL="0">
              <a:buNone/>
            </a:pPr>
            <a:r>
              <a:rPr lang="en-US" sz="1900" b="1" dirty="0">
                <a:solidFill>
                  <a:srgbClr val="D6832F"/>
                </a:solidFill>
                <a:latin typeface="Calibri" pitchFamily="34" charset="0"/>
                <a:ea typeface="Calibri" pitchFamily="34" charset="-122"/>
                <a:cs typeface="Calibri" pitchFamily="34" charset="-120"/>
              </a:rPr>
              <a:t>Lösung:  </a:t>
            </a:r>
            <a:pPr indent="0" marL="0">
              <a:buNone/>
            </a:pPr>
            <a:r>
              <a:rPr lang="en-US" sz="1900" dirty="0">
                <a:solidFill>
                  <a:srgbClr val="33413F"/>
                </a:solidFill>
                <a:latin typeface="Calibri" pitchFamily="34" charset="0"/>
                <a:ea typeface="Calibri" pitchFamily="34" charset="-122"/>
                <a:cs typeface="Calibri" pitchFamily="34" charset="-120"/>
              </a:rPr>
              <a:t>Du postest fünf einfache Stories hintereinander und packst sie sofort in die Ordner.</a:t>
            </a:r>
            <a:endParaRPr lang="en-US" sz="1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E3A4C"/>
        </a:solidFill>
      </p:bgPr>
    </p:bg>
    <p:spTree>
      <p:nvGrpSpPr>
        <p:cNvPr id="1" name=""/>
        <p:cNvGrpSpPr/>
        <p:nvPr/>
      </p:nvGrpSpPr>
      <p:grpSpPr>
        <a:xfrm>
          <a:off x="0" y="0"/>
          <a:ext cx="0" cy="0"/>
          <a:chOff x="0" y="0"/>
          <a:chExt cx="0" cy="0"/>
        </a:xfrm>
      </p:grpSpPr>
      <p:sp>
        <p:nvSpPr>
          <p:cNvPr id="2" name="Shape 0"/>
          <p:cNvSpPr/>
          <p:nvPr/>
        </p:nvSpPr>
        <p:spPr>
          <a:xfrm>
            <a:off x="685800" y="731520"/>
            <a:ext cx="546811" cy="1051560"/>
          </a:xfrm>
          <a:prstGeom prst="roundRect">
            <a:avLst>
              <a:gd name="adj" fmla="val 10033"/>
            </a:avLst>
          </a:prstGeom>
          <a:solidFill>
            <a:srgbClr val="D6832F"/>
          </a:solidFill>
          <a:ln/>
        </p:spPr>
      </p:sp>
      <p:sp>
        <p:nvSpPr>
          <p:cNvPr id="3" name="Shape 1"/>
          <p:cNvSpPr/>
          <p:nvPr/>
        </p:nvSpPr>
        <p:spPr>
          <a:xfrm>
            <a:off x="751417" y="868223"/>
            <a:ext cx="415577" cy="651967"/>
          </a:xfrm>
          <a:prstGeom prst="roundRect">
            <a:avLst>
              <a:gd name="adj" fmla="val 4401"/>
            </a:avLst>
          </a:prstGeom>
          <a:solidFill>
            <a:srgbClr val="FFFFFF"/>
          </a:solidFill>
          <a:ln/>
        </p:spPr>
      </p:sp>
      <p:sp>
        <p:nvSpPr>
          <p:cNvPr id="4" name="Shape 2"/>
          <p:cNvSpPr/>
          <p:nvPr/>
        </p:nvSpPr>
        <p:spPr>
          <a:xfrm>
            <a:off x="915461" y="1604315"/>
            <a:ext cx="87490" cy="87490"/>
          </a:xfrm>
          <a:prstGeom prst="ellipse">
            <a:avLst/>
          </a:prstGeom>
          <a:solidFill>
            <a:srgbClr val="FFFFFF"/>
          </a:solidFill>
          <a:ln/>
        </p:spPr>
      </p:sp>
      <p:sp>
        <p:nvSpPr>
          <p:cNvPr id="5" name="Text 3"/>
          <p:cNvSpPr txBox="1"/>
          <p:nvPr/>
        </p:nvSpPr>
        <p:spPr>
          <a:xfrm>
            <a:off x="1600200" y="731520"/>
            <a:ext cx="9875520" cy="548640"/>
          </a:xfrm>
          <a:prstGeom prst="rect">
            <a:avLst/>
          </a:prstGeom>
          <a:noFill/>
          <a:ln/>
        </p:spPr>
        <p:txBody>
          <a:bodyPr wrap="square" rtlCol="0" anchor="ctr"/>
          <a:lstStyle/>
          <a:p>
            <a:pPr indent="0" marL="0">
              <a:buNone/>
            </a:pPr>
            <a:r>
              <a:rPr lang="en-US" sz="2000" b="1" spc="300" kern="0" dirty="0">
                <a:solidFill>
                  <a:srgbClr val="D6832F"/>
                </a:solidFill>
                <a:latin typeface="Calibri" pitchFamily="34" charset="0"/>
                <a:ea typeface="Calibri" pitchFamily="34" charset="-122"/>
                <a:cs typeface="Calibri" pitchFamily="34" charset="-120"/>
              </a:rPr>
              <a:t>JETZT AM HANDY MIT</a:t>
            </a:r>
            <a:endParaRPr lang="en-US" sz="2000" dirty="0"/>
          </a:p>
        </p:txBody>
      </p:sp>
      <p:sp>
        <p:nvSpPr>
          <p:cNvPr id="6" name="Text 4"/>
          <p:cNvSpPr txBox="1"/>
          <p:nvPr/>
        </p:nvSpPr>
        <p:spPr>
          <a:xfrm>
            <a:off x="1600200" y="1234440"/>
            <a:ext cx="9875520" cy="548640"/>
          </a:xfrm>
          <a:prstGeom prst="rect">
            <a:avLst/>
          </a:prstGeom>
          <a:noFill/>
          <a:ln/>
        </p:spPr>
        <p:txBody>
          <a:bodyPr wrap="square" rtlCol="0" anchor="ctr"/>
          <a:lstStyle/>
          <a:p>
            <a:pPr indent="0" marL="0">
              <a:buNone/>
            </a:pPr>
            <a:r>
              <a:rPr lang="en-US" sz="1800" i="1" dirty="0">
                <a:solidFill>
                  <a:srgbClr val="F1ECDD"/>
                </a:solidFill>
                <a:latin typeface="Calibri" pitchFamily="34" charset="0"/>
                <a:ea typeface="Calibri" pitchFamily="34" charset="-122"/>
                <a:cs typeface="Calibri" pitchFamily="34" charset="-120"/>
              </a:rPr>
              <a:t>Fünf Highlights anlegen · Cover setzen · Link eintragen</a:t>
            </a:r>
            <a:endParaRPr lang="en-US" sz="1800" dirty="0"/>
          </a:p>
        </p:txBody>
      </p:sp>
      <p:sp>
        <p:nvSpPr>
          <p:cNvPr id="7" name="Text 5"/>
          <p:cNvSpPr txBox="1"/>
          <p:nvPr/>
        </p:nvSpPr>
        <p:spPr>
          <a:xfrm>
            <a:off x="685800" y="228600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1417320" y="224028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Story posten (ganz simpel, ein Foto mit Text)</a:t>
            </a:r>
            <a:endParaRPr lang="en-US" sz="1650" dirty="0"/>
          </a:p>
        </p:txBody>
      </p:sp>
      <p:sp>
        <p:nvSpPr>
          <p:cNvPr id="9" name="Text 7"/>
          <p:cNvSpPr txBox="1"/>
          <p:nvPr/>
        </p:nvSpPr>
        <p:spPr>
          <a:xfrm>
            <a:off x="685800" y="292608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2</a:t>
            </a:r>
            <a:endParaRPr lang="en-US" sz="1600" dirty="0"/>
          </a:p>
        </p:txBody>
      </p:sp>
      <p:sp>
        <p:nvSpPr>
          <p:cNvPr id="10" name="Text 8"/>
          <p:cNvSpPr txBox="1"/>
          <p:nvPr/>
        </p:nvSpPr>
        <p:spPr>
          <a:xfrm>
            <a:off x="1417320" y="288036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Profil → „Neu“ unter der Bio → Story auswählen → Namen vergeben</a:t>
            </a:r>
            <a:endParaRPr lang="en-US" sz="1650" dirty="0"/>
          </a:p>
        </p:txBody>
      </p:sp>
      <p:sp>
        <p:nvSpPr>
          <p:cNvPr id="11" name="Text 9"/>
          <p:cNvSpPr txBox="1"/>
          <p:nvPr/>
        </p:nvSpPr>
        <p:spPr>
          <a:xfrm>
            <a:off x="685800" y="356616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3</a:t>
            </a:r>
            <a:endParaRPr lang="en-US" sz="1600" dirty="0"/>
          </a:p>
        </p:txBody>
      </p:sp>
      <p:sp>
        <p:nvSpPr>
          <p:cNvPr id="12" name="Text 10"/>
          <p:cNvSpPr txBox="1"/>
          <p:nvPr/>
        </p:nvSpPr>
        <p:spPr>
          <a:xfrm>
            <a:off x="1417320" y="352044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Cover setzen: einfarbiges Bild aus Canva oder aus der Galerie</a:t>
            </a:r>
            <a:endParaRPr lang="en-US" sz="1650" dirty="0"/>
          </a:p>
        </p:txBody>
      </p:sp>
      <p:sp>
        <p:nvSpPr>
          <p:cNvPr id="13" name="Text 11"/>
          <p:cNvSpPr txBox="1"/>
          <p:nvPr/>
        </p:nvSpPr>
        <p:spPr>
          <a:xfrm>
            <a:off x="685800" y="420624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4</a:t>
            </a:r>
            <a:endParaRPr lang="en-US" sz="1600" dirty="0"/>
          </a:p>
        </p:txBody>
      </p:sp>
      <p:sp>
        <p:nvSpPr>
          <p:cNvPr id="14" name="Text 12"/>
          <p:cNvSpPr txBox="1"/>
          <p:nvPr/>
        </p:nvSpPr>
        <p:spPr>
          <a:xfrm>
            <a:off x="1417320" y="416052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Highlight bearbeiten, um später Stories zu ergänzen</a:t>
            </a:r>
            <a:endParaRPr lang="en-US" sz="1650" dirty="0"/>
          </a:p>
        </p:txBody>
      </p:sp>
      <p:sp>
        <p:nvSpPr>
          <p:cNvPr id="15" name="Text 13"/>
          <p:cNvSpPr txBox="1"/>
          <p:nvPr/>
        </p:nvSpPr>
        <p:spPr>
          <a:xfrm>
            <a:off x="685800" y="484632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5</a:t>
            </a:r>
            <a:endParaRPr lang="en-US" sz="1600" dirty="0"/>
          </a:p>
        </p:txBody>
      </p:sp>
      <p:sp>
        <p:nvSpPr>
          <p:cNvPr id="16" name="Text 14"/>
          <p:cNvSpPr txBox="1"/>
          <p:nvPr/>
        </p:nvSpPr>
        <p:spPr>
          <a:xfrm>
            <a:off x="1417320" y="480060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Bio bearbeiten → Links → einen Link eintragen</a:t>
            </a:r>
            <a:endParaRPr lang="en-US" sz="1650" dirty="0"/>
          </a:p>
        </p:txBody>
      </p:sp>
      <p:sp>
        <p:nvSpPr>
          <p:cNvPr id="17" name="Text 15"/>
          <p:cNvSpPr txBox="1"/>
          <p:nvPr/>
        </p:nvSpPr>
        <p:spPr>
          <a:xfrm>
            <a:off x="685800" y="548640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6</a:t>
            </a:r>
            <a:endParaRPr lang="en-US" sz="1600" dirty="0"/>
          </a:p>
        </p:txBody>
      </p:sp>
      <p:sp>
        <p:nvSpPr>
          <p:cNvPr id="18" name="Text 16"/>
          <p:cNvSpPr txBox="1"/>
          <p:nvPr/>
        </p:nvSpPr>
        <p:spPr>
          <a:xfrm>
            <a:off x="1417320" y="544068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Zeigen: Instagram lässt mehrere Links direkt zu — ohne Zusatztool</a:t>
            </a:r>
            <a:endParaRPr lang="en-US" sz="16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1371600"/>
            <a:ext cx="10789920" cy="3931920"/>
          </a:xfrm>
          <a:prstGeom prst="roundRect">
            <a:avLst>
              <a:gd name="adj" fmla="val 2791"/>
            </a:avLst>
          </a:prstGeom>
          <a:solidFill>
            <a:srgbClr val="EAF1F0"/>
          </a:solidFill>
          <a:ln/>
        </p:spPr>
      </p:sp>
      <p:sp>
        <p:nvSpPr>
          <p:cNvPr id="3" name="Text 1"/>
          <p:cNvSpPr txBox="1"/>
          <p:nvPr/>
        </p:nvSpPr>
        <p:spPr>
          <a:xfrm>
            <a:off x="1234440" y="1828800"/>
            <a:ext cx="9692640" cy="457200"/>
          </a:xfrm>
          <a:prstGeom prst="rect">
            <a:avLst/>
          </a:prstGeom>
          <a:noFill/>
          <a:ln/>
        </p:spPr>
        <p:txBody>
          <a:bodyPr wrap="square" rtlCol="0" anchor="ctr"/>
          <a:lstStyle/>
          <a:p>
            <a:pPr indent="0" marL="0">
              <a:buNone/>
            </a:pPr>
            <a:r>
              <a:rPr lang="en-US" sz="1700" b="1" spc="300" kern="0" dirty="0">
                <a:solidFill>
                  <a:srgbClr val="D6832F"/>
                </a:solidFill>
                <a:latin typeface="Calibri" pitchFamily="34" charset="0"/>
                <a:ea typeface="Calibri" pitchFamily="34" charset="-122"/>
                <a:cs typeface="Calibri" pitchFamily="34" charset="-120"/>
              </a:rPr>
              <a:t>DEINE AUFGABE</a:t>
            </a:r>
            <a:endParaRPr lang="en-US" sz="1700" dirty="0"/>
          </a:p>
        </p:txBody>
      </p:sp>
      <p:sp>
        <p:nvSpPr>
          <p:cNvPr id="4" name="Text 2"/>
          <p:cNvSpPr txBox="1"/>
          <p:nvPr/>
        </p:nvSpPr>
        <p:spPr>
          <a:xfrm>
            <a:off x="1234440" y="2377440"/>
            <a:ext cx="9692640" cy="1645920"/>
          </a:xfrm>
          <a:prstGeom prst="rect">
            <a:avLst/>
          </a:prstGeom>
          <a:noFill/>
          <a:ln/>
        </p:spPr>
        <p:txBody>
          <a:bodyPr wrap="square" rtlCol="0" anchor="t"/>
          <a:lstStyle/>
          <a:p>
            <a:pPr indent="0" marL="0">
              <a:buNone/>
            </a:pPr>
            <a:r>
              <a:rPr lang="en-US" sz="2600" b="1" dirty="0">
                <a:solidFill>
                  <a:srgbClr val="1E3A4C"/>
                </a:solidFill>
                <a:latin typeface="Cambria" pitchFamily="34" charset="0"/>
                <a:ea typeface="Cambria" pitchFamily="34" charset="-122"/>
                <a:cs typeface="Cambria" pitchFamily="34" charset="-120"/>
              </a:rPr>
              <a:t>Fünf Highlights angelegt, Link steht.</a:t>
            </a:r>
            <a:endParaRPr lang="en-US" sz="2600" dirty="0"/>
          </a:p>
        </p:txBody>
      </p:sp>
      <p:sp>
        <p:nvSpPr>
          <p:cNvPr id="5" name="Text 3"/>
          <p:cNvSpPr txBox="1"/>
          <p:nvPr/>
        </p:nvSpPr>
        <p:spPr>
          <a:xfrm>
            <a:off x="1234440" y="4434840"/>
            <a:ext cx="4206240" cy="384048"/>
          </a:xfrm>
          <a:prstGeom prst="roundRect">
            <a:avLst>
              <a:gd name="adj" fmla="val 21429"/>
            </a:avLst>
          </a:prstGeom>
          <a:solidFill>
            <a:srgbClr val="D6832F"/>
          </a:solid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WERKSTATT · Station „Schaufenster“</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246888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ALS NÄCHSTES</a:t>
            </a:r>
            <a:endParaRPr lang="en-US" sz="1600" dirty="0"/>
          </a:p>
        </p:txBody>
      </p:sp>
      <p:sp>
        <p:nvSpPr>
          <p:cNvPr id="3" name="Text 1"/>
          <p:cNvSpPr txBox="1"/>
          <p:nvPr/>
        </p:nvSpPr>
        <p:spPr>
          <a:xfrm>
            <a:off x="685800" y="2971800"/>
            <a:ext cx="10789920" cy="1463040"/>
          </a:xfrm>
          <a:prstGeom prst="rect">
            <a:avLst/>
          </a:prstGeom>
          <a:noFill/>
          <a:ln/>
        </p:spPr>
        <p:txBody>
          <a:bodyPr wrap="square" rtlCol="0" anchor="t"/>
          <a:lstStyle/>
          <a:p>
            <a:pPr indent="0" marL="0">
              <a:buNone/>
            </a:pPr>
            <a:r>
              <a:rPr lang="en-US" sz="3000" b="1" dirty="0">
                <a:solidFill>
                  <a:srgbClr val="1E3A4C"/>
                </a:solidFill>
                <a:latin typeface="Cambria" pitchFamily="34" charset="0"/>
                <a:ea typeface="Cambria" pitchFamily="34" charset="-122"/>
                <a:cs typeface="Cambria" pitchFamily="34" charset="-120"/>
              </a:rPr>
              <a:t>Eine letzte Sache, bevor wir posten: dein Konto absichern.</a:t>
            </a:r>
            <a:endParaRPr lang="en-US" sz="3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412480" y="365760"/>
            <a:ext cx="3291840" cy="2926080"/>
          </a:xfrm>
          <a:prstGeom prst="rect">
            <a:avLst/>
          </a:prstGeom>
          <a:noFill/>
          <a:ln/>
        </p:spPr>
        <p:txBody>
          <a:bodyPr wrap="square" lIns="0" tIns="0" rIns="0" bIns="0" rtlCol="0" anchor="t"/>
          <a:lstStyle/>
          <a:p>
            <a:pPr algn="r" indent="0" marL="0">
              <a:buNone/>
            </a:pPr>
            <a:r>
              <a:rPr lang="en-US" sz="20000" b="1" dirty="0">
                <a:solidFill>
                  <a:srgbClr val="EAF1F0"/>
                </a:solidFill>
                <a:latin typeface="Cambria" pitchFamily="34" charset="0"/>
                <a:ea typeface="Cambria" pitchFamily="34" charset="-122"/>
                <a:cs typeface="Cambria" pitchFamily="34" charset="-120"/>
              </a:rPr>
              <a:t>1.5</a:t>
            </a:r>
            <a:endParaRPr lang="en-US" sz="20000" dirty="0"/>
          </a:p>
        </p:txBody>
      </p:sp>
      <p:sp>
        <p:nvSpPr>
          <p:cNvPr id="3" name="Text 1"/>
          <p:cNvSpPr txBox="1"/>
          <p:nvPr/>
        </p:nvSpPr>
        <p:spPr>
          <a:xfrm>
            <a:off x="685800" y="777240"/>
            <a:ext cx="1920240" cy="384048"/>
          </a:xfrm>
          <a:prstGeom prst="roundRect">
            <a:avLst>
              <a:gd name="adj" fmla="val 21429"/>
            </a:avLst>
          </a:prstGeom>
          <a:solidFill>
            <a:srgbClr val="2F6F6F"/>
          </a:solid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LEKTION 1.5</a:t>
            </a:r>
            <a:endParaRPr lang="en-US" sz="1200" dirty="0"/>
          </a:p>
        </p:txBody>
      </p:sp>
      <p:sp>
        <p:nvSpPr>
          <p:cNvPr id="4" name="Text 2"/>
          <p:cNvSpPr txBox="1"/>
          <p:nvPr/>
        </p:nvSpPr>
        <p:spPr>
          <a:xfrm>
            <a:off x="685800" y="1554480"/>
            <a:ext cx="7863840" cy="2377440"/>
          </a:xfrm>
          <a:prstGeom prst="rect">
            <a:avLst/>
          </a:prstGeom>
          <a:noFill/>
          <a:ln/>
        </p:spPr>
        <p:txBody>
          <a:bodyPr wrap="square" rtlCol="0" anchor="t"/>
          <a:lstStyle/>
          <a:p>
            <a:pPr indent="0" marL="0">
              <a:buNone/>
            </a:pPr>
            <a:r>
              <a:rPr lang="en-US" sz="3800" b="1" dirty="0">
                <a:solidFill>
                  <a:srgbClr val="1E3A4C"/>
                </a:solidFill>
                <a:latin typeface="Cambria" pitchFamily="34" charset="0"/>
                <a:ea typeface="Cambria" pitchFamily="34" charset="-122"/>
                <a:cs typeface="Cambria" pitchFamily="34" charset="-120"/>
              </a:rPr>
              <a:t>Fünf Minuten, damit dir dein Konto nicht abhandenkommt</a:t>
            </a:r>
            <a:endParaRPr lang="en-US" sz="3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WAS DU LERNEN WIRST</a:t>
            </a:r>
            <a:endParaRPr lang="en-US" sz="1600" dirty="0"/>
          </a:p>
        </p:txBody>
      </p:sp>
      <p:sp>
        <p:nvSpPr>
          <p:cNvPr id="3" name="Shape 1"/>
          <p:cNvSpPr/>
          <p:nvPr/>
        </p:nvSpPr>
        <p:spPr>
          <a:xfrm>
            <a:off x="685800" y="1828800"/>
            <a:ext cx="566928" cy="566928"/>
          </a:xfrm>
          <a:prstGeom prst="ellipse">
            <a:avLst/>
          </a:prstGeom>
          <a:solidFill>
            <a:srgbClr val="D6832F"/>
          </a:solidFill>
          <a:ln/>
        </p:spPr>
      </p:sp>
      <p:sp>
        <p:nvSpPr>
          <p:cNvPr id="4" name="Text 2"/>
          <p:cNvSpPr txBox="1"/>
          <p:nvPr/>
        </p:nvSpPr>
        <p:spPr>
          <a:xfrm>
            <a:off x="685800" y="1828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1554480" y="1783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Zwei-Faktor einschalten</a:t>
            </a:r>
            <a:endParaRPr lang="en-US" sz="2000" dirty="0"/>
          </a:p>
        </p:txBody>
      </p:sp>
      <p:sp>
        <p:nvSpPr>
          <p:cNvPr id="6" name="Shape 4"/>
          <p:cNvSpPr/>
          <p:nvPr/>
        </p:nvSpPr>
        <p:spPr>
          <a:xfrm>
            <a:off x="685800" y="2971800"/>
            <a:ext cx="566928" cy="566928"/>
          </a:xfrm>
          <a:prstGeom prst="ellipse">
            <a:avLst/>
          </a:prstGeom>
          <a:solidFill>
            <a:srgbClr val="D6832F"/>
          </a:solidFill>
          <a:ln/>
        </p:spPr>
      </p:sp>
      <p:sp>
        <p:nvSpPr>
          <p:cNvPr id="7" name="Text 5"/>
          <p:cNvSpPr txBox="1"/>
          <p:nvPr/>
        </p:nvSpPr>
        <p:spPr>
          <a:xfrm>
            <a:off x="685800" y="2971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8" name="Text 6"/>
          <p:cNvSpPr txBox="1"/>
          <p:nvPr/>
        </p:nvSpPr>
        <p:spPr>
          <a:xfrm>
            <a:off x="1554480" y="2926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Wiederherstellungscodes sichern</a:t>
            </a:r>
            <a:endParaRPr lang="en-US" sz="2000" dirty="0"/>
          </a:p>
        </p:txBody>
      </p:sp>
      <p:sp>
        <p:nvSpPr>
          <p:cNvPr id="9" name="Shape 7"/>
          <p:cNvSpPr/>
          <p:nvPr/>
        </p:nvSpPr>
        <p:spPr>
          <a:xfrm>
            <a:off x="685800" y="4114800"/>
            <a:ext cx="566928" cy="566928"/>
          </a:xfrm>
          <a:prstGeom prst="ellipse">
            <a:avLst/>
          </a:prstGeom>
          <a:solidFill>
            <a:srgbClr val="D6832F"/>
          </a:solidFill>
          <a:ln/>
        </p:spPr>
      </p:sp>
      <p:sp>
        <p:nvSpPr>
          <p:cNvPr id="10" name="Text 8"/>
          <p:cNvSpPr txBox="1"/>
          <p:nvPr/>
        </p:nvSpPr>
        <p:spPr>
          <a:xfrm>
            <a:off x="685800" y="411480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1" name="Text 9"/>
          <p:cNvSpPr txBox="1"/>
          <p:nvPr/>
        </p:nvSpPr>
        <p:spPr>
          <a:xfrm>
            <a:off x="1554480" y="4069080"/>
            <a:ext cx="9784080" cy="822960"/>
          </a:xfrm>
          <a:prstGeom prst="rect">
            <a:avLst/>
          </a:prstGeom>
          <a:noFill/>
          <a:ln/>
        </p:spPr>
        <p:txBody>
          <a:bodyPr wrap="square" rtlCol="0" anchor="ctr"/>
          <a:lstStyle/>
          <a:p>
            <a:pPr indent="0" marL="0">
              <a:buNone/>
            </a:pPr>
            <a:r>
              <a:rPr lang="en-US" sz="2000" dirty="0">
                <a:solidFill>
                  <a:srgbClr val="33413F"/>
                </a:solidFill>
                <a:latin typeface="Calibri" pitchFamily="34" charset="0"/>
                <a:ea typeface="Calibri" pitchFamily="34" charset="-122"/>
                <a:cs typeface="Calibri" pitchFamily="34" charset="-120"/>
              </a:rPr>
              <a:t>Woran du eine gefälschte Nachricht von „Instagram“ erkennst</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68580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DIE DREI REGELN</a:t>
            </a:r>
            <a:endParaRPr lang="en-US" sz="1600" dirty="0"/>
          </a:p>
        </p:txBody>
      </p:sp>
      <p:sp>
        <p:nvSpPr>
          <p:cNvPr id="3" name="Shape 1"/>
          <p:cNvSpPr/>
          <p:nvPr/>
        </p:nvSpPr>
        <p:spPr>
          <a:xfrm>
            <a:off x="685800" y="1737360"/>
            <a:ext cx="502920" cy="502920"/>
          </a:xfrm>
          <a:prstGeom prst="ellipse">
            <a:avLst/>
          </a:prstGeom>
          <a:solidFill>
            <a:srgbClr val="2F6F6F"/>
          </a:solidFill>
          <a:ln/>
        </p:spPr>
      </p:sp>
      <p:sp>
        <p:nvSpPr>
          <p:cNvPr id="4" name="Text 2"/>
          <p:cNvSpPr txBox="1"/>
          <p:nvPr/>
        </p:nvSpPr>
        <p:spPr>
          <a:xfrm>
            <a:off x="685800" y="17373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5" name="Text 3"/>
          <p:cNvSpPr txBox="1"/>
          <p:nvPr/>
        </p:nvSpPr>
        <p:spPr>
          <a:xfrm>
            <a:off x="1508760" y="1691640"/>
            <a:ext cx="9966960" cy="777240"/>
          </a:xfrm>
          <a:prstGeom prst="rect">
            <a:avLst/>
          </a:prstGeom>
          <a:noFill/>
          <a:ln/>
        </p:spPr>
        <p:txBody>
          <a:bodyPr wrap="square" rtlCol="0" anchor="ctr"/>
          <a:lstStyle/>
          <a:p>
            <a:pPr indent="0" marL="0">
              <a:buNone/>
            </a:pPr>
            <a:r>
              <a:rPr lang="en-US" sz="1900" dirty="0">
                <a:solidFill>
                  <a:srgbClr val="33413F"/>
                </a:solidFill>
                <a:latin typeface="Calibri" pitchFamily="34" charset="0"/>
                <a:ea typeface="Calibri" pitchFamily="34" charset="-122"/>
                <a:cs typeface="Calibri" pitchFamily="34" charset="-120"/>
              </a:rPr>
              <a:t>Zwei-Faktor an, per App statt per SMS, wenn du die Wahl hast</a:t>
            </a:r>
            <a:endParaRPr lang="en-US" sz="1900" dirty="0"/>
          </a:p>
        </p:txBody>
      </p:sp>
      <p:sp>
        <p:nvSpPr>
          <p:cNvPr id="6" name="Shape 4"/>
          <p:cNvSpPr/>
          <p:nvPr/>
        </p:nvSpPr>
        <p:spPr>
          <a:xfrm>
            <a:off x="685800" y="2651760"/>
            <a:ext cx="502920" cy="502920"/>
          </a:xfrm>
          <a:prstGeom prst="ellipse">
            <a:avLst/>
          </a:prstGeom>
          <a:solidFill>
            <a:srgbClr val="2F6F6F"/>
          </a:solidFill>
          <a:ln/>
        </p:spPr>
      </p:sp>
      <p:sp>
        <p:nvSpPr>
          <p:cNvPr id="7" name="Text 5"/>
          <p:cNvSpPr txBox="1"/>
          <p:nvPr/>
        </p:nvSpPr>
        <p:spPr>
          <a:xfrm>
            <a:off x="685800" y="26517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8" name="Text 6"/>
          <p:cNvSpPr txBox="1"/>
          <p:nvPr/>
        </p:nvSpPr>
        <p:spPr>
          <a:xfrm>
            <a:off x="1508760" y="2606040"/>
            <a:ext cx="9966960" cy="777240"/>
          </a:xfrm>
          <a:prstGeom prst="rect">
            <a:avLst/>
          </a:prstGeom>
          <a:noFill/>
          <a:ln/>
        </p:spPr>
        <p:txBody>
          <a:bodyPr wrap="square" rtlCol="0" anchor="ctr"/>
          <a:lstStyle/>
          <a:p>
            <a:pPr indent="0" marL="0">
              <a:buNone/>
            </a:pPr>
            <a:r>
              <a:rPr lang="en-US" sz="1900" dirty="0">
                <a:solidFill>
                  <a:srgbClr val="33413F"/>
                </a:solidFill>
                <a:latin typeface="Calibri" pitchFamily="34" charset="0"/>
                <a:ea typeface="Calibri" pitchFamily="34" charset="-122"/>
                <a:cs typeface="Calibri" pitchFamily="34" charset="-120"/>
              </a:rPr>
              <a:t>Codes ausdrucken oder in deinem Passwortmanager sichern</a:t>
            </a:r>
            <a:endParaRPr lang="en-US" sz="1900" dirty="0"/>
          </a:p>
        </p:txBody>
      </p:sp>
      <p:sp>
        <p:nvSpPr>
          <p:cNvPr id="9" name="Shape 7"/>
          <p:cNvSpPr/>
          <p:nvPr/>
        </p:nvSpPr>
        <p:spPr>
          <a:xfrm>
            <a:off x="685800" y="3566160"/>
            <a:ext cx="502920" cy="502920"/>
          </a:xfrm>
          <a:prstGeom prst="ellipse">
            <a:avLst/>
          </a:prstGeom>
          <a:solidFill>
            <a:srgbClr val="2F6F6F"/>
          </a:solidFill>
          <a:ln/>
        </p:spPr>
      </p:sp>
      <p:sp>
        <p:nvSpPr>
          <p:cNvPr id="10" name="Text 8"/>
          <p:cNvSpPr txBox="1"/>
          <p:nvPr/>
        </p:nvSpPr>
        <p:spPr>
          <a:xfrm>
            <a:off x="685800" y="35661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1" name="Text 9"/>
          <p:cNvSpPr txBox="1"/>
          <p:nvPr/>
        </p:nvSpPr>
        <p:spPr>
          <a:xfrm>
            <a:off x="1508760" y="3520440"/>
            <a:ext cx="9966960" cy="777240"/>
          </a:xfrm>
          <a:prstGeom prst="rect">
            <a:avLst/>
          </a:prstGeom>
          <a:noFill/>
          <a:ln/>
        </p:spPr>
        <p:txBody>
          <a:bodyPr wrap="square" rtlCol="0" anchor="ctr"/>
          <a:lstStyle/>
          <a:p>
            <a:pPr indent="0" marL="0">
              <a:buNone/>
            </a:pPr>
            <a:r>
              <a:rPr lang="en-US" sz="1900" dirty="0">
                <a:solidFill>
                  <a:srgbClr val="33413F"/>
                </a:solidFill>
                <a:latin typeface="Calibri" pitchFamily="34" charset="0"/>
                <a:ea typeface="Calibri" pitchFamily="34" charset="-122"/>
                <a:cs typeface="Calibri" pitchFamily="34" charset="-120"/>
              </a:rPr>
              <a:t>Instagram schreibt dir nie per DM, dass dein Konto gelöscht wird</a:t>
            </a:r>
            <a:endParaRPr lang="en-US" sz="1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E3A4C"/>
        </a:solidFill>
      </p:bgPr>
    </p:bg>
    <p:spTree>
      <p:nvGrpSpPr>
        <p:cNvPr id="1" name=""/>
        <p:cNvGrpSpPr/>
        <p:nvPr/>
      </p:nvGrpSpPr>
      <p:grpSpPr>
        <a:xfrm>
          <a:off x="0" y="0"/>
          <a:ext cx="0" cy="0"/>
          <a:chOff x="0" y="0"/>
          <a:chExt cx="0" cy="0"/>
        </a:xfrm>
      </p:grpSpPr>
      <p:sp>
        <p:nvSpPr>
          <p:cNvPr id="2" name="Shape 0"/>
          <p:cNvSpPr/>
          <p:nvPr/>
        </p:nvSpPr>
        <p:spPr>
          <a:xfrm>
            <a:off x="685800" y="731520"/>
            <a:ext cx="546811" cy="1051560"/>
          </a:xfrm>
          <a:prstGeom prst="roundRect">
            <a:avLst>
              <a:gd name="adj" fmla="val 10033"/>
            </a:avLst>
          </a:prstGeom>
          <a:solidFill>
            <a:srgbClr val="D6832F"/>
          </a:solidFill>
          <a:ln/>
        </p:spPr>
      </p:sp>
      <p:sp>
        <p:nvSpPr>
          <p:cNvPr id="3" name="Shape 1"/>
          <p:cNvSpPr/>
          <p:nvPr/>
        </p:nvSpPr>
        <p:spPr>
          <a:xfrm>
            <a:off x="751417" y="868223"/>
            <a:ext cx="415577" cy="651967"/>
          </a:xfrm>
          <a:prstGeom prst="roundRect">
            <a:avLst>
              <a:gd name="adj" fmla="val 4401"/>
            </a:avLst>
          </a:prstGeom>
          <a:solidFill>
            <a:srgbClr val="FFFFFF"/>
          </a:solidFill>
          <a:ln/>
        </p:spPr>
      </p:sp>
      <p:sp>
        <p:nvSpPr>
          <p:cNvPr id="4" name="Shape 2"/>
          <p:cNvSpPr/>
          <p:nvPr/>
        </p:nvSpPr>
        <p:spPr>
          <a:xfrm>
            <a:off x="915461" y="1604315"/>
            <a:ext cx="87490" cy="87490"/>
          </a:xfrm>
          <a:prstGeom prst="ellipse">
            <a:avLst/>
          </a:prstGeom>
          <a:solidFill>
            <a:srgbClr val="FFFFFF"/>
          </a:solidFill>
          <a:ln/>
        </p:spPr>
      </p:sp>
      <p:sp>
        <p:nvSpPr>
          <p:cNvPr id="5" name="Text 3"/>
          <p:cNvSpPr txBox="1"/>
          <p:nvPr/>
        </p:nvSpPr>
        <p:spPr>
          <a:xfrm>
            <a:off x="1600200" y="731520"/>
            <a:ext cx="9875520" cy="548640"/>
          </a:xfrm>
          <a:prstGeom prst="rect">
            <a:avLst/>
          </a:prstGeom>
          <a:noFill/>
          <a:ln/>
        </p:spPr>
        <p:txBody>
          <a:bodyPr wrap="square" rtlCol="0" anchor="ctr"/>
          <a:lstStyle/>
          <a:p>
            <a:pPr indent="0" marL="0">
              <a:buNone/>
            </a:pPr>
            <a:r>
              <a:rPr lang="en-US" sz="2000" b="1" spc="300" kern="0" dirty="0">
                <a:solidFill>
                  <a:srgbClr val="D6832F"/>
                </a:solidFill>
                <a:latin typeface="Calibri" pitchFamily="34" charset="0"/>
                <a:ea typeface="Calibri" pitchFamily="34" charset="-122"/>
                <a:cs typeface="Calibri" pitchFamily="34" charset="-120"/>
              </a:rPr>
              <a:t>JETZT AM HANDY MIT</a:t>
            </a:r>
            <a:endParaRPr lang="en-US" sz="2000" dirty="0"/>
          </a:p>
        </p:txBody>
      </p:sp>
      <p:sp>
        <p:nvSpPr>
          <p:cNvPr id="6" name="Text 4"/>
          <p:cNvSpPr txBox="1"/>
          <p:nvPr/>
        </p:nvSpPr>
        <p:spPr>
          <a:xfrm>
            <a:off x="1600200" y="1234440"/>
            <a:ext cx="9875520" cy="548640"/>
          </a:xfrm>
          <a:prstGeom prst="rect">
            <a:avLst/>
          </a:prstGeom>
          <a:noFill/>
          <a:ln/>
        </p:spPr>
        <p:txBody>
          <a:bodyPr wrap="square" rtlCol="0" anchor="ctr"/>
          <a:lstStyle/>
          <a:p>
            <a:pPr indent="0" marL="0">
              <a:buNone/>
            </a:pPr>
            <a:r>
              <a:rPr lang="en-US" sz="1800" i="1" dirty="0">
                <a:solidFill>
                  <a:srgbClr val="F1ECDD"/>
                </a:solidFill>
                <a:latin typeface="Calibri" pitchFamily="34" charset="0"/>
                <a:ea typeface="Calibri" pitchFamily="34" charset="-122"/>
                <a:cs typeface="Calibri" pitchFamily="34" charset="-120"/>
              </a:rPr>
              <a:t>Zwei-Faktor-Authentifizierung einschalten</a:t>
            </a:r>
            <a:endParaRPr lang="en-US" sz="1800" dirty="0"/>
          </a:p>
        </p:txBody>
      </p:sp>
      <p:sp>
        <p:nvSpPr>
          <p:cNvPr id="7" name="Text 5"/>
          <p:cNvSpPr txBox="1"/>
          <p:nvPr/>
        </p:nvSpPr>
        <p:spPr>
          <a:xfrm>
            <a:off x="685800" y="228600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1</a:t>
            </a:r>
            <a:endParaRPr lang="en-US" sz="1600" dirty="0"/>
          </a:p>
        </p:txBody>
      </p:sp>
      <p:sp>
        <p:nvSpPr>
          <p:cNvPr id="8" name="Text 6"/>
          <p:cNvSpPr txBox="1"/>
          <p:nvPr/>
        </p:nvSpPr>
        <p:spPr>
          <a:xfrm>
            <a:off x="1417320" y="224028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Einstellungen → Kontenübersicht → Passwort und Sicherheit → Zwei-Faktor</a:t>
            </a:r>
            <a:endParaRPr lang="en-US" sz="1650" dirty="0"/>
          </a:p>
        </p:txBody>
      </p:sp>
      <p:sp>
        <p:nvSpPr>
          <p:cNvPr id="9" name="Text 7"/>
          <p:cNvSpPr txBox="1"/>
          <p:nvPr/>
        </p:nvSpPr>
        <p:spPr>
          <a:xfrm>
            <a:off x="685800" y="3063240"/>
            <a:ext cx="457200" cy="457200"/>
          </a:xfrm>
          <a:prstGeom prst="ellipse">
            <a:avLst/>
          </a:prstGeom>
          <a:solidFill>
            <a:srgbClr val="F1ECDD"/>
          </a:solidFill>
          <a:ln/>
        </p:spPr>
        <p:txBody>
          <a:bodyPr wrap="square" lIns="0" tIns="0" rIns="0" bIns="0" rtlCol="0" anchor="ctr"/>
          <a:lstStyle/>
          <a:p>
            <a:pPr algn="ctr" indent="0" marL="0">
              <a:buNone/>
            </a:pPr>
            <a:r>
              <a:rPr lang="en-US" sz="1600" b="1" dirty="0">
                <a:solidFill>
                  <a:srgbClr val="1E3A4C"/>
                </a:solidFill>
                <a:latin typeface="Cambria" pitchFamily="34" charset="0"/>
                <a:ea typeface="Cambria" pitchFamily="34" charset="-122"/>
                <a:cs typeface="Cambria" pitchFamily="34" charset="-120"/>
              </a:rPr>
              <a:t>2</a:t>
            </a:r>
            <a:endParaRPr lang="en-US" sz="1600" dirty="0"/>
          </a:p>
        </p:txBody>
      </p:sp>
      <p:sp>
        <p:nvSpPr>
          <p:cNvPr id="10" name="Text 8"/>
          <p:cNvSpPr txBox="1"/>
          <p:nvPr/>
        </p:nvSpPr>
        <p:spPr>
          <a:xfrm>
            <a:off x="1417320" y="3017520"/>
            <a:ext cx="10058400" cy="640080"/>
          </a:xfrm>
          <a:prstGeom prst="rect">
            <a:avLst/>
          </a:prstGeom>
          <a:noFill/>
          <a:ln/>
        </p:spPr>
        <p:txBody>
          <a:bodyPr wrap="square" rtlCol="0" anchor="ctr"/>
          <a:lstStyle/>
          <a:p>
            <a:pPr indent="0" marL="0">
              <a:buNone/>
            </a:pPr>
            <a:r>
              <a:rPr lang="en-US" sz="1650" dirty="0">
                <a:solidFill>
                  <a:srgbClr val="FFFFFF"/>
                </a:solidFill>
                <a:latin typeface="Calibri" pitchFamily="34" charset="0"/>
                <a:ea typeface="Calibri" pitchFamily="34" charset="-122"/>
                <a:cs typeface="Calibri" pitchFamily="34" charset="-120"/>
              </a:rPr>
              <a:t>Methode wählen (App bevorzugt), Codes sichern</a:t>
            </a:r>
            <a:endParaRPr lang="en-US" sz="16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E3A4C"/>
        </a:solidFill>
      </p:bgPr>
    </p:bg>
    <p:spTree>
      <p:nvGrpSpPr>
        <p:cNvPr id="1" name=""/>
        <p:cNvGrpSpPr/>
        <p:nvPr/>
      </p:nvGrpSpPr>
      <p:grpSpPr>
        <a:xfrm>
          <a:off x="0" y="0"/>
          <a:ext cx="0" cy="0"/>
          <a:chOff x="0" y="0"/>
          <a:chExt cx="0" cy="0"/>
        </a:xfrm>
      </p:grpSpPr>
      <p:sp>
        <p:nvSpPr>
          <p:cNvPr id="2" name="Text 0"/>
          <p:cNvSpPr txBox="1"/>
          <p:nvPr/>
        </p:nvSpPr>
        <p:spPr>
          <a:xfrm>
            <a:off x="685800" y="822960"/>
            <a:ext cx="3291840" cy="384048"/>
          </a:xfrm>
          <a:prstGeom prst="roundRect">
            <a:avLst>
              <a:gd name="adj" fmla="val 21429"/>
            </a:avLst>
          </a:prstGeom>
          <a:solidFill>
            <a:srgbClr val="D6832F"/>
          </a:solid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MODUL 1 · ABGESCHLOSSEN</a:t>
            </a:r>
            <a:endParaRPr lang="en-US" sz="1200" dirty="0"/>
          </a:p>
        </p:txBody>
      </p:sp>
      <p:sp>
        <p:nvSpPr>
          <p:cNvPr id="3" name="Text 1"/>
          <p:cNvSpPr txBox="1"/>
          <p:nvPr/>
        </p:nvSpPr>
        <p:spPr>
          <a:xfrm>
            <a:off x="685800" y="1554480"/>
            <a:ext cx="10789920" cy="109728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Dein Profil steht.</a:t>
            </a:r>
            <a:endParaRPr lang="en-US" sz="4600" dirty="0"/>
          </a:p>
        </p:txBody>
      </p:sp>
      <p:sp>
        <p:nvSpPr>
          <p:cNvPr id="4" name="Text 2"/>
          <p:cNvSpPr txBox="1"/>
          <p:nvPr/>
        </p:nvSpPr>
        <p:spPr>
          <a:xfrm>
            <a:off x="685800" y="2834640"/>
            <a:ext cx="10789920" cy="1463040"/>
          </a:xfrm>
          <a:prstGeom prst="rect">
            <a:avLst/>
          </a:prstGeom>
          <a:noFill/>
          <a:ln/>
        </p:spPr>
        <p:txBody>
          <a:bodyPr wrap="square" rtlCol="0" anchor="t"/>
          <a:lstStyle/>
          <a:p>
            <a:pPr indent="0" marL="0">
              <a:buNone/>
            </a:pPr>
            <a:r>
              <a:rPr lang="en-US" sz="2000" dirty="0">
                <a:solidFill>
                  <a:srgbClr val="F1ECDD"/>
                </a:solidFill>
                <a:latin typeface="Calibri" pitchFamily="34" charset="0"/>
                <a:ea typeface="Calibri" pitchFamily="34" charset="-122"/>
                <a:cs typeface="Calibri" pitchFamily="34" charset="-120"/>
              </a:rPr>
              <a:t>Name, Bio, Highlights, Link, Sicherheit. Schau es dir jetzt einmal so an, wie es eine Fremde sieht.</a:t>
            </a:r>
            <a:endParaRPr lang="en-US" sz="2000" dirty="0"/>
          </a:p>
        </p:txBody>
      </p:sp>
      <p:sp>
        <p:nvSpPr>
          <p:cNvPr id="5" name="Text 3"/>
          <p:cNvSpPr txBox="1"/>
          <p:nvPr/>
        </p:nvSpPr>
        <p:spPr>
          <a:xfrm>
            <a:off x="685800" y="4572000"/>
            <a:ext cx="4206240" cy="384048"/>
          </a:xfrm>
          <a:prstGeom prst="roundRect">
            <a:avLst>
              <a:gd name="adj" fmla="val 21429"/>
            </a:avLst>
          </a:prstGeom>
          <a:solidFill>
            <a:srgbClr val="2F6F6F"/>
          </a:solidFill>
          <a:ln/>
        </p:spPr>
        <p:txBody>
          <a:bodyPr wrap="square" lIns="0" tIns="0" rIns="0" bIns="0" rtlCol="0" anchor="ctr"/>
          <a:lstStyle/>
          <a:p>
            <a:pPr algn="ctr" indent="0" marL="0">
              <a:buNone/>
            </a:pPr>
            <a:r>
              <a:rPr lang="en-US" sz="1200" b="1" spc="200" kern="0" dirty="0">
                <a:solidFill>
                  <a:srgbClr val="FFFFFF"/>
                </a:solidFill>
                <a:latin typeface="Calibri" pitchFamily="34" charset="0"/>
                <a:ea typeface="Calibri" pitchFamily="34" charset="-122"/>
                <a:cs typeface="Calibri" pitchFamily="34" charset="-120"/>
              </a:rPr>
              <a:t>WERKSTATT · Station „Profil-Check“</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2468880"/>
            <a:ext cx="10789920" cy="457200"/>
          </a:xfrm>
          <a:prstGeom prst="rect">
            <a:avLst/>
          </a:prstGeom>
          <a:noFill/>
          <a:ln/>
        </p:spPr>
        <p:txBody>
          <a:bodyPr wrap="square" rtlCol="0" anchor="ctr"/>
          <a:lstStyle/>
          <a:p>
            <a:pPr indent="0" marL="0">
              <a:buNone/>
            </a:pPr>
            <a:r>
              <a:rPr lang="en-US" sz="1600" b="1" spc="300" kern="0" dirty="0">
                <a:solidFill>
                  <a:srgbClr val="2F6F6F"/>
                </a:solidFill>
                <a:latin typeface="Calibri" pitchFamily="34" charset="0"/>
                <a:ea typeface="Calibri" pitchFamily="34" charset="-122"/>
                <a:cs typeface="Calibri" pitchFamily="34" charset="-120"/>
              </a:rPr>
              <a:t>ALS NÄCHSTES</a:t>
            </a:r>
            <a:endParaRPr lang="en-US" sz="1600" dirty="0"/>
          </a:p>
        </p:txBody>
      </p:sp>
      <p:sp>
        <p:nvSpPr>
          <p:cNvPr id="3" name="Text 1"/>
          <p:cNvSpPr txBox="1"/>
          <p:nvPr/>
        </p:nvSpPr>
        <p:spPr>
          <a:xfrm>
            <a:off x="685800" y="2971800"/>
            <a:ext cx="10789920" cy="1463040"/>
          </a:xfrm>
          <a:prstGeom prst="rect">
            <a:avLst/>
          </a:prstGeom>
          <a:noFill/>
          <a:ln/>
        </p:spPr>
        <p:txBody>
          <a:bodyPr wrap="square" rtlCol="0" anchor="t"/>
          <a:lstStyle/>
          <a:p>
            <a:pPr indent="0" marL="0">
              <a:buNone/>
            </a:pPr>
            <a:r>
              <a:rPr lang="en-US" sz="3000" b="1" dirty="0">
                <a:solidFill>
                  <a:srgbClr val="1E3A4C"/>
                </a:solidFill>
                <a:latin typeface="Cambria" pitchFamily="34" charset="0"/>
                <a:ea typeface="Cambria" pitchFamily="34" charset="-122"/>
                <a:cs typeface="Cambria" pitchFamily="34" charset="-120"/>
              </a:rPr>
              <a:t>Modul 2: jetzt posten wir. Reel, Karussell, Story — und ich zeig dir jedes einzeln.</a:t>
            </a:r>
            <a:endParaRPr lang="en-US" sz="3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2026-09-11T07:47:52Z</dcterms:created>
  <dcterms:modified xsi:type="dcterms:W3CDTF">2026-09-11T07:47:52Z</dcterms:modified>
</cp:coreProperties>
</file>