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 Am Ende hat sie ein Reel, ein Karussell und eine Story hochgeladen — echt auf ihrem Profil. Abgrenzung: hier geht es um BEDIENUNG, nicht um Strategie. Was sie inhaltlich sagt, gehört in die Instagram-Kundenmaschine.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wir irgendwas hochladen, sortieren wir kurz. Wenn du weisst, wofür welches Format da ist, hörst du auf, dich zu fragen, ob du das jetzt als Story oder als Beitrag machen sollst.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 dir das so: Reels holen neue Leute rein. Beiträge überzeugen die, die dich gerade entdeckt haben. Stories machen aus Zuschauerinnen Kundinnen. Alle drei brauchst du, aber in dieser Reihenfolge.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auch der Grund, warum wir gleich mit dem Reel anfangen und nicht mit dem schönen Karussell, an dem du zwei Stunden basteln könntest.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Punkt, an dem die meisten aussteigen. Also machen wir es so einfach wie irgend möglich. Du sagst einen Satz in die Kamera. Mehr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Nimm es einmal auf. Wenn es dir nicht gefällt, nimmst du es ein zweites Mal auf. Nach dem dritten Mal wird es nicht mehr besser, es wird nur steifer.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Text achte darauf, dass er nicht ganz unten sitzt. Da liegt bei vielen Handys die Beschriftung drüber und dann liest ihn keiner.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lieber einen Tippfehler stehen lassen als löschen und neu hochladen. Kein Mensch ausser dir sieht den Tippfehler. Die Reichweite siehst du dagegen sofort.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Karussell sind mehrere Bilder, die man durchwischt. Klingt aufwendig, ist es nicht, sobald du einmal eine Vorlage hast.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Gedanke pro Folie. Wenn du merkst, du schreibst einen zweiten Satz drauf, mach eine neue Folie draus. Und wenn es dann mehr als zehn sind, hast du zwei Karussells statt einem.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Antippen bestimmt die Reihenfolge, nicht die Dateiliste. Wenn du falsch tippst, wischt sich dein Karussell rückwärts. Passiert jeder einmal.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Stories sind ungeschminkt und verschwinden wieder. Genau deshalb sind sie am einfachsten. Du musst hier nichts abliefern.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Jeder Tipp auf einen Sticker ist ein Signal an Instagram, dass deine Story interessant war. Und jede Antwort in der Frage-Box ist ein Gespräch, das du sonst nie gehabt hättest.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Schau dir immer an, wer abgestimmt hat. Das sind die Menschen, die dich schon interessant finden. Die schreibst du später an, wenn du soweit bist.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räumen wir mit ein paar Sachen auf, an denen du sonst Stunden verlierst. Ich sag dir für jede einzelne, wie viel Aufmerksamkeit sie verdient.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Hashtags waren vor Jahren mal ein Hebel. Heute sind sie eine Einordnung und kein Wachstums-Motor. Fünf reichen. Nimm die, die dein Thema beschreiben, und nicht die, die am grössten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Dein wichtigster Satz gehört ganz nach oben. Instinktiv schreibst du ihn ans Ende, und da liest ihn keiner. Fang nie mit „Guten Morgen ihr Lieben“ an. Das kostet dich deine besten zwei Zeilen.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geil ist das denn. Vor einer Woche wusstest du nicht, wo du drücken sollst, und jetzt sind drei Sachen von dir online. Das war der schwerste 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4C"/>
        </a:solidFill>
      </p:bgPr>
    </p:bg>
    <p:spTree>
      <p:nvGrpSpPr>
        <p:cNvPr id="1" name=""/>
        <p:cNvGrpSpPr/>
        <p:nvPr/>
      </p:nvGrpSpPr>
      <p:grpSpPr>
        <a:xfrm>
          <a:off x="0" y="0"/>
          <a:ext cx="0" cy="0"/>
          <a:chOff x="0" y="0"/>
          <a:chExt cx="0" cy="0"/>
        </a:xfrm>
      </p:grpSpPr>
      <p:sp>
        <p:nvSpPr>
          <p:cNvPr id="2" name="Text 0"/>
          <p:cNvSpPr txBox="1"/>
          <p:nvPr/>
        </p:nvSpPr>
        <p:spPr>
          <a:xfrm>
            <a:off x="685800" y="2011680"/>
            <a:ext cx="10789920" cy="457200"/>
          </a:xfrm>
          <a:prstGeom prst="rect">
            <a:avLst/>
          </a:prstGeom>
          <a:noFill/>
          <a:ln/>
        </p:spPr>
        <p:txBody>
          <a:bodyPr wrap="square" rtlCol="0" anchor="ctr"/>
          <a:lstStyle/>
          <a:p>
            <a:pPr indent="0" marL="0">
              <a:buNone/>
            </a:pPr>
            <a:r>
              <a:rPr lang="en-US" sz="1600" b="1" spc="400" kern="0" dirty="0">
                <a:solidFill>
                  <a:srgbClr val="D6832F"/>
                </a:solidFill>
                <a:latin typeface="Calibri" pitchFamily="34" charset="0"/>
                <a:ea typeface="Calibri" pitchFamily="34" charset="-122"/>
                <a:cs typeface="Calibri" pitchFamily="34" charset="-120"/>
              </a:rPr>
              <a:t>STARTKLAR · MODUL 2</a:t>
            </a:r>
            <a:endParaRPr lang="en-US" sz="1600" dirty="0"/>
          </a:p>
        </p:txBody>
      </p:sp>
      <p:sp>
        <p:nvSpPr>
          <p:cNvPr id="3" name="Text 1"/>
          <p:cNvSpPr txBox="1"/>
          <p:nvPr/>
        </p:nvSpPr>
        <p:spPr>
          <a:xfrm>
            <a:off x="685800" y="2468880"/>
            <a:ext cx="10789920" cy="137160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Du kannst posten</a:t>
            </a:r>
            <a:endParaRPr lang="en-US" sz="5400" dirty="0"/>
          </a:p>
        </p:txBody>
      </p:sp>
      <p:sp>
        <p:nvSpPr>
          <p:cNvPr id="4" name="Text 2"/>
          <p:cNvSpPr txBox="1"/>
          <p:nvPr/>
        </p:nvSpPr>
        <p:spPr>
          <a:xfrm>
            <a:off x="685800" y="3886200"/>
            <a:ext cx="10789920" cy="548640"/>
          </a:xfrm>
          <a:prstGeom prst="rect">
            <a:avLst/>
          </a:prstGeom>
          <a:noFill/>
          <a:ln/>
        </p:spPr>
        <p:txBody>
          <a:bodyPr wrap="square" rtlCol="0" anchor="ctr"/>
          <a:lstStyle/>
          <a:p>
            <a:pPr indent="0" marL="0">
              <a:buNone/>
            </a:pPr>
            <a:r>
              <a:rPr lang="en-US" sz="2000" i="1" dirty="0">
                <a:solidFill>
                  <a:srgbClr val="F1ECDD"/>
                </a:solidFill>
                <a:latin typeface="Calibri" pitchFamily="34" charset="0"/>
                <a:ea typeface="Calibri" pitchFamily="34" charset="-122"/>
                <a:cs typeface="Calibri" pitchFamily="34" charset="-120"/>
              </a:rPr>
              <a:t>5 Lektionen · rund 46 Minuten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2.1</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2.1</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Die drei Sorten Beitrag — in normaler Sprache</a:t>
            </a:r>
            <a:endParaRPr lang="en-US"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Was ein Reel von einem normalen Beitrag unterscheidet</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Warum Stories nach 24 Stunden weg sind und das ein Vorteil ist</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Wo dein Beitrag landet, wenn dich noch niemand kennt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DREI FORMATE</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Reel  </a:t>
            </a:r>
            <a:pPr indent="0" marL="0">
              <a:buNone/>
            </a:pPr>
            <a:r>
              <a:rPr lang="en-US" sz="1900" dirty="0">
                <a:solidFill>
                  <a:srgbClr val="33413F"/>
                </a:solidFill>
                <a:latin typeface="Calibri" pitchFamily="34" charset="0"/>
                <a:ea typeface="Calibri" pitchFamily="34" charset="-122"/>
                <a:cs typeface="Calibri" pitchFamily="34" charset="-120"/>
              </a:rPr>
              <a:t>kurzes Video. Wird auch Leuten gezeigt, die dir nicht folgen. Dein Weg zu neuen Menschen.</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Beitrag / Karussell  </a:t>
            </a:r>
            <a:pPr indent="0" marL="0">
              <a:buNone/>
            </a:pPr>
            <a:r>
              <a:rPr lang="en-US" sz="1900" dirty="0">
                <a:solidFill>
                  <a:srgbClr val="33413F"/>
                </a:solidFill>
                <a:latin typeface="Calibri" pitchFamily="34" charset="0"/>
                <a:ea typeface="Calibri" pitchFamily="34" charset="-122"/>
                <a:cs typeface="Calibri" pitchFamily="34" charset="-120"/>
              </a:rPr>
              <a:t>Bilder zum Durchwischen. Bleiben auf deinem Profil stehen. Dein Beweis, dass du etwas kannst.</a:t>
            </a:r>
            <a:endParaRPr lang="en-US" sz="1900" dirty="0"/>
          </a:p>
        </p:txBody>
      </p:sp>
      <p:sp>
        <p:nvSpPr>
          <p:cNvPr id="5" name="Text 3"/>
          <p:cNvSpPr txBox="1"/>
          <p:nvPr/>
        </p:nvSpPr>
        <p:spPr>
          <a:xfrm>
            <a:off x="685800" y="35204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Story  </a:t>
            </a:r>
            <a:pPr indent="0" marL="0">
              <a:buNone/>
            </a:pPr>
            <a:r>
              <a:rPr lang="en-US" sz="1900" dirty="0">
                <a:solidFill>
                  <a:srgbClr val="33413F"/>
                </a:solidFill>
                <a:latin typeface="Calibri" pitchFamily="34" charset="0"/>
                <a:ea typeface="Calibri" pitchFamily="34" charset="-122"/>
                <a:cs typeface="Calibri" pitchFamily="34" charset="-120"/>
              </a:rPr>
              <a:t>verschwindet nach 24 Stunden. Sehen fast nur Leute, die dir folgen. Dein Gespräch mit denen, die schon da sind.</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DAS FÜR DICH HEISST</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Wenn dich noch niemand kennt, sind Reels dein Hebel.</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Wenn dich jemand kennt, entscheiden deine Stories.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Jetzt dein erstes Reel. Wir nehmen es zusammen auf.</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2.2</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2.2</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Dein erstes Reel — und ja, du bist drauf</a:t>
            </a:r>
            <a:endParaRPr lang="en-US" sz="3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Aufnehmen direkt in Instagram oder vorher mit der Handykamera</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Text auf dein Video legen</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Cover, Titel, hochladen</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77724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DEIN ÜBUNGS-REEL</a:t>
            </a:r>
            <a:endParaRPr lang="en-US" sz="1600" dirty="0"/>
          </a:p>
        </p:txBody>
      </p:sp>
      <p:sp>
        <p:nvSpPr>
          <p:cNvPr id="3" name="Text 1"/>
          <p:cNvSpPr txBox="1"/>
          <p:nvPr/>
        </p:nvSpPr>
        <p:spPr>
          <a:xfrm>
            <a:off x="685800" y="1920240"/>
            <a:ext cx="10789920" cy="1828800"/>
          </a:xfrm>
          <a:prstGeom prst="rect">
            <a:avLst/>
          </a:prstGeom>
          <a:noFill/>
          <a:ln/>
        </p:spPr>
        <p:txBody>
          <a:bodyPr wrap="square" rtlCol="0" anchor="t"/>
          <a:lstStyle/>
          <a:p>
            <a:pPr indent="0" marL="0">
              <a:buNone/>
            </a:pPr>
            <a:r>
              <a:rPr lang="en-US" sz="3200" b="1" i="1" dirty="0">
                <a:solidFill>
                  <a:srgbClr val="1E3A4C"/>
                </a:solidFill>
                <a:latin typeface="Cambria" pitchFamily="34" charset="0"/>
                <a:ea typeface="Cambria" pitchFamily="34" charset="-122"/>
                <a:cs typeface="Cambria" pitchFamily="34" charset="-120"/>
              </a:rPr>
              <a:t>„Ich bin [Name] und ich zeig dir hier, wie du als Mama zu mehr [dein Thema] kommst.“</a:t>
            </a:r>
            <a:endParaRPr lang="en-US" sz="3200" dirty="0"/>
          </a:p>
        </p:txBody>
      </p:sp>
      <p:sp>
        <p:nvSpPr>
          <p:cNvPr id="4" name="Text 2"/>
          <p:cNvSpPr txBox="1"/>
          <p:nvPr/>
        </p:nvSpPr>
        <p:spPr>
          <a:xfrm>
            <a:off x="685800" y="4297680"/>
            <a:ext cx="10789920" cy="1097280"/>
          </a:xfrm>
          <a:prstGeom prst="rect">
            <a:avLst/>
          </a:prstGeom>
          <a:noFill/>
          <a:ln/>
        </p:spPr>
        <p:txBody>
          <a:bodyPr wrap="square" rtlCol="0" anchor="t"/>
          <a:lstStyle/>
          <a:p>
            <a:pPr indent="0" marL="0">
              <a:buNone/>
            </a:pPr>
            <a:r>
              <a:rPr lang="en-US" sz="1900" dirty="0">
                <a:solidFill>
                  <a:srgbClr val="33413F"/>
                </a:solidFill>
                <a:latin typeface="Calibri" pitchFamily="34" charset="0"/>
                <a:ea typeface="Calibri" pitchFamily="34" charset="-122"/>
                <a:cs typeface="Calibri" pitchFamily="34" charset="-120"/>
              </a:rPr>
              <a:t>Sieben Sekunden Video, ein Satz — entschieden wird in den ersten zwei bis dreien. Das ist kein Meisterwerk. Das ist dein erster Klick.</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Reel aufnehmen und hochladen</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Plus-Symbol oben rechts → „Reel“</a:t>
            </a:r>
            <a:endParaRPr lang="en-US" sz="1650" dirty="0"/>
          </a:p>
        </p:txBody>
      </p:sp>
      <p:sp>
        <p:nvSpPr>
          <p:cNvPr id="9" name="Text 7"/>
          <p:cNvSpPr txBox="1"/>
          <p:nvPr/>
        </p:nvSpPr>
        <p:spPr>
          <a:xfrm>
            <a:off x="685800" y="29260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803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Direkt in der App aufnehmen — oder mit der Handykamera aufnehmen und aus der Galerie hochladen (entspannter)</a:t>
            </a:r>
            <a:endParaRPr lang="en-US" sz="1650" dirty="0"/>
          </a:p>
        </p:txBody>
      </p:sp>
      <p:sp>
        <p:nvSpPr>
          <p:cNvPr id="11" name="Text 9"/>
          <p:cNvSpPr txBox="1"/>
          <p:nvPr/>
        </p:nvSpPr>
        <p:spPr>
          <a:xfrm>
            <a:off x="685800" y="370332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65760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Text hinzufügen: Schriftart, Grösse, Dauer einstellen</a:t>
            </a:r>
            <a:endParaRPr lang="en-US" sz="1650" dirty="0"/>
          </a:p>
        </p:txBody>
      </p:sp>
      <p:sp>
        <p:nvSpPr>
          <p:cNvPr id="13" name="Text 11"/>
          <p:cNvSpPr txBox="1"/>
          <p:nvPr/>
        </p:nvSpPr>
        <p:spPr>
          <a:xfrm>
            <a:off x="685800" y="43434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17320" y="42976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Musik dazulegen und leise stellen, damit die Stimme vorne bleibt</a:t>
            </a:r>
            <a:endParaRPr lang="en-US" sz="1650" dirty="0"/>
          </a:p>
        </p:txBody>
      </p:sp>
      <p:sp>
        <p:nvSpPr>
          <p:cNvPr id="15" name="Text 13"/>
          <p:cNvSpPr txBox="1"/>
          <p:nvPr/>
        </p:nvSpPr>
        <p:spPr>
          <a:xfrm>
            <a:off x="685800" y="49834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5</a:t>
            </a:r>
            <a:endParaRPr lang="en-US" sz="1600" dirty="0"/>
          </a:p>
        </p:txBody>
      </p:sp>
      <p:sp>
        <p:nvSpPr>
          <p:cNvPr id="16" name="Text 14"/>
          <p:cNvSpPr txBox="1"/>
          <p:nvPr/>
        </p:nvSpPr>
        <p:spPr>
          <a:xfrm>
            <a:off x="1417320" y="49377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Cover wählen — Standbild aus dem Video oder Bild aus der Galerie</a:t>
            </a:r>
            <a:endParaRPr lang="en-US" sz="1650" dirty="0"/>
          </a:p>
        </p:txBody>
      </p:sp>
      <p:sp>
        <p:nvSpPr>
          <p:cNvPr id="17" name="Text 15"/>
          <p:cNvSpPr txBox="1"/>
          <p:nvPr/>
        </p:nvSpPr>
        <p:spPr>
          <a:xfrm>
            <a:off x="685800" y="56235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6</a:t>
            </a:r>
            <a:endParaRPr lang="en-US" sz="1600" dirty="0"/>
          </a:p>
        </p:txBody>
      </p:sp>
      <p:sp>
        <p:nvSpPr>
          <p:cNvPr id="18" name="Text 16"/>
          <p:cNvSpPr txBox="1"/>
          <p:nvPr/>
        </p:nvSpPr>
        <p:spPr>
          <a:xfrm>
            <a:off x="1417320" y="55778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Beschreibung tippen, „Teilen“ — danach zeigen, wo das Reel auf dem Profil landet</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DER FEHLER, DER REICHWEITE KOSTET</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Reel gelöscht und neu hochgeladen, weil ein Tippfehler drin war? Instagram fängt bei null an.</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Merke:  </a:t>
            </a:r>
            <a:pPr indent="0" marL="0">
              <a:buNone/>
            </a:pPr>
            <a:r>
              <a:rPr lang="en-US" sz="1900" dirty="0">
                <a:solidFill>
                  <a:srgbClr val="33413F"/>
                </a:solidFill>
                <a:latin typeface="Calibri" pitchFamily="34" charset="0"/>
                <a:ea typeface="Calibri" pitchFamily="34" charset="-122"/>
                <a:cs typeface="Calibri" pitchFamily="34" charset="-120"/>
              </a:rPr>
              <a:t>Der Text unter dem Video lässt sich nachträglich ändern — das Video selbst nicht.</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Ein Reel ist online. Deinen ersten Satz vorher durch die Werkstatt.</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„Reel-Hook“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Als Nächstes: dein erstes Karussell, von Canva bis auf dein Profil.</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2.3</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2.3</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Karussell bauen, ohne Designerin zu sein</a:t>
            </a:r>
            <a:endParaRPr lang="en-US" sz="3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Das richtige Format in Canva anlegen</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Sechs Folien in zwanzig Minuten</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Als Bilder exportieren und hochladen</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KARUSSELL-GRUNDFORM</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Folie 1:  </a:t>
            </a:r>
            <a:pPr indent="0" marL="0">
              <a:buNone/>
            </a:pPr>
            <a:r>
              <a:rPr lang="en-US" sz="1900" dirty="0">
                <a:solidFill>
                  <a:srgbClr val="33413F"/>
                </a:solidFill>
                <a:latin typeface="Calibri" pitchFamily="34" charset="0"/>
                <a:ea typeface="Calibri" pitchFamily="34" charset="-122"/>
                <a:cs typeface="Calibri" pitchFamily="34" charset="-120"/>
              </a:rPr>
              <a:t>eine Aussage, die hängen bleibt</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Folie 2–5:  </a:t>
            </a:r>
            <a:pPr indent="0" marL="0">
              <a:buNone/>
            </a:pPr>
            <a:r>
              <a:rPr lang="en-US" sz="1900" dirty="0">
                <a:solidFill>
                  <a:srgbClr val="33413F"/>
                </a:solidFill>
                <a:latin typeface="Calibri" pitchFamily="34" charset="0"/>
                <a:ea typeface="Calibri" pitchFamily="34" charset="-122"/>
                <a:cs typeface="Calibri" pitchFamily="34" charset="-120"/>
              </a:rPr>
              <a:t>je ein Gedanke pro Folie</a:t>
            </a:r>
            <a:endParaRPr lang="en-US" sz="1900" dirty="0"/>
          </a:p>
        </p:txBody>
      </p:sp>
      <p:sp>
        <p:nvSpPr>
          <p:cNvPr id="5" name="Text 3"/>
          <p:cNvSpPr txBox="1"/>
          <p:nvPr/>
        </p:nvSpPr>
        <p:spPr>
          <a:xfrm>
            <a:off x="685800" y="35204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Folie 6:  </a:t>
            </a:r>
            <a:pPr indent="0" marL="0">
              <a:buNone/>
            </a:pPr>
            <a:r>
              <a:rPr lang="en-US" sz="1900" dirty="0">
                <a:solidFill>
                  <a:srgbClr val="33413F"/>
                </a:solidFill>
                <a:latin typeface="Calibri" pitchFamily="34" charset="0"/>
                <a:ea typeface="Calibri" pitchFamily="34" charset="-122"/>
                <a:cs typeface="Calibri" pitchFamily="34" charset="-120"/>
              </a:rPr>
              <a:t>was sie jetzt tun soll</a:t>
            </a:r>
            <a:endParaRPr lang="en-US" sz="1900" dirty="0"/>
          </a:p>
        </p:txBody>
      </p:sp>
      <p:sp>
        <p:nvSpPr>
          <p:cNvPr id="6" name="Text 4"/>
          <p:cNvSpPr txBox="1"/>
          <p:nvPr/>
        </p:nvSpPr>
        <p:spPr>
          <a:xfrm>
            <a:off x="685800" y="5852160"/>
            <a:ext cx="10789920" cy="548640"/>
          </a:xfrm>
          <a:prstGeom prst="rect">
            <a:avLst/>
          </a:prstGeom>
          <a:noFill/>
          <a:ln/>
        </p:spPr>
        <p:txBody>
          <a:bodyPr wrap="square" rtlCol="0" anchor="ctr"/>
          <a:lstStyle/>
          <a:p>
            <a:pPr indent="0" marL="0">
              <a:buNone/>
            </a:pPr>
            <a:r>
              <a:rPr lang="en-US" sz="1500" i="1" dirty="0">
                <a:solidFill>
                  <a:srgbClr val="7A8B88"/>
                </a:solidFill>
                <a:latin typeface="Calibri" pitchFamily="34" charset="0"/>
                <a:ea typeface="Calibri" pitchFamily="34" charset="-122"/>
                <a:cs typeface="Calibri" pitchFamily="34" charset="-120"/>
              </a:rPr>
              <a:t>Höchstens zehn Folien. Instagram lässt mehr zu, aber gelesen wird das nicht.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Canva (am PC) bauen → aufs Handy → hochladen</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Canva öffnen, „Benutzerdefinierte Grösse“ → 1080 × 1350</a:t>
            </a:r>
            <a:endParaRPr lang="en-US" sz="1650" dirty="0"/>
          </a:p>
        </p:txBody>
      </p:sp>
      <p:sp>
        <p:nvSpPr>
          <p:cNvPr id="9" name="Text 7"/>
          <p:cNvSpPr txBox="1"/>
          <p:nvPr/>
        </p:nvSpPr>
        <p:spPr>
          <a:xfrm>
            <a:off x="685800" y="29260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803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Hintergrundfarbe setzen, Schrift wählen, erste Folie tippen</a:t>
            </a:r>
            <a:endParaRPr lang="en-US" sz="1650" dirty="0"/>
          </a:p>
        </p:txBody>
      </p:sp>
      <p:sp>
        <p:nvSpPr>
          <p:cNvPr id="11" name="Text 9"/>
          <p:cNvSpPr txBox="1"/>
          <p:nvPr/>
        </p:nvSpPr>
        <p:spPr>
          <a:xfrm>
            <a:off x="685800" y="35661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5204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Folie duplizieren statt neu bauen — das ist der ganze Trick</a:t>
            </a:r>
            <a:endParaRPr lang="en-US" sz="1650" dirty="0"/>
          </a:p>
        </p:txBody>
      </p:sp>
      <p:sp>
        <p:nvSpPr>
          <p:cNvPr id="13" name="Text 11"/>
          <p:cNvSpPr txBox="1"/>
          <p:nvPr/>
        </p:nvSpPr>
        <p:spPr>
          <a:xfrm>
            <a:off x="685800" y="420624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17320" y="416052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Herunterladen als PNG, alle Seiten</a:t>
            </a:r>
            <a:endParaRPr lang="en-US" sz="1650" dirty="0"/>
          </a:p>
        </p:txBody>
      </p:sp>
      <p:sp>
        <p:nvSpPr>
          <p:cNvPr id="15" name="Text 13"/>
          <p:cNvSpPr txBox="1"/>
          <p:nvPr/>
        </p:nvSpPr>
        <p:spPr>
          <a:xfrm>
            <a:off x="685800" y="484632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5</a:t>
            </a:r>
            <a:endParaRPr lang="en-US" sz="1600" dirty="0"/>
          </a:p>
        </p:txBody>
      </p:sp>
      <p:sp>
        <p:nvSpPr>
          <p:cNvPr id="16" name="Text 14"/>
          <p:cNvSpPr txBox="1"/>
          <p:nvPr/>
        </p:nvSpPr>
        <p:spPr>
          <a:xfrm>
            <a:off x="1417320" y="480060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Bilder aufs Handy bringen (Canva-App oder Cloud) — Dateinamen geben die Reihenfolge vor</a:t>
            </a:r>
            <a:endParaRPr lang="en-US" sz="1650" dirty="0"/>
          </a:p>
        </p:txBody>
      </p:sp>
      <p:sp>
        <p:nvSpPr>
          <p:cNvPr id="17" name="Text 15"/>
          <p:cNvSpPr txBox="1"/>
          <p:nvPr/>
        </p:nvSpPr>
        <p:spPr>
          <a:xfrm>
            <a:off x="685800" y="56235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6</a:t>
            </a:r>
            <a:endParaRPr lang="en-US" sz="1600" dirty="0"/>
          </a:p>
        </p:txBody>
      </p:sp>
      <p:sp>
        <p:nvSpPr>
          <p:cNvPr id="18" name="Text 16"/>
          <p:cNvSpPr txBox="1"/>
          <p:nvPr/>
        </p:nvSpPr>
        <p:spPr>
          <a:xfrm>
            <a:off x="1417320" y="55778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Instagram → Plus → Beitrag → „Mehrere auswählen“ → in der richtigen Reihenfolge antippen</a:t>
            </a:r>
            <a:endParaRPr lang="en-US" sz="1650" dirty="0"/>
          </a:p>
        </p:txBody>
      </p:sp>
      <p:sp>
        <p:nvSpPr>
          <p:cNvPr id="19" name="Text 17"/>
          <p:cNvSpPr txBox="1"/>
          <p:nvPr/>
        </p:nvSpPr>
        <p:spPr>
          <a:xfrm>
            <a:off x="685800" y="64008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7</a:t>
            </a:r>
            <a:endParaRPr lang="en-US" sz="1600" dirty="0"/>
          </a:p>
        </p:txBody>
      </p:sp>
      <p:sp>
        <p:nvSpPr>
          <p:cNvPr id="20" name="Text 18"/>
          <p:cNvSpPr txBox="1"/>
          <p:nvPr/>
        </p:nvSpPr>
        <p:spPr>
          <a:xfrm>
            <a:off x="1417320" y="63550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Hochladen, Ergebnis anschauen</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Ein Karussell ist online. Die Folien vorher durch die Werkstatt.</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„Karussell“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Jetzt die Story — das Format, in dem später verkauft wird.</a:t>
            </a:r>
            <a:endParaRPr lang="en-US"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2.4</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2.4</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Stories: das Format, in dem später deine Kundinnen entstehen</a:t>
            </a:r>
            <a:endParaRPr lang="en-US" sz="3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Text, Sticker, Umfrage</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Wie du einen Link in die Story bekommst</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Warum Umfragen dir mehr bringen als schöne Bilder</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VIER STICKER, DIE REICHEN</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Umfrage  </a:t>
            </a:r>
            <a:pPr indent="0" marL="0">
              <a:buNone/>
            </a:pPr>
            <a:r>
              <a:rPr lang="en-US" sz="1900" dirty="0">
                <a:solidFill>
                  <a:srgbClr val="33413F"/>
                </a:solidFill>
                <a:latin typeface="Calibri" pitchFamily="34" charset="0"/>
                <a:ea typeface="Calibri" pitchFamily="34" charset="-122"/>
                <a:cs typeface="Calibri" pitchFamily="34" charset="-120"/>
              </a:rPr>
              <a:t>zwei Antworten, ein Tipp genügt</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Frage-Box  </a:t>
            </a:r>
            <a:pPr indent="0" marL="0">
              <a:buNone/>
            </a:pPr>
            <a:r>
              <a:rPr lang="en-US" sz="1900" dirty="0">
                <a:solidFill>
                  <a:srgbClr val="33413F"/>
                </a:solidFill>
                <a:latin typeface="Calibri" pitchFamily="34" charset="0"/>
                <a:ea typeface="Calibri" pitchFamily="34" charset="-122"/>
                <a:cs typeface="Calibri" pitchFamily="34" charset="-120"/>
              </a:rPr>
              <a:t>sie schreibt dir</a:t>
            </a:r>
            <a:endParaRPr lang="en-US" sz="1900" dirty="0"/>
          </a:p>
        </p:txBody>
      </p:sp>
      <p:sp>
        <p:nvSpPr>
          <p:cNvPr id="5" name="Text 3"/>
          <p:cNvSpPr txBox="1"/>
          <p:nvPr/>
        </p:nvSpPr>
        <p:spPr>
          <a:xfrm>
            <a:off x="685800" y="35204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Quiz  </a:t>
            </a:r>
            <a:pPr indent="0" marL="0">
              <a:buNone/>
            </a:pPr>
            <a:r>
              <a:rPr lang="en-US" sz="1900" dirty="0">
                <a:solidFill>
                  <a:srgbClr val="33413F"/>
                </a:solidFill>
                <a:latin typeface="Calibri" pitchFamily="34" charset="0"/>
                <a:ea typeface="Calibri" pitchFamily="34" charset="-122"/>
                <a:cs typeface="Calibri" pitchFamily="34" charset="-120"/>
              </a:rPr>
              <a:t>sie rät, du löst auf</a:t>
            </a:r>
            <a:endParaRPr lang="en-US" sz="1900" dirty="0"/>
          </a:p>
        </p:txBody>
      </p:sp>
      <p:sp>
        <p:nvSpPr>
          <p:cNvPr id="6" name="Text 4"/>
          <p:cNvSpPr txBox="1"/>
          <p:nvPr/>
        </p:nvSpPr>
        <p:spPr>
          <a:xfrm>
            <a:off x="685800" y="44348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Link  </a:t>
            </a:r>
            <a:pPr indent="0" marL="0">
              <a:buNone/>
            </a:pPr>
            <a:r>
              <a:rPr lang="en-US" sz="1900" dirty="0">
                <a:solidFill>
                  <a:srgbClr val="33413F"/>
                </a:solidFill>
                <a:latin typeface="Calibri" pitchFamily="34" charset="0"/>
                <a:ea typeface="Calibri" pitchFamily="34" charset="-122"/>
                <a:cs typeface="Calibri" pitchFamily="34" charset="-120"/>
              </a:rPr>
              <a:t>sie kommt auf deine Seite</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Story posten mit Text, Umfrage und Link</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Plus → „Story“ oder von oben links am Profilbild</a:t>
            </a:r>
            <a:endParaRPr lang="en-US" sz="1650" dirty="0"/>
          </a:p>
        </p:txBody>
      </p:sp>
      <p:sp>
        <p:nvSpPr>
          <p:cNvPr id="9" name="Text 7"/>
          <p:cNvSpPr txBox="1"/>
          <p:nvPr/>
        </p:nvSpPr>
        <p:spPr>
          <a:xfrm>
            <a:off x="685800" y="29260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803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Foto aus der Galerie, Text drauf, Farbe und Hintergrund zeigen</a:t>
            </a:r>
            <a:endParaRPr lang="en-US" sz="1650" dirty="0"/>
          </a:p>
        </p:txBody>
      </p:sp>
      <p:sp>
        <p:nvSpPr>
          <p:cNvPr id="11" name="Text 9"/>
          <p:cNvSpPr txBox="1"/>
          <p:nvPr/>
        </p:nvSpPr>
        <p:spPr>
          <a:xfrm>
            <a:off x="685800" y="35661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5204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Sticker-Symbol → Umfrage einbauen</a:t>
            </a:r>
            <a:endParaRPr lang="en-US" sz="1650" dirty="0"/>
          </a:p>
        </p:txBody>
      </p:sp>
      <p:sp>
        <p:nvSpPr>
          <p:cNvPr id="13" name="Text 11"/>
          <p:cNvSpPr txBox="1"/>
          <p:nvPr/>
        </p:nvSpPr>
        <p:spPr>
          <a:xfrm>
            <a:off x="685800" y="420624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17320" y="416052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Link-Sticker einbauen und den Linktext ändern</a:t>
            </a:r>
            <a:endParaRPr lang="en-US" sz="1650" dirty="0"/>
          </a:p>
        </p:txBody>
      </p:sp>
      <p:sp>
        <p:nvSpPr>
          <p:cNvPr id="15" name="Text 13"/>
          <p:cNvSpPr txBox="1"/>
          <p:nvPr/>
        </p:nvSpPr>
        <p:spPr>
          <a:xfrm>
            <a:off x="685800" y="484632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5</a:t>
            </a:r>
            <a:endParaRPr lang="en-US" sz="1600" dirty="0"/>
          </a:p>
        </p:txBody>
      </p:sp>
      <p:sp>
        <p:nvSpPr>
          <p:cNvPr id="16" name="Text 14"/>
          <p:cNvSpPr txBox="1"/>
          <p:nvPr/>
        </p:nvSpPr>
        <p:spPr>
          <a:xfrm>
            <a:off x="1417320" y="480060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Posten, dann die eigene Story anschauen</a:t>
            </a:r>
            <a:endParaRPr lang="en-US" sz="1650" dirty="0"/>
          </a:p>
        </p:txBody>
      </p:sp>
      <p:sp>
        <p:nvSpPr>
          <p:cNvPr id="17" name="Text 15"/>
          <p:cNvSpPr txBox="1"/>
          <p:nvPr/>
        </p:nvSpPr>
        <p:spPr>
          <a:xfrm>
            <a:off x="685800" y="54864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6</a:t>
            </a:r>
            <a:endParaRPr lang="en-US" sz="1600" dirty="0"/>
          </a:p>
        </p:txBody>
      </p:sp>
      <p:sp>
        <p:nvSpPr>
          <p:cNvPr id="18" name="Text 16"/>
          <p:cNvSpPr txBox="1"/>
          <p:nvPr/>
        </p:nvSpPr>
        <p:spPr>
          <a:xfrm>
            <a:off x="1417320" y="54406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Zeigen, wo man sieht, wer die Story gesehen und wer abgestimmt hat</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Eine Story mit Umfrage ist gepostet. Die Frage vorher durch die Werkstatt.</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„Story“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Zum Abschluss von Modul 2 räumen wir auf: Caption, Hashtags, Musik, Cover.</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2.5</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2.5</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Was zählt und was du getrost weglassen kannst</a:t>
            </a:r>
            <a:endParaRPr lang="en-US" sz="3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Wie viel Text unter dein Bild gehört</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Wie viele Hashtags heute noch etwas bringen</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Wann Musik hilft und wann sie stört</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RANGLISTE</a:t>
            </a:r>
            <a:endParaRPr lang="en-US" sz="1600" dirty="0"/>
          </a:p>
        </p:txBody>
      </p:sp>
      <p:sp>
        <p:nvSpPr>
          <p:cNvPr id="3" name="Shape 1"/>
          <p:cNvSpPr/>
          <p:nvPr/>
        </p:nvSpPr>
        <p:spPr>
          <a:xfrm>
            <a:off x="685800" y="1737360"/>
            <a:ext cx="502920" cy="502920"/>
          </a:xfrm>
          <a:prstGeom prst="ellipse">
            <a:avLst/>
          </a:prstGeom>
          <a:solidFill>
            <a:srgbClr val="2F6F6F"/>
          </a:solidFill>
          <a:ln/>
        </p:spPr>
      </p:sp>
      <p:sp>
        <p:nvSpPr>
          <p:cNvPr id="4" name="Text 2"/>
          <p:cNvSpPr txBox="1"/>
          <p:nvPr/>
        </p:nvSpPr>
        <p:spPr>
          <a:xfrm>
            <a:off x="68580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508760" y="16916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Der erste Satz unter dem Beitrag — hier fällt die Entscheidung</a:t>
            </a:r>
            <a:endParaRPr lang="en-US" sz="1900" dirty="0"/>
          </a:p>
        </p:txBody>
      </p:sp>
      <p:sp>
        <p:nvSpPr>
          <p:cNvPr id="6" name="Shape 4"/>
          <p:cNvSpPr/>
          <p:nvPr/>
        </p:nvSpPr>
        <p:spPr>
          <a:xfrm>
            <a:off x="685800" y="2651760"/>
            <a:ext cx="502920" cy="502920"/>
          </a:xfrm>
          <a:prstGeom prst="ellipse">
            <a:avLst/>
          </a:prstGeom>
          <a:solidFill>
            <a:srgbClr val="2F6F6F"/>
          </a:solidFill>
          <a:ln/>
        </p:spPr>
      </p:sp>
      <p:sp>
        <p:nvSpPr>
          <p:cNvPr id="7" name="Text 5"/>
          <p:cNvSpPr txBox="1"/>
          <p:nvPr/>
        </p:nvSpPr>
        <p:spPr>
          <a:xfrm>
            <a:off x="685800" y="2651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508760" y="26060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Das Cover deines Reels — dein Profil ist eine Auslage</a:t>
            </a:r>
            <a:endParaRPr lang="en-US" sz="1900" dirty="0"/>
          </a:p>
        </p:txBody>
      </p:sp>
      <p:sp>
        <p:nvSpPr>
          <p:cNvPr id="9" name="Shape 7"/>
          <p:cNvSpPr/>
          <p:nvPr/>
        </p:nvSpPr>
        <p:spPr>
          <a:xfrm>
            <a:off x="685800" y="3566160"/>
            <a:ext cx="502920" cy="502920"/>
          </a:xfrm>
          <a:prstGeom prst="ellipse">
            <a:avLst/>
          </a:prstGeom>
          <a:solidFill>
            <a:srgbClr val="2F6F6F"/>
          </a:solidFill>
          <a:ln/>
        </p:spPr>
      </p:sp>
      <p:sp>
        <p:nvSpPr>
          <p:cNvPr id="10" name="Text 8"/>
          <p:cNvSpPr txBox="1"/>
          <p:nvPr/>
        </p:nvSpPr>
        <p:spPr>
          <a:xfrm>
            <a:off x="685800" y="3566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508760" y="35204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Musik — nur als Untermalung, nie über deiner Stimme</a:t>
            </a:r>
            <a:endParaRPr lang="en-US" sz="1900" dirty="0"/>
          </a:p>
        </p:txBody>
      </p:sp>
      <p:sp>
        <p:nvSpPr>
          <p:cNvPr id="12" name="Shape 10"/>
          <p:cNvSpPr/>
          <p:nvPr/>
        </p:nvSpPr>
        <p:spPr>
          <a:xfrm>
            <a:off x="685800" y="4480560"/>
            <a:ext cx="502920" cy="502920"/>
          </a:xfrm>
          <a:prstGeom prst="ellipse">
            <a:avLst/>
          </a:prstGeom>
          <a:solidFill>
            <a:srgbClr val="2F6F6F"/>
          </a:solidFill>
          <a:ln/>
        </p:spPr>
      </p:sp>
      <p:sp>
        <p:nvSpPr>
          <p:cNvPr id="13" name="Text 11"/>
          <p:cNvSpPr txBox="1"/>
          <p:nvPr/>
        </p:nvSpPr>
        <p:spPr>
          <a:xfrm>
            <a:off x="685800" y="4480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4" name="Text 12"/>
          <p:cNvSpPr txBox="1"/>
          <p:nvPr/>
        </p:nvSpPr>
        <p:spPr>
          <a:xfrm>
            <a:off x="1508760" y="44348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Hashtags — höchstens fünf, thematisch, ganz am Ende</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DER ERSTE SATZ</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Nur die ersten ein bis zwei Zeilen werden angezeigt. Alles danach liest nur, wer auf „mehr“ tippt.</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3A4C"/>
        </a:solidFill>
      </p:bgPr>
    </p:bg>
    <p:spTree>
      <p:nvGrpSpPr>
        <p:cNvPr id="1" name=""/>
        <p:cNvGrpSpPr/>
        <p:nvPr/>
      </p:nvGrpSpPr>
      <p:grpSpPr>
        <a:xfrm>
          <a:off x="0" y="0"/>
          <a:ext cx="0" cy="0"/>
          <a:chOff x="0" y="0"/>
          <a:chExt cx="0" cy="0"/>
        </a:xfrm>
      </p:grpSpPr>
      <p:sp>
        <p:nvSpPr>
          <p:cNvPr id="2" name="Text 0"/>
          <p:cNvSpPr txBox="1"/>
          <p:nvPr/>
        </p:nvSpPr>
        <p:spPr>
          <a:xfrm>
            <a:off x="685800" y="822960"/>
            <a:ext cx="347472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MODUL 2 · ABGESCHLOSSEN</a:t>
            </a:r>
            <a:endParaRPr lang="en-US" sz="1200" dirty="0"/>
          </a:p>
        </p:txBody>
      </p:sp>
      <p:sp>
        <p:nvSpPr>
          <p:cNvPr id="3" name="Text 1"/>
          <p:cNvSpPr txBox="1"/>
          <p:nvPr/>
        </p:nvSpPr>
        <p:spPr>
          <a:xfrm>
            <a:off x="685800" y="1554480"/>
            <a:ext cx="1078992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Du hast gepostet.</a:t>
            </a:r>
            <a:endParaRPr lang="en-US" sz="4600" dirty="0"/>
          </a:p>
        </p:txBody>
      </p:sp>
      <p:sp>
        <p:nvSpPr>
          <p:cNvPr id="4" name="Text 2"/>
          <p:cNvSpPr txBox="1"/>
          <p:nvPr/>
        </p:nvSpPr>
        <p:spPr>
          <a:xfrm>
            <a:off x="685800" y="2834640"/>
            <a:ext cx="10789920" cy="1463040"/>
          </a:xfrm>
          <a:prstGeom prst="rect">
            <a:avLst/>
          </a:prstGeom>
          <a:noFill/>
          <a:ln/>
        </p:spPr>
        <p:txBody>
          <a:bodyPr wrap="square" rtlCol="0" anchor="t"/>
          <a:lstStyle/>
          <a:p>
            <a:pPr indent="0" marL="0">
              <a:buNone/>
            </a:pPr>
            <a:r>
              <a:rPr lang="en-US" sz="2000" dirty="0">
                <a:solidFill>
                  <a:srgbClr val="F1ECDD"/>
                </a:solidFill>
                <a:latin typeface="Calibri" pitchFamily="34" charset="0"/>
                <a:ea typeface="Calibri" pitchFamily="34" charset="-122"/>
                <a:cs typeface="Calibri" pitchFamily="34" charset="-120"/>
              </a:rPr>
              <a:t>Reel, Karussell, Story — alles drei erledigt. Vor einer Woche wusstest du nicht, wo du drücken sollst.</a:t>
            </a:r>
            <a:endParaRPr lang="en-US" sz="2000" dirty="0"/>
          </a:p>
        </p:txBody>
      </p:sp>
      <p:sp>
        <p:nvSpPr>
          <p:cNvPr id="5" name="Text 3"/>
          <p:cNvSpPr txBox="1"/>
          <p:nvPr/>
        </p:nvSpPr>
        <p:spPr>
          <a:xfrm>
            <a:off x="685800" y="4572000"/>
            <a:ext cx="4206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„Caption“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Modul 3: die fünf Fallen, die du als Networkerin vermeidest — und dein Plan für Woche eins.</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2026-09-11T08:16:01Z</dcterms:created>
  <dcterms:modified xsi:type="dcterms:W3CDTF">2026-09-11T08:16:01Z</dcterms:modified>
</cp:coreProperties>
</file>